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ory" id="{ac773176-cf7c-ab62-1cc7-787a2ef3e350}">
          <p14:sldIdLst>
            <p14:sldId id="256"/>
            <p14:sldId id="257"/>
            <p14:sldId id="258"/>
            <p14:sldId id="259"/>
            <p14:sldId id="260"/>
            <p14:sldId id="261"/>
            <p14:sldId id="262"/>
            <p14:sldId id="263"/>
            <p14:sldId id="264"/>
            <p14:sldId id="265"/>
            <p14:sldId id="266"/>
            <p14:sldId id="267"/>
          </p14:sldIdLst>
        </p14:section>
        <p14:section name="Appendix" id="{9ddcf85c-d687-90d6-2556-f6fb69d2231c}">
          <p14:sldIdLst>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for the time. I want to show you a small tool I built on my own initiative, explain the problem it solves in plain terms, and ask for your support to try it on a real project.
Quick plan: first a two-minute primer on how we test software automatically, then the problem I kept running into, then what the tool does with a few real results, why it's safe on a work laptop, and finally what I'm asking for.
It's called gherkin-copilot. The name will make sense in a couple of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from the ground up. Every time our developers change the software, someone has to check that it still works. Traditionally that's a person clicking through the website: log in, add something to the basket, check the total, and so on.
Automated testing means a program does those same clicks and checks for us. It's like having a robot tester that never gets tired and never skips a step.
Three benefits: it's much faster than a person, it does exactly the same thing every time, and it catches problems before our customers do. That's the world I've been working in on [ADD: project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one of these automated tests actually looks like. You don't need to be technical to read it. It says: given I'm logged in, when I add two products to the cart, then the little counter on the cart shows 2.
Every test has the same shape: Given is where we start, When is what the user does, Then is what we expect to see.
This style is called BDD, Behaviour-Driven Development. The idea is simple: describe how the software should behave in words that business people, testers and developers can all read and agree on. Cucumber is the popular tool that runs these tests, and Gherkin is just the name of this plain-English format. That's where the name of my tool comes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does an English sentence turn into clicks on a website? Behind each line is a small piece of code called a step definition. When the test says 'When I add Sauce Labs Backpack to the cart', the matching step definition knows how to find that product and click Add to cart in a real browser.
The analogy I find helpful is a kitchen. The English test is the recipe. Each step definition is a skill the robot chef already knows, like chopping onions. Once the robot knows how to chop onions, every recipe that says 'chop the onions' can reuse that skill. Nobody needs to teach it again.
That reuse is the whole point, and it's exactly where things start to go wrong as teams grow.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works beautifully with a few dozen steps. But real projects end up with hundreds. On our main suite we have [ADD: number of steps in our main suite]. Nobody can remember them all, so three things happen.
First, duplication. Someone writes 'the user is on the login page' when 'I am on the login page' already exists. Now there are two pieces of code doing the same job, and when the login page changes, someone has to fix it in several places. [ADD: a real example from our suite, if you have one.]
Second, guessing. People write a new test using a step they assume exists. It doesn't, and they only find out when the test fails.
Third, rewriting. Every new step needs the same setup code typed out by hand. It's boring and easy to get wrong.
Put together: test writing gets slower, the test code gets messier, and maintenance costs creep up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 built gherkin-copilot. It's a small tool that reads a team's existing steps and helps people reuse them instead of rewriting them. Six things it does:
One, a catalogue of every step we already have and where it lives. Two, 'did you mean': before you write a new step, it tells you if one already exists. Three, it spots duplicates that have already crept in. Four, it merges those duplicates for you, safely, with a preview first. Five, a readiness check for new tests: which lines are ready, which are missing, and it drafts the code skeleton for the missing ones. Six, a results report anyone can read.
One important point: there's no AI in it today. It compares wording using simple, predictable rules. That means it gives the same answer every time and needs no internet connection. AI is an optional future step, which I'll come back to.
Let me show you three of these in action, using the demo project that comes with the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'did you mean'. Say a tester is about to write 'Given I open the login page'. Before they write any code, they ask the tool.
It replies: there's no step that says exactly that, but 'I am on the login page' already exists and is 73% similar. Did you mean that?
The tester reuses the existing step instead of writing a new one, so we avoid a duplicate before it's ever created. That's the cheapest possible fix: no code written, nothing to clean up later.
[Point to the screenshot from the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what about duplicates that are already in the suite? The 'dupes' command scans every step and finds pairs that say the same thing in different words, like 'I am on the login page' and 'the user is on the login page'.
In the demo project it found 2 duplicate pairs. The 'merge' command then cleaned both up: it keeps one version, rewrites the tests that used the other wording, and deletes the extra code. After the merge, all 5 tests still passed.
I designed this to be cautious. It always shows a preview of exactly what it would change, and it only changes files when you explicitly ask. It also refuses to merge unless it can prove the tests will behave exactly the same, and it explains why when it won't.
[Point to the merge preview screenshot.] On our real suite this could [ADD: estimated number of duplicates or hours of clean-up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writing a brand-new test. Here's a 'checkout' test someone has just written, six lines of English.
Before anyone runs it, the 'check' command goes through it line by line. The first 2 lines, logging in and adding a product, already have steps behind them, so they're ready to go. The other 4, like opening the cart and entering delivery details, are new.
Instead of a person typing out the setup code for those 4 by hand, the tool drafts a skeleton for each one: a template with the right shape, which a person then fills in with the actual clicks. That removes the boring, error-prone part.
So it works as a readiness checklist: you know exactly what's ready and what's left before you run anything, instead of discovering it when the test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the results. Normally test results are a wall of technical text in a terminal window. The 'report' command turns them into a single web page that anyone can open.
It shows pass or fail at a glance, how long each test took, a screenshot of each test, and a step-by-step replay so you can see exactly what happened when something fails.
The demo suite runs 5 tests in a real web browser, and they all pass in about 4 seconds.
[Point to the report screenshot.] This is the page I'd share with the team or with you after a test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know the first question for anything new on a work laptop is: is it safe? I built it with that in mind from day one.
It's read-only. It reads our test files and never runs our code. The only time it changes anything is when you explicitly ask it to merge duplicates, and it shows you a preview first.
It has no network access at all. Nothing leaves the machine, and there's no tracking or telemetry.
The tool itself uses only standard Python, no third-party software, so there's nothing extra to vet or download. The demo uses a few well-known testing libraries, but they're locked to exact, verified versions, and it works with browsers we already have installed, Edge, Chrome or Brave.
And I've written a security document specifically for IT and security reviewers, so they can check it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it goes next. Everything you've seen today is done and working.
Next, I'd like to add an optional AI helper: you give it a user story and it drafts a whole test, using only steps we already have. Because that would use the internet, it would be clearly marked and kept separate from the offline core, so the safe version stays exactly as it is.
After that, run these checks automatically every time someone changes the code. In the industry that's called continuous integration, or CI. It means duplicates and missing steps get caught before they're ever merged.
Which brings me to my ask: [ADD: what I'm asking for]. On a pilot I'd expect [ADD: expected time saved on a pilot].
Thank you. Happy to show it live or answer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material for questions or for anyone reading the deck afterwards. I won't present these slides unless they come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Plain-English definitions of every technical term used in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command, what it does, and why it matters. Commands are typed in a terminal window, for example: gherkin-copilot find "Given I open the login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18872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2560320"/>
            <a:ext cx="8046720" cy="914400"/>
          </a:xfrm>
          <a:prstGeom prst="rect">
            <a:avLst/>
          </a:prstGeom>
          <a:noFill/>
          <a:ln/>
        </p:spPr>
        <p:txBody>
          <a:bodyPr wrap="square" rtlCol="0"/>
          <a:lstStyle>
            <a:lvl1pPr indent="0" marL="0">
              <a:buNone/>
              <a:defRPr lang="en-US" sz="2000" dirty="0">
                <a:solidFill>
                  <a:schemeClr val="accent5"/>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rtlCol="0"/>
          <a:lstStyle>
            <a:lvl1pPr algn="l" indent="0" marL="0">
              <a:buNone/>
              <a:defRPr lang="en-US" sz="28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rtlCol="0"/>
          <a:lstStyle>
            <a:lvl1pPr algn="l" indent="0" marL="0">
              <a:buNone/>
              <a:defRPr lang="en-US" sz="28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3.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3.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4.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188720"/>
          </a:xfrm>
          <a:prstGeom prst="rect">
            <a:avLst/>
          </a:prstGeom>
          <a:noFill/>
          <a:ln/>
        </p:spPr>
        <p:txBody>
          <a:bodyPr wrap="square" lIns="0" tIns="0" rIns="0" bIns="0"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gherkin-copilot</a:t>
            </a:r>
            <a:endParaRPr lang="en-US" sz="4000" dirty="0"/>
          </a:p>
        </p:txBody>
      </p:sp>
      <p:sp>
        <p:nvSpPr>
          <p:cNvPr id="3" name="Text 0"/>
          <p:cNvSpPr/>
          <p:nvPr>
            <p:ph idx="101" type="body" hasCustomPrompt="1"/>
          </p:nvPr>
        </p:nvSpPr>
        <p:spPr>
          <a:xfrm>
            <a:off x="548640" y="2560320"/>
            <a:ext cx="8046720" cy="914400"/>
          </a:xfrm>
          <a:prstGeom prst="rect">
            <a:avLst/>
          </a:prstGeom>
          <a:noFill/>
          <a:ln/>
        </p:spPr>
        <p:txBody>
          <a:bodyPr wrap="square" lIns="0" tIns="0" rIns="0" bIns="0" rtlCol="0" anchor="t"/>
          <a:lstStyle/>
          <a:p>
            <a:pPr indent="0" marL="0">
              <a:buNone/>
            </a:pPr>
            <a:r>
              <a:rPr lang="en-US" sz="2000" dirty="0">
                <a:solidFill>
                  <a:schemeClr val="accent5"/>
                </a:solidFill>
              </a:rPr>
              <a:t>Write automated tests faster by reusing what we already have</a:t>
            </a:r>
            <a:endParaRPr lang="en-US" sz="2000" dirty="0"/>
          </a:p>
        </p:txBody>
      </p:sp>
      <p:sp>
        <p:nvSpPr>
          <p:cNvPr id="4" name="Title circle"/>
          <p:cNvSpPr/>
          <p:nvPr/>
        </p:nvSpPr>
        <p:spPr>
          <a:xfrm>
            <a:off x="548640" y="502920"/>
            <a:ext cx="640080" cy="640080"/>
          </a:xfrm>
          <a:prstGeom prst="ellipse">
            <a:avLst/>
          </a:prstGeom>
          <a:solidFill>
            <a:schemeClr val="accent1"/>
          </a:solidFill>
          <a:ln/>
        </p:spPr>
      </p:sp>
      <p:pic>
        <p:nvPicPr>
          <p:cNvPr id="5" name="Title icon" descr="preencoded.png">    </p:cNvPr>
          <p:cNvPicPr>
            <a:picLocks noChangeAspect="1"/>
          </p:cNvPicPr>
          <p:nvPr/>
        </p:nvPicPr>
        <p:blipFill>
          <a:blip r:embed="rId1"/>
          <a:stretch>
            <a:fillRect/>
          </a:stretch>
        </p:blipFill>
        <p:spPr>
          <a:xfrm>
            <a:off x="708660" y="662940"/>
            <a:ext cx="320040" cy="320040"/>
          </a:xfrm>
          <a:prstGeom prst="rect">
            <a:avLst/>
          </a:prstGeom>
        </p:spPr>
      </p:pic>
      <p:sp>
        <p:nvSpPr>
          <p:cNvPr id="6" name="Presenter"/>
          <p:cNvSpPr txBox="1"/>
          <p:nvPr/>
        </p:nvSpPr>
        <p:spPr>
          <a:xfrm>
            <a:off x="548640" y="3977640"/>
            <a:ext cx="4572000" cy="320040"/>
          </a:xfrm>
          <a:prstGeom prst="rect">
            <a:avLst/>
          </a:prstGeom>
          <a:noFill/>
          <a:ln/>
        </p:spPr>
        <p:txBody>
          <a:bodyPr wrap="square" lIns="0" tIns="0" rIns="0" bIns="0" rtlCol="0" anchor="t"/>
          <a:lstStyle/>
          <a:p>
            <a:pPr indent="0" marL="0">
              <a:buNone/>
            </a:pPr>
            <a:r>
              <a:rPr lang="en-US" sz="1600" b="1" dirty="0">
                <a:solidFill>
                  <a:schemeClr val="bg1"/>
                </a:solidFill>
              </a:rPr>
              <a:t>Gabe Olsen</a:t>
            </a:r>
            <a:endParaRPr lang="en-US" sz="1600" dirty="0"/>
          </a:p>
        </p:txBody>
      </p:sp>
      <p:sp>
        <p:nvSpPr>
          <p:cNvPr id="7" name="Team placeholder box"/>
          <p:cNvSpPr/>
          <p:nvPr/>
        </p:nvSpPr>
        <p:spPr>
          <a:xfrm>
            <a:off x="548640" y="4343400"/>
            <a:ext cx="2377440" cy="365760"/>
          </a:xfrm>
          <a:prstGeom prst="roundRect">
            <a:avLst>
              <a:gd name="adj" fmla="val 15000"/>
            </a:avLst>
          </a:prstGeom>
          <a:solidFill>
            <a:srgbClr val="FDF0D9"/>
          </a:solidFill>
          <a:ln w="15875">
            <a:solidFill>
              <a:srgbClr val="E39B2D"/>
            </a:solidFill>
            <a:prstDash val="solid"/>
          </a:ln>
        </p:spPr>
      </p:sp>
      <p:sp>
        <p:nvSpPr>
          <p:cNvPr id="8" name="Team placeholder"/>
          <p:cNvSpPr txBox="1"/>
          <p:nvPr/>
        </p:nvSpPr>
        <p:spPr>
          <a:xfrm>
            <a:off x="658368" y="4343400"/>
            <a:ext cx="2157984" cy="365760"/>
          </a:xfrm>
          <a:prstGeom prst="rect">
            <a:avLst/>
          </a:prstGeom>
          <a:noFill/>
          <a:ln/>
        </p:spPr>
        <p:txBody>
          <a:bodyPr wrap="square" lIns="0" tIns="0" rIns="0" bIns="0" rtlCol="0" anchor="ctr"/>
          <a:lstStyle/>
          <a:p>
            <a:pPr indent="0" marL="0">
              <a:buNone/>
            </a:pPr>
            <a:r>
              <a:rPr lang="en-US" sz="1200" b="1" dirty="0">
                <a:solidFill>
                  <a:srgbClr val="8A5A0C"/>
                </a:solidFill>
              </a:rPr>
              <a:t>[ADD: team and date]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 program can check every change we make</a:t>
            </a:r>
            <a:endParaRPr lang="en-US" sz="2800" dirty="0"/>
          </a:p>
        </p:txBody>
      </p:sp>
      <p:sp>
        <p:nvSpPr>
          <p:cNvPr id="3" name="Manual card"/>
          <p:cNvSpPr/>
          <p:nvPr/>
        </p:nvSpPr>
        <p:spPr>
          <a:xfrm>
            <a:off x="457200" y="1234440"/>
            <a:ext cx="3657600" cy="2331720"/>
          </a:xfrm>
          <a:prstGeom prst="roundRect">
            <a:avLst>
              <a:gd name="adj" fmla="val 3137"/>
            </a:avLst>
          </a:prstGeom>
          <a:solidFill>
            <a:schemeClr val="bg2"/>
          </a:solidFill>
          <a:ln/>
        </p:spPr>
      </p:sp>
      <p:sp>
        <p:nvSpPr>
          <p:cNvPr id="4" name="Manual circle"/>
          <p:cNvSpPr/>
          <p:nvPr/>
        </p:nvSpPr>
        <p:spPr>
          <a:xfrm>
            <a:off x="685800" y="1463040"/>
            <a:ext cx="640080" cy="640080"/>
          </a:xfrm>
          <a:prstGeom prst="ellipse">
            <a:avLst/>
          </a:prstGeom>
          <a:solidFill>
            <a:schemeClr val="accent6"/>
          </a:solidFill>
          <a:ln/>
        </p:spPr>
      </p:sp>
      <p:pic>
        <p:nvPicPr>
          <p:cNvPr id="5" name="Manual icon" descr="preencoded.png">    </p:cNvPr>
          <p:cNvPicPr>
            <a:picLocks noChangeAspect="1"/>
          </p:cNvPicPr>
          <p:nvPr/>
        </p:nvPicPr>
        <p:blipFill>
          <a:blip r:embed="rId1"/>
          <a:stretch>
            <a:fillRect/>
          </a:stretch>
        </p:blipFill>
        <p:spPr>
          <a:xfrm>
            <a:off x="845820" y="1623060"/>
            <a:ext cx="320040" cy="320040"/>
          </a:xfrm>
          <a:prstGeom prst="rect">
            <a:avLst/>
          </a:prstGeom>
        </p:spPr>
      </p:pic>
      <p:sp>
        <p:nvSpPr>
          <p:cNvPr id="6" name="Text 3"/>
          <p:cNvSpPr txBox="1"/>
          <p:nvPr/>
        </p:nvSpPr>
        <p:spPr>
          <a:xfrm>
            <a:off x="1463040" y="1572768"/>
            <a:ext cx="2560320" cy="411480"/>
          </a:xfrm>
          <a:prstGeom prst="rect">
            <a:avLst/>
          </a:prstGeom>
          <a:noFill/>
          <a:ln/>
        </p:spPr>
        <p:txBody>
          <a:bodyPr wrap="square" lIns="0" tIns="0" rIns="0" bIns="0" rtlCol="0" anchor="t"/>
          <a:lstStyle/>
          <a:p>
            <a:pPr indent="0" marL="0">
              <a:buNone/>
            </a:pPr>
            <a:r>
              <a:rPr lang="en-US" sz="1800" b="1" dirty="0">
                <a:solidFill>
                  <a:schemeClr val="tx2"/>
                </a:solidFill>
              </a:rPr>
              <a:t>Checking by hand</a:t>
            </a:r>
            <a:endParaRPr lang="en-US" sz="1800" dirty="0"/>
          </a:p>
        </p:txBody>
      </p:sp>
      <p:sp>
        <p:nvSpPr>
          <p:cNvPr id="7" name="Text 4"/>
          <p:cNvSpPr txBox="1"/>
          <p:nvPr/>
        </p:nvSpPr>
        <p:spPr>
          <a:xfrm>
            <a:off x="685800" y="2331720"/>
            <a:ext cx="3200400" cy="1097280"/>
          </a:xfrm>
          <a:prstGeom prst="rect">
            <a:avLst/>
          </a:prstGeom>
          <a:noFill/>
          <a:ln/>
        </p:spPr>
        <p:txBody>
          <a:bodyPr wrap="square" lIns="0" tIns="0" rIns="0" bIns="0" rtlCol="0" anchor="t"/>
          <a:lstStyle/>
          <a:p>
            <a:pPr indent="0" marL="0">
              <a:buNone/>
            </a:pPr>
            <a:r>
              <a:rPr lang="en-US" sz="1500" dirty="0">
                <a:solidFill>
                  <a:schemeClr val="tx1"/>
                </a:solidFill>
              </a:rPr>
              <a:t>A person clicks through the website to check it still works. Slow, tiring, and easy to miss something.</a:t>
            </a:r>
            <a:endParaRPr lang="en-US" sz="1500" dirty="0"/>
          </a:p>
        </p:txBody>
      </p:sp>
      <p:sp>
        <p:nvSpPr>
          <p:cNvPr id="8" name="Arrow manual to automated"/>
          <p:cNvSpPr/>
          <p:nvPr/>
        </p:nvSpPr>
        <p:spPr>
          <a:xfrm>
            <a:off x="4251960" y="2240280"/>
            <a:ext cx="548640" cy="347472"/>
          </a:xfrm>
          <a:prstGeom prst="rightArrow">
            <a:avLst/>
          </a:prstGeom>
          <a:solidFill>
            <a:schemeClr val="accent2"/>
          </a:solidFill>
          <a:ln/>
        </p:spPr>
      </p:sp>
      <p:sp>
        <p:nvSpPr>
          <p:cNvPr id="9" name="Automated card"/>
          <p:cNvSpPr/>
          <p:nvPr/>
        </p:nvSpPr>
        <p:spPr>
          <a:xfrm>
            <a:off x="4937760" y="1234440"/>
            <a:ext cx="3749040" cy="2331720"/>
          </a:xfrm>
          <a:prstGeom prst="roundRect">
            <a:avLst>
              <a:gd name="adj" fmla="val 3137"/>
            </a:avLst>
          </a:prstGeom>
          <a:solidFill>
            <a:schemeClr val="accent5"/>
          </a:solidFill>
          <a:ln/>
        </p:spPr>
      </p:sp>
      <p:sp>
        <p:nvSpPr>
          <p:cNvPr id="10" name="Automated circle"/>
          <p:cNvSpPr/>
          <p:nvPr/>
        </p:nvSpPr>
        <p:spPr>
          <a:xfrm>
            <a:off x="5166360" y="1463040"/>
            <a:ext cx="640080" cy="640080"/>
          </a:xfrm>
          <a:prstGeom prst="ellipse">
            <a:avLst/>
          </a:prstGeom>
          <a:solidFill>
            <a:schemeClr val="accent1"/>
          </a:solidFill>
          <a:ln/>
        </p:spPr>
      </p:sp>
      <p:pic>
        <p:nvPicPr>
          <p:cNvPr id="11" name="Automated icon" descr="preencoded.png">    </p:cNvPr>
          <p:cNvPicPr>
            <a:picLocks noChangeAspect="1"/>
          </p:cNvPicPr>
          <p:nvPr/>
        </p:nvPicPr>
        <p:blipFill>
          <a:blip r:embed="rId2"/>
          <a:stretch>
            <a:fillRect/>
          </a:stretch>
        </p:blipFill>
        <p:spPr>
          <a:xfrm>
            <a:off x="5326380" y="1623060"/>
            <a:ext cx="320040" cy="320040"/>
          </a:xfrm>
          <a:prstGeom prst="rect">
            <a:avLst/>
          </a:prstGeom>
        </p:spPr>
      </p:pic>
      <p:sp>
        <p:nvSpPr>
          <p:cNvPr id="12" name="Text 8"/>
          <p:cNvSpPr txBox="1"/>
          <p:nvPr/>
        </p:nvSpPr>
        <p:spPr>
          <a:xfrm>
            <a:off x="5943600" y="1572768"/>
            <a:ext cx="2651760" cy="411480"/>
          </a:xfrm>
          <a:prstGeom prst="rect">
            <a:avLst/>
          </a:prstGeom>
          <a:noFill/>
          <a:ln/>
        </p:spPr>
        <p:txBody>
          <a:bodyPr wrap="square" lIns="0" tIns="0" rIns="0" bIns="0" rtlCol="0" anchor="t"/>
          <a:lstStyle/>
          <a:p>
            <a:pPr indent="0" marL="0">
              <a:buNone/>
            </a:pPr>
            <a:r>
              <a:rPr lang="en-US" sz="1800" b="1" dirty="0">
                <a:solidFill>
                  <a:schemeClr val="tx2"/>
                </a:solidFill>
              </a:rPr>
              <a:t>Automated testing</a:t>
            </a:r>
            <a:endParaRPr lang="en-US" sz="1800" dirty="0"/>
          </a:p>
        </p:txBody>
      </p:sp>
      <p:sp>
        <p:nvSpPr>
          <p:cNvPr id="13" name="Text 9"/>
          <p:cNvSpPr txBox="1"/>
          <p:nvPr/>
        </p:nvSpPr>
        <p:spPr>
          <a:xfrm>
            <a:off x="5166360" y="2331720"/>
            <a:ext cx="3291840" cy="1097280"/>
          </a:xfrm>
          <a:prstGeom prst="rect">
            <a:avLst/>
          </a:prstGeom>
          <a:noFill/>
          <a:ln/>
        </p:spPr>
        <p:txBody>
          <a:bodyPr wrap="square" lIns="0" tIns="0" rIns="0" bIns="0" rtlCol="0" anchor="t"/>
          <a:lstStyle/>
          <a:p>
            <a:pPr indent="0" marL="0">
              <a:buNone/>
            </a:pPr>
            <a:r>
              <a:rPr lang="en-US" sz="1500" dirty="0">
                <a:solidFill>
                  <a:schemeClr val="tx1"/>
                </a:solidFill>
              </a:rPr>
              <a:t>A program does the same clicks and checks for us, every time the software changes.</a:t>
            </a:r>
            <a:endParaRPr lang="en-US" sz="1500" dirty="0"/>
          </a:p>
        </p:txBody>
      </p:sp>
      <p:sp>
        <p:nvSpPr>
          <p:cNvPr id="14" name="Benefit 1 circle"/>
          <p:cNvSpPr/>
          <p:nvPr/>
        </p:nvSpPr>
        <p:spPr>
          <a:xfrm>
            <a:off x="457200" y="3931920"/>
            <a:ext cx="411480" cy="411480"/>
          </a:xfrm>
          <a:prstGeom prst="ellipse">
            <a:avLst/>
          </a:prstGeom>
          <a:solidFill>
            <a:schemeClr val="accent1"/>
          </a:solidFill>
          <a:ln/>
        </p:spPr>
      </p:sp>
      <p:pic>
        <p:nvPicPr>
          <p:cNvPr id="15" name="Benefit 1 icon" descr="preencoded.png">    </p:cNvPr>
          <p:cNvPicPr>
            <a:picLocks noChangeAspect="1"/>
          </p:cNvPicPr>
          <p:nvPr/>
        </p:nvPicPr>
        <p:blipFill>
          <a:blip r:embed="rId3"/>
          <a:stretch>
            <a:fillRect/>
          </a:stretch>
        </p:blipFill>
        <p:spPr>
          <a:xfrm>
            <a:off x="560070" y="4034790"/>
            <a:ext cx="205740" cy="205740"/>
          </a:xfrm>
          <a:prstGeom prst="rect">
            <a:avLst/>
          </a:prstGeom>
        </p:spPr>
      </p:pic>
      <p:sp>
        <p:nvSpPr>
          <p:cNvPr id="16" name="Text 11"/>
          <p:cNvSpPr txBox="1"/>
          <p:nvPr/>
        </p:nvSpPr>
        <p:spPr>
          <a:xfrm>
            <a:off x="987552" y="3931920"/>
            <a:ext cx="1051560" cy="411480"/>
          </a:xfrm>
          <a:prstGeom prst="rect">
            <a:avLst/>
          </a:prstGeom>
          <a:noFill/>
          <a:ln/>
        </p:spPr>
        <p:txBody>
          <a:bodyPr wrap="square" lIns="0" tIns="0" rIns="0" bIns="0" rtlCol="0" anchor="ctr"/>
          <a:lstStyle/>
          <a:p>
            <a:pPr indent="0" marL="0">
              <a:buNone/>
            </a:pPr>
            <a:r>
              <a:rPr lang="en-US" sz="1600" b="1" dirty="0">
                <a:solidFill>
                  <a:schemeClr val="tx2"/>
                </a:solidFill>
              </a:rPr>
              <a:t>Faster</a:t>
            </a:r>
            <a:endParaRPr lang="en-US" sz="1600" dirty="0"/>
          </a:p>
        </p:txBody>
      </p:sp>
      <p:sp>
        <p:nvSpPr>
          <p:cNvPr id="17" name="Benefit 2 circle"/>
          <p:cNvSpPr/>
          <p:nvPr/>
        </p:nvSpPr>
        <p:spPr>
          <a:xfrm>
            <a:off x="2286000" y="3931920"/>
            <a:ext cx="411480" cy="411480"/>
          </a:xfrm>
          <a:prstGeom prst="ellipse">
            <a:avLst/>
          </a:prstGeom>
          <a:solidFill>
            <a:schemeClr val="accent1"/>
          </a:solidFill>
          <a:ln/>
        </p:spPr>
      </p:sp>
      <p:pic>
        <p:nvPicPr>
          <p:cNvPr id="18" name="Benefit 2 icon" descr="preencoded.png">    </p:cNvPr>
          <p:cNvPicPr>
            <a:picLocks noChangeAspect="1"/>
          </p:cNvPicPr>
          <p:nvPr/>
        </p:nvPicPr>
        <p:blipFill>
          <a:blip r:embed="rId4"/>
          <a:stretch>
            <a:fillRect/>
          </a:stretch>
        </p:blipFill>
        <p:spPr>
          <a:xfrm>
            <a:off x="2388870" y="4034790"/>
            <a:ext cx="205740" cy="205740"/>
          </a:xfrm>
          <a:prstGeom prst="rect">
            <a:avLst/>
          </a:prstGeom>
        </p:spPr>
      </p:pic>
      <p:sp>
        <p:nvSpPr>
          <p:cNvPr id="19" name="Text 13"/>
          <p:cNvSpPr txBox="1"/>
          <p:nvPr/>
        </p:nvSpPr>
        <p:spPr>
          <a:xfrm>
            <a:off x="2816352" y="3931920"/>
            <a:ext cx="1325880" cy="411480"/>
          </a:xfrm>
          <a:prstGeom prst="rect">
            <a:avLst/>
          </a:prstGeom>
          <a:noFill/>
          <a:ln/>
        </p:spPr>
        <p:txBody>
          <a:bodyPr wrap="square" lIns="0" tIns="0" rIns="0" bIns="0" rtlCol="0" anchor="ctr"/>
          <a:lstStyle/>
          <a:p>
            <a:pPr indent="0" marL="0">
              <a:buNone/>
            </a:pPr>
            <a:r>
              <a:rPr lang="en-US" sz="1600" b="1" dirty="0">
                <a:solidFill>
                  <a:schemeClr val="tx2"/>
                </a:solidFill>
              </a:rPr>
              <a:t>Repeatable</a:t>
            </a:r>
            <a:endParaRPr lang="en-US" sz="1600" dirty="0"/>
          </a:p>
        </p:txBody>
      </p:sp>
      <p:sp>
        <p:nvSpPr>
          <p:cNvPr id="20" name="Benefit 3 circle"/>
          <p:cNvSpPr/>
          <p:nvPr/>
        </p:nvSpPr>
        <p:spPr>
          <a:xfrm>
            <a:off x="4389120" y="3931920"/>
            <a:ext cx="411480" cy="411480"/>
          </a:xfrm>
          <a:prstGeom prst="ellipse">
            <a:avLst/>
          </a:prstGeom>
          <a:solidFill>
            <a:schemeClr val="accent1"/>
          </a:solidFill>
          <a:ln/>
        </p:spPr>
      </p:sp>
      <p:pic>
        <p:nvPicPr>
          <p:cNvPr id="21" name="Benefit 3 icon" descr="preencoded.png">    </p:cNvPr>
          <p:cNvPicPr>
            <a:picLocks noChangeAspect="1"/>
          </p:cNvPicPr>
          <p:nvPr/>
        </p:nvPicPr>
        <p:blipFill>
          <a:blip r:embed="rId5"/>
          <a:stretch>
            <a:fillRect/>
          </a:stretch>
        </p:blipFill>
        <p:spPr>
          <a:xfrm>
            <a:off x="4491990" y="4034790"/>
            <a:ext cx="205740" cy="205740"/>
          </a:xfrm>
          <a:prstGeom prst="rect">
            <a:avLst/>
          </a:prstGeom>
        </p:spPr>
      </p:pic>
      <p:sp>
        <p:nvSpPr>
          <p:cNvPr id="22" name="Text 15"/>
          <p:cNvSpPr txBox="1"/>
          <p:nvPr/>
        </p:nvSpPr>
        <p:spPr>
          <a:xfrm>
            <a:off x="4919472" y="3931920"/>
            <a:ext cx="3611880" cy="411480"/>
          </a:xfrm>
          <a:prstGeom prst="rect">
            <a:avLst/>
          </a:prstGeom>
          <a:noFill/>
          <a:ln/>
        </p:spPr>
        <p:txBody>
          <a:bodyPr wrap="square" lIns="0" tIns="0" rIns="0" bIns="0" rtlCol="0" anchor="ctr"/>
          <a:lstStyle/>
          <a:p>
            <a:pPr indent="0" marL="0">
              <a:buNone/>
            </a:pPr>
            <a:r>
              <a:rPr lang="en-US" sz="1600" b="1" dirty="0">
                <a:solidFill>
                  <a:schemeClr val="tx2"/>
                </a:solidFill>
              </a:rPr>
              <a:t>Finds problems before customers do</a:t>
            </a:r>
            <a:endParaRPr lang="en-US" sz="16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Our tests can be written in plain English</a:t>
            </a:r>
            <a:endParaRPr lang="en-US" sz="2800" dirty="0"/>
          </a:p>
        </p:txBody>
      </p:sp>
      <p:sp>
        <p:nvSpPr>
          <p:cNvPr id="3" name="Example test"/>
          <p:cNvSpPr/>
          <p:nvPr/>
        </p:nvSpPr>
        <p:spPr>
          <a:xfrm>
            <a:off x="457200" y="1234440"/>
            <a:ext cx="4846320" cy="2148840"/>
          </a:xfrm>
          <a:prstGeom prst="roundRect">
            <a:avLst>
              <a:gd name="adj" fmla="val 3404"/>
            </a:avLst>
          </a:prstGeom>
          <a:solidFill>
            <a:schemeClr val="tx1"/>
          </a:solidFill>
          <a:ln/>
        </p:spPr>
      </p:sp>
      <p:sp>
        <p:nvSpPr>
          <p:cNvPr id="4" name="Gherkin example"/>
          <p:cNvSpPr txBox="1"/>
          <p:nvPr/>
        </p:nvSpPr>
        <p:spPr>
          <a:xfrm>
            <a:off x="685800" y="1234440"/>
            <a:ext cx="4480560" cy="2148840"/>
          </a:xfrm>
          <a:prstGeom prst="rect">
            <a:avLst/>
          </a:prstGeom>
          <a:noFill/>
          <a:ln/>
        </p:spPr>
        <p:txBody>
          <a:bodyPr wrap="square" lIns="0" tIns="0" rIns="0" bIns="0" rtlCol="0" anchor="ctr"/>
          <a:lstStyle/>
          <a:p>
            <a:pPr indent="0" marL="0">
              <a:spcAft>
                <a:spcPts val="400"/>
              </a:spcAft>
              <a:buNone/>
            </a:pPr>
            <a:r>
              <a:rPr lang="en-US" sz="1250" b="1" dirty="0">
                <a:solidFill>
                  <a:srgbClr val="F2C46D"/>
                </a:solidFill>
                <a:latin typeface="Courier New" pitchFamily="34" charset="0"/>
                <a:ea typeface="Courier New" pitchFamily="34" charset="-122"/>
                <a:cs typeface="Courier New" pitchFamily="34" charset="-120"/>
              </a:rPr>
              <a:t>Scenario: </a:t>
            </a:r>
            <a:pPr indent="0" marL="0">
              <a:spcAft>
                <a:spcPts val="400"/>
              </a:spcAft>
              <a:buNone/>
            </a:pPr>
            <a:r>
              <a:rPr lang="en-US" sz="1250" dirty="0">
                <a:solidFill>
                  <a:srgbClr val="FFFFFF"/>
                </a:solidFill>
                <a:latin typeface="Courier New" pitchFamily="34" charset="0"/>
                <a:ea typeface="Courier New" pitchFamily="34" charset="-122"/>
                <a:cs typeface="Courier New" pitchFamily="34" charset="-120"/>
              </a:rPr>
              <a:t>Add two products</a:t>
            </a:r>
            <a:endParaRPr lang="en-US" sz="1250" dirty="0"/>
          </a:p>
          <a:p>
            <a:pPr indent="0" marL="0">
              <a:spcAft>
                <a:spcPts val="400"/>
              </a:spcAft>
              <a:buNone/>
            </a:pPr>
            <a:r>
              <a:rPr lang="en-US" sz="1250" b="1" dirty="0">
                <a:solidFill>
                  <a:srgbClr val="8FD19E"/>
                </a:solidFill>
                <a:latin typeface="Courier New" pitchFamily="34" charset="0"/>
                <a:ea typeface="Courier New" pitchFamily="34" charset="-122"/>
                <a:cs typeface="Courier New" pitchFamily="34" charset="-120"/>
              </a:rPr>
              <a:t>  Given </a:t>
            </a:r>
            <a:pPr indent="0" marL="0">
              <a:spcAft>
                <a:spcPts val="400"/>
              </a:spcAft>
              <a:buNone/>
            </a:pPr>
            <a:r>
              <a:rPr lang="en-US" sz="1250" dirty="0">
                <a:solidFill>
                  <a:srgbClr val="FFFFFF"/>
                </a:solidFill>
                <a:latin typeface="Courier New" pitchFamily="34" charset="0"/>
                <a:ea typeface="Courier New" pitchFamily="34" charset="-122"/>
                <a:cs typeface="Courier New" pitchFamily="34" charset="-120"/>
              </a:rPr>
              <a:t>I am logged in as "standard_user"</a:t>
            </a:r>
            <a:endParaRPr lang="en-US" sz="1250" dirty="0"/>
          </a:p>
          <a:p>
            <a:pPr indent="0" marL="0">
              <a:spcAft>
                <a:spcPts val="400"/>
              </a:spcAft>
              <a:buNone/>
            </a:pPr>
            <a:r>
              <a:rPr lang="en-US" sz="1250" b="1" dirty="0">
                <a:solidFill>
                  <a:srgbClr val="8FD19E"/>
                </a:solidFill>
                <a:latin typeface="Courier New" pitchFamily="34" charset="0"/>
                <a:ea typeface="Courier New" pitchFamily="34" charset="-122"/>
                <a:cs typeface="Courier New" pitchFamily="34" charset="-120"/>
              </a:rPr>
              <a:t>  When </a:t>
            </a:r>
            <a:pPr indent="0" marL="0">
              <a:spcAft>
                <a:spcPts val="400"/>
              </a:spcAft>
              <a:buNone/>
            </a:pPr>
            <a:r>
              <a:rPr lang="en-US" sz="1250" dirty="0">
                <a:solidFill>
                  <a:srgbClr val="FFFFFF"/>
                </a:solidFill>
                <a:latin typeface="Courier New" pitchFamily="34" charset="0"/>
                <a:ea typeface="Courier New" pitchFamily="34" charset="-122"/>
                <a:cs typeface="Courier New" pitchFamily="34" charset="-120"/>
              </a:rPr>
              <a:t>I add "Sauce Labs Backpack" to the cart</a:t>
            </a:r>
            <a:endParaRPr lang="en-US" sz="1250" dirty="0"/>
          </a:p>
          <a:p>
            <a:pPr indent="0" marL="0">
              <a:spcAft>
                <a:spcPts val="400"/>
              </a:spcAft>
              <a:buNone/>
            </a:pPr>
            <a:r>
              <a:rPr lang="en-US" sz="1250" b="1" dirty="0">
                <a:solidFill>
                  <a:srgbClr val="8FD19E"/>
                </a:solidFill>
                <a:latin typeface="Courier New" pitchFamily="34" charset="0"/>
                <a:ea typeface="Courier New" pitchFamily="34" charset="-122"/>
                <a:cs typeface="Courier New" pitchFamily="34" charset="-120"/>
              </a:rPr>
              <a:t>  And </a:t>
            </a:r>
            <a:pPr indent="0" marL="0">
              <a:spcAft>
                <a:spcPts val="400"/>
              </a:spcAft>
              <a:buNone/>
            </a:pPr>
            <a:r>
              <a:rPr lang="en-US" sz="1250" dirty="0">
                <a:solidFill>
                  <a:srgbClr val="FFFFFF"/>
                </a:solidFill>
                <a:latin typeface="Courier New" pitchFamily="34" charset="0"/>
                <a:ea typeface="Courier New" pitchFamily="34" charset="-122"/>
                <a:cs typeface="Courier New" pitchFamily="34" charset="-120"/>
              </a:rPr>
              <a:t>I add "Sauce Labs Bike Light" to the cart</a:t>
            </a:r>
            <a:endParaRPr lang="en-US" sz="1250" dirty="0"/>
          </a:p>
          <a:p>
            <a:pPr indent="0" marL="0">
              <a:spcAft>
                <a:spcPts val="400"/>
              </a:spcAft>
              <a:buNone/>
            </a:pPr>
            <a:r>
              <a:rPr lang="en-US" sz="1250" b="1" dirty="0">
                <a:solidFill>
                  <a:srgbClr val="8FD19E"/>
                </a:solidFill>
                <a:latin typeface="Courier New" pitchFamily="34" charset="0"/>
                <a:ea typeface="Courier New" pitchFamily="34" charset="-122"/>
                <a:cs typeface="Courier New" pitchFamily="34" charset="-120"/>
              </a:rPr>
              <a:t>  Then </a:t>
            </a:r>
            <a:pPr indent="0" marL="0">
              <a:spcAft>
                <a:spcPts val="400"/>
              </a:spcAft>
              <a:buNone/>
            </a:pPr>
            <a:r>
              <a:rPr lang="en-US" sz="1250" dirty="0">
                <a:solidFill>
                  <a:srgbClr val="FFFFFF"/>
                </a:solidFill>
                <a:latin typeface="Courier New" pitchFamily="34" charset="0"/>
                <a:ea typeface="Courier New" pitchFamily="34" charset="-122"/>
                <a:cs typeface="Courier New" pitchFamily="34" charset="-120"/>
              </a:rPr>
              <a:t>the cart badge shows 2</a:t>
            </a:r>
            <a:endParaRPr lang="en-US" sz="1250" dirty="0"/>
          </a:p>
        </p:txBody>
      </p:sp>
      <p:sp>
        <p:nvSpPr>
          <p:cNvPr id="5" name="GWT Given"/>
          <p:cNvSpPr/>
          <p:nvPr/>
        </p:nvSpPr>
        <p:spPr>
          <a:xfrm>
            <a:off x="5577840" y="1280160"/>
            <a:ext cx="3108960" cy="566928"/>
          </a:xfrm>
          <a:prstGeom prst="roundRect">
            <a:avLst>
              <a:gd name="adj" fmla="val 12903"/>
            </a:avLst>
          </a:prstGeom>
          <a:solidFill>
            <a:schemeClr val="bg2"/>
          </a:solidFill>
          <a:ln/>
        </p:spPr>
      </p:sp>
      <p:sp>
        <p:nvSpPr>
          <p:cNvPr id="6" name="Text 4"/>
          <p:cNvSpPr txBox="1"/>
          <p:nvPr/>
        </p:nvSpPr>
        <p:spPr>
          <a:xfrm>
            <a:off x="5760720" y="1280160"/>
            <a:ext cx="2834640" cy="566928"/>
          </a:xfrm>
          <a:prstGeom prst="rect">
            <a:avLst/>
          </a:prstGeom>
          <a:noFill/>
          <a:ln/>
        </p:spPr>
        <p:txBody>
          <a:bodyPr wrap="square" lIns="0" tIns="0" rIns="0" bIns="0" rtlCol="0" anchor="ctr"/>
          <a:lstStyle/>
          <a:p>
            <a:pPr indent="0" marL="0">
              <a:buNone/>
            </a:pPr>
            <a:r>
              <a:rPr lang="en-US" sz="1500" b="1" dirty="0">
                <a:solidFill>
                  <a:schemeClr val="accent1"/>
                </a:solidFill>
              </a:rPr>
              <a:t>Given  </a:t>
            </a:r>
            <a:pPr indent="0" marL="0">
              <a:buNone/>
            </a:pPr>
            <a:r>
              <a:rPr lang="en-US" sz="1500" dirty="0">
                <a:solidFill>
                  <a:schemeClr val="tx1"/>
                </a:solidFill>
              </a:rPr>
              <a:t>where we start</a:t>
            </a:r>
            <a:endParaRPr lang="en-US" sz="1500" dirty="0"/>
          </a:p>
        </p:txBody>
      </p:sp>
      <p:sp>
        <p:nvSpPr>
          <p:cNvPr id="7" name="GWT When"/>
          <p:cNvSpPr/>
          <p:nvPr/>
        </p:nvSpPr>
        <p:spPr>
          <a:xfrm>
            <a:off x="5577840" y="1993392"/>
            <a:ext cx="3108960" cy="566928"/>
          </a:xfrm>
          <a:prstGeom prst="roundRect">
            <a:avLst>
              <a:gd name="adj" fmla="val 12903"/>
            </a:avLst>
          </a:prstGeom>
          <a:solidFill>
            <a:schemeClr val="bg2"/>
          </a:solidFill>
          <a:ln/>
        </p:spPr>
      </p:sp>
      <p:sp>
        <p:nvSpPr>
          <p:cNvPr id="8" name="Text 6"/>
          <p:cNvSpPr txBox="1"/>
          <p:nvPr/>
        </p:nvSpPr>
        <p:spPr>
          <a:xfrm>
            <a:off x="5760720" y="1993392"/>
            <a:ext cx="2834640" cy="566928"/>
          </a:xfrm>
          <a:prstGeom prst="rect">
            <a:avLst/>
          </a:prstGeom>
          <a:noFill/>
          <a:ln/>
        </p:spPr>
        <p:txBody>
          <a:bodyPr wrap="square" lIns="0" tIns="0" rIns="0" bIns="0" rtlCol="0" anchor="ctr"/>
          <a:lstStyle/>
          <a:p>
            <a:pPr indent="0" marL="0">
              <a:buNone/>
            </a:pPr>
            <a:r>
              <a:rPr lang="en-US" sz="1500" b="1" dirty="0">
                <a:solidFill>
                  <a:schemeClr val="accent1"/>
                </a:solidFill>
              </a:rPr>
              <a:t>When  </a:t>
            </a:r>
            <a:pPr indent="0" marL="0">
              <a:buNone/>
            </a:pPr>
            <a:r>
              <a:rPr lang="en-US" sz="1500" dirty="0">
                <a:solidFill>
                  <a:schemeClr val="tx1"/>
                </a:solidFill>
              </a:rPr>
              <a:t>what the user does</a:t>
            </a:r>
            <a:endParaRPr lang="en-US" sz="1500" dirty="0"/>
          </a:p>
        </p:txBody>
      </p:sp>
      <p:sp>
        <p:nvSpPr>
          <p:cNvPr id="9" name="GWT Then"/>
          <p:cNvSpPr/>
          <p:nvPr/>
        </p:nvSpPr>
        <p:spPr>
          <a:xfrm>
            <a:off x="5577840" y="2706624"/>
            <a:ext cx="3108960" cy="566928"/>
          </a:xfrm>
          <a:prstGeom prst="roundRect">
            <a:avLst>
              <a:gd name="adj" fmla="val 12903"/>
            </a:avLst>
          </a:prstGeom>
          <a:solidFill>
            <a:schemeClr val="bg2"/>
          </a:solidFill>
          <a:ln/>
        </p:spPr>
      </p:sp>
      <p:sp>
        <p:nvSpPr>
          <p:cNvPr id="10" name="Text 8"/>
          <p:cNvSpPr txBox="1"/>
          <p:nvPr/>
        </p:nvSpPr>
        <p:spPr>
          <a:xfrm>
            <a:off x="5760720" y="2706624"/>
            <a:ext cx="2834640" cy="566928"/>
          </a:xfrm>
          <a:prstGeom prst="rect">
            <a:avLst/>
          </a:prstGeom>
          <a:noFill/>
          <a:ln/>
        </p:spPr>
        <p:txBody>
          <a:bodyPr wrap="square" lIns="0" tIns="0" rIns="0" bIns="0" rtlCol="0" anchor="ctr"/>
          <a:lstStyle/>
          <a:p>
            <a:pPr indent="0" marL="0">
              <a:buNone/>
            </a:pPr>
            <a:r>
              <a:rPr lang="en-US" sz="1500" b="1" dirty="0">
                <a:solidFill>
                  <a:schemeClr val="accent1"/>
                </a:solidFill>
              </a:rPr>
              <a:t>Then  </a:t>
            </a:r>
            <a:pPr indent="0" marL="0">
              <a:buNone/>
            </a:pPr>
            <a:r>
              <a:rPr lang="en-US" sz="1500" dirty="0">
                <a:solidFill>
                  <a:schemeClr val="tx1"/>
                </a:solidFill>
              </a:rPr>
              <a:t>what we expect to see</a:t>
            </a:r>
            <a:endParaRPr lang="en-US" sz="1500" dirty="0"/>
          </a:p>
        </p:txBody>
      </p:sp>
      <p:sp>
        <p:nvSpPr>
          <p:cNvPr id="11" name="Definitions"/>
          <p:cNvSpPr txBox="1"/>
          <p:nvPr/>
        </p:nvSpPr>
        <p:spPr>
          <a:xfrm>
            <a:off x="457200" y="3611880"/>
            <a:ext cx="8229600" cy="1051560"/>
          </a:xfrm>
          <a:prstGeom prst="rect">
            <a:avLst/>
          </a:prstGeom>
          <a:noFill/>
          <a:ln/>
        </p:spPr>
        <p:txBody>
          <a:bodyPr wrap="square" lIns="0" tIns="0" rIns="0" bIns="0" rtlCol="0" anchor="t"/>
          <a:lstStyle/>
          <a:p>
            <a:pPr indent="0" marL="0">
              <a:spcAft>
                <a:spcPts val="400"/>
              </a:spcAft>
              <a:buNone/>
            </a:pPr>
            <a:r>
              <a:rPr lang="en-US" sz="1400" b="1" dirty="0">
                <a:solidFill>
                  <a:schemeClr val="tx2"/>
                </a:solidFill>
              </a:rPr>
              <a:t>Cucumber </a:t>
            </a:r>
            <a:pPr indent="0" marL="0">
              <a:spcAft>
                <a:spcPts val="400"/>
              </a:spcAft>
              <a:buNone/>
            </a:pPr>
            <a:r>
              <a:rPr lang="en-US" sz="1400" dirty="0">
                <a:solidFill>
                  <a:schemeClr val="tx1"/>
                </a:solidFill>
              </a:rPr>
              <a:t>is a widely used tool that runs tests written like this.</a:t>
            </a:r>
            <a:endParaRPr lang="en-US" sz="1400" dirty="0"/>
          </a:p>
          <a:p>
            <a:pPr indent="0" marL="0">
              <a:spcAft>
                <a:spcPts val="400"/>
              </a:spcAft>
              <a:buNone/>
            </a:pPr>
            <a:r>
              <a:rPr lang="en-US" sz="1400" b="1" dirty="0">
                <a:solidFill>
                  <a:schemeClr val="tx2"/>
                </a:solidFill>
              </a:rPr>
              <a:t>BDD </a:t>
            </a:r>
            <a:pPr indent="0" marL="0">
              <a:spcAft>
                <a:spcPts val="400"/>
              </a:spcAft>
              <a:buNone/>
            </a:pPr>
            <a:r>
              <a:rPr lang="en-US" sz="1400" dirty="0">
                <a:solidFill>
                  <a:schemeClr val="tx1"/>
                </a:solidFill>
              </a:rPr>
              <a:t>(Behaviour-Driven Development) means describing how software should behave, in words everyone can read.</a:t>
            </a:r>
            <a:endParaRPr lang="en-US" sz="1400" dirty="0"/>
          </a:p>
          <a:p>
            <a:pPr indent="0" marL="0">
              <a:spcAft>
                <a:spcPts val="400"/>
              </a:spcAft>
              <a:buNone/>
            </a:pPr>
            <a:r>
              <a:rPr lang="en-US" sz="1400" b="1" dirty="0">
                <a:solidFill>
                  <a:schemeClr val="tx2"/>
                </a:solidFill>
              </a:rPr>
              <a:t>Gherkin </a:t>
            </a:r>
            <a:pPr indent="0" marL="0">
              <a:spcAft>
                <a:spcPts val="400"/>
              </a:spcAft>
              <a:buNone/>
            </a:pPr>
            <a:r>
              <a:rPr lang="en-US" sz="1400" dirty="0">
                <a:solidFill>
                  <a:schemeClr val="tx1"/>
                </a:solidFill>
              </a:rPr>
              <a:t>is the name of this simple English format.</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Behind every English line is a reusable skill</a:t>
            </a:r>
            <a:endParaRPr lang="en-US" sz="2800" dirty="0"/>
          </a:p>
        </p:txBody>
      </p:sp>
      <p:sp>
        <p:nvSpPr>
          <p:cNvPr id="3" name="Flow English line"/>
          <p:cNvSpPr/>
          <p:nvPr/>
        </p:nvSpPr>
        <p:spPr>
          <a:xfrm>
            <a:off x="457200" y="1234440"/>
            <a:ext cx="2377440" cy="1828800"/>
          </a:xfrm>
          <a:prstGeom prst="roundRect">
            <a:avLst>
              <a:gd name="adj" fmla="val 4000"/>
            </a:avLst>
          </a:prstGeom>
          <a:solidFill>
            <a:schemeClr val="bg2"/>
          </a:solidFill>
          <a:ln/>
        </p:spPr>
      </p:sp>
      <p:sp>
        <p:nvSpPr>
          <p:cNvPr id="4" name="Flow 1 circle"/>
          <p:cNvSpPr/>
          <p:nvPr/>
        </p:nvSpPr>
        <p:spPr>
          <a:xfrm>
            <a:off x="640080" y="1417320"/>
            <a:ext cx="502920" cy="502920"/>
          </a:xfrm>
          <a:prstGeom prst="ellipse">
            <a:avLst/>
          </a:prstGeom>
          <a:solidFill>
            <a:schemeClr val="accent1"/>
          </a:solidFill>
          <a:ln/>
        </p:spPr>
      </p:sp>
      <p:pic>
        <p:nvPicPr>
          <p:cNvPr id="5" name="Flow 1 icon" descr="preencoded.png">    </p:cNvPr>
          <p:cNvPicPr>
            <a:picLocks noChangeAspect="1"/>
          </p:cNvPicPr>
          <p:nvPr/>
        </p:nvPicPr>
        <p:blipFill>
          <a:blip r:embed="rId1"/>
          <a:stretch>
            <a:fillRect/>
          </a:stretch>
        </p:blipFill>
        <p:spPr>
          <a:xfrm>
            <a:off x="765810" y="1543050"/>
            <a:ext cx="251460" cy="251460"/>
          </a:xfrm>
          <a:prstGeom prst="rect">
            <a:avLst/>
          </a:prstGeom>
        </p:spPr>
      </p:pic>
      <p:sp>
        <p:nvSpPr>
          <p:cNvPr id="6" name="Text 3"/>
          <p:cNvSpPr txBox="1"/>
          <p:nvPr/>
        </p:nvSpPr>
        <p:spPr>
          <a:xfrm>
            <a:off x="1280160" y="1417320"/>
            <a:ext cx="1463040" cy="502920"/>
          </a:xfrm>
          <a:prstGeom prst="rect">
            <a:avLst/>
          </a:prstGeom>
          <a:noFill/>
          <a:ln/>
        </p:spPr>
        <p:txBody>
          <a:bodyPr wrap="square" lIns="0" tIns="0" rIns="0" bIns="0" rtlCol="0" anchor="ctr"/>
          <a:lstStyle/>
          <a:p>
            <a:pPr indent="0" marL="0">
              <a:buNone/>
            </a:pPr>
            <a:r>
              <a:rPr lang="en-US" sz="1600" b="1" dirty="0">
                <a:solidFill>
                  <a:schemeClr val="tx2"/>
                </a:solidFill>
              </a:rPr>
              <a:t>English line</a:t>
            </a:r>
            <a:endParaRPr lang="en-US" sz="1600" dirty="0"/>
          </a:p>
        </p:txBody>
      </p:sp>
      <p:sp>
        <p:nvSpPr>
          <p:cNvPr id="7" name="Text 4"/>
          <p:cNvSpPr txBox="1"/>
          <p:nvPr/>
        </p:nvSpPr>
        <p:spPr>
          <a:xfrm>
            <a:off x="640080" y="2057400"/>
            <a:ext cx="2057400" cy="914400"/>
          </a:xfrm>
          <a:prstGeom prst="rect">
            <a:avLst/>
          </a:prstGeom>
          <a:noFill/>
          <a:ln/>
        </p:spPr>
        <p:txBody>
          <a:bodyPr wrap="square" lIns="0" tIns="0" rIns="0" bIns="0" rtlCol="0" anchor="t"/>
          <a:lstStyle/>
          <a:p>
            <a:pPr indent="0" marL="0">
              <a:buNone/>
            </a:pPr>
            <a:r>
              <a:rPr lang="en-US" sz="1400" dirty="0">
                <a:solidFill>
                  <a:schemeClr val="tx1"/>
                </a:solidFill>
              </a:rPr>
              <a:t>“When I add ‘Sauce Labs Backpack’ to the cart”</a:t>
            </a:r>
            <a:endParaRPr lang="en-US" sz="1400" dirty="0"/>
          </a:p>
        </p:txBody>
      </p:sp>
      <p:sp>
        <p:nvSpPr>
          <p:cNvPr id="8" name="Flow arrow 1"/>
          <p:cNvSpPr/>
          <p:nvPr/>
        </p:nvSpPr>
        <p:spPr>
          <a:xfrm>
            <a:off x="2907792" y="1965960"/>
            <a:ext cx="402336" cy="347472"/>
          </a:xfrm>
          <a:prstGeom prst="rightArrow">
            <a:avLst/>
          </a:prstGeom>
          <a:solidFill>
            <a:schemeClr val="accent2"/>
          </a:solidFill>
          <a:ln/>
        </p:spPr>
      </p:sp>
      <p:sp>
        <p:nvSpPr>
          <p:cNvPr id="9" name="Flow Step definition"/>
          <p:cNvSpPr/>
          <p:nvPr/>
        </p:nvSpPr>
        <p:spPr>
          <a:xfrm>
            <a:off x="3383280" y="1234440"/>
            <a:ext cx="2377440" cy="1828800"/>
          </a:xfrm>
          <a:prstGeom prst="roundRect">
            <a:avLst>
              <a:gd name="adj" fmla="val 4000"/>
            </a:avLst>
          </a:prstGeom>
          <a:solidFill>
            <a:schemeClr val="accent5"/>
          </a:solidFill>
          <a:ln/>
        </p:spPr>
      </p:sp>
      <p:sp>
        <p:nvSpPr>
          <p:cNvPr id="10" name="Flow 2 circle"/>
          <p:cNvSpPr/>
          <p:nvPr/>
        </p:nvSpPr>
        <p:spPr>
          <a:xfrm>
            <a:off x="3566160" y="1417320"/>
            <a:ext cx="502920" cy="502920"/>
          </a:xfrm>
          <a:prstGeom prst="ellipse">
            <a:avLst/>
          </a:prstGeom>
          <a:solidFill>
            <a:schemeClr val="accent1"/>
          </a:solidFill>
          <a:ln/>
        </p:spPr>
      </p:sp>
      <p:pic>
        <p:nvPicPr>
          <p:cNvPr id="11" name="Flow 2 icon" descr="preencoded.png">    </p:cNvPr>
          <p:cNvPicPr>
            <a:picLocks noChangeAspect="1"/>
          </p:cNvPicPr>
          <p:nvPr/>
        </p:nvPicPr>
        <p:blipFill>
          <a:blip r:embed="rId2"/>
          <a:stretch>
            <a:fillRect/>
          </a:stretch>
        </p:blipFill>
        <p:spPr>
          <a:xfrm>
            <a:off x="3691890" y="1543050"/>
            <a:ext cx="251460" cy="251460"/>
          </a:xfrm>
          <a:prstGeom prst="rect">
            <a:avLst/>
          </a:prstGeom>
        </p:spPr>
      </p:pic>
      <p:sp>
        <p:nvSpPr>
          <p:cNvPr id="12" name="Text 8"/>
          <p:cNvSpPr txBox="1"/>
          <p:nvPr/>
        </p:nvSpPr>
        <p:spPr>
          <a:xfrm>
            <a:off x="4206240" y="1417320"/>
            <a:ext cx="1463040" cy="502920"/>
          </a:xfrm>
          <a:prstGeom prst="rect">
            <a:avLst/>
          </a:prstGeom>
          <a:noFill/>
          <a:ln/>
        </p:spPr>
        <p:txBody>
          <a:bodyPr wrap="square" lIns="0" tIns="0" rIns="0" bIns="0" rtlCol="0" anchor="ctr"/>
          <a:lstStyle/>
          <a:p>
            <a:pPr indent="0" marL="0">
              <a:buNone/>
            </a:pPr>
            <a:r>
              <a:rPr lang="en-US" sz="1600" b="1" dirty="0">
                <a:solidFill>
                  <a:schemeClr val="tx2"/>
                </a:solidFill>
              </a:rPr>
              <a:t>Step definition</a:t>
            </a:r>
            <a:endParaRPr lang="en-US" sz="1600" dirty="0"/>
          </a:p>
        </p:txBody>
      </p:sp>
      <p:sp>
        <p:nvSpPr>
          <p:cNvPr id="13" name="Text 9"/>
          <p:cNvSpPr txBox="1"/>
          <p:nvPr/>
        </p:nvSpPr>
        <p:spPr>
          <a:xfrm>
            <a:off x="3566160" y="2057400"/>
            <a:ext cx="2057400" cy="914400"/>
          </a:xfrm>
          <a:prstGeom prst="rect">
            <a:avLst/>
          </a:prstGeom>
          <a:noFill/>
          <a:ln/>
        </p:spPr>
        <p:txBody>
          <a:bodyPr wrap="square" lIns="0" tIns="0" rIns="0" bIns="0" rtlCol="0" anchor="t"/>
          <a:lstStyle/>
          <a:p>
            <a:pPr indent="0" marL="0">
              <a:buNone/>
            </a:pPr>
            <a:r>
              <a:rPr lang="en-US" sz="1400" dirty="0">
                <a:solidFill>
                  <a:schemeClr val="tx1"/>
                </a:solidFill>
              </a:rPr>
              <a:t>A small piece of code that knows how to do it</a:t>
            </a:r>
            <a:endParaRPr lang="en-US" sz="1400" dirty="0"/>
          </a:p>
        </p:txBody>
      </p:sp>
      <p:sp>
        <p:nvSpPr>
          <p:cNvPr id="14" name="Flow arrow 2"/>
          <p:cNvSpPr/>
          <p:nvPr/>
        </p:nvSpPr>
        <p:spPr>
          <a:xfrm>
            <a:off x="5833872" y="1965960"/>
            <a:ext cx="402336" cy="347472"/>
          </a:xfrm>
          <a:prstGeom prst="rightArrow">
            <a:avLst/>
          </a:prstGeom>
          <a:solidFill>
            <a:schemeClr val="accent2"/>
          </a:solidFill>
          <a:ln/>
        </p:spPr>
      </p:sp>
      <p:sp>
        <p:nvSpPr>
          <p:cNvPr id="15" name="Flow Browser action"/>
          <p:cNvSpPr/>
          <p:nvPr/>
        </p:nvSpPr>
        <p:spPr>
          <a:xfrm>
            <a:off x="6309360" y="1234440"/>
            <a:ext cx="2377440" cy="1828800"/>
          </a:xfrm>
          <a:prstGeom prst="roundRect">
            <a:avLst>
              <a:gd name="adj" fmla="val 4000"/>
            </a:avLst>
          </a:prstGeom>
          <a:solidFill>
            <a:schemeClr val="bg2"/>
          </a:solidFill>
          <a:ln/>
        </p:spPr>
      </p:sp>
      <p:sp>
        <p:nvSpPr>
          <p:cNvPr id="16" name="Flow 3 circle"/>
          <p:cNvSpPr/>
          <p:nvPr/>
        </p:nvSpPr>
        <p:spPr>
          <a:xfrm>
            <a:off x="6492240" y="1417320"/>
            <a:ext cx="502920" cy="502920"/>
          </a:xfrm>
          <a:prstGeom prst="ellipse">
            <a:avLst/>
          </a:prstGeom>
          <a:solidFill>
            <a:schemeClr val="accent1"/>
          </a:solidFill>
          <a:ln/>
        </p:spPr>
      </p:sp>
      <p:pic>
        <p:nvPicPr>
          <p:cNvPr id="17" name="Flow 3 icon" descr="preencoded.png">    </p:cNvPr>
          <p:cNvPicPr>
            <a:picLocks noChangeAspect="1"/>
          </p:cNvPicPr>
          <p:nvPr/>
        </p:nvPicPr>
        <p:blipFill>
          <a:blip r:embed="rId3"/>
          <a:stretch>
            <a:fillRect/>
          </a:stretch>
        </p:blipFill>
        <p:spPr>
          <a:xfrm>
            <a:off x="6617970" y="1543050"/>
            <a:ext cx="251460" cy="251460"/>
          </a:xfrm>
          <a:prstGeom prst="rect">
            <a:avLst/>
          </a:prstGeom>
        </p:spPr>
      </p:pic>
      <p:sp>
        <p:nvSpPr>
          <p:cNvPr id="18" name="Text 13"/>
          <p:cNvSpPr txBox="1"/>
          <p:nvPr/>
        </p:nvSpPr>
        <p:spPr>
          <a:xfrm>
            <a:off x="7132320" y="1417320"/>
            <a:ext cx="1463040" cy="502920"/>
          </a:xfrm>
          <a:prstGeom prst="rect">
            <a:avLst/>
          </a:prstGeom>
          <a:noFill/>
          <a:ln/>
        </p:spPr>
        <p:txBody>
          <a:bodyPr wrap="square" lIns="0" tIns="0" rIns="0" bIns="0" rtlCol="0" anchor="ctr"/>
          <a:lstStyle/>
          <a:p>
            <a:pPr indent="0" marL="0">
              <a:buNone/>
            </a:pPr>
            <a:r>
              <a:rPr lang="en-US" sz="1600" b="1" dirty="0">
                <a:solidFill>
                  <a:schemeClr val="tx2"/>
                </a:solidFill>
              </a:rPr>
              <a:t>Browser action</a:t>
            </a:r>
            <a:endParaRPr lang="en-US" sz="1600" dirty="0"/>
          </a:p>
        </p:txBody>
      </p:sp>
      <p:sp>
        <p:nvSpPr>
          <p:cNvPr id="19" name="Text 14"/>
          <p:cNvSpPr txBox="1"/>
          <p:nvPr/>
        </p:nvSpPr>
        <p:spPr>
          <a:xfrm>
            <a:off x="6492240" y="2057400"/>
            <a:ext cx="2057400" cy="914400"/>
          </a:xfrm>
          <a:prstGeom prst="rect">
            <a:avLst/>
          </a:prstGeom>
          <a:noFill/>
          <a:ln/>
        </p:spPr>
        <p:txBody>
          <a:bodyPr wrap="square" lIns="0" tIns="0" rIns="0" bIns="0" rtlCol="0" anchor="t"/>
          <a:lstStyle/>
          <a:p>
            <a:pPr indent="0" marL="0">
              <a:buNone/>
            </a:pPr>
            <a:r>
              <a:rPr lang="en-US" sz="1400" dirty="0">
                <a:solidFill>
                  <a:schemeClr val="tx1"/>
                </a:solidFill>
              </a:rPr>
              <a:t>Clicks “Add to cart” on the real website</a:t>
            </a:r>
            <a:endParaRPr lang="en-US" sz="1400" dirty="0"/>
          </a:p>
        </p:txBody>
      </p:sp>
      <p:sp>
        <p:nvSpPr>
          <p:cNvPr id="20" name="Analogy"/>
          <p:cNvSpPr/>
          <p:nvPr/>
        </p:nvSpPr>
        <p:spPr>
          <a:xfrm>
            <a:off x="457200" y="3337560"/>
            <a:ext cx="8229600" cy="1188720"/>
          </a:xfrm>
          <a:prstGeom prst="roundRect">
            <a:avLst>
              <a:gd name="adj" fmla="val 6154"/>
            </a:avLst>
          </a:prstGeom>
          <a:solidFill>
            <a:schemeClr val="tx2"/>
          </a:solidFill>
          <a:ln/>
        </p:spPr>
      </p:sp>
      <p:sp>
        <p:nvSpPr>
          <p:cNvPr id="21" name="Analogy circle"/>
          <p:cNvSpPr/>
          <p:nvPr/>
        </p:nvSpPr>
        <p:spPr>
          <a:xfrm>
            <a:off x="685800" y="3611880"/>
            <a:ext cx="640080" cy="640080"/>
          </a:xfrm>
          <a:prstGeom prst="ellipse">
            <a:avLst/>
          </a:prstGeom>
          <a:solidFill>
            <a:schemeClr val="accent2"/>
          </a:solidFill>
          <a:ln/>
        </p:spPr>
      </p:sp>
      <p:pic>
        <p:nvPicPr>
          <p:cNvPr id="22" name="Analogy icon" descr="preencoded.png">    </p:cNvPr>
          <p:cNvPicPr>
            <a:picLocks noChangeAspect="1"/>
          </p:cNvPicPr>
          <p:nvPr/>
        </p:nvPicPr>
        <p:blipFill>
          <a:blip r:embed="rId4"/>
          <a:stretch>
            <a:fillRect/>
          </a:stretch>
        </p:blipFill>
        <p:spPr>
          <a:xfrm>
            <a:off x="845820" y="3771900"/>
            <a:ext cx="320040" cy="320040"/>
          </a:xfrm>
          <a:prstGeom prst="rect">
            <a:avLst/>
          </a:prstGeom>
        </p:spPr>
      </p:pic>
      <p:sp>
        <p:nvSpPr>
          <p:cNvPr id="23" name="Text 17"/>
          <p:cNvSpPr txBox="1"/>
          <p:nvPr/>
        </p:nvSpPr>
        <p:spPr>
          <a:xfrm>
            <a:off x="1554480" y="3337560"/>
            <a:ext cx="6949440" cy="1188720"/>
          </a:xfrm>
          <a:prstGeom prst="rect">
            <a:avLst/>
          </a:prstGeom>
          <a:noFill/>
          <a:ln/>
        </p:spPr>
        <p:txBody>
          <a:bodyPr wrap="square" lIns="0" tIns="0" rIns="0" bIns="0" rtlCol="0" anchor="ctr"/>
          <a:lstStyle/>
          <a:p>
            <a:pPr indent="0" marL="0">
              <a:buNone/>
            </a:pPr>
            <a:r>
              <a:rPr lang="en-US" sz="1500" b="1" dirty="0">
                <a:solidFill>
                  <a:srgbClr val="F2C46D"/>
                </a:solidFill>
              </a:rPr>
              <a:t>Think of a recipe. </a:t>
            </a:r>
            <a:pPr indent="0" marL="0">
              <a:buNone/>
            </a:pPr>
            <a:r>
              <a:rPr lang="en-US" sz="1500" dirty="0">
                <a:solidFill>
                  <a:schemeClr val="bg1"/>
                </a:solidFill>
              </a:rPr>
              <a:t>The English lines are the recipe; each step definition is a kitchen skill the robot already knows. Once a skill exists, any recipe can reuse it.</a:t>
            </a:r>
            <a:endParaRPr lang="en-US" sz="15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As suites grow, people duplicate, guess and rewrite</a:t>
            </a:r>
            <a:endParaRPr lang="en-US" sz="2800" dirty="0"/>
          </a:p>
        </p:txBody>
      </p:sp>
      <p:sp>
        <p:nvSpPr>
          <p:cNvPr id="3" name="Problem Duplicate"/>
          <p:cNvSpPr/>
          <p:nvPr/>
        </p:nvSpPr>
        <p:spPr>
          <a:xfrm>
            <a:off x="457200" y="1234440"/>
            <a:ext cx="2606040" cy="2240280"/>
          </a:xfrm>
          <a:prstGeom prst="roundRect">
            <a:avLst>
              <a:gd name="adj" fmla="val 3265"/>
            </a:avLst>
          </a:prstGeom>
          <a:solidFill>
            <a:schemeClr val="bg1"/>
          </a:solidFill>
          <a:ln/>
          <a:effectLst>
            <a:outerShdw sx="100000" sy="100000" kx="0" ky="0" algn="bl" rotWithShape="0" blurRad="76200" dist="25400" dir="5400000">
              <a:srgbClr val="000000">
                <a:alpha val="12000"/>
              </a:srgbClr>
            </a:outerShdw>
          </a:effectLst>
        </p:spPr>
      </p:sp>
      <p:sp>
        <p:nvSpPr>
          <p:cNvPr id="4" name="Problem 1 circle"/>
          <p:cNvSpPr/>
          <p:nvPr/>
        </p:nvSpPr>
        <p:spPr>
          <a:xfrm>
            <a:off x="685800" y="1463040"/>
            <a:ext cx="548640" cy="548640"/>
          </a:xfrm>
          <a:prstGeom prst="ellipse">
            <a:avLst/>
          </a:prstGeom>
          <a:solidFill>
            <a:schemeClr val="accent4"/>
          </a:solidFill>
          <a:ln/>
        </p:spPr>
      </p:sp>
      <p:pic>
        <p:nvPicPr>
          <p:cNvPr id="5" name="Problem 1 icon" descr="preencoded.png">    </p:cNvPr>
          <p:cNvPicPr>
            <a:picLocks noChangeAspect="1"/>
          </p:cNvPicPr>
          <p:nvPr/>
        </p:nvPicPr>
        <p:blipFill>
          <a:blip r:embed="rId1"/>
          <a:stretch>
            <a:fillRect/>
          </a:stretch>
        </p:blipFill>
        <p:spPr>
          <a:xfrm>
            <a:off x="822960" y="1600200"/>
            <a:ext cx="274320" cy="274320"/>
          </a:xfrm>
          <a:prstGeom prst="rect">
            <a:avLst/>
          </a:prstGeom>
        </p:spPr>
      </p:pic>
      <p:sp>
        <p:nvSpPr>
          <p:cNvPr id="6" name="Text 3"/>
          <p:cNvSpPr txBox="1"/>
          <p:nvPr/>
        </p:nvSpPr>
        <p:spPr>
          <a:xfrm>
            <a:off x="1371600" y="1463040"/>
            <a:ext cx="1554480" cy="548640"/>
          </a:xfrm>
          <a:prstGeom prst="rect">
            <a:avLst/>
          </a:prstGeom>
          <a:noFill/>
          <a:ln/>
        </p:spPr>
        <p:txBody>
          <a:bodyPr wrap="square" lIns="0" tIns="0" rIns="0" bIns="0" rtlCol="0" anchor="ctr"/>
          <a:lstStyle/>
          <a:p>
            <a:pPr indent="0" marL="0">
              <a:buNone/>
            </a:pPr>
            <a:r>
              <a:rPr lang="en-US" sz="1800" b="1" dirty="0">
                <a:solidFill>
                  <a:schemeClr val="tx2"/>
                </a:solidFill>
              </a:rPr>
              <a:t>Duplicate</a:t>
            </a:r>
            <a:endParaRPr lang="en-US" sz="1800" dirty="0"/>
          </a:p>
        </p:txBody>
      </p:sp>
      <p:sp>
        <p:nvSpPr>
          <p:cNvPr id="7" name="Text 4"/>
          <p:cNvSpPr txBox="1"/>
          <p:nvPr/>
        </p:nvSpPr>
        <p:spPr>
          <a:xfrm>
            <a:off x="685800" y="2194560"/>
            <a:ext cx="2194560" cy="1188720"/>
          </a:xfrm>
          <a:prstGeom prst="rect">
            <a:avLst/>
          </a:prstGeom>
          <a:noFill/>
          <a:ln/>
        </p:spPr>
        <p:txBody>
          <a:bodyPr wrap="square" lIns="0" tIns="0" rIns="0" bIns="0" rtlCol="0" anchor="t"/>
          <a:lstStyle/>
          <a:p>
            <a:pPr indent="0" marL="0">
              <a:buNone/>
            </a:pPr>
            <a:r>
              <a:rPr lang="en-US" sz="1400" dirty="0">
                <a:solidFill>
                  <a:schemeClr val="tx1"/>
                </a:solidFill>
              </a:rPr>
              <a:t>The same step gets written twice in different words, so one change must be fixed in several places.</a:t>
            </a:r>
            <a:endParaRPr lang="en-US" sz="1400" dirty="0"/>
          </a:p>
        </p:txBody>
      </p:sp>
      <p:sp>
        <p:nvSpPr>
          <p:cNvPr id="8" name="Problem Guess"/>
          <p:cNvSpPr/>
          <p:nvPr/>
        </p:nvSpPr>
        <p:spPr>
          <a:xfrm>
            <a:off x="3268980" y="1234440"/>
            <a:ext cx="2606040" cy="2240280"/>
          </a:xfrm>
          <a:prstGeom prst="roundRect">
            <a:avLst>
              <a:gd name="adj" fmla="val 3265"/>
            </a:avLst>
          </a:prstGeom>
          <a:solidFill>
            <a:schemeClr val="bg1"/>
          </a:solidFill>
          <a:ln/>
          <a:effectLst>
            <a:outerShdw sx="100000" sy="100000" kx="0" ky="0" algn="bl" rotWithShape="0" blurRad="76200" dist="25400" dir="5400000">
              <a:srgbClr val="000000">
                <a:alpha val="12000"/>
              </a:srgbClr>
            </a:outerShdw>
          </a:effectLst>
        </p:spPr>
      </p:sp>
      <p:sp>
        <p:nvSpPr>
          <p:cNvPr id="9" name="Problem 2 circle"/>
          <p:cNvSpPr/>
          <p:nvPr/>
        </p:nvSpPr>
        <p:spPr>
          <a:xfrm>
            <a:off x="3497580" y="1463040"/>
            <a:ext cx="548640" cy="548640"/>
          </a:xfrm>
          <a:prstGeom prst="ellipse">
            <a:avLst/>
          </a:prstGeom>
          <a:solidFill>
            <a:schemeClr val="accent4"/>
          </a:solidFill>
          <a:ln/>
        </p:spPr>
      </p:sp>
      <p:pic>
        <p:nvPicPr>
          <p:cNvPr id="10" name="Problem 2 icon" descr="preencoded.png">    </p:cNvPr>
          <p:cNvPicPr>
            <a:picLocks noChangeAspect="1"/>
          </p:cNvPicPr>
          <p:nvPr/>
        </p:nvPicPr>
        <p:blipFill>
          <a:blip r:embed="rId2"/>
          <a:stretch>
            <a:fillRect/>
          </a:stretch>
        </p:blipFill>
        <p:spPr>
          <a:xfrm>
            <a:off x="3634740" y="1600200"/>
            <a:ext cx="274320" cy="274320"/>
          </a:xfrm>
          <a:prstGeom prst="rect">
            <a:avLst/>
          </a:prstGeom>
        </p:spPr>
      </p:pic>
      <p:sp>
        <p:nvSpPr>
          <p:cNvPr id="11" name="Text 7"/>
          <p:cNvSpPr txBox="1"/>
          <p:nvPr/>
        </p:nvSpPr>
        <p:spPr>
          <a:xfrm>
            <a:off x="4183380" y="1463040"/>
            <a:ext cx="1554480" cy="548640"/>
          </a:xfrm>
          <a:prstGeom prst="rect">
            <a:avLst/>
          </a:prstGeom>
          <a:noFill/>
          <a:ln/>
        </p:spPr>
        <p:txBody>
          <a:bodyPr wrap="square" lIns="0" tIns="0" rIns="0" bIns="0" rtlCol="0" anchor="ctr"/>
          <a:lstStyle/>
          <a:p>
            <a:pPr indent="0" marL="0">
              <a:buNone/>
            </a:pPr>
            <a:r>
              <a:rPr lang="en-US" sz="1800" b="1" dirty="0">
                <a:solidFill>
                  <a:schemeClr val="tx2"/>
                </a:solidFill>
              </a:rPr>
              <a:t>Guess</a:t>
            </a:r>
            <a:endParaRPr lang="en-US" sz="1800" dirty="0"/>
          </a:p>
        </p:txBody>
      </p:sp>
      <p:sp>
        <p:nvSpPr>
          <p:cNvPr id="12" name="Text 8"/>
          <p:cNvSpPr txBox="1"/>
          <p:nvPr/>
        </p:nvSpPr>
        <p:spPr>
          <a:xfrm>
            <a:off x="3497580" y="2194560"/>
            <a:ext cx="2194560" cy="1188720"/>
          </a:xfrm>
          <a:prstGeom prst="rect">
            <a:avLst/>
          </a:prstGeom>
          <a:noFill/>
          <a:ln/>
        </p:spPr>
        <p:txBody>
          <a:bodyPr wrap="square" lIns="0" tIns="0" rIns="0" bIns="0" rtlCol="0" anchor="t"/>
          <a:lstStyle/>
          <a:p>
            <a:pPr indent="0" marL="0">
              <a:buNone/>
            </a:pPr>
            <a:r>
              <a:rPr lang="en-US" sz="1400" dirty="0">
                <a:solidFill>
                  <a:schemeClr val="tx1"/>
                </a:solidFill>
              </a:rPr>
              <a:t>New tests use steps nobody has built yet. We only find out when the test fails.</a:t>
            </a:r>
            <a:endParaRPr lang="en-US" sz="1400" dirty="0"/>
          </a:p>
        </p:txBody>
      </p:sp>
      <p:sp>
        <p:nvSpPr>
          <p:cNvPr id="13" name="Problem Rewrite"/>
          <p:cNvSpPr/>
          <p:nvPr/>
        </p:nvSpPr>
        <p:spPr>
          <a:xfrm>
            <a:off x="6080760" y="1234440"/>
            <a:ext cx="2606040" cy="2240280"/>
          </a:xfrm>
          <a:prstGeom prst="roundRect">
            <a:avLst>
              <a:gd name="adj" fmla="val 3265"/>
            </a:avLst>
          </a:prstGeom>
          <a:solidFill>
            <a:schemeClr val="bg1"/>
          </a:solidFill>
          <a:ln/>
          <a:effectLst>
            <a:outerShdw sx="100000" sy="100000" kx="0" ky="0" algn="bl" rotWithShape="0" blurRad="76200" dist="25400" dir="5400000">
              <a:srgbClr val="000000">
                <a:alpha val="12000"/>
              </a:srgbClr>
            </a:outerShdw>
          </a:effectLst>
        </p:spPr>
      </p:sp>
      <p:sp>
        <p:nvSpPr>
          <p:cNvPr id="14" name="Problem 3 circle"/>
          <p:cNvSpPr/>
          <p:nvPr/>
        </p:nvSpPr>
        <p:spPr>
          <a:xfrm>
            <a:off x="6309360" y="1463040"/>
            <a:ext cx="548640" cy="548640"/>
          </a:xfrm>
          <a:prstGeom prst="ellipse">
            <a:avLst/>
          </a:prstGeom>
          <a:solidFill>
            <a:schemeClr val="accent4"/>
          </a:solidFill>
          <a:ln/>
        </p:spPr>
      </p:sp>
      <p:pic>
        <p:nvPicPr>
          <p:cNvPr id="15" name="Problem 3 icon" descr="preencoded.png">    </p:cNvPr>
          <p:cNvPicPr>
            <a:picLocks noChangeAspect="1"/>
          </p:cNvPicPr>
          <p:nvPr/>
        </p:nvPicPr>
        <p:blipFill>
          <a:blip r:embed="rId3"/>
          <a:stretch>
            <a:fillRect/>
          </a:stretch>
        </p:blipFill>
        <p:spPr>
          <a:xfrm>
            <a:off x="6446520" y="1600200"/>
            <a:ext cx="274320" cy="274320"/>
          </a:xfrm>
          <a:prstGeom prst="rect">
            <a:avLst/>
          </a:prstGeom>
        </p:spPr>
      </p:pic>
      <p:sp>
        <p:nvSpPr>
          <p:cNvPr id="16" name="Text 11"/>
          <p:cNvSpPr txBox="1"/>
          <p:nvPr/>
        </p:nvSpPr>
        <p:spPr>
          <a:xfrm>
            <a:off x="6995160" y="1463040"/>
            <a:ext cx="1554480" cy="548640"/>
          </a:xfrm>
          <a:prstGeom prst="rect">
            <a:avLst/>
          </a:prstGeom>
          <a:noFill/>
          <a:ln/>
        </p:spPr>
        <p:txBody>
          <a:bodyPr wrap="square" lIns="0" tIns="0" rIns="0" bIns="0" rtlCol="0" anchor="ctr"/>
          <a:lstStyle/>
          <a:p>
            <a:pPr indent="0" marL="0">
              <a:buNone/>
            </a:pPr>
            <a:r>
              <a:rPr lang="en-US" sz="1800" b="1" dirty="0">
                <a:solidFill>
                  <a:schemeClr val="tx2"/>
                </a:solidFill>
              </a:rPr>
              <a:t>Rewrite</a:t>
            </a:r>
            <a:endParaRPr lang="en-US" sz="1800" dirty="0"/>
          </a:p>
        </p:txBody>
      </p:sp>
      <p:sp>
        <p:nvSpPr>
          <p:cNvPr id="17" name="Text 12"/>
          <p:cNvSpPr txBox="1"/>
          <p:nvPr/>
        </p:nvSpPr>
        <p:spPr>
          <a:xfrm>
            <a:off x="6309360" y="2194560"/>
            <a:ext cx="2194560" cy="1188720"/>
          </a:xfrm>
          <a:prstGeom prst="rect">
            <a:avLst/>
          </a:prstGeom>
          <a:noFill/>
          <a:ln/>
        </p:spPr>
        <p:txBody>
          <a:bodyPr wrap="square" lIns="0" tIns="0" rIns="0" bIns="0" rtlCol="0" anchor="t"/>
          <a:lstStyle/>
          <a:p>
            <a:pPr indent="0" marL="0">
              <a:buNone/>
            </a:pPr>
            <a:r>
              <a:rPr lang="en-US" sz="1400" dirty="0">
                <a:solidFill>
                  <a:schemeClr val="tx1"/>
                </a:solidFill>
              </a:rPr>
              <a:t>Every new step needs the same setup code typed out by hand.</a:t>
            </a:r>
            <a:endParaRPr lang="en-US" sz="1400" dirty="0"/>
          </a:p>
        </p:txBody>
      </p:sp>
      <p:sp>
        <p:nvSpPr>
          <p:cNvPr id="18" name="Result"/>
          <p:cNvSpPr txBox="1"/>
          <p:nvPr/>
        </p:nvSpPr>
        <p:spPr>
          <a:xfrm>
            <a:off x="457200" y="3657600"/>
            <a:ext cx="8229600" cy="365760"/>
          </a:xfrm>
          <a:prstGeom prst="rect">
            <a:avLst/>
          </a:prstGeom>
          <a:noFill/>
          <a:ln/>
        </p:spPr>
        <p:txBody>
          <a:bodyPr wrap="square" lIns="0" tIns="0" rIns="0" bIns="0" rtlCol="0" anchor="ctr"/>
          <a:lstStyle/>
          <a:p>
            <a:pPr indent="0" marL="0">
              <a:buNone/>
            </a:pPr>
            <a:r>
              <a:rPr lang="en-US" sz="1500" b="1" dirty="0">
                <a:solidFill>
                  <a:schemeClr val="accent4"/>
                </a:solidFill>
              </a:rPr>
              <a:t>The result: </a:t>
            </a:r>
            <a:pPr indent="0" marL="0">
              <a:buNone/>
            </a:pPr>
            <a:r>
              <a:rPr lang="en-US" sz="1500" dirty="0">
                <a:solidFill>
                  <a:schemeClr val="tx2"/>
                </a:solidFill>
              </a:rPr>
              <a:t>slower test writing, messier test code, and more maintenance cost over time.</a:t>
            </a:r>
            <a:endParaRPr lang="en-US" sz="1500" dirty="0"/>
          </a:p>
        </p:txBody>
      </p:sp>
      <p:sp>
        <p:nvSpPr>
          <p:cNvPr id="19" name="Steps placeholder box"/>
          <p:cNvSpPr/>
          <p:nvPr/>
        </p:nvSpPr>
        <p:spPr>
          <a:xfrm>
            <a:off x="457200" y="4160520"/>
            <a:ext cx="3931920" cy="384048"/>
          </a:xfrm>
          <a:prstGeom prst="roundRect">
            <a:avLst>
              <a:gd name="adj" fmla="val 14286"/>
            </a:avLst>
          </a:prstGeom>
          <a:solidFill>
            <a:srgbClr val="FDF0D9"/>
          </a:solidFill>
          <a:ln w="15875">
            <a:solidFill>
              <a:srgbClr val="E39B2D"/>
            </a:solidFill>
            <a:prstDash val="solid"/>
          </a:ln>
        </p:spPr>
      </p:sp>
      <p:sp>
        <p:nvSpPr>
          <p:cNvPr id="20" name="Steps placeholder"/>
          <p:cNvSpPr txBox="1"/>
          <p:nvPr/>
        </p:nvSpPr>
        <p:spPr>
          <a:xfrm>
            <a:off x="566928" y="4160520"/>
            <a:ext cx="3712464" cy="384048"/>
          </a:xfrm>
          <a:prstGeom prst="rect">
            <a:avLst/>
          </a:prstGeom>
          <a:noFill/>
          <a:ln/>
        </p:spPr>
        <p:txBody>
          <a:bodyPr wrap="square" lIns="0" tIns="0" rIns="0" bIns="0" rtlCol="0" anchor="ctr"/>
          <a:lstStyle/>
          <a:p>
            <a:pPr indent="0" marL="0">
              <a:buNone/>
            </a:pPr>
            <a:r>
              <a:rPr lang="en-US" sz="1200" b="1" dirty="0">
                <a:solidFill>
                  <a:srgbClr val="8A5A0C"/>
                </a:solidFill>
              </a:rPr>
              <a:t>[ADD: number of steps in our main suite]</a:t>
            </a:r>
            <a:endParaRPr lang="en-US" sz="1200" dirty="0"/>
          </a:p>
        </p:txBody>
      </p:sp>
      <p:sp>
        <p:nvSpPr>
          <p:cNvPr id="21" name="Duplicate example placeholder box"/>
          <p:cNvSpPr/>
          <p:nvPr/>
        </p:nvSpPr>
        <p:spPr>
          <a:xfrm>
            <a:off x="4572000" y="4160520"/>
            <a:ext cx="4114800" cy="384048"/>
          </a:xfrm>
          <a:prstGeom prst="roundRect">
            <a:avLst>
              <a:gd name="adj" fmla="val 14286"/>
            </a:avLst>
          </a:prstGeom>
          <a:solidFill>
            <a:srgbClr val="FDF0D9"/>
          </a:solidFill>
          <a:ln w="15875">
            <a:solidFill>
              <a:srgbClr val="E39B2D"/>
            </a:solidFill>
            <a:prstDash val="solid"/>
          </a:ln>
        </p:spPr>
      </p:sp>
      <p:sp>
        <p:nvSpPr>
          <p:cNvPr id="22" name="Duplicate example placeholder"/>
          <p:cNvSpPr txBox="1"/>
          <p:nvPr/>
        </p:nvSpPr>
        <p:spPr>
          <a:xfrm>
            <a:off x="4681728" y="4160520"/>
            <a:ext cx="3895344" cy="384048"/>
          </a:xfrm>
          <a:prstGeom prst="rect">
            <a:avLst/>
          </a:prstGeom>
          <a:noFill/>
          <a:ln/>
        </p:spPr>
        <p:txBody>
          <a:bodyPr wrap="square" lIns="0" tIns="0" rIns="0" bIns="0" rtlCol="0" anchor="ctr"/>
          <a:lstStyle/>
          <a:p>
            <a:pPr indent="0" marL="0">
              <a:buNone/>
            </a:pPr>
            <a:r>
              <a:rPr lang="en-US" sz="1200" b="1" dirty="0">
                <a:solidFill>
                  <a:srgbClr val="8A5A0C"/>
                </a:solidFill>
              </a:rPr>
              <a:t>[ADD: example of a duplicate from our real suite]</a:t>
            </a:r>
            <a:endParaRPr lang="en-US" sz="12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gherkin-copilot helps teams reuse what they have</a:t>
            </a:r>
            <a:endParaRPr lang="en-US" sz="2800" dirty="0"/>
          </a:p>
        </p:txBody>
      </p:sp>
      <p:sp>
        <p:nvSpPr>
          <p:cNvPr id="3" name="Feature Catalogue"/>
          <p:cNvSpPr/>
          <p:nvPr/>
        </p:nvSpPr>
        <p:spPr>
          <a:xfrm>
            <a:off x="457200" y="1188720"/>
            <a:ext cx="2606040" cy="1298448"/>
          </a:xfrm>
          <a:prstGeom prst="roundRect">
            <a:avLst>
              <a:gd name="adj" fmla="val 5634"/>
            </a:avLst>
          </a:prstGeom>
          <a:solidFill>
            <a:schemeClr val="bg1"/>
          </a:solidFill>
          <a:ln/>
          <a:effectLst>
            <a:outerShdw sx="100000" sy="100000" kx="0" ky="0" algn="bl" rotWithShape="0" blurRad="76200" dist="25400" dir="5400000">
              <a:srgbClr val="000000">
                <a:alpha val="12000"/>
              </a:srgbClr>
            </a:outerShdw>
          </a:effectLst>
        </p:spPr>
      </p:sp>
      <p:sp>
        <p:nvSpPr>
          <p:cNvPr id="4" name="Feature 1 circle"/>
          <p:cNvSpPr/>
          <p:nvPr/>
        </p:nvSpPr>
        <p:spPr>
          <a:xfrm>
            <a:off x="621792" y="1353312"/>
            <a:ext cx="457200" cy="457200"/>
          </a:xfrm>
          <a:prstGeom prst="ellipse">
            <a:avLst/>
          </a:prstGeom>
          <a:solidFill>
            <a:schemeClr val="accent1"/>
          </a:solidFill>
          <a:ln/>
        </p:spPr>
      </p:sp>
      <p:pic>
        <p:nvPicPr>
          <p:cNvPr id="5" name="Feature 1 icon" descr="preencoded.png">    </p:cNvPr>
          <p:cNvPicPr>
            <a:picLocks noChangeAspect="1"/>
          </p:cNvPicPr>
          <p:nvPr/>
        </p:nvPicPr>
        <p:blipFill>
          <a:blip r:embed="rId1"/>
          <a:stretch>
            <a:fillRect/>
          </a:stretch>
        </p:blipFill>
        <p:spPr>
          <a:xfrm>
            <a:off x="736092" y="1467612"/>
            <a:ext cx="228600" cy="228600"/>
          </a:xfrm>
          <a:prstGeom prst="rect">
            <a:avLst/>
          </a:prstGeom>
        </p:spPr>
      </p:pic>
      <p:sp>
        <p:nvSpPr>
          <p:cNvPr id="6" name="Text 3"/>
          <p:cNvSpPr txBox="1"/>
          <p:nvPr/>
        </p:nvSpPr>
        <p:spPr>
          <a:xfrm>
            <a:off x="1188720" y="1325880"/>
            <a:ext cx="1783080" cy="548640"/>
          </a:xfrm>
          <a:prstGeom prst="rect">
            <a:avLst/>
          </a:prstGeom>
          <a:noFill/>
          <a:ln/>
        </p:spPr>
        <p:txBody>
          <a:bodyPr wrap="square" lIns="0" tIns="0" rIns="0" bIns="0" rtlCol="0" anchor="ctr"/>
          <a:lstStyle/>
          <a:p>
            <a:pPr indent="0" marL="0">
              <a:buNone/>
            </a:pPr>
            <a:r>
              <a:rPr lang="en-US" sz="1500" b="1" dirty="0">
                <a:solidFill>
                  <a:schemeClr val="tx2"/>
                </a:solidFill>
              </a:rPr>
              <a:t>Catalogue</a:t>
            </a:r>
            <a:endParaRPr lang="en-US" sz="1400" dirty="0"/>
          </a:p>
          <a:p>
            <a:pPr indent="0" marL="0">
              <a:buNone/>
            </a:pPr>
            <a:r>
              <a:rPr lang="en-US" sz="1000" dirty="0">
                <a:solidFill>
                  <a:schemeClr val="accent6"/>
                </a:solidFill>
                <a:latin typeface="Courier New" pitchFamily="34" charset="0"/>
                <a:ea typeface="Courier New" pitchFamily="34" charset="-122"/>
                <a:cs typeface="Courier New" pitchFamily="34" charset="-120"/>
              </a:rPr>
              <a:t>index</a:t>
            </a:r>
            <a:endParaRPr lang="en-US" sz="1400" dirty="0"/>
          </a:p>
        </p:txBody>
      </p:sp>
      <p:sp>
        <p:nvSpPr>
          <p:cNvPr id="7" name="Text 4"/>
          <p:cNvSpPr txBox="1"/>
          <p:nvPr/>
        </p:nvSpPr>
        <p:spPr>
          <a:xfrm>
            <a:off x="621792" y="1920240"/>
            <a:ext cx="2331720" cy="502920"/>
          </a:xfrm>
          <a:prstGeom prst="rect">
            <a:avLst/>
          </a:prstGeom>
          <a:noFill/>
          <a:ln/>
        </p:spPr>
        <p:txBody>
          <a:bodyPr wrap="square" lIns="0" tIns="0" rIns="0" bIns="0" rtlCol="0" anchor="t"/>
          <a:lstStyle/>
          <a:p>
            <a:pPr indent="0" marL="0">
              <a:buNone/>
            </a:pPr>
            <a:r>
              <a:rPr lang="en-US" sz="1250" dirty="0">
                <a:solidFill>
                  <a:schemeClr val="tx1"/>
                </a:solidFill>
              </a:rPr>
              <a:t>Lists every step we already have, and where it lives</a:t>
            </a:r>
            <a:endParaRPr lang="en-US" sz="1250" dirty="0"/>
          </a:p>
        </p:txBody>
      </p:sp>
      <p:sp>
        <p:nvSpPr>
          <p:cNvPr id="8" name="Feature Did you mean…?"/>
          <p:cNvSpPr/>
          <p:nvPr/>
        </p:nvSpPr>
        <p:spPr>
          <a:xfrm>
            <a:off x="3268980" y="1188720"/>
            <a:ext cx="2606040" cy="1298448"/>
          </a:xfrm>
          <a:prstGeom prst="roundRect">
            <a:avLst>
              <a:gd name="adj" fmla="val 5634"/>
            </a:avLst>
          </a:prstGeom>
          <a:solidFill>
            <a:schemeClr val="bg1"/>
          </a:solidFill>
          <a:ln/>
          <a:effectLst>
            <a:outerShdw sx="100000" sy="100000" kx="0" ky="0" algn="bl" rotWithShape="0" blurRad="76200" dist="25400" dir="5400000">
              <a:srgbClr val="000000">
                <a:alpha val="12000"/>
              </a:srgbClr>
            </a:outerShdw>
          </a:effectLst>
        </p:spPr>
      </p:sp>
      <p:sp>
        <p:nvSpPr>
          <p:cNvPr id="9" name="Feature 2 circle"/>
          <p:cNvSpPr/>
          <p:nvPr/>
        </p:nvSpPr>
        <p:spPr>
          <a:xfrm>
            <a:off x="3433572" y="1353312"/>
            <a:ext cx="457200" cy="457200"/>
          </a:xfrm>
          <a:prstGeom prst="ellipse">
            <a:avLst/>
          </a:prstGeom>
          <a:solidFill>
            <a:schemeClr val="accent1"/>
          </a:solidFill>
          <a:ln/>
        </p:spPr>
      </p:sp>
      <p:pic>
        <p:nvPicPr>
          <p:cNvPr id="10" name="Feature 2 icon" descr="preencoded.png">    </p:cNvPr>
          <p:cNvPicPr>
            <a:picLocks noChangeAspect="1"/>
          </p:cNvPicPr>
          <p:nvPr/>
        </p:nvPicPr>
        <p:blipFill>
          <a:blip r:embed="rId2"/>
          <a:stretch>
            <a:fillRect/>
          </a:stretch>
        </p:blipFill>
        <p:spPr>
          <a:xfrm>
            <a:off x="3547872" y="1467612"/>
            <a:ext cx="228600" cy="228600"/>
          </a:xfrm>
          <a:prstGeom prst="rect">
            <a:avLst/>
          </a:prstGeom>
        </p:spPr>
      </p:pic>
      <p:sp>
        <p:nvSpPr>
          <p:cNvPr id="11" name="Text 7"/>
          <p:cNvSpPr txBox="1"/>
          <p:nvPr/>
        </p:nvSpPr>
        <p:spPr>
          <a:xfrm>
            <a:off x="4000500" y="1325880"/>
            <a:ext cx="1783080" cy="548640"/>
          </a:xfrm>
          <a:prstGeom prst="rect">
            <a:avLst/>
          </a:prstGeom>
          <a:noFill/>
          <a:ln/>
        </p:spPr>
        <p:txBody>
          <a:bodyPr wrap="square" lIns="0" tIns="0" rIns="0" bIns="0" rtlCol="0" anchor="ctr"/>
          <a:lstStyle/>
          <a:p>
            <a:pPr indent="0" marL="0">
              <a:buNone/>
            </a:pPr>
            <a:r>
              <a:rPr lang="en-US" sz="1500" b="1" dirty="0">
                <a:solidFill>
                  <a:schemeClr val="tx2"/>
                </a:solidFill>
              </a:rPr>
              <a:t>Did you mean…?</a:t>
            </a:r>
            <a:endParaRPr lang="en-US" sz="1400" dirty="0"/>
          </a:p>
          <a:p>
            <a:pPr indent="0" marL="0">
              <a:buNone/>
            </a:pPr>
            <a:r>
              <a:rPr lang="en-US" sz="1000" dirty="0">
                <a:solidFill>
                  <a:schemeClr val="accent6"/>
                </a:solidFill>
                <a:latin typeface="Courier New" pitchFamily="34" charset="0"/>
                <a:ea typeface="Courier New" pitchFamily="34" charset="-122"/>
                <a:cs typeface="Courier New" pitchFamily="34" charset="-120"/>
              </a:rPr>
              <a:t>find</a:t>
            </a:r>
            <a:endParaRPr lang="en-US" sz="1400" dirty="0"/>
          </a:p>
        </p:txBody>
      </p:sp>
      <p:sp>
        <p:nvSpPr>
          <p:cNvPr id="12" name="Text 8"/>
          <p:cNvSpPr txBox="1"/>
          <p:nvPr/>
        </p:nvSpPr>
        <p:spPr>
          <a:xfrm>
            <a:off x="3433572" y="1920240"/>
            <a:ext cx="2331720" cy="502920"/>
          </a:xfrm>
          <a:prstGeom prst="rect">
            <a:avLst/>
          </a:prstGeom>
          <a:noFill/>
          <a:ln/>
        </p:spPr>
        <p:txBody>
          <a:bodyPr wrap="square" lIns="0" tIns="0" rIns="0" bIns="0" rtlCol="0" anchor="t"/>
          <a:lstStyle/>
          <a:p>
            <a:pPr indent="0" marL="0">
              <a:buNone/>
            </a:pPr>
            <a:r>
              <a:rPr lang="en-US" sz="1250" dirty="0">
                <a:solidFill>
                  <a:schemeClr val="tx1"/>
                </a:solidFill>
              </a:rPr>
              <a:t>Suggests an existing step before anyone writes a new one</a:t>
            </a:r>
            <a:endParaRPr lang="en-US" sz="1250" dirty="0"/>
          </a:p>
        </p:txBody>
      </p:sp>
      <p:sp>
        <p:nvSpPr>
          <p:cNvPr id="13" name="Feature Spot duplicates"/>
          <p:cNvSpPr/>
          <p:nvPr/>
        </p:nvSpPr>
        <p:spPr>
          <a:xfrm>
            <a:off x="6080760" y="1188720"/>
            <a:ext cx="2606040" cy="1298448"/>
          </a:xfrm>
          <a:prstGeom prst="roundRect">
            <a:avLst>
              <a:gd name="adj" fmla="val 5634"/>
            </a:avLst>
          </a:prstGeom>
          <a:solidFill>
            <a:schemeClr val="bg1"/>
          </a:solidFill>
          <a:ln/>
          <a:effectLst>
            <a:outerShdw sx="100000" sy="100000" kx="0" ky="0" algn="bl" rotWithShape="0" blurRad="76200" dist="25400" dir="5400000">
              <a:srgbClr val="000000">
                <a:alpha val="12000"/>
              </a:srgbClr>
            </a:outerShdw>
          </a:effectLst>
        </p:spPr>
      </p:sp>
      <p:sp>
        <p:nvSpPr>
          <p:cNvPr id="14" name="Feature 3 circle"/>
          <p:cNvSpPr/>
          <p:nvPr/>
        </p:nvSpPr>
        <p:spPr>
          <a:xfrm>
            <a:off x="6245352" y="1353312"/>
            <a:ext cx="457200" cy="457200"/>
          </a:xfrm>
          <a:prstGeom prst="ellipse">
            <a:avLst/>
          </a:prstGeom>
          <a:solidFill>
            <a:schemeClr val="accent1"/>
          </a:solidFill>
          <a:ln/>
        </p:spPr>
      </p:sp>
      <p:pic>
        <p:nvPicPr>
          <p:cNvPr id="15" name="Feature 3 icon" descr="preencoded.png">    </p:cNvPr>
          <p:cNvPicPr>
            <a:picLocks noChangeAspect="1"/>
          </p:cNvPicPr>
          <p:nvPr/>
        </p:nvPicPr>
        <p:blipFill>
          <a:blip r:embed="rId3"/>
          <a:stretch>
            <a:fillRect/>
          </a:stretch>
        </p:blipFill>
        <p:spPr>
          <a:xfrm>
            <a:off x="6359652" y="1467612"/>
            <a:ext cx="228600" cy="228600"/>
          </a:xfrm>
          <a:prstGeom prst="rect">
            <a:avLst/>
          </a:prstGeom>
        </p:spPr>
      </p:pic>
      <p:sp>
        <p:nvSpPr>
          <p:cNvPr id="16" name="Text 11"/>
          <p:cNvSpPr txBox="1"/>
          <p:nvPr/>
        </p:nvSpPr>
        <p:spPr>
          <a:xfrm>
            <a:off x="6812280" y="1325880"/>
            <a:ext cx="1783080" cy="548640"/>
          </a:xfrm>
          <a:prstGeom prst="rect">
            <a:avLst/>
          </a:prstGeom>
          <a:noFill/>
          <a:ln/>
        </p:spPr>
        <p:txBody>
          <a:bodyPr wrap="square" lIns="0" tIns="0" rIns="0" bIns="0" rtlCol="0" anchor="ctr"/>
          <a:lstStyle/>
          <a:p>
            <a:pPr indent="0" marL="0">
              <a:buNone/>
            </a:pPr>
            <a:r>
              <a:rPr lang="en-US" sz="1500" b="1" dirty="0">
                <a:solidFill>
                  <a:schemeClr val="tx2"/>
                </a:solidFill>
              </a:rPr>
              <a:t>Spot duplicates</a:t>
            </a:r>
            <a:endParaRPr lang="en-US" sz="1400" dirty="0"/>
          </a:p>
          <a:p>
            <a:pPr indent="0" marL="0">
              <a:buNone/>
            </a:pPr>
            <a:r>
              <a:rPr lang="en-US" sz="1000" dirty="0">
                <a:solidFill>
                  <a:schemeClr val="accent6"/>
                </a:solidFill>
                <a:latin typeface="Courier New" pitchFamily="34" charset="0"/>
                <a:ea typeface="Courier New" pitchFamily="34" charset="-122"/>
                <a:cs typeface="Courier New" pitchFamily="34" charset="-120"/>
              </a:rPr>
              <a:t>dupes</a:t>
            </a:r>
            <a:endParaRPr lang="en-US" sz="1400" dirty="0"/>
          </a:p>
        </p:txBody>
      </p:sp>
      <p:sp>
        <p:nvSpPr>
          <p:cNvPr id="17" name="Text 12"/>
          <p:cNvSpPr txBox="1"/>
          <p:nvPr/>
        </p:nvSpPr>
        <p:spPr>
          <a:xfrm>
            <a:off x="6245352" y="1920240"/>
            <a:ext cx="2331720" cy="502920"/>
          </a:xfrm>
          <a:prstGeom prst="rect">
            <a:avLst/>
          </a:prstGeom>
          <a:noFill/>
          <a:ln/>
        </p:spPr>
        <p:txBody>
          <a:bodyPr wrap="square" lIns="0" tIns="0" rIns="0" bIns="0" rtlCol="0" anchor="t"/>
          <a:lstStyle/>
          <a:p>
            <a:pPr indent="0" marL="0">
              <a:buNone/>
            </a:pPr>
            <a:r>
              <a:rPr lang="en-US" sz="1250" dirty="0">
                <a:solidFill>
                  <a:schemeClr val="tx1"/>
                </a:solidFill>
              </a:rPr>
              <a:t>Finds steps that say the same thing in different words</a:t>
            </a:r>
            <a:endParaRPr lang="en-US" sz="1250" dirty="0"/>
          </a:p>
        </p:txBody>
      </p:sp>
      <p:sp>
        <p:nvSpPr>
          <p:cNvPr id="18" name="Feature Merge duplicates"/>
          <p:cNvSpPr/>
          <p:nvPr/>
        </p:nvSpPr>
        <p:spPr>
          <a:xfrm>
            <a:off x="457200" y="2651760"/>
            <a:ext cx="2606040" cy="1298448"/>
          </a:xfrm>
          <a:prstGeom prst="roundRect">
            <a:avLst>
              <a:gd name="adj" fmla="val 5634"/>
            </a:avLst>
          </a:prstGeom>
          <a:solidFill>
            <a:schemeClr val="bg1"/>
          </a:solidFill>
          <a:ln/>
          <a:effectLst>
            <a:outerShdw sx="100000" sy="100000" kx="0" ky="0" algn="bl" rotWithShape="0" blurRad="76200" dist="25400" dir="5400000">
              <a:srgbClr val="000000">
                <a:alpha val="12000"/>
              </a:srgbClr>
            </a:outerShdw>
          </a:effectLst>
        </p:spPr>
      </p:sp>
      <p:sp>
        <p:nvSpPr>
          <p:cNvPr id="19" name="Feature 4 circle"/>
          <p:cNvSpPr/>
          <p:nvPr/>
        </p:nvSpPr>
        <p:spPr>
          <a:xfrm>
            <a:off x="621792" y="2816352"/>
            <a:ext cx="457200" cy="457200"/>
          </a:xfrm>
          <a:prstGeom prst="ellipse">
            <a:avLst/>
          </a:prstGeom>
          <a:solidFill>
            <a:schemeClr val="accent1"/>
          </a:solidFill>
          <a:ln/>
        </p:spPr>
      </p:sp>
      <p:pic>
        <p:nvPicPr>
          <p:cNvPr id="20" name="Feature 4 icon" descr="preencoded.png">    </p:cNvPr>
          <p:cNvPicPr>
            <a:picLocks noChangeAspect="1"/>
          </p:cNvPicPr>
          <p:nvPr/>
        </p:nvPicPr>
        <p:blipFill>
          <a:blip r:embed="rId4"/>
          <a:stretch>
            <a:fillRect/>
          </a:stretch>
        </p:blipFill>
        <p:spPr>
          <a:xfrm>
            <a:off x="736092" y="2930652"/>
            <a:ext cx="228600" cy="228600"/>
          </a:xfrm>
          <a:prstGeom prst="rect">
            <a:avLst/>
          </a:prstGeom>
        </p:spPr>
      </p:pic>
      <p:sp>
        <p:nvSpPr>
          <p:cNvPr id="21" name="Text 15"/>
          <p:cNvSpPr txBox="1"/>
          <p:nvPr/>
        </p:nvSpPr>
        <p:spPr>
          <a:xfrm>
            <a:off x="1188720" y="2788920"/>
            <a:ext cx="1783080" cy="548640"/>
          </a:xfrm>
          <a:prstGeom prst="rect">
            <a:avLst/>
          </a:prstGeom>
          <a:noFill/>
          <a:ln/>
        </p:spPr>
        <p:txBody>
          <a:bodyPr wrap="square" lIns="0" tIns="0" rIns="0" bIns="0" rtlCol="0" anchor="ctr"/>
          <a:lstStyle/>
          <a:p>
            <a:pPr indent="0" marL="0">
              <a:buNone/>
            </a:pPr>
            <a:r>
              <a:rPr lang="en-US" sz="1500" b="1" dirty="0">
                <a:solidFill>
                  <a:schemeClr val="tx2"/>
                </a:solidFill>
              </a:rPr>
              <a:t>Merge duplicates</a:t>
            </a:r>
            <a:endParaRPr lang="en-US" sz="1400" dirty="0"/>
          </a:p>
          <a:p>
            <a:pPr indent="0" marL="0">
              <a:buNone/>
            </a:pPr>
            <a:r>
              <a:rPr lang="en-US" sz="1000" dirty="0">
                <a:solidFill>
                  <a:schemeClr val="accent6"/>
                </a:solidFill>
                <a:latin typeface="Courier New" pitchFamily="34" charset="0"/>
                <a:ea typeface="Courier New" pitchFamily="34" charset="-122"/>
                <a:cs typeface="Courier New" pitchFamily="34" charset="-120"/>
              </a:rPr>
              <a:t>merge</a:t>
            </a:r>
            <a:endParaRPr lang="en-US" sz="1400" dirty="0"/>
          </a:p>
        </p:txBody>
      </p:sp>
      <p:sp>
        <p:nvSpPr>
          <p:cNvPr id="22" name="Text 16"/>
          <p:cNvSpPr txBox="1"/>
          <p:nvPr/>
        </p:nvSpPr>
        <p:spPr>
          <a:xfrm>
            <a:off x="621792" y="3383280"/>
            <a:ext cx="2331720" cy="502920"/>
          </a:xfrm>
          <a:prstGeom prst="rect">
            <a:avLst/>
          </a:prstGeom>
          <a:noFill/>
          <a:ln/>
        </p:spPr>
        <p:txBody>
          <a:bodyPr wrap="square" lIns="0" tIns="0" rIns="0" bIns="0" rtlCol="0" anchor="t"/>
          <a:lstStyle/>
          <a:p>
            <a:pPr indent="0" marL="0">
              <a:buNone/>
            </a:pPr>
            <a:r>
              <a:rPr lang="en-US" sz="1250" dirty="0">
                <a:solidFill>
                  <a:schemeClr val="tx1"/>
                </a:solidFill>
              </a:rPr>
              <a:t>Keeps one, updates the tests, previews before changing anything</a:t>
            </a:r>
            <a:endParaRPr lang="en-US" sz="1250" dirty="0"/>
          </a:p>
        </p:txBody>
      </p:sp>
      <p:sp>
        <p:nvSpPr>
          <p:cNvPr id="23" name="Feature Readiness check"/>
          <p:cNvSpPr/>
          <p:nvPr/>
        </p:nvSpPr>
        <p:spPr>
          <a:xfrm>
            <a:off x="3268980" y="2651760"/>
            <a:ext cx="2606040" cy="1298448"/>
          </a:xfrm>
          <a:prstGeom prst="roundRect">
            <a:avLst>
              <a:gd name="adj" fmla="val 5634"/>
            </a:avLst>
          </a:prstGeom>
          <a:solidFill>
            <a:schemeClr val="bg1"/>
          </a:solidFill>
          <a:ln/>
          <a:effectLst>
            <a:outerShdw sx="100000" sy="100000" kx="0" ky="0" algn="bl" rotWithShape="0" blurRad="76200" dist="25400" dir="5400000">
              <a:srgbClr val="000000">
                <a:alpha val="12000"/>
              </a:srgbClr>
            </a:outerShdw>
          </a:effectLst>
        </p:spPr>
      </p:sp>
      <p:sp>
        <p:nvSpPr>
          <p:cNvPr id="24" name="Feature 5 circle"/>
          <p:cNvSpPr/>
          <p:nvPr/>
        </p:nvSpPr>
        <p:spPr>
          <a:xfrm>
            <a:off x="3433572" y="2816352"/>
            <a:ext cx="457200" cy="457200"/>
          </a:xfrm>
          <a:prstGeom prst="ellipse">
            <a:avLst/>
          </a:prstGeom>
          <a:solidFill>
            <a:schemeClr val="accent1"/>
          </a:solidFill>
          <a:ln/>
        </p:spPr>
      </p:sp>
      <p:pic>
        <p:nvPicPr>
          <p:cNvPr id="25" name="Feature 5 icon" descr="preencoded.png">    </p:cNvPr>
          <p:cNvPicPr>
            <a:picLocks noChangeAspect="1"/>
          </p:cNvPicPr>
          <p:nvPr/>
        </p:nvPicPr>
        <p:blipFill>
          <a:blip r:embed="rId5"/>
          <a:stretch>
            <a:fillRect/>
          </a:stretch>
        </p:blipFill>
        <p:spPr>
          <a:xfrm>
            <a:off x="3547872" y="2930652"/>
            <a:ext cx="228600" cy="228600"/>
          </a:xfrm>
          <a:prstGeom prst="rect">
            <a:avLst/>
          </a:prstGeom>
        </p:spPr>
      </p:pic>
      <p:sp>
        <p:nvSpPr>
          <p:cNvPr id="26" name="Text 19"/>
          <p:cNvSpPr txBox="1"/>
          <p:nvPr/>
        </p:nvSpPr>
        <p:spPr>
          <a:xfrm>
            <a:off x="4000500" y="2788920"/>
            <a:ext cx="1783080" cy="548640"/>
          </a:xfrm>
          <a:prstGeom prst="rect">
            <a:avLst/>
          </a:prstGeom>
          <a:noFill/>
          <a:ln/>
        </p:spPr>
        <p:txBody>
          <a:bodyPr wrap="square" lIns="0" tIns="0" rIns="0" bIns="0" rtlCol="0" anchor="ctr"/>
          <a:lstStyle/>
          <a:p>
            <a:pPr indent="0" marL="0">
              <a:buNone/>
            </a:pPr>
            <a:r>
              <a:rPr lang="en-US" sz="1500" b="1" dirty="0">
                <a:solidFill>
                  <a:schemeClr val="tx2"/>
                </a:solidFill>
              </a:rPr>
              <a:t>Readiness check</a:t>
            </a:r>
            <a:endParaRPr lang="en-US" sz="1400" dirty="0"/>
          </a:p>
          <a:p>
            <a:pPr indent="0" marL="0">
              <a:buNone/>
            </a:pPr>
            <a:r>
              <a:rPr lang="en-US" sz="1000" dirty="0">
                <a:solidFill>
                  <a:schemeClr val="accent6"/>
                </a:solidFill>
                <a:latin typeface="Courier New" pitchFamily="34" charset="0"/>
                <a:ea typeface="Courier New" pitchFamily="34" charset="-122"/>
                <a:cs typeface="Courier New" pitchFamily="34" charset="-120"/>
              </a:rPr>
              <a:t>check --stubs</a:t>
            </a:r>
            <a:endParaRPr lang="en-US" sz="1400" dirty="0"/>
          </a:p>
        </p:txBody>
      </p:sp>
      <p:sp>
        <p:nvSpPr>
          <p:cNvPr id="27" name="Text 20"/>
          <p:cNvSpPr txBox="1"/>
          <p:nvPr/>
        </p:nvSpPr>
        <p:spPr>
          <a:xfrm>
            <a:off x="3433572" y="3383280"/>
            <a:ext cx="2331720" cy="502920"/>
          </a:xfrm>
          <a:prstGeom prst="rect">
            <a:avLst/>
          </a:prstGeom>
          <a:noFill/>
          <a:ln/>
        </p:spPr>
        <p:txBody>
          <a:bodyPr wrap="square" lIns="0" tIns="0" rIns="0" bIns="0" rtlCol="0" anchor="t"/>
          <a:lstStyle/>
          <a:p>
            <a:pPr indent="0" marL="0">
              <a:buNone/>
            </a:pPr>
            <a:r>
              <a:rPr lang="en-US" sz="1250" dirty="0">
                <a:solidFill>
                  <a:schemeClr val="tx1"/>
                </a:solidFill>
              </a:rPr>
              <a:t>Shows which lines are ready and drafts code for the rest</a:t>
            </a:r>
            <a:endParaRPr lang="en-US" sz="1250" dirty="0"/>
          </a:p>
        </p:txBody>
      </p:sp>
      <p:sp>
        <p:nvSpPr>
          <p:cNvPr id="28" name="Feature Readable report"/>
          <p:cNvSpPr/>
          <p:nvPr/>
        </p:nvSpPr>
        <p:spPr>
          <a:xfrm>
            <a:off x="6080760" y="2651760"/>
            <a:ext cx="2606040" cy="1298448"/>
          </a:xfrm>
          <a:prstGeom prst="roundRect">
            <a:avLst>
              <a:gd name="adj" fmla="val 5634"/>
            </a:avLst>
          </a:prstGeom>
          <a:solidFill>
            <a:schemeClr val="bg1"/>
          </a:solidFill>
          <a:ln/>
          <a:effectLst>
            <a:outerShdw sx="100000" sy="100000" kx="0" ky="0" algn="bl" rotWithShape="0" blurRad="76200" dist="25400" dir="5400000">
              <a:srgbClr val="000000">
                <a:alpha val="12000"/>
              </a:srgbClr>
            </a:outerShdw>
          </a:effectLst>
        </p:spPr>
      </p:sp>
      <p:sp>
        <p:nvSpPr>
          <p:cNvPr id="29" name="Feature 6 circle"/>
          <p:cNvSpPr/>
          <p:nvPr/>
        </p:nvSpPr>
        <p:spPr>
          <a:xfrm>
            <a:off x="6245352" y="2816352"/>
            <a:ext cx="457200" cy="457200"/>
          </a:xfrm>
          <a:prstGeom prst="ellipse">
            <a:avLst/>
          </a:prstGeom>
          <a:solidFill>
            <a:schemeClr val="accent1"/>
          </a:solidFill>
          <a:ln/>
        </p:spPr>
      </p:sp>
      <p:pic>
        <p:nvPicPr>
          <p:cNvPr id="30" name="Feature 6 icon" descr="preencoded.png">    </p:cNvPr>
          <p:cNvPicPr>
            <a:picLocks noChangeAspect="1"/>
          </p:cNvPicPr>
          <p:nvPr/>
        </p:nvPicPr>
        <p:blipFill>
          <a:blip r:embed="rId6"/>
          <a:stretch>
            <a:fillRect/>
          </a:stretch>
        </p:blipFill>
        <p:spPr>
          <a:xfrm>
            <a:off x="6359652" y="2930652"/>
            <a:ext cx="228600" cy="228600"/>
          </a:xfrm>
          <a:prstGeom prst="rect">
            <a:avLst/>
          </a:prstGeom>
        </p:spPr>
      </p:pic>
      <p:sp>
        <p:nvSpPr>
          <p:cNvPr id="31" name="Text 23"/>
          <p:cNvSpPr txBox="1"/>
          <p:nvPr/>
        </p:nvSpPr>
        <p:spPr>
          <a:xfrm>
            <a:off x="6812280" y="2788920"/>
            <a:ext cx="1783080" cy="548640"/>
          </a:xfrm>
          <a:prstGeom prst="rect">
            <a:avLst/>
          </a:prstGeom>
          <a:noFill/>
          <a:ln/>
        </p:spPr>
        <p:txBody>
          <a:bodyPr wrap="square" lIns="0" tIns="0" rIns="0" bIns="0" rtlCol="0" anchor="ctr"/>
          <a:lstStyle/>
          <a:p>
            <a:pPr indent="0" marL="0">
              <a:buNone/>
            </a:pPr>
            <a:r>
              <a:rPr lang="en-US" sz="1500" b="1" dirty="0">
                <a:solidFill>
                  <a:schemeClr val="tx2"/>
                </a:solidFill>
              </a:rPr>
              <a:t>Readable report</a:t>
            </a:r>
            <a:endParaRPr lang="en-US" sz="1400" dirty="0"/>
          </a:p>
          <a:p>
            <a:pPr indent="0" marL="0">
              <a:buNone/>
            </a:pPr>
            <a:r>
              <a:rPr lang="en-US" sz="1000" dirty="0">
                <a:solidFill>
                  <a:schemeClr val="accent6"/>
                </a:solidFill>
                <a:latin typeface="Courier New" pitchFamily="34" charset="0"/>
                <a:ea typeface="Courier New" pitchFamily="34" charset="-122"/>
                <a:cs typeface="Courier New" pitchFamily="34" charset="-120"/>
              </a:rPr>
              <a:t>report</a:t>
            </a:r>
            <a:endParaRPr lang="en-US" sz="1400" dirty="0"/>
          </a:p>
        </p:txBody>
      </p:sp>
      <p:sp>
        <p:nvSpPr>
          <p:cNvPr id="32" name="Text 24"/>
          <p:cNvSpPr txBox="1"/>
          <p:nvPr/>
        </p:nvSpPr>
        <p:spPr>
          <a:xfrm>
            <a:off x="6245352" y="3383280"/>
            <a:ext cx="2331720" cy="502920"/>
          </a:xfrm>
          <a:prstGeom prst="rect">
            <a:avLst/>
          </a:prstGeom>
          <a:noFill/>
          <a:ln/>
        </p:spPr>
        <p:txBody>
          <a:bodyPr wrap="square" lIns="0" tIns="0" rIns="0" bIns="0" rtlCol="0" anchor="t"/>
          <a:lstStyle/>
          <a:p>
            <a:pPr indent="0" marL="0">
              <a:buNone/>
            </a:pPr>
            <a:r>
              <a:rPr lang="en-US" sz="1250" dirty="0">
                <a:solidFill>
                  <a:schemeClr val="tx1"/>
                </a:solidFill>
              </a:rPr>
              <a:t>One web page of results anyone can read</a:t>
            </a:r>
            <a:endParaRPr lang="en-US" sz="1250" dirty="0"/>
          </a:p>
        </p:txBody>
      </p:sp>
      <p:sp>
        <p:nvSpPr>
          <p:cNvPr id="33" name="No AI strip"/>
          <p:cNvSpPr/>
          <p:nvPr/>
        </p:nvSpPr>
        <p:spPr>
          <a:xfrm>
            <a:off x="457200" y="4160520"/>
            <a:ext cx="8229600" cy="457200"/>
          </a:xfrm>
          <a:prstGeom prst="roundRect">
            <a:avLst>
              <a:gd name="adj" fmla="val 16000"/>
            </a:avLst>
          </a:prstGeom>
          <a:solidFill>
            <a:schemeClr val="bg2"/>
          </a:solidFill>
          <a:ln/>
        </p:spPr>
      </p:sp>
      <p:sp>
        <p:nvSpPr>
          <p:cNvPr id="34" name="No AI"/>
          <p:cNvSpPr txBox="1"/>
          <p:nvPr/>
        </p:nvSpPr>
        <p:spPr>
          <a:xfrm>
            <a:off x="640080" y="4160520"/>
            <a:ext cx="7955280" cy="457200"/>
          </a:xfrm>
          <a:prstGeom prst="rect">
            <a:avLst/>
          </a:prstGeom>
          <a:noFill/>
          <a:ln/>
        </p:spPr>
        <p:txBody>
          <a:bodyPr wrap="square" lIns="0" tIns="0" rIns="0" bIns="0" rtlCol="0" anchor="ctr"/>
          <a:lstStyle/>
          <a:p>
            <a:pPr indent="0" marL="0">
              <a:buNone/>
            </a:pPr>
            <a:r>
              <a:rPr lang="en-US" sz="1400" b="1" dirty="0">
                <a:solidFill>
                  <a:schemeClr val="accent1"/>
                </a:solidFill>
              </a:rPr>
              <a:t>No AI: </a:t>
            </a:r>
            <a:pPr indent="0" marL="0">
              <a:buNone/>
            </a:pPr>
            <a:r>
              <a:rPr lang="en-US" sz="1400" dirty="0">
                <a:solidFill>
                  <a:schemeClr val="tx1"/>
                </a:solidFill>
              </a:rPr>
              <a:t>it compares wording using simple, predictable rules. Same answer every time, no internet needed.</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“Did you mean…?” stops people rewriting steps</a:t>
            </a:r>
            <a:endParaRPr lang="en-US" sz="2800" dirty="0"/>
          </a:p>
        </p:txBody>
      </p:sp>
      <p:sp>
        <p:nvSpPr>
          <p:cNvPr id="3" name="Text 1"/>
          <p:cNvSpPr txBox="1"/>
          <p:nvPr/>
        </p:nvSpPr>
        <p:spPr>
          <a:xfrm>
            <a:off x="457200" y="1234440"/>
            <a:ext cx="4206240" cy="274320"/>
          </a:xfrm>
          <a:prstGeom prst="rect">
            <a:avLst/>
          </a:prstGeom>
          <a:noFill/>
          <a:ln/>
        </p:spPr>
        <p:txBody>
          <a:bodyPr wrap="square" lIns="0" tIns="0" rIns="0" bIns="0" rtlCol="0" anchor="t"/>
          <a:lstStyle/>
          <a:p>
            <a:pPr indent="0" marL="0">
              <a:buNone/>
            </a:pPr>
            <a:r>
              <a:rPr lang="en-US" sz="1300" dirty="0">
                <a:solidFill>
                  <a:schemeClr val="accent6"/>
                </a:solidFill>
              </a:rPr>
              <a:t>Someone is about to write:</a:t>
            </a:r>
            <a:endParaRPr lang="en-US" sz="1300" dirty="0"/>
          </a:p>
        </p:txBody>
      </p:sp>
      <p:sp>
        <p:nvSpPr>
          <p:cNvPr id="4" name="Typed line"/>
          <p:cNvSpPr/>
          <p:nvPr/>
        </p:nvSpPr>
        <p:spPr>
          <a:xfrm>
            <a:off x="457200" y="1554480"/>
            <a:ext cx="4206240" cy="548640"/>
          </a:xfrm>
          <a:prstGeom prst="roundRect">
            <a:avLst>
              <a:gd name="adj" fmla="val 13333"/>
            </a:avLst>
          </a:prstGeom>
          <a:solidFill>
            <a:srgbClr val="FBE9E5"/>
          </a:solidFill>
          <a:ln/>
        </p:spPr>
      </p:sp>
      <p:sp>
        <p:nvSpPr>
          <p:cNvPr id="5" name="Text 3"/>
          <p:cNvSpPr txBox="1"/>
          <p:nvPr/>
        </p:nvSpPr>
        <p:spPr>
          <a:xfrm>
            <a:off x="640080" y="1554480"/>
            <a:ext cx="3931920" cy="548640"/>
          </a:xfrm>
          <a:prstGeom prst="rect">
            <a:avLst/>
          </a:prstGeom>
          <a:noFill/>
          <a:ln/>
        </p:spPr>
        <p:txBody>
          <a:bodyPr wrap="square" lIns="0" tIns="0" rIns="0" bIns="0" rtlCol="0" anchor="ctr"/>
          <a:lstStyle/>
          <a:p>
            <a:pPr indent="0" marL="0">
              <a:buNone/>
            </a:pPr>
            <a:r>
              <a:rPr lang="en-US" sz="1400" dirty="0">
                <a:solidFill>
                  <a:schemeClr val="tx1"/>
                </a:solidFill>
                <a:latin typeface="Courier New" pitchFamily="34" charset="0"/>
                <a:ea typeface="Courier New" pitchFamily="34" charset="-122"/>
                <a:cs typeface="Courier New" pitchFamily="34" charset="-120"/>
              </a:rPr>
              <a:t>Given I open the login page</a:t>
            </a:r>
            <a:endParaRPr lang="en-US" sz="1400" dirty="0"/>
          </a:p>
        </p:txBody>
      </p:sp>
      <p:sp>
        <p:nvSpPr>
          <p:cNvPr id="6" name="Down arrow"/>
          <p:cNvSpPr/>
          <p:nvPr/>
        </p:nvSpPr>
        <p:spPr>
          <a:xfrm>
            <a:off x="2377440" y="2194560"/>
            <a:ext cx="365760" cy="365760"/>
          </a:xfrm>
          <a:prstGeom prst="downArrow">
            <a:avLst/>
          </a:prstGeom>
          <a:solidFill>
            <a:schemeClr val="accent2"/>
          </a:solidFill>
          <a:ln/>
        </p:spPr>
      </p:sp>
      <p:sp>
        <p:nvSpPr>
          <p:cNvPr id="7" name="Text 5"/>
          <p:cNvSpPr txBox="1"/>
          <p:nvPr/>
        </p:nvSpPr>
        <p:spPr>
          <a:xfrm>
            <a:off x="457200" y="2651760"/>
            <a:ext cx="4206240" cy="274320"/>
          </a:xfrm>
          <a:prstGeom prst="rect">
            <a:avLst/>
          </a:prstGeom>
          <a:noFill/>
          <a:ln/>
        </p:spPr>
        <p:txBody>
          <a:bodyPr wrap="square" lIns="0" tIns="0" rIns="0" bIns="0" rtlCol="0" anchor="t"/>
          <a:lstStyle/>
          <a:p>
            <a:pPr indent="0" marL="0">
              <a:buNone/>
            </a:pPr>
            <a:r>
              <a:rPr lang="en-US" sz="1300" dirty="0">
                <a:solidFill>
                  <a:schemeClr val="accent6"/>
                </a:solidFill>
              </a:rPr>
              <a:t>gherkin-copilot suggests the existing step:</a:t>
            </a:r>
            <a:endParaRPr lang="en-US" sz="1300" dirty="0"/>
          </a:p>
        </p:txBody>
      </p:sp>
      <p:sp>
        <p:nvSpPr>
          <p:cNvPr id="8" name="Suggested line"/>
          <p:cNvSpPr/>
          <p:nvPr/>
        </p:nvSpPr>
        <p:spPr>
          <a:xfrm>
            <a:off x="457200" y="2971800"/>
            <a:ext cx="4206240" cy="548640"/>
          </a:xfrm>
          <a:prstGeom prst="roundRect">
            <a:avLst>
              <a:gd name="adj" fmla="val 13333"/>
            </a:avLst>
          </a:prstGeom>
          <a:solidFill>
            <a:schemeClr val="accent5"/>
          </a:solidFill>
          <a:ln/>
        </p:spPr>
      </p:sp>
      <p:sp>
        <p:nvSpPr>
          <p:cNvPr id="9" name="Text 7"/>
          <p:cNvSpPr txBox="1"/>
          <p:nvPr/>
        </p:nvSpPr>
        <p:spPr>
          <a:xfrm>
            <a:off x="640080" y="2971800"/>
            <a:ext cx="3931920" cy="548640"/>
          </a:xfrm>
          <a:prstGeom prst="rect">
            <a:avLst/>
          </a:prstGeom>
          <a:noFill/>
          <a:ln/>
        </p:spPr>
        <p:txBody>
          <a:bodyPr wrap="square" lIns="0" tIns="0" rIns="0" bIns="0" rtlCol="0" anchor="ctr"/>
          <a:lstStyle/>
          <a:p>
            <a:pPr indent="0" marL="0">
              <a:buNone/>
            </a:pPr>
            <a:r>
              <a:rPr lang="en-US" sz="1400" dirty="0">
                <a:solidFill>
                  <a:schemeClr val="tx1"/>
                </a:solidFill>
                <a:latin typeface="Courier New" pitchFamily="34" charset="0"/>
                <a:ea typeface="Courier New" pitchFamily="34" charset="-122"/>
                <a:cs typeface="Courier New" pitchFamily="34" charset="-120"/>
              </a:rPr>
              <a:t>I am on the login page</a:t>
            </a:r>
            <a:endParaRPr lang="en-US" sz="1400" dirty="0"/>
          </a:p>
        </p:txBody>
      </p:sp>
      <p:sp>
        <p:nvSpPr>
          <p:cNvPr id="10" name="Text 8"/>
          <p:cNvSpPr txBox="1"/>
          <p:nvPr/>
        </p:nvSpPr>
        <p:spPr>
          <a:xfrm>
            <a:off x="457200" y="3703320"/>
            <a:ext cx="1371600" cy="77724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73%</a:t>
            </a:r>
            <a:endParaRPr lang="en-US" sz="4400" dirty="0"/>
          </a:p>
        </p:txBody>
      </p:sp>
      <p:sp>
        <p:nvSpPr>
          <p:cNvPr id="11" name="Text 9"/>
          <p:cNvSpPr txBox="1"/>
          <p:nvPr/>
        </p:nvSpPr>
        <p:spPr>
          <a:xfrm>
            <a:off x="1874520" y="3703320"/>
            <a:ext cx="2788920" cy="777240"/>
          </a:xfrm>
          <a:prstGeom prst="rect">
            <a:avLst/>
          </a:prstGeom>
          <a:noFill/>
          <a:ln/>
        </p:spPr>
        <p:txBody>
          <a:bodyPr wrap="square" lIns="0" tIns="0" rIns="0" bIns="0" rtlCol="0" anchor="ctr"/>
          <a:lstStyle/>
          <a:p>
            <a:pPr indent="0" marL="0">
              <a:buNone/>
            </a:pPr>
            <a:r>
              <a:rPr lang="en-US" sz="1400" dirty="0">
                <a:solidFill>
                  <a:schemeClr val="tx1"/>
                </a:solidFill>
              </a:rPr>
              <a:t>similar wording, so the existing step is reused instead of written again.</a:t>
            </a:r>
            <a:endParaRPr lang="en-US" sz="1400" dirty="0"/>
          </a:p>
        </p:txBody>
      </p:sp>
      <p:sp>
        <p:nvSpPr>
          <p:cNvPr id="12" name="Find screenshot frame"/>
          <p:cNvSpPr/>
          <p:nvPr/>
        </p:nvSpPr>
        <p:spPr>
          <a:xfrm>
            <a:off x="5029200" y="1234440"/>
            <a:ext cx="3657600" cy="3246120"/>
          </a:xfrm>
          <a:prstGeom prst="rect">
            <a:avLst/>
          </a:prstGeom>
          <a:solidFill>
            <a:srgbClr val="FBF8F2"/>
          </a:solidFill>
          <a:ln w="19050">
            <a:solidFill>
              <a:srgbClr val="E39B2D"/>
            </a:solidFill>
            <a:prstDash val="dash"/>
          </a:ln>
        </p:spPr>
      </p:sp>
      <p:sp>
        <p:nvSpPr>
          <p:cNvPr id="13" name="Find screenshot"/>
          <p:cNvSpPr txBox="1"/>
          <p:nvPr/>
        </p:nvSpPr>
        <p:spPr>
          <a:xfrm>
            <a:off x="5212080" y="1234440"/>
            <a:ext cx="3291840" cy="3246120"/>
          </a:xfrm>
          <a:prstGeom prst="rect">
            <a:avLst/>
          </a:prstGeom>
          <a:noFill/>
          <a:ln/>
        </p:spPr>
        <p:txBody>
          <a:bodyPr wrap="square" lIns="0" tIns="0" rIns="0" bIns="0" rtlCol="0" anchor="ctr"/>
          <a:lstStyle/>
          <a:p>
            <a:pPr algn="ctr" indent="0" marL="0">
              <a:buNone/>
            </a:pPr>
            <a:r>
              <a:rPr lang="en-US" sz="1500" b="1" dirty="0">
                <a:solidFill>
                  <a:srgbClr val="8A5A0C"/>
                </a:solidFill>
              </a:rPr>
              <a:t>[SCREENSHOT: find output]</a:t>
            </a:r>
            <a:endParaRPr lang="en-US" sz="1400" dirty="0"/>
          </a:p>
          <a:p>
            <a:pPr algn="ctr" indent="0" marL="0">
              <a:buNone/>
            </a:pPr>
            <a:r>
              <a:rPr lang="en-US" sz="1100" dirty="0">
                <a:solidFill>
                  <a:schemeClr val="accent6"/>
                </a:solidFill>
              </a:rPr>
              <a:t>Paste a screenshot from the live demo here</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Duplicates found and cleaned up, safely</a:t>
            </a:r>
            <a:endParaRPr lang="en-US" sz="2800" dirty="0"/>
          </a:p>
        </p:txBody>
      </p:sp>
      <p:sp>
        <p:nvSpPr>
          <p:cNvPr id="3" name="Text 1"/>
          <p:cNvSpPr txBox="1"/>
          <p:nvPr/>
        </p:nvSpPr>
        <p:spPr>
          <a:xfrm>
            <a:off x="457200" y="1188720"/>
            <a:ext cx="2011680" cy="274320"/>
          </a:xfrm>
          <a:prstGeom prst="rect">
            <a:avLst/>
          </a:prstGeom>
          <a:noFill/>
          <a:ln/>
        </p:spPr>
        <p:txBody>
          <a:bodyPr wrap="square" lIns="0" tIns="0" rIns="0" bIns="0" rtlCol="0" anchor="t"/>
          <a:lstStyle/>
          <a:p>
            <a:pPr indent="0" marL="0">
              <a:buNone/>
            </a:pPr>
            <a:r>
              <a:rPr lang="en-US" sz="1300" b="1" dirty="0">
                <a:solidFill>
                  <a:schemeClr val="accent4"/>
                </a:solidFill>
              </a:rPr>
              <a:t>Before</a:t>
            </a:r>
            <a:endParaRPr lang="en-US" sz="1300" dirty="0"/>
          </a:p>
        </p:txBody>
      </p:sp>
      <p:sp>
        <p:nvSpPr>
          <p:cNvPr id="4" name="Text 2"/>
          <p:cNvSpPr txBox="1"/>
          <p:nvPr/>
        </p:nvSpPr>
        <p:spPr>
          <a:xfrm>
            <a:off x="2926080" y="1188720"/>
            <a:ext cx="1920240" cy="274320"/>
          </a:xfrm>
          <a:prstGeom prst="rect">
            <a:avLst/>
          </a:prstGeom>
          <a:noFill/>
          <a:ln/>
        </p:spPr>
        <p:txBody>
          <a:bodyPr wrap="square" lIns="0" tIns="0" rIns="0" bIns="0" rtlCol="0" anchor="t"/>
          <a:lstStyle/>
          <a:p>
            <a:pPr indent="0" marL="0">
              <a:buNone/>
            </a:pPr>
            <a:r>
              <a:rPr lang="en-US" sz="1300" b="1" dirty="0">
                <a:solidFill>
                  <a:schemeClr val="accent1"/>
                </a:solidFill>
              </a:rPr>
              <a:t>After</a:t>
            </a:r>
            <a:endParaRPr lang="en-US" sz="1300" dirty="0"/>
          </a:p>
        </p:txBody>
      </p:sp>
      <p:sp>
        <p:nvSpPr>
          <p:cNvPr id="5" name="Before 1"/>
          <p:cNvSpPr/>
          <p:nvPr/>
        </p:nvSpPr>
        <p:spPr>
          <a:xfrm>
            <a:off x="457200" y="1508760"/>
            <a:ext cx="2011680" cy="457200"/>
          </a:xfrm>
          <a:prstGeom prst="roundRect">
            <a:avLst>
              <a:gd name="adj" fmla="val 16000"/>
            </a:avLst>
          </a:prstGeom>
          <a:solidFill>
            <a:srgbClr val="FBE9E5"/>
          </a:solidFill>
          <a:ln/>
        </p:spPr>
      </p:sp>
      <p:sp>
        <p:nvSpPr>
          <p:cNvPr id="6" name="Text 4"/>
          <p:cNvSpPr txBox="1"/>
          <p:nvPr/>
        </p:nvSpPr>
        <p:spPr>
          <a:xfrm>
            <a:off x="548640" y="1508760"/>
            <a:ext cx="1828800" cy="457200"/>
          </a:xfrm>
          <a:prstGeom prst="rect">
            <a:avLst/>
          </a:prstGeom>
          <a:noFill/>
          <a:ln/>
        </p:spPr>
        <p:txBody>
          <a:bodyPr wrap="square" lIns="0" tIns="0" rIns="0" bIns="0" rtlCol="0" anchor="ctr"/>
          <a:lstStyle/>
          <a:p>
            <a:pPr indent="0" marL="0">
              <a:buNone/>
            </a:pPr>
            <a:r>
              <a:rPr lang="en-US" sz="1200" dirty="0">
                <a:solidFill>
                  <a:schemeClr val="tx1"/>
                </a:solidFill>
              </a:rPr>
              <a:t>I am on the login page</a:t>
            </a:r>
            <a:endParaRPr lang="en-US" sz="1200" dirty="0"/>
          </a:p>
        </p:txBody>
      </p:sp>
      <p:sp>
        <p:nvSpPr>
          <p:cNvPr id="7" name="Before 2"/>
          <p:cNvSpPr/>
          <p:nvPr/>
        </p:nvSpPr>
        <p:spPr>
          <a:xfrm>
            <a:off x="457200" y="2057400"/>
            <a:ext cx="2011680" cy="457200"/>
          </a:xfrm>
          <a:prstGeom prst="roundRect">
            <a:avLst>
              <a:gd name="adj" fmla="val 16000"/>
            </a:avLst>
          </a:prstGeom>
          <a:solidFill>
            <a:srgbClr val="FBE9E5"/>
          </a:solidFill>
          <a:ln/>
        </p:spPr>
      </p:sp>
      <p:sp>
        <p:nvSpPr>
          <p:cNvPr id="8" name="Text 6"/>
          <p:cNvSpPr txBox="1"/>
          <p:nvPr/>
        </p:nvSpPr>
        <p:spPr>
          <a:xfrm>
            <a:off x="548640" y="2057400"/>
            <a:ext cx="1828800" cy="457200"/>
          </a:xfrm>
          <a:prstGeom prst="rect">
            <a:avLst/>
          </a:prstGeom>
          <a:noFill/>
          <a:ln/>
        </p:spPr>
        <p:txBody>
          <a:bodyPr wrap="square" lIns="0" tIns="0" rIns="0" bIns="0" rtlCol="0" anchor="ctr"/>
          <a:lstStyle/>
          <a:p>
            <a:pPr indent="0" marL="0">
              <a:buNone/>
            </a:pPr>
            <a:r>
              <a:rPr lang="en-US" sz="1200" dirty="0">
                <a:solidFill>
                  <a:schemeClr val="tx1"/>
                </a:solidFill>
              </a:rPr>
              <a:t>the user is on the login page</a:t>
            </a:r>
            <a:endParaRPr lang="en-US" sz="1200" dirty="0"/>
          </a:p>
        </p:txBody>
      </p:sp>
      <p:sp>
        <p:nvSpPr>
          <p:cNvPr id="9" name="Merge arrow"/>
          <p:cNvSpPr/>
          <p:nvPr/>
        </p:nvSpPr>
        <p:spPr>
          <a:xfrm>
            <a:off x="2514600" y="1837944"/>
            <a:ext cx="365760" cy="347472"/>
          </a:xfrm>
          <a:prstGeom prst="rightArrow">
            <a:avLst/>
          </a:prstGeom>
          <a:solidFill>
            <a:schemeClr val="accent2"/>
          </a:solidFill>
          <a:ln/>
        </p:spPr>
      </p:sp>
      <p:sp>
        <p:nvSpPr>
          <p:cNvPr id="10" name="After 1"/>
          <p:cNvSpPr/>
          <p:nvPr/>
        </p:nvSpPr>
        <p:spPr>
          <a:xfrm>
            <a:off x="2926080" y="1783080"/>
            <a:ext cx="1920240" cy="457200"/>
          </a:xfrm>
          <a:prstGeom prst="roundRect">
            <a:avLst>
              <a:gd name="adj" fmla="val 16000"/>
            </a:avLst>
          </a:prstGeom>
          <a:solidFill>
            <a:schemeClr val="accent5"/>
          </a:solidFill>
          <a:ln/>
        </p:spPr>
      </p:sp>
      <p:sp>
        <p:nvSpPr>
          <p:cNvPr id="11" name="Text 9"/>
          <p:cNvSpPr txBox="1"/>
          <p:nvPr/>
        </p:nvSpPr>
        <p:spPr>
          <a:xfrm>
            <a:off x="3017520" y="1783080"/>
            <a:ext cx="1737360" cy="457200"/>
          </a:xfrm>
          <a:prstGeom prst="rect">
            <a:avLst/>
          </a:prstGeom>
          <a:noFill/>
          <a:ln/>
        </p:spPr>
        <p:txBody>
          <a:bodyPr wrap="square" lIns="0" tIns="0" rIns="0" bIns="0" rtlCol="0" anchor="ctr"/>
          <a:lstStyle/>
          <a:p>
            <a:pPr indent="0" marL="0">
              <a:buNone/>
            </a:pPr>
            <a:r>
              <a:rPr lang="en-US" sz="1200" dirty="0">
                <a:solidFill>
                  <a:schemeClr val="tx1"/>
                </a:solidFill>
              </a:rPr>
              <a:t>I am on the login page</a:t>
            </a:r>
            <a:endParaRPr lang="en-US" sz="1200" dirty="0"/>
          </a:p>
        </p:txBody>
      </p:sp>
      <p:sp>
        <p:nvSpPr>
          <p:cNvPr id="12" name="Text 10"/>
          <p:cNvSpPr txBox="1"/>
          <p:nvPr/>
        </p:nvSpPr>
        <p:spPr>
          <a:xfrm>
            <a:off x="2926080" y="2286000"/>
            <a:ext cx="1920240" cy="228600"/>
          </a:xfrm>
          <a:prstGeom prst="rect">
            <a:avLst/>
          </a:prstGeom>
          <a:noFill/>
          <a:ln/>
        </p:spPr>
        <p:txBody>
          <a:bodyPr wrap="square" lIns="0" tIns="0" rIns="0" bIns="0" rtlCol="0" anchor="t"/>
          <a:lstStyle/>
          <a:p>
            <a:pPr indent="0" marL="0">
              <a:buNone/>
            </a:pPr>
            <a:r>
              <a:rPr lang="en-US" sz="1000" i="1" dirty="0">
                <a:solidFill>
                  <a:schemeClr val="accent6"/>
                </a:solidFill>
              </a:rPr>
              <a:t>Example wording</a:t>
            </a:r>
            <a:endParaRPr lang="en-US" sz="1000" dirty="0"/>
          </a:p>
        </p:txBody>
      </p:sp>
      <p:sp>
        <p:nvSpPr>
          <p:cNvPr id="13" name="Stat 1"/>
          <p:cNvSpPr/>
          <p:nvPr/>
        </p:nvSpPr>
        <p:spPr>
          <a:xfrm>
            <a:off x="457200" y="2697480"/>
            <a:ext cx="2103120" cy="960120"/>
          </a:xfrm>
          <a:prstGeom prst="roundRect">
            <a:avLst>
              <a:gd name="adj" fmla="val 7619"/>
            </a:avLst>
          </a:prstGeom>
          <a:solidFill>
            <a:schemeClr val="bg2"/>
          </a:solidFill>
          <a:ln/>
        </p:spPr>
      </p:sp>
      <p:sp>
        <p:nvSpPr>
          <p:cNvPr id="14" name="Text 12"/>
          <p:cNvSpPr txBox="1"/>
          <p:nvPr/>
        </p:nvSpPr>
        <p:spPr>
          <a:xfrm>
            <a:off x="640080" y="2724912"/>
            <a:ext cx="1828800" cy="50292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2</a:t>
            </a:r>
            <a:endParaRPr lang="en-US" sz="2800" dirty="0"/>
          </a:p>
        </p:txBody>
      </p:sp>
      <p:sp>
        <p:nvSpPr>
          <p:cNvPr id="15" name="Text 13"/>
          <p:cNvSpPr txBox="1"/>
          <p:nvPr/>
        </p:nvSpPr>
        <p:spPr>
          <a:xfrm>
            <a:off x="640080" y="3200400"/>
            <a:ext cx="1828800" cy="411480"/>
          </a:xfrm>
          <a:prstGeom prst="rect">
            <a:avLst/>
          </a:prstGeom>
          <a:noFill/>
          <a:ln/>
        </p:spPr>
        <p:txBody>
          <a:bodyPr wrap="square" lIns="0" tIns="0" rIns="0" bIns="0" rtlCol="0" anchor="t"/>
          <a:lstStyle/>
          <a:p>
            <a:pPr indent="0" marL="0">
              <a:buNone/>
            </a:pPr>
            <a:r>
              <a:rPr lang="en-US" sz="1200" dirty="0">
                <a:solidFill>
                  <a:schemeClr val="tx1"/>
                </a:solidFill>
              </a:rPr>
              <a:t>duplicate pairs found and merged</a:t>
            </a:r>
            <a:endParaRPr lang="en-US" sz="1200" dirty="0"/>
          </a:p>
        </p:txBody>
      </p:sp>
      <p:sp>
        <p:nvSpPr>
          <p:cNvPr id="16" name="Stat 2"/>
          <p:cNvSpPr/>
          <p:nvPr/>
        </p:nvSpPr>
        <p:spPr>
          <a:xfrm>
            <a:off x="2743200" y="2697480"/>
            <a:ext cx="2103120" cy="960120"/>
          </a:xfrm>
          <a:prstGeom prst="roundRect">
            <a:avLst>
              <a:gd name="adj" fmla="val 7619"/>
            </a:avLst>
          </a:prstGeom>
          <a:solidFill>
            <a:schemeClr val="bg2"/>
          </a:solidFill>
          <a:ln/>
        </p:spPr>
      </p:sp>
      <p:sp>
        <p:nvSpPr>
          <p:cNvPr id="17" name="Text 15"/>
          <p:cNvSpPr txBox="1"/>
          <p:nvPr/>
        </p:nvSpPr>
        <p:spPr>
          <a:xfrm>
            <a:off x="2926080" y="2724912"/>
            <a:ext cx="1828800" cy="50292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5 of 5</a:t>
            </a:r>
            <a:endParaRPr lang="en-US" sz="2800" dirty="0"/>
          </a:p>
        </p:txBody>
      </p:sp>
      <p:sp>
        <p:nvSpPr>
          <p:cNvPr id="18" name="Text 16"/>
          <p:cNvSpPr txBox="1"/>
          <p:nvPr/>
        </p:nvSpPr>
        <p:spPr>
          <a:xfrm>
            <a:off x="2926080" y="3200400"/>
            <a:ext cx="1828800" cy="411480"/>
          </a:xfrm>
          <a:prstGeom prst="rect">
            <a:avLst/>
          </a:prstGeom>
          <a:noFill/>
          <a:ln/>
        </p:spPr>
        <p:txBody>
          <a:bodyPr wrap="square" lIns="0" tIns="0" rIns="0" bIns="0" rtlCol="0" anchor="t"/>
          <a:lstStyle/>
          <a:p>
            <a:pPr indent="0" marL="0">
              <a:buNone/>
            </a:pPr>
            <a:r>
              <a:rPr lang="en-US" sz="1200" dirty="0">
                <a:solidFill>
                  <a:schemeClr val="tx1"/>
                </a:solidFill>
              </a:rPr>
              <a:t>tests still pass afterwards</a:t>
            </a:r>
            <a:endParaRPr lang="en-US" sz="1200" dirty="0"/>
          </a:p>
        </p:txBody>
      </p:sp>
      <p:sp>
        <p:nvSpPr>
          <p:cNvPr id="19" name="Cautious circle"/>
          <p:cNvSpPr/>
          <p:nvPr/>
        </p:nvSpPr>
        <p:spPr>
          <a:xfrm>
            <a:off x="457200" y="3904488"/>
            <a:ext cx="457200" cy="457200"/>
          </a:xfrm>
          <a:prstGeom prst="ellipse">
            <a:avLst/>
          </a:prstGeom>
          <a:solidFill>
            <a:schemeClr val="tx2"/>
          </a:solidFill>
          <a:ln/>
        </p:spPr>
      </p:sp>
      <p:pic>
        <p:nvPicPr>
          <p:cNvPr id="20" name="Cautious icon" descr="preencoded.png">    </p:cNvPr>
          <p:cNvPicPr>
            <a:picLocks noChangeAspect="1"/>
          </p:cNvPicPr>
          <p:nvPr/>
        </p:nvPicPr>
        <p:blipFill>
          <a:blip r:embed="rId1"/>
          <a:stretch>
            <a:fillRect/>
          </a:stretch>
        </p:blipFill>
        <p:spPr>
          <a:xfrm>
            <a:off x="571500" y="4018788"/>
            <a:ext cx="228600" cy="228600"/>
          </a:xfrm>
          <a:prstGeom prst="rect">
            <a:avLst/>
          </a:prstGeom>
        </p:spPr>
      </p:pic>
      <p:sp>
        <p:nvSpPr>
          <p:cNvPr id="21" name="Cautious text"/>
          <p:cNvSpPr txBox="1"/>
          <p:nvPr/>
        </p:nvSpPr>
        <p:spPr>
          <a:xfrm>
            <a:off x="1051560" y="3794760"/>
            <a:ext cx="3794760" cy="731520"/>
          </a:xfrm>
          <a:prstGeom prst="rect">
            <a:avLst/>
          </a:prstGeom>
          <a:noFill/>
          <a:ln/>
        </p:spPr>
        <p:txBody>
          <a:bodyPr wrap="square" lIns="0" tIns="0" rIns="0" bIns="0" rtlCol="0" anchor="ctr"/>
          <a:lstStyle/>
          <a:p>
            <a:pPr indent="0" marL="0">
              <a:buNone/>
            </a:pPr>
            <a:r>
              <a:rPr lang="en-US" sz="1300" dirty="0">
                <a:solidFill>
                  <a:schemeClr val="tx1"/>
                </a:solidFill>
              </a:rPr>
              <a:t>Shows a preview first and only changes files when asked. Only merges when it can prove the tests will behave exactly the same.</a:t>
            </a:r>
            <a:endParaRPr lang="en-US" sz="1300" dirty="0"/>
          </a:p>
        </p:txBody>
      </p:sp>
      <p:sp>
        <p:nvSpPr>
          <p:cNvPr id="22" name="Merge screenshot frame"/>
          <p:cNvSpPr/>
          <p:nvPr/>
        </p:nvSpPr>
        <p:spPr>
          <a:xfrm>
            <a:off x="5120640" y="1188720"/>
            <a:ext cx="3566160" cy="3337560"/>
          </a:xfrm>
          <a:prstGeom prst="rect">
            <a:avLst/>
          </a:prstGeom>
          <a:solidFill>
            <a:srgbClr val="FBF8F2"/>
          </a:solidFill>
          <a:ln w="19050">
            <a:solidFill>
              <a:srgbClr val="E39B2D"/>
            </a:solidFill>
            <a:prstDash val="dash"/>
          </a:ln>
        </p:spPr>
      </p:sp>
      <p:sp>
        <p:nvSpPr>
          <p:cNvPr id="23" name="Merge screenshot"/>
          <p:cNvSpPr txBox="1"/>
          <p:nvPr/>
        </p:nvSpPr>
        <p:spPr>
          <a:xfrm>
            <a:off x="5303520" y="1188720"/>
            <a:ext cx="3200400" cy="3337560"/>
          </a:xfrm>
          <a:prstGeom prst="rect">
            <a:avLst/>
          </a:prstGeom>
          <a:noFill/>
          <a:ln/>
        </p:spPr>
        <p:txBody>
          <a:bodyPr wrap="square" lIns="0" tIns="0" rIns="0" bIns="0" rtlCol="0" anchor="ctr"/>
          <a:lstStyle/>
          <a:p>
            <a:pPr algn="ctr" indent="0" marL="0">
              <a:buNone/>
            </a:pPr>
            <a:r>
              <a:rPr lang="en-US" sz="1500" b="1" dirty="0">
                <a:solidFill>
                  <a:srgbClr val="8A5A0C"/>
                </a:solidFill>
              </a:rPr>
              <a:t>[SCREENSHOT: merge preview]</a:t>
            </a:r>
            <a:endParaRPr lang="en-US" sz="1400" dirty="0"/>
          </a:p>
          <a:p>
            <a:pPr algn="ctr" indent="0" marL="0">
              <a:buNone/>
            </a:pPr>
            <a:r>
              <a:rPr lang="en-US" sz="1100" dirty="0">
                <a:solidFill>
                  <a:schemeClr val="accent6"/>
                </a:solidFill>
              </a:rPr>
              <a:t>Paste a screenshot from the live demo here</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 new test: 2 lines reused, 4 drafted automatically</a:t>
            </a:r>
            <a:endParaRPr lang="en-US" sz="2800" dirty="0"/>
          </a:p>
        </p:txBody>
      </p:sp>
      <p:sp>
        <p:nvSpPr>
          <p:cNvPr id="3" name="Text 1"/>
          <p:cNvSpPr txBox="1"/>
          <p:nvPr/>
        </p:nvSpPr>
        <p:spPr>
          <a:xfrm>
            <a:off x="457200" y="1188720"/>
            <a:ext cx="5120640" cy="274320"/>
          </a:xfrm>
          <a:prstGeom prst="rect">
            <a:avLst/>
          </a:prstGeom>
          <a:noFill/>
          <a:ln/>
        </p:spPr>
        <p:txBody>
          <a:bodyPr wrap="square" lIns="0" tIns="0" rIns="0" bIns="0" rtlCol="0" anchor="t"/>
          <a:lstStyle/>
          <a:p>
            <a:pPr indent="0" marL="0">
              <a:buNone/>
            </a:pPr>
            <a:r>
              <a:rPr lang="en-US" sz="1300" dirty="0">
                <a:solidFill>
                  <a:schemeClr val="accent6"/>
                </a:solidFill>
              </a:rPr>
              <a:t>New “checkout” test, as written</a:t>
            </a:r>
            <a:endParaRPr lang="en-US" sz="1300" dirty="0"/>
          </a:p>
        </p:txBody>
      </p:sp>
      <p:sp>
        <p:nvSpPr>
          <p:cNvPr id="4" name="Line 1"/>
          <p:cNvSpPr/>
          <p:nvPr/>
        </p:nvSpPr>
        <p:spPr>
          <a:xfrm>
            <a:off x="457200" y="1536192"/>
            <a:ext cx="5120640" cy="402336"/>
          </a:xfrm>
          <a:prstGeom prst="roundRect">
            <a:avLst>
              <a:gd name="adj" fmla="val 18182"/>
            </a:avLst>
          </a:prstGeom>
          <a:solidFill>
            <a:schemeClr val="accent5"/>
          </a:solidFill>
          <a:ln/>
        </p:spPr>
      </p:sp>
      <p:pic>
        <p:nvPicPr>
          <p:cNvPr id="5" name="Line icon 1" descr="preencoded.png">    </p:cNvPr>
          <p:cNvPicPr>
            <a:picLocks noChangeAspect="1"/>
          </p:cNvPicPr>
          <p:nvPr/>
        </p:nvPicPr>
        <p:blipFill>
          <a:blip r:embed="rId1"/>
          <a:stretch>
            <a:fillRect/>
          </a:stretch>
        </p:blipFill>
        <p:spPr>
          <a:xfrm>
            <a:off x="566928" y="1618488"/>
            <a:ext cx="237744" cy="237744"/>
          </a:xfrm>
          <a:prstGeom prst="rect">
            <a:avLst/>
          </a:prstGeom>
        </p:spPr>
      </p:pic>
      <p:sp>
        <p:nvSpPr>
          <p:cNvPr id="6" name="Text 3"/>
          <p:cNvSpPr txBox="1"/>
          <p:nvPr/>
        </p:nvSpPr>
        <p:spPr>
          <a:xfrm>
            <a:off x="914400" y="1536192"/>
            <a:ext cx="4572000" cy="402336"/>
          </a:xfrm>
          <a:prstGeom prst="rect">
            <a:avLst/>
          </a:prstGeom>
          <a:noFill/>
          <a:ln/>
        </p:spPr>
        <p:txBody>
          <a:bodyPr wrap="square" lIns="0" tIns="0" rIns="0" bIns="0" rtlCol="0" anchor="ctr"/>
          <a:lstStyle/>
          <a:p>
            <a:pPr indent="0" marL="0">
              <a:buNone/>
            </a:pPr>
            <a:r>
              <a:rPr lang="en-US" sz="1100" dirty="0">
                <a:solidFill>
                  <a:schemeClr val="tx1"/>
                </a:solidFill>
                <a:latin typeface="Courier New" pitchFamily="34" charset="0"/>
                <a:ea typeface="Courier New" pitchFamily="34" charset="-122"/>
                <a:cs typeface="Courier New" pitchFamily="34" charset="-120"/>
              </a:rPr>
              <a:t>Given I am logged in as "standard_user"</a:t>
            </a:r>
            <a:endParaRPr lang="en-US" sz="1100" dirty="0"/>
          </a:p>
        </p:txBody>
      </p:sp>
      <p:sp>
        <p:nvSpPr>
          <p:cNvPr id="7" name="Line 2"/>
          <p:cNvSpPr/>
          <p:nvPr/>
        </p:nvSpPr>
        <p:spPr>
          <a:xfrm>
            <a:off x="457200" y="2011680"/>
            <a:ext cx="5120640" cy="402336"/>
          </a:xfrm>
          <a:prstGeom prst="roundRect">
            <a:avLst>
              <a:gd name="adj" fmla="val 18182"/>
            </a:avLst>
          </a:prstGeom>
          <a:solidFill>
            <a:schemeClr val="accent5"/>
          </a:solidFill>
          <a:ln/>
        </p:spPr>
      </p:sp>
      <p:pic>
        <p:nvPicPr>
          <p:cNvPr id="8" name="Line icon 2" descr="preencoded.png">    </p:cNvPr>
          <p:cNvPicPr>
            <a:picLocks noChangeAspect="1"/>
          </p:cNvPicPr>
          <p:nvPr/>
        </p:nvPicPr>
        <p:blipFill>
          <a:blip r:embed="rId2"/>
          <a:stretch>
            <a:fillRect/>
          </a:stretch>
        </p:blipFill>
        <p:spPr>
          <a:xfrm>
            <a:off x="566928" y="2093976"/>
            <a:ext cx="237744" cy="237744"/>
          </a:xfrm>
          <a:prstGeom prst="rect">
            <a:avLst/>
          </a:prstGeom>
        </p:spPr>
      </p:pic>
      <p:sp>
        <p:nvSpPr>
          <p:cNvPr id="9" name="Text 5"/>
          <p:cNvSpPr txBox="1"/>
          <p:nvPr/>
        </p:nvSpPr>
        <p:spPr>
          <a:xfrm>
            <a:off x="914400" y="2011680"/>
            <a:ext cx="4572000" cy="402336"/>
          </a:xfrm>
          <a:prstGeom prst="rect">
            <a:avLst/>
          </a:prstGeom>
          <a:noFill/>
          <a:ln/>
        </p:spPr>
        <p:txBody>
          <a:bodyPr wrap="square" lIns="0" tIns="0" rIns="0" bIns="0" rtlCol="0" anchor="ctr"/>
          <a:lstStyle/>
          <a:p>
            <a:pPr indent="0" marL="0">
              <a:buNone/>
            </a:pPr>
            <a:r>
              <a:rPr lang="en-US" sz="1100" dirty="0">
                <a:solidFill>
                  <a:schemeClr val="tx1"/>
                </a:solidFill>
                <a:latin typeface="Courier New" pitchFamily="34" charset="0"/>
                <a:ea typeface="Courier New" pitchFamily="34" charset="-122"/>
                <a:cs typeface="Courier New" pitchFamily="34" charset="-120"/>
              </a:rPr>
              <a:t>When I add "Sauce Labs Backpack" to the cart</a:t>
            </a:r>
            <a:endParaRPr lang="en-US" sz="1100" dirty="0"/>
          </a:p>
        </p:txBody>
      </p:sp>
      <p:sp>
        <p:nvSpPr>
          <p:cNvPr id="10" name="Line 3"/>
          <p:cNvSpPr/>
          <p:nvPr/>
        </p:nvSpPr>
        <p:spPr>
          <a:xfrm>
            <a:off x="457200" y="2487168"/>
            <a:ext cx="5120640" cy="402336"/>
          </a:xfrm>
          <a:prstGeom prst="roundRect">
            <a:avLst>
              <a:gd name="adj" fmla="val 18182"/>
            </a:avLst>
          </a:prstGeom>
          <a:solidFill>
            <a:srgbClr val="FDF0D9"/>
          </a:solidFill>
          <a:ln/>
        </p:spPr>
      </p:sp>
      <p:pic>
        <p:nvPicPr>
          <p:cNvPr id="11" name="Line icon 3" descr="preencoded.png">    </p:cNvPr>
          <p:cNvPicPr>
            <a:picLocks noChangeAspect="1"/>
          </p:cNvPicPr>
          <p:nvPr/>
        </p:nvPicPr>
        <p:blipFill>
          <a:blip r:embed="rId3"/>
          <a:stretch>
            <a:fillRect/>
          </a:stretch>
        </p:blipFill>
        <p:spPr>
          <a:xfrm>
            <a:off x="566928" y="2569464"/>
            <a:ext cx="237744" cy="237744"/>
          </a:xfrm>
          <a:prstGeom prst="rect">
            <a:avLst/>
          </a:prstGeom>
        </p:spPr>
      </p:pic>
      <p:sp>
        <p:nvSpPr>
          <p:cNvPr id="12" name="Text 7"/>
          <p:cNvSpPr txBox="1"/>
          <p:nvPr/>
        </p:nvSpPr>
        <p:spPr>
          <a:xfrm>
            <a:off x="914400" y="2487168"/>
            <a:ext cx="4572000" cy="402336"/>
          </a:xfrm>
          <a:prstGeom prst="rect">
            <a:avLst/>
          </a:prstGeom>
          <a:noFill/>
          <a:ln/>
        </p:spPr>
        <p:txBody>
          <a:bodyPr wrap="square" lIns="0" tIns="0" rIns="0" bIns="0" rtlCol="0" anchor="ctr"/>
          <a:lstStyle/>
          <a:p>
            <a:pPr indent="0" marL="0">
              <a:buNone/>
            </a:pPr>
            <a:r>
              <a:rPr lang="en-US" sz="1100" dirty="0">
                <a:solidFill>
                  <a:schemeClr val="tx1"/>
                </a:solidFill>
                <a:latin typeface="Courier New" pitchFamily="34" charset="0"/>
                <a:ea typeface="Courier New" pitchFamily="34" charset="-122"/>
                <a:cs typeface="Courier New" pitchFamily="34" charset="-120"/>
              </a:rPr>
              <a:t>And I open the cart page</a:t>
            </a:r>
            <a:endParaRPr lang="en-US" sz="1100" dirty="0"/>
          </a:p>
        </p:txBody>
      </p:sp>
      <p:sp>
        <p:nvSpPr>
          <p:cNvPr id="13" name="Line 4"/>
          <p:cNvSpPr/>
          <p:nvPr/>
        </p:nvSpPr>
        <p:spPr>
          <a:xfrm>
            <a:off x="457200" y="2962656"/>
            <a:ext cx="5120640" cy="402336"/>
          </a:xfrm>
          <a:prstGeom prst="roundRect">
            <a:avLst>
              <a:gd name="adj" fmla="val 18182"/>
            </a:avLst>
          </a:prstGeom>
          <a:solidFill>
            <a:srgbClr val="FDF0D9"/>
          </a:solidFill>
          <a:ln/>
        </p:spPr>
      </p:sp>
      <p:pic>
        <p:nvPicPr>
          <p:cNvPr id="14" name="Line icon 4" descr="preencoded.png">    </p:cNvPr>
          <p:cNvPicPr>
            <a:picLocks noChangeAspect="1"/>
          </p:cNvPicPr>
          <p:nvPr/>
        </p:nvPicPr>
        <p:blipFill>
          <a:blip r:embed="rId4"/>
          <a:stretch>
            <a:fillRect/>
          </a:stretch>
        </p:blipFill>
        <p:spPr>
          <a:xfrm>
            <a:off x="566928" y="3044952"/>
            <a:ext cx="237744" cy="237744"/>
          </a:xfrm>
          <a:prstGeom prst="rect">
            <a:avLst/>
          </a:prstGeom>
        </p:spPr>
      </p:pic>
      <p:sp>
        <p:nvSpPr>
          <p:cNvPr id="15" name="Text 9"/>
          <p:cNvSpPr txBox="1"/>
          <p:nvPr/>
        </p:nvSpPr>
        <p:spPr>
          <a:xfrm>
            <a:off x="914400" y="2962656"/>
            <a:ext cx="4572000" cy="402336"/>
          </a:xfrm>
          <a:prstGeom prst="rect">
            <a:avLst/>
          </a:prstGeom>
          <a:noFill/>
          <a:ln/>
        </p:spPr>
        <p:txBody>
          <a:bodyPr wrap="square" lIns="0" tIns="0" rIns="0" bIns="0" rtlCol="0" anchor="ctr"/>
          <a:lstStyle/>
          <a:p>
            <a:pPr indent="0" marL="0">
              <a:buNone/>
            </a:pPr>
            <a:r>
              <a:rPr lang="en-US" sz="1100" dirty="0">
                <a:solidFill>
                  <a:schemeClr val="tx1"/>
                </a:solidFill>
                <a:latin typeface="Courier New" pitchFamily="34" charset="0"/>
                <a:ea typeface="Courier New" pitchFamily="34" charset="-122"/>
                <a:cs typeface="Courier New" pitchFamily="34" charset="-120"/>
              </a:rPr>
              <a:t>And I go to checkout</a:t>
            </a:r>
            <a:endParaRPr lang="en-US" sz="1100" dirty="0"/>
          </a:p>
        </p:txBody>
      </p:sp>
      <p:sp>
        <p:nvSpPr>
          <p:cNvPr id="16" name="Line 5"/>
          <p:cNvSpPr/>
          <p:nvPr/>
        </p:nvSpPr>
        <p:spPr>
          <a:xfrm>
            <a:off x="457200" y="3438144"/>
            <a:ext cx="5120640" cy="402336"/>
          </a:xfrm>
          <a:prstGeom prst="roundRect">
            <a:avLst>
              <a:gd name="adj" fmla="val 18182"/>
            </a:avLst>
          </a:prstGeom>
          <a:solidFill>
            <a:srgbClr val="FDF0D9"/>
          </a:solidFill>
          <a:ln/>
        </p:spPr>
      </p:sp>
      <p:pic>
        <p:nvPicPr>
          <p:cNvPr id="17" name="Line icon 5" descr="preencoded.png">    </p:cNvPr>
          <p:cNvPicPr>
            <a:picLocks noChangeAspect="1"/>
          </p:cNvPicPr>
          <p:nvPr/>
        </p:nvPicPr>
        <p:blipFill>
          <a:blip r:embed="rId5"/>
          <a:stretch>
            <a:fillRect/>
          </a:stretch>
        </p:blipFill>
        <p:spPr>
          <a:xfrm>
            <a:off x="566928" y="3520440"/>
            <a:ext cx="237744" cy="237744"/>
          </a:xfrm>
          <a:prstGeom prst="rect">
            <a:avLst/>
          </a:prstGeom>
        </p:spPr>
      </p:pic>
      <p:sp>
        <p:nvSpPr>
          <p:cNvPr id="18" name="Text 11"/>
          <p:cNvSpPr txBox="1"/>
          <p:nvPr/>
        </p:nvSpPr>
        <p:spPr>
          <a:xfrm>
            <a:off x="914400" y="3438144"/>
            <a:ext cx="4572000" cy="402336"/>
          </a:xfrm>
          <a:prstGeom prst="rect">
            <a:avLst/>
          </a:prstGeom>
          <a:noFill/>
          <a:ln/>
        </p:spPr>
        <p:txBody>
          <a:bodyPr wrap="square" lIns="0" tIns="0" rIns="0" bIns="0" rtlCol="0" anchor="ctr"/>
          <a:lstStyle/>
          <a:p>
            <a:pPr indent="0" marL="0">
              <a:buNone/>
            </a:pPr>
            <a:r>
              <a:rPr lang="en-US" sz="1100" dirty="0">
                <a:solidFill>
                  <a:schemeClr val="tx1"/>
                </a:solidFill>
                <a:latin typeface="Courier New" pitchFamily="34" charset="0"/>
                <a:ea typeface="Courier New" pitchFamily="34" charset="-122"/>
                <a:cs typeface="Courier New" pitchFamily="34" charset="-120"/>
              </a:rPr>
              <a:t>And I enter my details "Ada" "Lovelace" "90210"</a:t>
            </a:r>
            <a:endParaRPr lang="en-US" sz="1100" dirty="0"/>
          </a:p>
        </p:txBody>
      </p:sp>
      <p:sp>
        <p:nvSpPr>
          <p:cNvPr id="19" name="Line 6"/>
          <p:cNvSpPr/>
          <p:nvPr/>
        </p:nvSpPr>
        <p:spPr>
          <a:xfrm>
            <a:off x="457200" y="3913632"/>
            <a:ext cx="5120640" cy="402336"/>
          </a:xfrm>
          <a:prstGeom prst="roundRect">
            <a:avLst>
              <a:gd name="adj" fmla="val 18182"/>
            </a:avLst>
          </a:prstGeom>
          <a:solidFill>
            <a:srgbClr val="FDF0D9"/>
          </a:solidFill>
          <a:ln/>
        </p:spPr>
      </p:sp>
      <p:pic>
        <p:nvPicPr>
          <p:cNvPr id="20" name="Line icon 6" descr="preencoded.png">    </p:cNvPr>
          <p:cNvPicPr>
            <a:picLocks noChangeAspect="1"/>
          </p:cNvPicPr>
          <p:nvPr/>
        </p:nvPicPr>
        <p:blipFill>
          <a:blip r:embed="rId6"/>
          <a:stretch>
            <a:fillRect/>
          </a:stretch>
        </p:blipFill>
        <p:spPr>
          <a:xfrm>
            <a:off x="566928" y="3995928"/>
            <a:ext cx="237744" cy="237744"/>
          </a:xfrm>
          <a:prstGeom prst="rect">
            <a:avLst/>
          </a:prstGeom>
        </p:spPr>
      </p:pic>
      <p:sp>
        <p:nvSpPr>
          <p:cNvPr id="21" name="Text 13"/>
          <p:cNvSpPr txBox="1"/>
          <p:nvPr/>
        </p:nvSpPr>
        <p:spPr>
          <a:xfrm>
            <a:off x="914400" y="3913632"/>
            <a:ext cx="4572000" cy="402336"/>
          </a:xfrm>
          <a:prstGeom prst="rect">
            <a:avLst/>
          </a:prstGeom>
          <a:noFill/>
          <a:ln/>
        </p:spPr>
        <p:txBody>
          <a:bodyPr wrap="square" lIns="0" tIns="0" rIns="0" bIns="0" rtlCol="0" anchor="ctr"/>
          <a:lstStyle/>
          <a:p>
            <a:pPr indent="0" marL="0">
              <a:buNone/>
            </a:pPr>
            <a:r>
              <a:rPr lang="en-US" sz="1100" dirty="0">
                <a:solidFill>
                  <a:schemeClr val="tx1"/>
                </a:solidFill>
                <a:latin typeface="Courier New" pitchFamily="34" charset="0"/>
                <a:ea typeface="Courier New" pitchFamily="34" charset="-122"/>
                <a:cs typeface="Courier New" pitchFamily="34" charset="-120"/>
              </a:rPr>
              <a:t>Then the order total is "$29.99"</a:t>
            </a:r>
            <a:endParaRPr lang="en-US" sz="1100" dirty="0"/>
          </a:p>
        </p:txBody>
      </p:sp>
      <p:sp>
        <p:nvSpPr>
          <p:cNvPr id="22" name="Stat reused"/>
          <p:cNvSpPr/>
          <p:nvPr/>
        </p:nvSpPr>
        <p:spPr>
          <a:xfrm>
            <a:off x="5943600" y="1188720"/>
            <a:ext cx="2743200" cy="1508760"/>
          </a:xfrm>
          <a:prstGeom prst="roundRect">
            <a:avLst>
              <a:gd name="adj" fmla="val 4848"/>
            </a:avLst>
          </a:prstGeom>
          <a:solidFill>
            <a:schemeClr val="bg2"/>
          </a:solidFill>
          <a:ln/>
        </p:spPr>
      </p:sp>
      <p:sp>
        <p:nvSpPr>
          <p:cNvPr id="23" name="Text 15"/>
          <p:cNvSpPr txBox="1"/>
          <p:nvPr/>
        </p:nvSpPr>
        <p:spPr>
          <a:xfrm>
            <a:off x="6126480" y="1280160"/>
            <a:ext cx="2377440" cy="64008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2 of 6</a:t>
            </a:r>
            <a:endParaRPr lang="en-US" sz="3200" dirty="0"/>
          </a:p>
        </p:txBody>
      </p:sp>
      <p:sp>
        <p:nvSpPr>
          <p:cNvPr id="24" name="Text 16"/>
          <p:cNvSpPr txBox="1"/>
          <p:nvPr/>
        </p:nvSpPr>
        <p:spPr>
          <a:xfrm>
            <a:off x="6126480" y="1920240"/>
            <a:ext cx="2377440" cy="685800"/>
          </a:xfrm>
          <a:prstGeom prst="rect">
            <a:avLst/>
          </a:prstGeom>
          <a:noFill/>
          <a:ln/>
        </p:spPr>
        <p:txBody>
          <a:bodyPr wrap="square" lIns="0" tIns="0" rIns="0" bIns="0" rtlCol="0" anchor="t"/>
          <a:lstStyle/>
          <a:p>
            <a:pPr indent="0" marL="0">
              <a:buNone/>
            </a:pPr>
            <a:r>
              <a:rPr lang="en-US" sz="1300" dirty="0">
                <a:solidFill>
                  <a:schemeClr val="tx1"/>
                </a:solidFill>
              </a:rPr>
              <a:t>lines reuse steps we already have. No new code needed.</a:t>
            </a:r>
            <a:endParaRPr lang="en-US" sz="1300" dirty="0"/>
          </a:p>
        </p:txBody>
      </p:sp>
      <p:sp>
        <p:nvSpPr>
          <p:cNvPr id="25" name="Stat drafted"/>
          <p:cNvSpPr/>
          <p:nvPr/>
        </p:nvSpPr>
        <p:spPr>
          <a:xfrm>
            <a:off x="5943600" y="2926080"/>
            <a:ext cx="2743200" cy="1508760"/>
          </a:xfrm>
          <a:prstGeom prst="roundRect">
            <a:avLst>
              <a:gd name="adj" fmla="val 4848"/>
            </a:avLst>
          </a:prstGeom>
          <a:solidFill>
            <a:srgbClr val="FDF0D9"/>
          </a:solidFill>
          <a:ln/>
        </p:spPr>
      </p:sp>
      <p:sp>
        <p:nvSpPr>
          <p:cNvPr id="26" name="Text 18"/>
          <p:cNvSpPr txBox="1"/>
          <p:nvPr/>
        </p:nvSpPr>
        <p:spPr>
          <a:xfrm>
            <a:off x="6126480" y="3017520"/>
            <a:ext cx="2377440" cy="640080"/>
          </a:xfrm>
          <a:prstGeom prst="rect">
            <a:avLst/>
          </a:prstGeom>
          <a:noFill/>
          <a:ln/>
        </p:spPr>
        <p:txBody>
          <a:bodyPr wrap="square" lIns="0" tIns="0" rIns="0" bIns="0" rtlCol="0" anchor="ctr"/>
          <a:lstStyle/>
          <a:p>
            <a:pPr indent="0" marL="0">
              <a:buNone/>
            </a:pPr>
            <a:r>
              <a:rPr lang="en-US" sz="3200" b="1" dirty="0">
                <a:solidFill>
                  <a:srgbClr val="B5761A"/>
                </a:solidFill>
                <a:latin typeface="Cambria" pitchFamily="34" charset="0"/>
                <a:ea typeface="Cambria" pitchFamily="34" charset="-122"/>
                <a:cs typeface="Cambria" pitchFamily="34" charset="-120"/>
              </a:rPr>
              <a:t>4</a:t>
            </a:r>
            <a:endParaRPr lang="en-US" sz="3200" dirty="0"/>
          </a:p>
        </p:txBody>
      </p:sp>
      <p:sp>
        <p:nvSpPr>
          <p:cNvPr id="27" name="Text 19"/>
          <p:cNvSpPr txBox="1"/>
          <p:nvPr/>
        </p:nvSpPr>
        <p:spPr>
          <a:xfrm>
            <a:off x="6126480" y="3657600"/>
            <a:ext cx="2377440" cy="685800"/>
          </a:xfrm>
          <a:prstGeom prst="rect">
            <a:avLst/>
          </a:prstGeom>
          <a:noFill/>
          <a:ln/>
        </p:spPr>
        <p:txBody>
          <a:bodyPr wrap="square" lIns="0" tIns="0" rIns="0" bIns="0" rtlCol="0" anchor="t"/>
          <a:lstStyle/>
          <a:p>
            <a:pPr indent="0" marL="0">
              <a:buNone/>
            </a:pPr>
            <a:r>
              <a:rPr lang="en-US" sz="1300" dirty="0">
                <a:solidFill>
                  <a:schemeClr val="tx1"/>
                </a:solidFill>
              </a:rPr>
              <a:t>code skeletons drafted automatically, ready for a person to fill in.</a:t>
            </a:r>
            <a:endParaRPr lang="en-US" sz="13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Results anyone can read, including managers</a:t>
            </a:r>
            <a:endParaRPr lang="en-US" sz="2800" dirty="0"/>
          </a:p>
        </p:txBody>
      </p:sp>
      <p:sp>
        <p:nvSpPr>
          <p:cNvPr id="3" name="Report screenshot frame"/>
          <p:cNvSpPr/>
          <p:nvPr/>
        </p:nvSpPr>
        <p:spPr>
          <a:xfrm>
            <a:off x="457200" y="1188720"/>
            <a:ext cx="4846320" cy="3383280"/>
          </a:xfrm>
          <a:prstGeom prst="rect">
            <a:avLst/>
          </a:prstGeom>
          <a:solidFill>
            <a:srgbClr val="FBF8F2"/>
          </a:solidFill>
          <a:ln w="19050">
            <a:solidFill>
              <a:srgbClr val="E39B2D"/>
            </a:solidFill>
            <a:prstDash val="dash"/>
          </a:ln>
        </p:spPr>
      </p:sp>
      <p:sp>
        <p:nvSpPr>
          <p:cNvPr id="4" name="Report screenshot"/>
          <p:cNvSpPr txBox="1"/>
          <p:nvPr/>
        </p:nvSpPr>
        <p:spPr>
          <a:xfrm>
            <a:off x="640080" y="1188720"/>
            <a:ext cx="4480560" cy="3383280"/>
          </a:xfrm>
          <a:prstGeom prst="rect">
            <a:avLst/>
          </a:prstGeom>
          <a:noFill/>
          <a:ln/>
        </p:spPr>
        <p:txBody>
          <a:bodyPr wrap="square" lIns="0" tIns="0" rIns="0" bIns="0" rtlCol="0" anchor="ctr"/>
          <a:lstStyle/>
          <a:p>
            <a:pPr algn="ctr" indent="0" marL="0">
              <a:buNone/>
            </a:pPr>
            <a:r>
              <a:rPr lang="en-US" sz="1500" b="1" dirty="0">
                <a:solidFill>
                  <a:srgbClr val="8A5A0C"/>
                </a:solidFill>
              </a:rPr>
              <a:t>[SCREENSHOT: HTML report]</a:t>
            </a:r>
            <a:endParaRPr lang="en-US" sz="1400" dirty="0"/>
          </a:p>
          <a:p>
            <a:pPr algn="ctr" indent="0" marL="0">
              <a:buNone/>
            </a:pPr>
            <a:r>
              <a:rPr lang="en-US" sz="1100" dirty="0">
                <a:solidFill>
                  <a:schemeClr val="accent6"/>
                </a:solidFill>
              </a:rPr>
              <a:t>Paste a screenshot from the live demo here</a:t>
            </a:r>
            <a:endParaRPr lang="en-US" sz="1400" dirty="0"/>
          </a:p>
        </p:txBody>
      </p:sp>
      <p:sp>
        <p:nvSpPr>
          <p:cNvPr id="5" name="Report 1 circle"/>
          <p:cNvSpPr/>
          <p:nvPr/>
        </p:nvSpPr>
        <p:spPr>
          <a:xfrm>
            <a:off x="5623560" y="1234440"/>
            <a:ext cx="420624" cy="420624"/>
          </a:xfrm>
          <a:prstGeom prst="ellipse">
            <a:avLst/>
          </a:prstGeom>
          <a:solidFill>
            <a:schemeClr val="accent1"/>
          </a:solidFill>
          <a:ln/>
        </p:spPr>
      </p:sp>
      <p:pic>
        <p:nvPicPr>
          <p:cNvPr id="6" name="Report 1 icon" descr="preencoded.png">    </p:cNvPr>
          <p:cNvPicPr>
            <a:picLocks noChangeAspect="1"/>
          </p:cNvPicPr>
          <p:nvPr/>
        </p:nvPicPr>
        <p:blipFill>
          <a:blip r:embed="rId1"/>
          <a:stretch>
            <a:fillRect/>
          </a:stretch>
        </p:blipFill>
        <p:spPr>
          <a:xfrm>
            <a:off x="5728716" y="1339596"/>
            <a:ext cx="210312" cy="210312"/>
          </a:xfrm>
          <a:prstGeom prst="rect">
            <a:avLst/>
          </a:prstGeom>
        </p:spPr>
      </p:pic>
      <p:sp>
        <p:nvSpPr>
          <p:cNvPr id="7" name="Text 4"/>
          <p:cNvSpPr txBox="1"/>
          <p:nvPr/>
        </p:nvSpPr>
        <p:spPr>
          <a:xfrm>
            <a:off x="6172200" y="1234440"/>
            <a:ext cx="2514600" cy="420624"/>
          </a:xfrm>
          <a:prstGeom prst="rect">
            <a:avLst/>
          </a:prstGeom>
          <a:noFill/>
          <a:ln/>
        </p:spPr>
        <p:txBody>
          <a:bodyPr wrap="square" lIns="0" tIns="0" rIns="0" bIns="0" rtlCol="0" anchor="ctr"/>
          <a:lstStyle/>
          <a:p>
            <a:pPr indent="0" marL="0">
              <a:buNone/>
            </a:pPr>
            <a:r>
              <a:rPr lang="en-US" sz="1500" dirty="0">
                <a:solidFill>
                  <a:schemeClr val="tx1"/>
                </a:solidFill>
              </a:rPr>
              <a:t>Pass or fail at a glance</a:t>
            </a:r>
            <a:endParaRPr lang="en-US" sz="1500" dirty="0"/>
          </a:p>
        </p:txBody>
      </p:sp>
      <p:sp>
        <p:nvSpPr>
          <p:cNvPr id="8" name="Report 2 circle"/>
          <p:cNvSpPr/>
          <p:nvPr/>
        </p:nvSpPr>
        <p:spPr>
          <a:xfrm>
            <a:off x="5623560" y="1801368"/>
            <a:ext cx="420624" cy="420624"/>
          </a:xfrm>
          <a:prstGeom prst="ellipse">
            <a:avLst/>
          </a:prstGeom>
          <a:solidFill>
            <a:schemeClr val="accent1"/>
          </a:solidFill>
          <a:ln/>
        </p:spPr>
      </p:sp>
      <p:pic>
        <p:nvPicPr>
          <p:cNvPr id="9" name="Report 2 icon" descr="preencoded.png">    </p:cNvPr>
          <p:cNvPicPr>
            <a:picLocks noChangeAspect="1"/>
          </p:cNvPicPr>
          <p:nvPr/>
        </p:nvPicPr>
        <p:blipFill>
          <a:blip r:embed="rId2"/>
          <a:stretch>
            <a:fillRect/>
          </a:stretch>
        </p:blipFill>
        <p:spPr>
          <a:xfrm>
            <a:off x="5728716" y="1906524"/>
            <a:ext cx="210312" cy="210312"/>
          </a:xfrm>
          <a:prstGeom prst="rect">
            <a:avLst/>
          </a:prstGeom>
        </p:spPr>
      </p:pic>
      <p:sp>
        <p:nvSpPr>
          <p:cNvPr id="10" name="Text 6"/>
          <p:cNvSpPr txBox="1"/>
          <p:nvPr/>
        </p:nvSpPr>
        <p:spPr>
          <a:xfrm>
            <a:off x="6172200" y="1801368"/>
            <a:ext cx="2514600" cy="420624"/>
          </a:xfrm>
          <a:prstGeom prst="rect">
            <a:avLst/>
          </a:prstGeom>
          <a:noFill/>
          <a:ln/>
        </p:spPr>
        <p:txBody>
          <a:bodyPr wrap="square" lIns="0" tIns="0" rIns="0" bIns="0" rtlCol="0" anchor="ctr"/>
          <a:lstStyle/>
          <a:p>
            <a:pPr indent="0" marL="0">
              <a:buNone/>
            </a:pPr>
            <a:r>
              <a:rPr lang="en-US" sz="1500" dirty="0">
                <a:solidFill>
                  <a:schemeClr val="tx1"/>
                </a:solidFill>
              </a:rPr>
              <a:t>How long each test took</a:t>
            </a:r>
            <a:endParaRPr lang="en-US" sz="1500" dirty="0"/>
          </a:p>
        </p:txBody>
      </p:sp>
      <p:sp>
        <p:nvSpPr>
          <p:cNvPr id="11" name="Report 3 circle"/>
          <p:cNvSpPr/>
          <p:nvPr/>
        </p:nvSpPr>
        <p:spPr>
          <a:xfrm>
            <a:off x="5623560" y="2368296"/>
            <a:ext cx="420624" cy="420624"/>
          </a:xfrm>
          <a:prstGeom prst="ellipse">
            <a:avLst/>
          </a:prstGeom>
          <a:solidFill>
            <a:schemeClr val="accent1"/>
          </a:solidFill>
          <a:ln/>
        </p:spPr>
      </p:sp>
      <p:pic>
        <p:nvPicPr>
          <p:cNvPr id="12" name="Report 3 icon" descr="preencoded.png">    </p:cNvPr>
          <p:cNvPicPr>
            <a:picLocks noChangeAspect="1"/>
          </p:cNvPicPr>
          <p:nvPr/>
        </p:nvPicPr>
        <p:blipFill>
          <a:blip r:embed="rId3"/>
          <a:stretch>
            <a:fillRect/>
          </a:stretch>
        </p:blipFill>
        <p:spPr>
          <a:xfrm>
            <a:off x="5728716" y="2473452"/>
            <a:ext cx="210312" cy="210312"/>
          </a:xfrm>
          <a:prstGeom prst="rect">
            <a:avLst/>
          </a:prstGeom>
        </p:spPr>
      </p:pic>
      <p:sp>
        <p:nvSpPr>
          <p:cNvPr id="13" name="Text 8"/>
          <p:cNvSpPr txBox="1"/>
          <p:nvPr/>
        </p:nvSpPr>
        <p:spPr>
          <a:xfrm>
            <a:off x="6172200" y="2368296"/>
            <a:ext cx="2514600" cy="420624"/>
          </a:xfrm>
          <a:prstGeom prst="rect">
            <a:avLst/>
          </a:prstGeom>
          <a:noFill/>
          <a:ln/>
        </p:spPr>
        <p:txBody>
          <a:bodyPr wrap="square" lIns="0" tIns="0" rIns="0" bIns="0" rtlCol="0" anchor="ctr"/>
          <a:lstStyle/>
          <a:p>
            <a:pPr indent="0" marL="0">
              <a:buNone/>
            </a:pPr>
            <a:r>
              <a:rPr lang="en-US" sz="1500" dirty="0">
                <a:solidFill>
                  <a:schemeClr val="tx1"/>
                </a:solidFill>
              </a:rPr>
              <a:t>A screenshot of every test</a:t>
            </a:r>
            <a:endParaRPr lang="en-US" sz="1500" dirty="0"/>
          </a:p>
        </p:txBody>
      </p:sp>
      <p:sp>
        <p:nvSpPr>
          <p:cNvPr id="14" name="Report 4 circle"/>
          <p:cNvSpPr/>
          <p:nvPr/>
        </p:nvSpPr>
        <p:spPr>
          <a:xfrm>
            <a:off x="5623560" y="2935224"/>
            <a:ext cx="420624" cy="420624"/>
          </a:xfrm>
          <a:prstGeom prst="ellipse">
            <a:avLst/>
          </a:prstGeom>
          <a:solidFill>
            <a:schemeClr val="accent1"/>
          </a:solidFill>
          <a:ln/>
        </p:spPr>
      </p:sp>
      <p:pic>
        <p:nvPicPr>
          <p:cNvPr id="15" name="Report 4 icon" descr="preencoded.png">    </p:cNvPr>
          <p:cNvPicPr>
            <a:picLocks noChangeAspect="1"/>
          </p:cNvPicPr>
          <p:nvPr/>
        </p:nvPicPr>
        <p:blipFill>
          <a:blip r:embed="rId4"/>
          <a:stretch>
            <a:fillRect/>
          </a:stretch>
        </p:blipFill>
        <p:spPr>
          <a:xfrm>
            <a:off x="5728716" y="3040380"/>
            <a:ext cx="210312" cy="210312"/>
          </a:xfrm>
          <a:prstGeom prst="rect">
            <a:avLst/>
          </a:prstGeom>
        </p:spPr>
      </p:pic>
      <p:sp>
        <p:nvSpPr>
          <p:cNvPr id="16" name="Text 10"/>
          <p:cNvSpPr txBox="1"/>
          <p:nvPr/>
        </p:nvSpPr>
        <p:spPr>
          <a:xfrm>
            <a:off x="6172200" y="2935224"/>
            <a:ext cx="2514600" cy="420624"/>
          </a:xfrm>
          <a:prstGeom prst="rect">
            <a:avLst/>
          </a:prstGeom>
          <a:noFill/>
          <a:ln/>
        </p:spPr>
        <p:txBody>
          <a:bodyPr wrap="square" lIns="0" tIns="0" rIns="0" bIns="0" rtlCol="0" anchor="ctr"/>
          <a:lstStyle/>
          <a:p>
            <a:pPr indent="0" marL="0">
              <a:buNone/>
            </a:pPr>
            <a:r>
              <a:rPr lang="en-US" sz="1500" dirty="0">
                <a:solidFill>
                  <a:schemeClr val="tx1"/>
                </a:solidFill>
              </a:rPr>
              <a:t>A step-by-step replay</a:t>
            </a:r>
            <a:endParaRPr lang="en-US" sz="1500" dirty="0"/>
          </a:p>
        </p:txBody>
      </p:sp>
      <p:sp>
        <p:nvSpPr>
          <p:cNvPr id="17" name="Demo run"/>
          <p:cNvSpPr/>
          <p:nvPr/>
        </p:nvSpPr>
        <p:spPr>
          <a:xfrm>
            <a:off x="5623560" y="3611880"/>
            <a:ext cx="3063240" cy="960120"/>
          </a:xfrm>
          <a:prstGeom prst="roundRect">
            <a:avLst>
              <a:gd name="adj" fmla="val 7619"/>
            </a:avLst>
          </a:prstGeom>
          <a:solidFill>
            <a:schemeClr val="tx2"/>
          </a:solidFill>
          <a:ln/>
        </p:spPr>
      </p:sp>
      <p:sp>
        <p:nvSpPr>
          <p:cNvPr id="18" name="Demo run text"/>
          <p:cNvSpPr txBox="1"/>
          <p:nvPr/>
        </p:nvSpPr>
        <p:spPr>
          <a:xfrm>
            <a:off x="5806440" y="3611880"/>
            <a:ext cx="2743200" cy="960120"/>
          </a:xfrm>
          <a:prstGeom prst="rect">
            <a:avLst/>
          </a:prstGeom>
          <a:noFill/>
          <a:ln/>
        </p:spPr>
        <p:txBody>
          <a:bodyPr wrap="square" lIns="0" tIns="0" rIns="0" bIns="0" rtlCol="0" anchor="ctr"/>
          <a:lstStyle/>
          <a:p>
            <a:pPr indent="0" marL="0">
              <a:buNone/>
            </a:pPr>
            <a:r>
              <a:rPr lang="en-US" sz="1500" b="1" dirty="0">
                <a:solidFill>
                  <a:schemeClr val="bg1"/>
                </a:solidFill>
              </a:rPr>
              <a:t>5 tests, real browser</a:t>
            </a:r>
            <a:endParaRPr lang="en-US" sz="1500" dirty="0"/>
          </a:p>
          <a:p>
            <a:pPr indent="0" marL="0">
              <a:buNone/>
            </a:pPr>
            <a:r>
              <a:rPr lang="en-US" sz="1500" dirty="0">
                <a:solidFill>
                  <a:schemeClr val="accent5"/>
                </a:solidFill>
              </a:rPr>
              <a:t>all pass in about 4 seconds</a:t>
            </a:r>
            <a:endParaRPr lang="en-US" sz="15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Designed to be safe on a company laptop</a:t>
            </a:r>
            <a:endParaRPr lang="en-US" sz="2800" dirty="0"/>
          </a:p>
        </p:txBody>
      </p:sp>
      <p:sp>
        <p:nvSpPr>
          <p:cNvPr id="3" name="Safety Read-only"/>
          <p:cNvSpPr/>
          <p:nvPr/>
        </p:nvSpPr>
        <p:spPr>
          <a:xfrm>
            <a:off x="457200" y="1188720"/>
            <a:ext cx="4023360" cy="1170432"/>
          </a:xfrm>
          <a:prstGeom prst="roundRect">
            <a:avLst>
              <a:gd name="adj" fmla="val 6250"/>
            </a:avLst>
          </a:prstGeom>
          <a:solidFill>
            <a:schemeClr val="bg1"/>
          </a:solidFill>
          <a:ln/>
          <a:effectLst>
            <a:outerShdw sx="100000" sy="100000" kx="0" ky="0" algn="bl" rotWithShape="0" blurRad="76200" dist="25400" dir="5400000">
              <a:srgbClr val="000000">
                <a:alpha val="12000"/>
              </a:srgbClr>
            </a:outerShdw>
          </a:effectLst>
        </p:spPr>
      </p:sp>
      <p:sp>
        <p:nvSpPr>
          <p:cNvPr id="4" name="Safety 1 circle"/>
          <p:cNvSpPr/>
          <p:nvPr/>
        </p:nvSpPr>
        <p:spPr>
          <a:xfrm>
            <a:off x="640080" y="1389888"/>
            <a:ext cx="548640" cy="548640"/>
          </a:xfrm>
          <a:prstGeom prst="ellipse">
            <a:avLst/>
          </a:prstGeom>
          <a:solidFill>
            <a:schemeClr val="tx2"/>
          </a:solidFill>
          <a:ln/>
        </p:spPr>
      </p:sp>
      <p:pic>
        <p:nvPicPr>
          <p:cNvPr id="5" name="Safety 1 icon" descr="preencoded.png">    </p:cNvPr>
          <p:cNvPicPr>
            <a:picLocks noChangeAspect="1"/>
          </p:cNvPicPr>
          <p:nvPr/>
        </p:nvPicPr>
        <p:blipFill>
          <a:blip r:embed="rId1"/>
          <a:stretch>
            <a:fillRect/>
          </a:stretch>
        </p:blipFill>
        <p:spPr>
          <a:xfrm>
            <a:off x="777240" y="1527048"/>
            <a:ext cx="274320" cy="274320"/>
          </a:xfrm>
          <a:prstGeom prst="rect">
            <a:avLst/>
          </a:prstGeom>
        </p:spPr>
      </p:pic>
      <p:sp>
        <p:nvSpPr>
          <p:cNvPr id="6" name="Text 3"/>
          <p:cNvSpPr txBox="1"/>
          <p:nvPr/>
        </p:nvSpPr>
        <p:spPr>
          <a:xfrm>
            <a:off x="1371600" y="1298448"/>
            <a:ext cx="2971800" cy="960120"/>
          </a:xfrm>
          <a:prstGeom prst="rect">
            <a:avLst/>
          </a:prstGeom>
          <a:noFill/>
          <a:ln/>
        </p:spPr>
        <p:txBody>
          <a:bodyPr wrap="square" lIns="0" tIns="0" rIns="0" bIns="0" rtlCol="0" anchor="ctr"/>
          <a:lstStyle/>
          <a:p>
            <a:pPr indent="0" marL="0">
              <a:spcAft>
                <a:spcPts val="300"/>
              </a:spcAft>
              <a:buNone/>
            </a:pPr>
            <a:r>
              <a:rPr lang="en-US" sz="1500" b="1" dirty="0">
                <a:solidFill>
                  <a:schemeClr val="tx2"/>
                </a:solidFill>
              </a:rPr>
              <a:t>Read-only</a:t>
            </a:r>
            <a:endParaRPr lang="en-US" sz="1400" dirty="0"/>
          </a:p>
          <a:p>
            <a:pPr indent="0" marL="0">
              <a:spcAft>
                <a:spcPts val="300"/>
              </a:spcAft>
              <a:buNone/>
            </a:pPr>
            <a:r>
              <a:rPr lang="en-US" sz="1250" dirty="0">
                <a:solidFill>
                  <a:schemeClr val="tx1"/>
                </a:solidFill>
              </a:rPr>
              <a:t>Reads project files and never runs our code. Only “merge --apply” changes files, after a preview.</a:t>
            </a:r>
            <a:endParaRPr lang="en-US" sz="1400" dirty="0"/>
          </a:p>
        </p:txBody>
      </p:sp>
      <p:sp>
        <p:nvSpPr>
          <p:cNvPr id="7" name="Safety No network"/>
          <p:cNvSpPr/>
          <p:nvPr/>
        </p:nvSpPr>
        <p:spPr>
          <a:xfrm>
            <a:off x="4663440" y="1188720"/>
            <a:ext cx="4023360" cy="1170432"/>
          </a:xfrm>
          <a:prstGeom prst="roundRect">
            <a:avLst>
              <a:gd name="adj" fmla="val 6250"/>
            </a:avLst>
          </a:prstGeom>
          <a:solidFill>
            <a:schemeClr val="bg1"/>
          </a:solidFill>
          <a:ln/>
          <a:effectLst>
            <a:outerShdw sx="100000" sy="100000" kx="0" ky="0" algn="bl" rotWithShape="0" blurRad="76200" dist="25400" dir="5400000">
              <a:srgbClr val="000000">
                <a:alpha val="12000"/>
              </a:srgbClr>
            </a:outerShdw>
          </a:effectLst>
        </p:spPr>
      </p:sp>
      <p:sp>
        <p:nvSpPr>
          <p:cNvPr id="8" name="Safety 2 circle"/>
          <p:cNvSpPr/>
          <p:nvPr/>
        </p:nvSpPr>
        <p:spPr>
          <a:xfrm>
            <a:off x="4846320" y="1389888"/>
            <a:ext cx="548640" cy="548640"/>
          </a:xfrm>
          <a:prstGeom prst="ellipse">
            <a:avLst/>
          </a:prstGeom>
          <a:solidFill>
            <a:schemeClr val="tx2"/>
          </a:solidFill>
          <a:ln/>
        </p:spPr>
      </p:sp>
      <p:pic>
        <p:nvPicPr>
          <p:cNvPr id="9" name="Safety 2 icon" descr="preencoded.png">    </p:cNvPr>
          <p:cNvPicPr>
            <a:picLocks noChangeAspect="1"/>
          </p:cNvPicPr>
          <p:nvPr/>
        </p:nvPicPr>
        <p:blipFill>
          <a:blip r:embed="rId2"/>
          <a:stretch>
            <a:fillRect/>
          </a:stretch>
        </p:blipFill>
        <p:spPr>
          <a:xfrm>
            <a:off x="4983480" y="1527048"/>
            <a:ext cx="274320" cy="274320"/>
          </a:xfrm>
          <a:prstGeom prst="rect">
            <a:avLst/>
          </a:prstGeom>
        </p:spPr>
      </p:pic>
      <p:sp>
        <p:nvSpPr>
          <p:cNvPr id="10" name="Text 6"/>
          <p:cNvSpPr txBox="1"/>
          <p:nvPr/>
        </p:nvSpPr>
        <p:spPr>
          <a:xfrm>
            <a:off x="5577840" y="1298448"/>
            <a:ext cx="2971800" cy="960120"/>
          </a:xfrm>
          <a:prstGeom prst="rect">
            <a:avLst/>
          </a:prstGeom>
          <a:noFill/>
          <a:ln/>
        </p:spPr>
        <p:txBody>
          <a:bodyPr wrap="square" lIns="0" tIns="0" rIns="0" bIns="0" rtlCol="0" anchor="ctr"/>
          <a:lstStyle/>
          <a:p>
            <a:pPr indent="0" marL="0">
              <a:spcAft>
                <a:spcPts val="300"/>
              </a:spcAft>
              <a:buNone/>
            </a:pPr>
            <a:r>
              <a:rPr lang="en-US" sz="1500" b="1" dirty="0">
                <a:solidFill>
                  <a:schemeClr val="tx2"/>
                </a:solidFill>
              </a:rPr>
              <a:t>No network</a:t>
            </a:r>
            <a:endParaRPr lang="en-US" sz="1400" dirty="0"/>
          </a:p>
          <a:p>
            <a:pPr indent="0" marL="0">
              <a:spcAft>
                <a:spcPts val="300"/>
              </a:spcAft>
              <a:buNone/>
            </a:pPr>
            <a:r>
              <a:rPr lang="en-US" sz="1250" dirty="0">
                <a:solidFill>
                  <a:schemeClr val="tx1"/>
                </a:solidFill>
              </a:rPr>
              <a:t>No internet access at all. No data leaves the machine, no tracking.</a:t>
            </a:r>
            <a:endParaRPr lang="en-US" sz="1400" dirty="0"/>
          </a:p>
        </p:txBody>
      </p:sp>
      <p:sp>
        <p:nvSpPr>
          <p:cNvPr id="11" name="Safety Nothing extra in the tool"/>
          <p:cNvSpPr/>
          <p:nvPr/>
        </p:nvSpPr>
        <p:spPr>
          <a:xfrm>
            <a:off x="457200" y="2514600"/>
            <a:ext cx="4023360" cy="1170432"/>
          </a:xfrm>
          <a:prstGeom prst="roundRect">
            <a:avLst>
              <a:gd name="adj" fmla="val 6250"/>
            </a:avLst>
          </a:prstGeom>
          <a:solidFill>
            <a:schemeClr val="bg1"/>
          </a:solidFill>
          <a:ln/>
          <a:effectLst>
            <a:outerShdw sx="100000" sy="100000" kx="0" ky="0" algn="bl" rotWithShape="0" blurRad="76200" dist="25400" dir="5400000">
              <a:srgbClr val="000000">
                <a:alpha val="12000"/>
              </a:srgbClr>
            </a:outerShdw>
          </a:effectLst>
        </p:spPr>
      </p:sp>
      <p:sp>
        <p:nvSpPr>
          <p:cNvPr id="12" name="Safety 3 circle"/>
          <p:cNvSpPr/>
          <p:nvPr/>
        </p:nvSpPr>
        <p:spPr>
          <a:xfrm>
            <a:off x="640080" y="2715768"/>
            <a:ext cx="548640" cy="548640"/>
          </a:xfrm>
          <a:prstGeom prst="ellipse">
            <a:avLst/>
          </a:prstGeom>
          <a:solidFill>
            <a:schemeClr val="tx2"/>
          </a:solidFill>
          <a:ln/>
        </p:spPr>
      </p:sp>
      <p:pic>
        <p:nvPicPr>
          <p:cNvPr id="13" name="Safety 3 icon" descr="preencoded.png">    </p:cNvPr>
          <p:cNvPicPr>
            <a:picLocks noChangeAspect="1"/>
          </p:cNvPicPr>
          <p:nvPr/>
        </p:nvPicPr>
        <p:blipFill>
          <a:blip r:embed="rId3"/>
          <a:stretch>
            <a:fillRect/>
          </a:stretch>
        </p:blipFill>
        <p:spPr>
          <a:xfrm>
            <a:off x="777240" y="2852928"/>
            <a:ext cx="274320" cy="274320"/>
          </a:xfrm>
          <a:prstGeom prst="rect">
            <a:avLst/>
          </a:prstGeom>
        </p:spPr>
      </p:pic>
      <p:sp>
        <p:nvSpPr>
          <p:cNvPr id="14" name="Text 9"/>
          <p:cNvSpPr txBox="1"/>
          <p:nvPr/>
        </p:nvSpPr>
        <p:spPr>
          <a:xfrm>
            <a:off x="1371600" y="2624328"/>
            <a:ext cx="2971800" cy="960120"/>
          </a:xfrm>
          <a:prstGeom prst="rect">
            <a:avLst/>
          </a:prstGeom>
          <a:noFill/>
          <a:ln/>
        </p:spPr>
        <p:txBody>
          <a:bodyPr wrap="square" lIns="0" tIns="0" rIns="0" bIns="0" rtlCol="0" anchor="ctr"/>
          <a:lstStyle/>
          <a:p>
            <a:pPr indent="0" marL="0">
              <a:spcAft>
                <a:spcPts val="300"/>
              </a:spcAft>
              <a:buNone/>
            </a:pPr>
            <a:r>
              <a:rPr lang="en-US" sz="1500" b="1" dirty="0">
                <a:solidFill>
                  <a:schemeClr val="tx2"/>
                </a:solidFill>
              </a:rPr>
              <a:t>Nothing extra in the tool</a:t>
            </a:r>
            <a:endParaRPr lang="en-US" sz="1400" dirty="0"/>
          </a:p>
          <a:p>
            <a:pPr indent="0" marL="0">
              <a:spcAft>
                <a:spcPts val="300"/>
              </a:spcAft>
              <a:buNone/>
            </a:pPr>
            <a:r>
              <a:rPr lang="en-US" sz="1250" dirty="0">
                <a:solidFill>
                  <a:schemeClr val="tx1"/>
                </a:solidFill>
              </a:rPr>
              <a:t>Built only from standard Python. No third-party software.</a:t>
            </a:r>
            <a:endParaRPr lang="en-US" sz="1400" dirty="0"/>
          </a:p>
        </p:txBody>
      </p:sp>
      <p:sp>
        <p:nvSpPr>
          <p:cNvPr id="15" name="Safety Locked, verified demo"/>
          <p:cNvSpPr/>
          <p:nvPr/>
        </p:nvSpPr>
        <p:spPr>
          <a:xfrm>
            <a:off x="4663440" y="2514600"/>
            <a:ext cx="4023360" cy="1170432"/>
          </a:xfrm>
          <a:prstGeom prst="roundRect">
            <a:avLst>
              <a:gd name="adj" fmla="val 6250"/>
            </a:avLst>
          </a:prstGeom>
          <a:solidFill>
            <a:schemeClr val="bg1"/>
          </a:solidFill>
          <a:ln/>
          <a:effectLst>
            <a:outerShdw sx="100000" sy="100000" kx="0" ky="0" algn="bl" rotWithShape="0" blurRad="76200" dist="25400" dir="5400000">
              <a:srgbClr val="000000">
                <a:alpha val="12000"/>
              </a:srgbClr>
            </a:outerShdw>
          </a:effectLst>
        </p:spPr>
      </p:sp>
      <p:sp>
        <p:nvSpPr>
          <p:cNvPr id="16" name="Safety 4 circle"/>
          <p:cNvSpPr/>
          <p:nvPr/>
        </p:nvSpPr>
        <p:spPr>
          <a:xfrm>
            <a:off x="4846320" y="2715768"/>
            <a:ext cx="548640" cy="548640"/>
          </a:xfrm>
          <a:prstGeom prst="ellipse">
            <a:avLst/>
          </a:prstGeom>
          <a:solidFill>
            <a:schemeClr val="tx2"/>
          </a:solidFill>
          <a:ln/>
        </p:spPr>
      </p:sp>
      <p:pic>
        <p:nvPicPr>
          <p:cNvPr id="17" name="Safety 4 icon" descr="preencoded.png">    </p:cNvPr>
          <p:cNvPicPr>
            <a:picLocks noChangeAspect="1"/>
          </p:cNvPicPr>
          <p:nvPr/>
        </p:nvPicPr>
        <p:blipFill>
          <a:blip r:embed="rId4"/>
          <a:stretch>
            <a:fillRect/>
          </a:stretch>
        </p:blipFill>
        <p:spPr>
          <a:xfrm>
            <a:off x="4983480" y="2852928"/>
            <a:ext cx="274320" cy="274320"/>
          </a:xfrm>
          <a:prstGeom prst="rect">
            <a:avLst/>
          </a:prstGeom>
        </p:spPr>
      </p:pic>
      <p:sp>
        <p:nvSpPr>
          <p:cNvPr id="18" name="Text 12"/>
          <p:cNvSpPr txBox="1"/>
          <p:nvPr/>
        </p:nvSpPr>
        <p:spPr>
          <a:xfrm>
            <a:off x="5577840" y="2624328"/>
            <a:ext cx="2971800" cy="960120"/>
          </a:xfrm>
          <a:prstGeom prst="rect">
            <a:avLst/>
          </a:prstGeom>
          <a:noFill/>
          <a:ln/>
        </p:spPr>
        <p:txBody>
          <a:bodyPr wrap="square" lIns="0" tIns="0" rIns="0" bIns="0" rtlCol="0" anchor="ctr"/>
          <a:lstStyle/>
          <a:p>
            <a:pPr indent="0" marL="0">
              <a:spcAft>
                <a:spcPts val="300"/>
              </a:spcAft>
              <a:buNone/>
            </a:pPr>
            <a:r>
              <a:rPr lang="en-US" sz="1500" b="1" dirty="0">
                <a:solidFill>
                  <a:schemeClr val="tx2"/>
                </a:solidFill>
              </a:rPr>
              <a:t>Locked, verified demo</a:t>
            </a:r>
            <a:endParaRPr lang="en-US" sz="1400" dirty="0"/>
          </a:p>
          <a:p>
            <a:pPr indent="0" marL="0">
              <a:spcAft>
                <a:spcPts val="300"/>
              </a:spcAft>
              <a:buNone/>
            </a:pPr>
            <a:r>
              <a:rPr lang="en-US" sz="1250" dirty="0">
                <a:solidFill>
                  <a:schemeClr val="tx1"/>
                </a:solidFill>
              </a:rPr>
              <a:t>Demo parts are pinned to exact, verified versions and use browsers we already have.</a:t>
            </a:r>
            <a:endParaRPr lang="en-US" sz="1400" dirty="0"/>
          </a:p>
        </p:txBody>
      </p:sp>
      <p:sp>
        <p:nvSpPr>
          <p:cNvPr id="19" name="Security doc strip"/>
          <p:cNvSpPr/>
          <p:nvPr/>
        </p:nvSpPr>
        <p:spPr>
          <a:xfrm>
            <a:off x="457200" y="3931920"/>
            <a:ext cx="8229600" cy="594360"/>
          </a:xfrm>
          <a:prstGeom prst="roundRect">
            <a:avLst>
              <a:gd name="adj" fmla="val 12308"/>
            </a:avLst>
          </a:prstGeom>
          <a:solidFill>
            <a:schemeClr val="bg2"/>
          </a:solidFill>
          <a:ln/>
        </p:spPr>
      </p:sp>
      <p:sp>
        <p:nvSpPr>
          <p:cNvPr id="20" name="Security doc circle"/>
          <p:cNvSpPr/>
          <p:nvPr/>
        </p:nvSpPr>
        <p:spPr>
          <a:xfrm>
            <a:off x="594360" y="4014216"/>
            <a:ext cx="429768" cy="429768"/>
          </a:xfrm>
          <a:prstGeom prst="ellipse">
            <a:avLst/>
          </a:prstGeom>
          <a:solidFill>
            <a:schemeClr val="accent1"/>
          </a:solidFill>
          <a:ln/>
        </p:spPr>
      </p:sp>
      <p:pic>
        <p:nvPicPr>
          <p:cNvPr id="21" name="Security doc icon" descr="preencoded.png">    </p:cNvPr>
          <p:cNvPicPr>
            <a:picLocks noChangeAspect="1"/>
          </p:cNvPicPr>
          <p:nvPr/>
        </p:nvPicPr>
        <p:blipFill>
          <a:blip r:embed="rId5"/>
          <a:stretch>
            <a:fillRect/>
          </a:stretch>
        </p:blipFill>
        <p:spPr>
          <a:xfrm>
            <a:off x="701802" y="4121658"/>
            <a:ext cx="214884" cy="214884"/>
          </a:xfrm>
          <a:prstGeom prst="rect">
            <a:avLst/>
          </a:prstGeom>
        </p:spPr>
      </p:pic>
      <p:sp>
        <p:nvSpPr>
          <p:cNvPr id="22" name="Security doc text"/>
          <p:cNvSpPr txBox="1"/>
          <p:nvPr/>
        </p:nvSpPr>
        <p:spPr>
          <a:xfrm>
            <a:off x="1188720" y="3931920"/>
            <a:ext cx="7406640" cy="594360"/>
          </a:xfrm>
          <a:prstGeom prst="rect">
            <a:avLst/>
          </a:prstGeom>
          <a:noFill/>
          <a:ln/>
        </p:spPr>
        <p:txBody>
          <a:bodyPr wrap="square" lIns="0" tIns="0" rIns="0" bIns="0" rtlCol="0" anchor="ctr"/>
          <a:lstStyle/>
          <a:p>
            <a:pPr indent="0" marL="0">
              <a:buNone/>
            </a:pPr>
            <a:r>
              <a:rPr lang="en-US" sz="1400" dirty="0">
                <a:solidFill>
                  <a:schemeClr val="tx1"/>
                </a:solidFill>
              </a:rPr>
              <a:t>A written security document is ready for IT and security reviewers. Works with Edge, Chrome or Brave.</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800" b="1" dirty="0">
                <a:solidFill>
                  <a:schemeClr val="bg1"/>
                </a:solidFill>
                <a:latin typeface="Cambria" pitchFamily="34" charset="0"/>
                <a:ea typeface="Cambria" pitchFamily="34" charset="-122"/>
                <a:cs typeface="Cambria" pitchFamily="34" charset="-120"/>
              </a:rPr>
              <a:t>What’s next, and how you can help</a:t>
            </a:r>
            <a:endParaRPr lang="en-US" sz="2800" dirty="0"/>
          </a:p>
        </p:txBody>
      </p:sp>
      <p:sp>
        <p:nvSpPr>
          <p:cNvPr id="3" name="Roadmap 1 circle"/>
          <p:cNvSpPr/>
          <p:nvPr/>
        </p:nvSpPr>
        <p:spPr>
          <a:xfrm>
            <a:off x="457200" y="1188720"/>
            <a:ext cx="502920" cy="502920"/>
          </a:xfrm>
          <a:prstGeom prst="ellipse">
            <a:avLst/>
          </a:prstGeom>
          <a:solidFill>
            <a:schemeClr val="accent1"/>
          </a:solidFill>
          <a:ln/>
        </p:spPr>
      </p:sp>
      <p:pic>
        <p:nvPicPr>
          <p:cNvPr id="4" name="Roadmap 1 icon" descr="preencoded.png">    </p:cNvPr>
          <p:cNvPicPr>
            <a:picLocks noChangeAspect="1"/>
          </p:cNvPicPr>
          <p:nvPr/>
        </p:nvPicPr>
        <p:blipFill>
          <a:blip r:embed="rId1"/>
          <a:stretch>
            <a:fillRect/>
          </a:stretch>
        </p:blipFill>
        <p:spPr>
          <a:xfrm>
            <a:off x="582930" y="1314450"/>
            <a:ext cx="251460" cy="251460"/>
          </a:xfrm>
          <a:prstGeom prst="rect">
            <a:avLst/>
          </a:prstGeom>
        </p:spPr>
      </p:pic>
      <p:sp>
        <p:nvSpPr>
          <p:cNvPr id="5" name="Text 2"/>
          <p:cNvSpPr txBox="1"/>
          <p:nvPr/>
        </p:nvSpPr>
        <p:spPr>
          <a:xfrm>
            <a:off x="1097280" y="1143000"/>
            <a:ext cx="3566160" cy="1005840"/>
          </a:xfrm>
          <a:prstGeom prst="rect">
            <a:avLst/>
          </a:prstGeom>
          <a:noFill/>
          <a:ln/>
        </p:spPr>
        <p:txBody>
          <a:bodyPr wrap="square" lIns="0" tIns="0" rIns="0" bIns="0" rtlCol="0" anchor="t"/>
          <a:lstStyle/>
          <a:p>
            <a:pPr indent="0" marL="0">
              <a:buNone/>
            </a:pPr>
            <a:r>
              <a:rPr lang="en-US" sz="1500" b="1" dirty="0">
                <a:solidFill>
                  <a:srgbClr val="F2C46D"/>
                </a:solidFill>
              </a:rPr>
              <a:t>Done</a:t>
            </a:r>
            <a:endParaRPr lang="en-US" sz="1400" dirty="0"/>
          </a:p>
          <a:p>
            <a:pPr indent="0" marL="0">
              <a:buNone/>
            </a:pPr>
            <a:r>
              <a:rPr lang="en-US" sz="1300" dirty="0">
                <a:solidFill>
                  <a:schemeClr val="bg1"/>
                </a:solidFill>
              </a:rPr>
              <a:t>Everything you’ve seen today</a:t>
            </a:r>
            <a:endParaRPr lang="en-US" sz="1400" dirty="0"/>
          </a:p>
        </p:txBody>
      </p:sp>
      <p:sp>
        <p:nvSpPr>
          <p:cNvPr id="6" name="Roadmap 2 circle"/>
          <p:cNvSpPr/>
          <p:nvPr/>
        </p:nvSpPr>
        <p:spPr>
          <a:xfrm>
            <a:off x="457200" y="2304288"/>
            <a:ext cx="502920" cy="502920"/>
          </a:xfrm>
          <a:prstGeom prst="ellipse">
            <a:avLst/>
          </a:prstGeom>
          <a:solidFill>
            <a:schemeClr val="accent3"/>
          </a:solidFill>
          <a:ln/>
        </p:spPr>
      </p:sp>
      <p:pic>
        <p:nvPicPr>
          <p:cNvPr id="7" name="Roadmap 2 icon" descr="preencoded.png">    </p:cNvPr>
          <p:cNvPicPr>
            <a:picLocks noChangeAspect="1"/>
          </p:cNvPicPr>
          <p:nvPr/>
        </p:nvPicPr>
        <p:blipFill>
          <a:blip r:embed="rId2"/>
          <a:stretch>
            <a:fillRect/>
          </a:stretch>
        </p:blipFill>
        <p:spPr>
          <a:xfrm>
            <a:off x="582930" y="2430018"/>
            <a:ext cx="251460" cy="251460"/>
          </a:xfrm>
          <a:prstGeom prst="rect">
            <a:avLst/>
          </a:prstGeom>
        </p:spPr>
      </p:pic>
      <p:sp>
        <p:nvSpPr>
          <p:cNvPr id="8" name="Text 4"/>
          <p:cNvSpPr txBox="1"/>
          <p:nvPr/>
        </p:nvSpPr>
        <p:spPr>
          <a:xfrm>
            <a:off x="1097280" y="2258568"/>
            <a:ext cx="3566160" cy="1005840"/>
          </a:xfrm>
          <a:prstGeom prst="rect">
            <a:avLst/>
          </a:prstGeom>
          <a:noFill/>
          <a:ln/>
        </p:spPr>
        <p:txBody>
          <a:bodyPr wrap="square" lIns="0" tIns="0" rIns="0" bIns="0" rtlCol="0" anchor="t"/>
          <a:lstStyle/>
          <a:p>
            <a:pPr indent="0" marL="0">
              <a:buNone/>
            </a:pPr>
            <a:r>
              <a:rPr lang="en-US" sz="1500" b="1" dirty="0">
                <a:solidFill>
                  <a:srgbClr val="F2C46D"/>
                </a:solidFill>
              </a:rPr>
              <a:t>Next</a:t>
            </a:r>
            <a:endParaRPr lang="en-US" sz="1400" dirty="0"/>
          </a:p>
          <a:p>
            <a:pPr indent="0" marL="0">
              <a:buNone/>
            </a:pPr>
            <a:r>
              <a:rPr lang="en-US" sz="1300" dirty="0">
                <a:solidFill>
                  <a:schemeClr val="bg1"/>
                </a:solidFill>
              </a:rPr>
              <a:t>Optional AI helper that drafts whole tests from a user story, using only existing steps. Clearly marked as online, kept separate.</a:t>
            </a:r>
            <a:endParaRPr lang="en-US" sz="1400" dirty="0"/>
          </a:p>
        </p:txBody>
      </p:sp>
      <p:sp>
        <p:nvSpPr>
          <p:cNvPr id="9" name="Roadmap 3 circle"/>
          <p:cNvSpPr/>
          <p:nvPr/>
        </p:nvSpPr>
        <p:spPr>
          <a:xfrm>
            <a:off x="457200" y="3419856"/>
            <a:ext cx="502920" cy="502920"/>
          </a:xfrm>
          <a:prstGeom prst="ellipse">
            <a:avLst/>
          </a:prstGeom>
          <a:solidFill>
            <a:schemeClr val="accent3"/>
          </a:solidFill>
          <a:ln/>
        </p:spPr>
      </p:sp>
      <p:pic>
        <p:nvPicPr>
          <p:cNvPr id="10" name="Roadmap 3 icon" descr="preencoded.png">    </p:cNvPr>
          <p:cNvPicPr>
            <a:picLocks noChangeAspect="1"/>
          </p:cNvPicPr>
          <p:nvPr/>
        </p:nvPicPr>
        <p:blipFill>
          <a:blip r:embed="rId3"/>
          <a:stretch>
            <a:fillRect/>
          </a:stretch>
        </p:blipFill>
        <p:spPr>
          <a:xfrm>
            <a:off x="582930" y="3545586"/>
            <a:ext cx="251460" cy="251460"/>
          </a:xfrm>
          <a:prstGeom prst="rect">
            <a:avLst/>
          </a:prstGeom>
        </p:spPr>
      </p:pic>
      <p:sp>
        <p:nvSpPr>
          <p:cNvPr id="11" name="Text 6"/>
          <p:cNvSpPr txBox="1"/>
          <p:nvPr/>
        </p:nvSpPr>
        <p:spPr>
          <a:xfrm>
            <a:off x="1097280" y="3374136"/>
            <a:ext cx="3566160" cy="1005840"/>
          </a:xfrm>
          <a:prstGeom prst="rect">
            <a:avLst/>
          </a:prstGeom>
          <a:noFill/>
          <a:ln/>
        </p:spPr>
        <p:txBody>
          <a:bodyPr wrap="square" lIns="0" tIns="0" rIns="0" bIns="0" rtlCol="0" anchor="t"/>
          <a:lstStyle/>
          <a:p>
            <a:pPr indent="0" marL="0">
              <a:buNone/>
            </a:pPr>
            <a:r>
              <a:rPr lang="en-US" sz="1500" b="1" dirty="0">
                <a:solidFill>
                  <a:srgbClr val="F2C46D"/>
                </a:solidFill>
              </a:rPr>
              <a:t>Then</a:t>
            </a:r>
            <a:endParaRPr lang="en-US" sz="1400" dirty="0"/>
          </a:p>
          <a:p>
            <a:pPr indent="0" marL="0">
              <a:buNone/>
            </a:pPr>
            <a:r>
              <a:rPr lang="en-US" sz="1300" dirty="0">
                <a:solidFill>
                  <a:schemeClr val="bg1"/>
                </a:solidFill>
              </a:rPr>
              <a:t>Run these checks automatically on every code change, so problems are caught early</a:t>
            </a:r>
            <a:endParaRPr lang="en-US" sz="1400" dirty="0"/>
          </a:p>
        </p:txBody>
      </p:sp>
      <p:sp>
        <p:nvSpPr>
          <p:cNvPr id="12" name="Ask card"/>
          <p:cNvSpPr/>
          <p:nvPr/>
        </p:nvSpPr>
        <p:spPr>
          <a:xfrm>
            <a:off x="5029200" y="1188720"/>
            <a:ext cx="3657600" cy="3337560"/>
          </a:xfrm>
          <a:prstGeom prst="roundRect">
            <a:avLst>
              <a:gd name="adj" fmla="val 2192"/>
            </a:avLst>
          </a:prstGeom>
          <a:solidFill>
            <a:schemeClr val="bg1"/>
          </a:solidFill>
          <a:ln/>
          <a:effectLst>
            <a:outerShdw sx="100000" sy="100000" kx="0" ky="0" algn="bl" rotWithShape="0" blurRad="76200" dist="25400" dir="5400000">
              <a:srgbClr val="000000">
                <a:alpha val="12000"/>
              </a:srgbClr>
            </a:outerShdw>
          </a:effectLst>
        </p:spPr>
      </p:sp>
      <p:sp>
        <p:nvSpPr>
          <p:cNvPr id="13" name="Text 8"/>
          <p:cNvSpPr txBox="1"/>
          <p:nvPr/>
        </p:nvSpPr>
        <p:spPr>
          <a:xfrm>
            <a:off x="5257800" y="1325880"/>
            <a:ext cx="3200400" cy="41148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My ask</a:t>
            </a:r>
            <a:endParaRPr lang="en-US" sz="2200" dirty="0"/>
          </a:p>
        </p:txBody>
      </p:sp>
      <p:sp>
        <p:nvSpPr>
          <p:cNvPr id="14" name="Ask placeholder box"/>
          <p:cNvSpPr/>
          <p:nvPr/>
        </p:nvSpPr>
        <p:spPr>
          <a:xfrm>
            <a:off x="5257800" y="1828800"/>
            <a:ext cx="3200400" cy="548640"/>
          </a:xfrm>
          <a:prstGeom prst="roundRect">
            <a:avLst>
              <a:gd name="adj" fmla="val 10000"/>
            </a:avLst>
          </a:prstGeom>
          <a:solidFill>
            <a:srgbClr val="FDF0D9"/>
          </a:solidFill>
          <a:ln w="15875">
            <a:solidFill>
              <a:srgbClr val="E39B2D"/>
            </a:solidFill>
            <a:prstDash val="solid"/>
          </a:ln>
        </p:spPr>
      </p:sp>
      <p:sp>
        <p:nvSpPr>
          <p:cNvPr id="15" name="Ask placeholder"/>
          <p:cNvSpPr txBox="1"/>
          <p:nvPr/>
        </p:nvSpPr>
        <p:spPr>
          <a:xfrm>
            <a:off x="5367528" y="1828800"/>
            <a:ext cx="2980944" cy="548640"/>
          </a:xfrm>
          <a:prstGeom prst="rect">
            <a:avLst/>
          </a:prstGeom>
          <a:noFill/>
          <a:ln/>
        </p:spPr>
        <p:txBody>
          <a:bodyPr wrap="square" lIns="0" tIns="0" rIns="0" bIns="0" rtlCol="0" anchor="ctr"/>
          <a:lstStyle/>
          <a:p>
            <a:pPr indent="0" marL="0">
              <a:buNone/>
            </a:pPr>
            <a:r>
              <a:rPr lang="en-US" sz="1500" b="1" dirty="0">
                <a:solidFill>
                  <a:srgbClr val="8A5A0C"/>
                </a:solidFill>
              </a:rPr>
              <a:t>[ADD: what I’m asking for]</a:t>
            </a:r>
            <a:endParaRPr lang="en-US" sz="1500" dirty="0"/>
          </a:p>
        </p:txBody>
      </p:sp>
      <p:sp>
        <p:nvSpPr>
          <p:cNvPr id="16" name="Text 11"/>
          <p:cNvSpPr txBox="1"/>
          <p:nvPr/>
        </p:nvSpPr>
        <p:spPr>
          <a:xfrm>
            <a:off x="5257800" y="2514600"/>
            <a:ext cx="3200400" cy="868680"/>
          </a:xfrm>
          <a:prstGeom prst="rect">
            <a:avLst/>
          </a:prstGeom>
          <a:noFill/>
          <a:ln/>
        </p:spPr>
        <p:txBody>
          <a:bodyPr wrap="square" lIns="0" tIns="0" rIns="0" bIns="0" rtlCol="0" anchor="t"/>
          <a:lstStyle/>
          <a:p>
            <a:pPr indent="0" marL="0">
              <a:buNone/>
            </a:pPr>
            <a:r>
              <a:rPr lang="en-US" sz="1300" dirty="0">
                <a:solidFill>
                  <a:schemeClr val="accent6"/>
                </a:solidFill>
              </a:rPr>
              <a:t>For example: time to pilot it on a real project, approval to install it, or introductions to the test teams.</a:t>
            </a:r>
            <a:endParaRPr lang="en-US" sz="1300" dirty="0"/>
          </a:p>
        </p:txBody>
      </p:sp>
      <p:sp>
        <p:nvSpPr>
          <p:cNvPr id="17" name="Impact placeholder box"/>
          <p:cNvSpPr/>
          <p:nvPr/>
        </p:nvSpPr>
        <p:spPr>
          <a:xfrm>
            <a:off x="5257800" y="3520440"/>
            <a:ext cx="3200400" cy="457200"/>
          </a:xfrm>
          <a:prstGeom prst="roundRect">
            <a:avLst>
              <a:gd name="adj" fmla="val 12000"/>
            </a:avLst>
          </a:prstGeom>
          <a:solidFill>
            <a:srgbClr val="FDF0D9"/>
          </a:solidFill>
          <a:ln w="15875">
            <a:solidFill>
              <a:srgbClr val="E39B2D"/>
            </a:solidFill>
            <a:prstDash val="solid"/>
          </a:ln>
        </p:spPr>
      </p:sp>
      <p:sp>
        <p:nvSpPr>
          <p:cNvPr id="18" name="Impact placeholder"/>
          <p:cNvSpPr txBox="1"/>
          <p:nvPr/>
        </p:nvSpPr>
        <p:spPr>
          <a:xfrm>
            <a:off x="5367528" y="3520440"/>
            <a:ext cx="2980944" cy="457200"/>
          </a:xfrm>
          <a:prstGeom prst="rect">
            <a:avLst/>
          </a:prstGeom>
          <a:noFill/>
          <a:ln/>
        </p:spPr>
        <p:txBody>
          <a:bodyPr wrap="square" lIns="0" tIns="0" rIns="0" bIns="0" rtlCol="0" anchor="ctr"/>
          <a:lstStyle/>
          <a:p>
            <a:pPr indent="0" marL="0">
              <a:buNone/>
            </a:pPr>
            <a:r>
              <a:rPr lang="en-US" sz="1200" b="1" dirty="0">
                <a:solidFill>
                  <a:srgbClr val="8A5A0C"/>
                </a:solidFill>
              </a:rPr>
              <a:t>[ADD: expected time saved on a pilot]</a:t>
            </a:r>
            <a:endParaRPr lang="en-US" sz="12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188720"/>
          </a:xfrm>
          <a:prstGeom prst="rect">
            <a:avLst/>
          </a:prstGeom>
          <a:noFill/>
          <a:ln/>
        </p:spPr>
        <p:txBody>
          <a:bodyPr wrap="square" lIns="0" tIns="0" rIns="0" bIns="0"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Appendix</a:t>
            </a:r>
            <a:endParaRPr lang="en-US" sz="4000" dirty="0"/>
          </a:p>
        </p:txBody>
      </p:sp>
      <p:sp>
        <p:nvSpPr>
          <p:cNvPr id="3" name="Text 0"/>
          <p:cNvSpPr/>
          <p:nvPr>
            <p:ph idx="101" type="body" hasCustomPrompt="1"/>
          </p:nvPr>
        </p:nvSpPr>
        <p:spPr>
          <a:xfrm>
            <a:off x="548640" y="2560320"/>
            <a:ext cx="8046720" cy="914400"/>
          </a:xfrm>
          <a:prstGeom prst="rect">
            <a:avLst/>
          </a:prstGeom>
          <a:noFill/>
          <a:ln/>
        </p:spPr>
        <p:txBody>
          <a:bodyPr wrap="square" lIns="0" tIns="0" rIns="0" bIns="0" rtlCol="0" anchor="t"/>
          <a:lstStyle/>
          <a:p>
            <a:pPr indent="0" marL="0">
              <a:buNone/>
            </a:pPr>
            <a:r>
              <a:rPr lang="en-US" sz="2000" dirty="0">
                <a:solidFill>
                  <a:schemeClr val="accent5"/>
                </a:solidFill>
              </a:rPr>
              <a:t>Glossary and command list</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Glossary</a:t>
            </a:r>
            <a:endParaRPr lang="en-US" sz="2800" dirty="0"/>
          </a:p>
        </p:txBody>
      </p:sp>
      <p:sp>
        <p:nvSpPr>
          <p:cNvPr id="3" name="Term Automated test"/>
          <p:cNvSpPr/>
          <p:nvPr/>
        </p:nvSpPr>
        <p:spPr>
          <a:xfrm>
            <a:off x="457200" y="1188720"/>
            <a:ext cx="4023360" cy="1005840"/>
          </a:xfrm>
          <a:prstGeom prst="roundRect">
            <a:avLst>
              <a:gd name="adj" fmla="val 7273"/>
            </a:avLst>
          </a:prstGeom>
          <a:solidFill>
            <a:schemeClr val="bg2"/>
          </a:solidFill>
          <a:ln/>
        </p:spPr>
      </p:sp>
      <p:sp>
        <p:nvSpPr>
          <p:cNvPr id="4" name="Text 2"/>
          <p:cNvSpPr txBox="1"/>
          <p:nvPr/>
        </p:nvSpPr>
        <p:spPr>
          <a:xfrm>
            <a:off x="640080" y="1188720"/>
            <a:ext cx="3657600" cy="1005840"/>
          </a:xfrm>
          <a:prstGeom prst="rect">
            <a:avLst/>
          </a:prstGeom>
          <a:noFill/>
          <a:ln/>
        </p:spPr>
        <p:txBody>
          <a:bodyPr wrap="square" lIns="0" tIns="0" rIns="0" bIns="0" rtlCol="0" anchor="ctr"/>
          <a:lstStyle/>
          <a:p>
            <a:pPr indent="0" marL="0">
              <a:spcAft>
                <a:spcPts val="200"/>
              </a:spcAft>
              <a:buNone/>
            </a:pPr>
            <a:r>
              <a:rPr lang="en-US" sz="1500" b="1" dirty="0">
                <a:solidFill>
                  <a:schemeClr val="accent1"/>
                </a:solidFill>
              </a:rPr>
              <a:t>Automated test</a:t>
            </a:r>
            <a:endParaRPr lang="en-US" sz="1400" dirty="0"/>
          </a:p>
          <a:p>
            <a:pPr indent="0" marL="0">
              <a:spcAft>
                <a:spcPts val="200"/>
              </a:spcAft>
              <a:buNone/>
            </a:pPr>
            <a:r>
              <a:rPr lang="en-US" sz="1300" dirty="0">
                <a:solidFill>
                  <a:schemeClr val="tx1"/>
                </a:solidFill>
              </a:rPr>
              <a:t>A program that clicks through the software and checks it works, instead of a person.</a:t>
            </a:r>
            <a:endParaRPr lang="en-US" sz="1400" dirty="0"/>
          </a:p>
        </p:txBody>
      </p:sp>
      <p:sp>
        <p:nvSpPr>
          <p:cNvPr id="5" name="Term BDD"/>
          <p:cNvSpPr/>
          <p:nvPr/>
        </p:nvSpPr>
        <p:spPr>
          <a:xfrm>
            <a:off x="4663440" y="1188720"/>
            <a:ext cx="4023360" cy="1005840"/>
          </a:xfrm>
          <a:prstGeom prst="roundRect">
            <a:avLst>
              <a:gd name="adj" fmla="val 7273"/>
            </a:avLst>
          </a:prstGeom>
          <a:solidFill>
            <a:schemeClr val="bg2"/>
          </a:solidFill>
          <a:ln/>
        </p:spPr>
      </p:sp>
      <p:sp>
        <p:nvSpPr>
          <p:cNvPr id="6" name="Text 4"/>
          <p:cNvSpPr txBox="1"/>
          <p:nvPr/>
        </p:nvSpPr>
        <p:spPr>
          <a:xfrm>
            <a:off x="4846320" y="1188720"/>
            <a:ext cx="3657600" cy="1005840"/>
          </a:xfrm>
          <a:prstGeom prst="rect">
            <a:avLst/>
          </a:prstGeom>
          <a:noFill/>
          <a:ln/>
        </p:spPr>
        <p:txBody>
          <a:bodyPr wrap="square" lIns="0" tIns="0" rIns="0" bIns="0" rtlCol="0" anchor="ctr"/>
          <a:lstStyle/>
          <a:p>
            <a:pPr indent="0" marL="0">
              <a:spcAft>
                <a:spcPts val="200"/>
              </a:spcAft>
              <a:buNone/>
            </a:pPr>
            <a:r>
              <a:rPr lang="en-US" sz="1500" b="1" dirty="0">
                <a:solidFill>
                  <a:schemeClr val="accent1"/>
                </a:solidFill>
              </a:rPr>
              <a:t>BDD</a:t>
            </a:r>
            <a:endParaRPr lang="en-US" sz="1400" dirty="0"/>
          </a:p>
          <a:p>
            <a:pPr indent="0" marL="0">
              <a:spcAft>
                <a:spcPts val="200"/>
              </a:spcAft>
              <a:buNone/>
            </a:pPr>
            <a:r>
              <a:rPr lang="en-US" sz="1300" dirty="0">
                <a:solidFill>
                  <a:schemeClr val="tx1"/>
                </a:solidFill>
              </a:rPr>
              <a:t>Behaviour-Driven Development: describing how software should behave, in words everyone can read.</a:t>
            </a:r>
            <a:endParaRPr lang="en-US" sz="1400" dirty="0"/>
          </a:p>
        </p:txBody>
      </p:sp>
      <p:sp>
        <p:nvSpPr>
          <p:cNvPr id="7" name="Term Cucumber"/>
          <p:cNvSpPr/>
          <p:nvPr/>
        </p:nvSpPr>
        <p:spPr>
          <a:xfrm>
            <a:off x="457200" y="2331720"/>
            <a:ext cx="4023360" cy="1005840"/>
          </a:xfrm>
          <a:prstGeom prst="roundRect">
            <a:avLst>
              <a:gd name="adj" fmla="val 7273"/>
            </a:avLst>
          </a:prstGeom>
          <a:solidFill>
            <a:schemeClr val="bg2"/>
          </a:solidFill>
          <a:ln/>
        </p:spPr>
      </p:sp>
      <p:sp>
        <p:nvSpPr>
          <p:cNvPr id="8" name="Text 6"/>
          <p:cNvSpPr txBox="1"/>
          <p:nvPr/>
        </p:nvSpPr>
        <p:spPr>
          <a:xfrm>
            <a:off x="640080" y="2331720"/>
            <a:ext cx="3657600" cy="1005840"/>
          </a:xfrm>
          <a:prstGeom prst="rect">
            <a:avLst/>
          </a:prstGeom>
          <a:noFill/>
          <a:ln/>
        </p:spPr>
        <p:txBody>
          <a:bodyPr wrap="square" lIns="0" tIns="0" rIns="0" bIns="0" rtlCol="0" anchor="ctr"/>
          <a:lstStyle/>
          <a:p>
            <a:pPr indent="0" marL="0">
              <a:spcAft>
                <a:spcPts val="200"/>
              </a:spcAft>
              <a:buNone/>
            </a:pPr>
            <a:r>
              <a:rPr lang="en-US" sz="1500" b="1" dirty="0">
                <a:solidFill>
                  <a:schemeClr val="accent1"/>
                </a:solidFill>
              </a:rPr>
              <a:t>Cucumber</a:t>
            </a:r>
            <a:endParaRPr lang="en-US" sz="1400" dirty="0"/>
          </a:p>
          <a:p>
            <a:pPr indent="0" marL="0">
              <a:spcAft>
                <a:spcPts val="200"/>
              </a:spcAft>
              <a:buNone/>
            </a:pPr>
            <a:r>
              <a:rPr lang="en-US" sz="1300" dirty="0">
                <a:solidFill>
                  <a:schemeClr val="tx1"/>
                </a:solidFill>
              </a:rPr>
              <a:t>A widely used tool that runs tests written in plain English.</a:t>
            </a:r>
            <a:endParaRPr lang="en-US" sz="1400" dirty="0"/>
          </a:p>
        </p:txBody>
      </p:sp>
      <p:sp>
        <p:nvSpPr>
          <p:cNvPr id="9" name="Term Gherkin"/>
          <p:cNvSpPr/>
          <p:nvPr/>
        </p:nvSpPr>
        <p:spPr>
          <a:xfrm>
            <a:off x="4663440" y="2331720"/>
            <a:ext cx="4023360" cy="1005840"/>
          </a:xfrm>
          <a:prstGeom prst="roundRect">
            <a:avLst>
              <a:gd name="adj" fmla="val 7273"/>
            </a:avLst>
          </a:prstGeom>
          <a:solidFill>
            <a:schemeClr val="bg2"/>
          </a:solidFill>
          <a:ln/>
        </p:spPr>
      </p:sp>
      <p:sp>
        <p:nvSpPr>
          <p:cNvPr id="10" name="Text 8"/>
          <p:cNvSpPr txBox="1"/>
          <p:nvPr/>
        </p:nvSpPr>
        <p:spPr>
          <a:xfrm>
            <a:off x="4846320" y="2331720"/>
            <a:ext cx="3657600" cy="1005840"/>
          </a:xfrm>
          <a:prstGeom prst="rect">
            <a:avLst/>
          </a:prstGeom>
          <a:noFill/>
          <a:ln/>
        </p:spPr>
        <p:txBody>
          <a:bodyPr wrap="square" lIns="0" tIns="0" rIns="0" bIns="0" rtlCol="0" anchor="ctr"/>
          <a:lstStyle/>
          <a:p>
            <a:pPr indent="0" marL="0">
              <a:spcAft>
                <a:spcPts val="200"/>
              </a:spcAft>
              <a:buNone/>
            </a:pPr>
            <a:r>
              <a:rPr lang="en-US" sz="1500" b="1" dirty="0">
                <a:solidFill>
                  <a:schemeClr val="accent1"/>
                </a:solidFill>
              </a:rPr>
              <a:t>Gherkin</a:t>
            </a:r>
            <a:endParaRPr lang="en-US" sz="1400" dirty="0"/>
          </a:p>
          <a:p>
            <a:pPr indent="0" marL="0">
              <a:spcAft>
                <a:spcPts val="200"/>
              </a:spcAft>
              <a:buNone/>
            </a:pPr>
            <a:r>
              <a:rPr lang="en-US" sz="1300" dirty="0">
                <a:solidFill>
                  <a:schemeClr val="tx1"/>
                </a:solidFill>
              </a:rPr>
              <a:t>The plain-English format those tests are written in (Given, When, Then).</a:t>
            </a:r>
            <a:endParaRPr lang="en-US" sz="1400" dirty="0"/>
          </a:p>
        </p:txBody>
      </p:sp>
      <p:sp>
        <p:nvSpPr>
          <p:cNvPr id="11" name="Term Step definition"/>
          <p:cNvSpPr/>
          <p:nvPr/>
        </p:nvSpPr>
        <p:spPr>
          <a:xfrm>
            <a:off x="457200" y="3474720"/>
            <a:ext cx="4023360" cy="1005840"/>
          </a:xfrm>
          <a:prstGeom prst="roundRect">
            <a:avLst>
              <a:gd name="adj" fmla="val 7273"/>
            </a:avLst>
          </a:prstGeom>
          <a:solidFill>
            <a:schemeClr val="bg2"/>
          </a:solidFill>
          <a:ln/>
        </p:spPr>
      </p:sp>
      <p:sp>
        <p:nvSpPr>
          <p:cNvPr id="12" name="Text 10"/>
          <p:cNvSpPr txBox="1"/>
          <p:nvPr/>
        </p:nvSpPr>
        <p:spPr>
          <a:xfrm>
            <a:off x="640080" y="3474720"/>
            <a:ext cx="3657600" cy="1005840"/>
          </a:xfrm>
          <a:prstGeom prst="rect">
            <a:avLst/>
          </a:prstGeom>
          <a:noFill/>
          <a:ln/>
        </p:spPr>
        <p:txBody>
          <a:bodyPr wrap="square" lIns="0" tIns="0" rIns="0" bIns="0" rtlCol="0" anchor="ctr"/>
          <a:lstStyle/>
          <a:p>
            <a:pPr indent="0" marL="0">
              <a:spcAft>
                <a:spcPts val="200"/>
              </a:spcAft>
              <a:buNone/>
            </a:pPr>
            <a:r>
              <a:rPr lang="en-US" sz="1500" b="1" dirty="0">
                <a:solidFill>
                  <a:schemeClr val="accent1"/>
                </a:solidFill>
              </a:rPr>
              <a:t>Step definition</a:t>
            </a:r>
            <a:endParaRPr lang="en-US" sz="1400" dirty="0"/>
          </a:p>
          <a:p>
            <a:pPr indent="0" marL="0">
              <a:spcAft>
                <a:spcPts val="200"/>
              </a:spcAft>
              <a:buNone/>
            </a:pPr>
            <a:r>
              <a:rPr lang="en-US" sz="1300" dirty="0">
                <a:solidFill>
                  <a:schemeClr val="tx1"/>
                </a:solidFill>
              </a:rPr>
              <a:t>The small piece of code behind one English line that actually does it in the browser.</a:t>
            </a:r>
            <a:endParaRPr lang="en-US" sz="1400" dirty="0"/>
          </a:p>
        </p:txBody>
      </p:sp>
      <p:sp>
        <p:nvSpPr>
          <p:cNvPr id="13" name="Term CI"/>
          <p:cNvSpPr/>
          <p:nvPr/>
        </p:nvSpPr>
        <p:spPr>
          <a:xfrm>
            <a:off x="4663440" y="3474720"/>
            <a:ext cx="4023360" cy="1005840"/>
          </a:xfrm>
          <a:prstGeom prst="roundRect">
            <a:avLst>
              <a:gd name="adj" fmla="val 7273"/>
            </a:avLst>
          </a:prstGeom>
          <a:solidFill>
            <a:schemeClr val="bg2"/>
          </a:solidFill>
          <a:ln/>
        </p:spPr>
      </p:sp>
      <p:sp>
        <p:nvSpPr>
          <p:cNvPr id="14" name="Text 12"/>
          <p:cNvSpPr txBox="1"/>
          <p:nvPr/>
        </p:nvSpPr>
        <p:spPr>
          <a:xfrm>
            <a:off x="4846320" y="3474720"/>
            <a:ext cx="3657600" cy="1005840"/>
          </a:xfrm>
          <a:prstGeom prst="rect">
            <a:avLst/>
          </a:prstGeom>
          <a:noFill/>
          <a:ln/>
        </p:spPr>
        <p:txBody>
          <a:bodyPr wrap="square" lIns="0" tIns="0" rIns="0" bIns="0" rtlCol="0" anchor="ctr"/>
          <a:lstStyle/>
          <a:p>
            <a:pPr indent="0" marL="0">
              <a:spcAft>
                <a:spcPts val="200"/>
              </a:spcAft>
              <a:buNone/>
            </a:pPr>
            <a:r>
              <a:rPr lang="en-US" sz="1500" b="1" dirty="0">
                <a:solidFill>
                  <a:schemeClr val="accent1"/>
                </a:solidFill>
              </a:rPr>
              <a:t>CI</a:t>
            </a:r>
            <a:endParaRPr lang="en-US" sz="1400" dirty="0"/>
          </a:p>
          <a:p>
            <a:pPr indent="0" marL="0">
              <a:spcAft>
                <a:spcPts val="200"/>
              </a:spcAft>
              <a:buNone/>
            </a:pPr>
            <a:r>
              <a:rPr lang="en-US" sz="1300" dirty="0">
                <a:solidFill>
                  <a:schemeClr val="tx1"/>
                </a:solidFill>
              </a:rPr>
              <a:t>Continuous integration: checks that run automatically every time someone changes the code.</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Command list</a:t>
            </a:r>
            <a:endParaRPr lang="en-US" sz="28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1371600"/>
                <a:gridCol w="3840480"/>
                <a:gridCol w="3017520"/>
              </a:tblGrid>
              <a:tr h="41148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Command</a:t>
                      </a:r>
                      <a:endParaRPr lang="en-US" sz="1100" dirty="0">
                        <a:latin typeface="Calibri" charset="0"/>
                        <a:ea typeface="Calibri" charset="0"/>
                        <a:cs typeface="Calibri"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1F4D3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it does</a:t>
                      </a:r>
                      <a:endParaRPr lang="en-US" sz="1100" dirty="0">
                        <a:latin typeface="Calibri" charset="0"/>
                        <a:ea typeface="Calibri" charset="0"/>
                        <a:cs typeface="Calibri"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1F4D3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Plain-English value</a:t>
                      </a:r>
                      <a:endParaRPr lang="en-US" sz="1100" dirty="0">
                        <a:latin typeface="Calibri" charset="0"/>
                        <a:ea typeface="Calibri" charset="0"/>
                        <a:cs typeface="Calibri"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1F4D3A"/>
                    </a:solidFill>
                  </a:tcPr>
                </a:tc>
              </a:tr>
              <a:tr h="411480">
                <a:tc>
                  <a:txBody>
                    <a:bodyPr/>
                    <a:lstStyle/>
                    <a:p>
                      <a:pPr indent="0" marL="0">
                        <a:buNone/>
                      </a:pPr>
                      <a:r>
                        <a:rPr lang="en-US" sz="1100" b="1" dirty="0">
                          <a:solidFill>
                            <a:srgbClr val="1F4D3A"/>
                          </a:solidFill>
                          <a:latin typeface="Courier New" pitchFamily="34" charset="0"/>
                          <a:ea typeface="Courier New" pitchFamily="34" charset="-122"/>
                          <a:cs typeface="Courier New" pitchFamily="34" charset="-120"/>
                        </a:rPr>
                        <a:t>index</a:t>
                      </a:r>
                      <a:endParaRPr lang="en-US" sz="1100" dirty="0">
                        <a:latin typeface="Courier New" charset="0"/>
                        <a:ea typeface="Courier New" charset="0"/>
                        <a:cs typeface="Courier New"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100" dirty="0">
                          <a:solidFill>
                            <a:srgbClr val="1B2B22"/>
                          </a:solidFill>
                          <a:latin typeface="Calibri" pitchFamily="34" charset="0"/>
                          <a:ea typeface="Calibri" pitchFamily="34" charset="-122"/>
                          <a:cs typeface="Calibri" pitchFamily="34" charset="-120"/>
                        </a:rPr>
                        <a:t>Lists every step the project already has, with where it lives</a:t>
                      </a:r>
                      <a:endParaRPr lang="en-US" sz="1100" dirty="0">
                        <a:latin typeface="Calibri" charset="0"/>
                        <a:ea typeface="Calibri" charset="0"/>
                        <a:cs typeface="Calibri"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100" dirty="0">
                          <a:solidFill>
                            <a:srgbClr val="1B2B22"/>
                          </a:solidFill>
                          <a:latin typeface="Calibri" pitchFamily="34" charset="0"/>
                          <a:ea typeface="Calibri" pitchFamily="34" charset="-122"/>
                          <a:cs typeface="Calibri" pitchFamily="34" charset="-120"/>
                        </a:rPr>
                        <a:t>A catalogue of everything our tests already know how to do</a:t>
                      </a:r>
                      <a:endParaRPr lang="en-US" sz="1100" dirty="0">
                        <a:latin typeface="Calibri" charset="0"/>
                        <a:ea typeface="Calibri" charset="0"/>
                        <a:cs typeface="Calibri"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r>
              <a:tr h="411480">
                <a:tc>
                  <a:txBody>
                    <a:bodyPr/>
                    <a:lstStyle/>
                    <a:p>
                      <a:pPr indent="0" marL="0">
                        <a:buNone/>
                      </a:pPr>
                      <a:r>
                        <a:rPr lang="en-US" sz="1100" b="1" dirty="0">
                          <a:solidFill>
                            <a:srgbClr val="1F4D3A"/>
                          </a:solidFill>
                          <a:latin typeface="Courier New" pitchFamily="34" charset="0"/>
                          <a:ea typeface="Courier New" pitchFamily="34" charset="-122"/>
                          <a:cs typeface="Courier New" pitchFamily="34" charset="-120"/>
                        </a:rPr>
                        <a:t>find</a:t>
                      </a:r>
                      <a:endParaRPr lang="en-US" sz="1100" dirty="0">
                        <a:latin typeface="Courier New" charset="0"/>
                        <a:ea typeface="Courier New" charset="0"/>
                        <a:cs typeface="Courier New"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100" dirty="0">
                          <a:solidFill>
                            <a:srgbClr val="1B2B22"/>
                          </a:solidFill>
                          <a:latin typeface="Calibri" pitchFamily="34" charset="0"/>
                          <a:ea typeface="Calibri" pitchFamily="34" charset="-122"/>
                          <a:cs typeface="Calibri" pitchFamily="34" charset="-120"/>
                        </a:rPr>
                        <a:t>Checks whether a line already has a step behind it; if not, suggests close matches</a:t>
                      </a:r>
                      <a:endParaRPr lang="en-US" sz="1100" dirty="0">
                        <a:latin typeface="Calibri" charset="0"/>
                        <a:ea typeface="Calibri" charset="0"/>
                        <a:cs typeface="Calibri"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100" dirty="0">
                          <a:solidFill>
                            <a:srgbClr val="1B2B22"/>
                          </a:solidFill>
                          <a:latin typeface="Calibri" pitchFamily="34" charset="0"/>
                          <a:ea typeface="Calibri" pitchFamily="34" charset="-122"/>
                          <a:cs typeface="Calibri" pitchFamily="34" charset="-120"/>
                        </a:rPr>
                        <a:t>Stops people writing a step that already exists</a:t>
                      </a:r>
                      <a:endParaRPr lang="en-US" sz="1100" dirty="0">
                        <a:latin typeface="Calibri" charset="0"/>
                        <a:ea typeface="Calibri" charset="0"/>
                        <a:cs typeface="Calibri"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r>
              <a:tr h="411480">
                <a:tc>
                  <a:txBody>
                    <a:bodyPr/>
                    <a:lstStyle/>
                    <a:p>
                      <a:pPr indent="0" marL="0">
                        <a:buNone/>
                      </a:pPr>
                      <a:r>
                        <a:rPr lang="en-US" sz="1100" b="1" dirty="0">
                          <a:solidFill>
                            <a:srgbClr val="1F4D3A"/>
                          </a:solidFill>
                          <a:latin typeface="Courier New" pitchFamily="34" charset="0"/>
                          <a:ea typeface="Courier New" pitchFamily="34" charset="-122"/>
                          <a:cs typeface="Courier New" pitchFamily="34" charset="-120"/>
                        </a:rPr>
                        <a:t>dupes</a:t>
                      </a:r>
                      <a:endParaRPr lang="en-US" sz="1100" dirty="0">
                        <a:latin typeface="Courier New" charset="0"/>
                        <a:ea typeface="Courier New" charset="0"/>
                        <a:cs typeface="Courier New"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100" dirty="0">
                          <a:solidFill>
                            <a:srgbClr val="1B2B22"/>
                          </a:solidFill>
                          <a:latin typeface="Calibri" pitchFamily="34" charset="0"/>
                          <a:ea typeface="Calibri" pitchFamily="34" charset="-122"/>
                          <a:cs typeface="Calibri" pitchFamily="34" charset="-120"/>
                        </a:rPr>
                        <a:t>Finds steps that say the same thing in different words</a:t>
                      </a:r>
                      <a:endParaRPr lang="en-US" sz="1100" dirty="0">
                        <a:latin typeface="Calibri" charset="0"/>
                        <a:ea typeface="Calibri" charset="0"/>
                        <a:cs typeface="Calibri"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100" dirty="0">
                          <a:solidFill>
                            <a:srgbClr val="1B2B22"/>
                          </a:solidFill>
                          <a:latin typeface="Calibri" pitchFamily="34" charset="0"/>
                          <a:ea typeface="Calibri" pitchFamily="34" charset="-122"/>
                          <a:cs typeface="Calibri" pitchFamily="34" charset="-120"/>
                        </a:rPr>
                        <a:t>Spots duplicated work that has already crept in</a:t>
                      </a:r>
                      <a:endParaRPr lang="en-US" sz="1100" dirty="0">
                        <a:latin typeface="Calibri" charset="0"/>
                        <a:ea typeface="Calibri" charset="0"/>
                        <a:cs typeface="Calibri"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r>
              <a:tr h="411480">
                <a:tc>
                  <a:txBody>
                    <a:bodyPr/>
                    <a:lstStyle/>
                    <a:p>
                      <a:pPr indent="0" marL="0">
                        <a:buNone/>
                      </a:pPr>
                      <a:r>
                        <a:rPr lang="en-US" sz="1100" b="1" dirty="0">
                          <a:solidFill>
                            <a:srgbClr val="1F4D3A"/>
                          </a:solidFill>
                          <a:latin typeface="Courier New" pitchFamily="34" charset="0"/>
                          <a:ea typeface="Courier New" pitchFamily="34" charset="-122"/>
                          <a:cs typeface="Courier New" pitchFamily="34" charset="-120"/>
                        </a:rPr>
                        <a:t>merge</a:t>
                      </a:r>
                      <a:endParaRPr lang="en-US" sz="1100" dirty="0">
                        <a:latin typeface="Courier New" charset="0"/>
                        <a:ea typeface="Courier New" charset="0"/>
                        <a:cs typeface="Courier New"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100" dirty="0">
                          <a:solidFill>
                            <a:srgbClr val="1B2B22"/>
                          </a:solidFill>
                          <a:latin typeface="Calibri" pitchFamily="34" charset="0"/>
                          <a:ea typeface="Calibri" pitchFamily="34" charset="-122"/>
                          <a:cs typeface="Calibri" pitchFamily="34" charset="-120"/>
                        </a:rPr>
                        <a:t>Keeps one of each duplicate pair, rewrites the tests, deletes the other. Preview first</a:t>
                      </a:r>
                      <a:endParaRPr lang="en-US" sz="1100" dirty="0">
                        <a:latin typeface="Calibri" charset="0"/>
                        <a:ea typeface="Calibri" charset="0"/>
                        <a:cs typeface="Calibri"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100" dirty="0">
                          <a:solidFill>
                            <a:srgbClr val="1B2B22"/>
                          </a:solidFill>
                          <a:latin typeface="Calibri" pitchFamily="34" charset="0"/>
                          <a:ea typeface="Calibri" pitchFamily="34" charset="-122"/>
                          <a:cs typeface="Calibri" pitchFamily="34" charset="-120"/>
                        </a:rPr>
                        <a:t>Cleans up duplication automatically, safely</a:t>
                      </a:r>
                      <a:endParaRPr lang="en-US" sz="1100" dirty="0">
                        <a:latin typeface="Calibri" charset="0"/>
                        <a:ea typeface="Calibri" charset="0"/>
                        <a:cs typeface="Calibri"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r>
              <a:tr h="411480">
                <a:tc>
                  <a:txBody>
                    <a:bodyPr/>
                    <a:lstStyle/>
                    <a:p>
                      <a:pPr indent="0" marL="0">
                        <a:buNone/>
                      </a:pPr>
                      <a:r>
                        <a:rPr lang="en-US" sz="1100" b="1" dirty="0">
                          <a:solidFill>
                            <a:srgbClr val="1F4D3A"/>
                          </a:solidFill>
                          <a:latin typeface="Courier New" pitchFamily="34" charset="0"/>
                          <a:ea typeface="Courier New" pitchFamily="34" charset="-122"/>
                          <a:cs typeface="Courier New" pitchFamily="34" charset="-120"/>
                        </a:rPr>
                        <a:t>check</a:t>
                      </a:r>
                      <a:endParaRPr lang="en-US" sz="1100" dirty="0">
                        <a:latin typeface="Courier New" charset="0"/>
                        <a:ea typeface="Courier New" charset="0"/>
                        <a:cs typeface="Courier New"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100" dirty="0">
                          <a:solidFill>
                            <a:srgbClr val="1B2B22"/>
                          </a:solidFill>
                          <a:latin typeface="Calibri" pitchFamily="34" charset="0"/>
                          <a:ea typeface="Calibri" pitchFamily="34" charset="-122"/>
                          <a:cs typeface="Calibri" pitchFamily="34" charset="-120"/>
                        </a:rPr>
                        <a:t>Checks every line of every test and reports which are ready and which are missing</a:t>
                      </a:r>
                      <a:endParaRPr lang="en-US" sz="1100" dirty="0">
                        <a:latin typeface="Calibri" charset="0"/>
                        <a:ea typeface="Calibri" charset="0"/>
                        <a:cs typeface="Calibri"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100" dirty="0">
                          <a:solidFill>
                            <a:srgbClr val="1B2B22"/>
                          </a:solidFill>
                          <a:latin typeface="Calibri" pitchFamily="34" charset="0"/>
                          <a:ea typeface="Calibri" pitchFamily="34" charset="-122"/>
                          <a:cs typeface="Calibri" pitchFamily="34" charset="-120"/>
                        </a:rPr>
                        <a:t>A readiness checklist for new tests</a:t>
                      </a:r>
                      <a:endParaRPr lang="en-US" sz="1100" dirty="0">
                        <a:latin typeface="Calibri" charset="0"/>
                        <a:ea typeface="Calibri" charset="0"/>
                        <a:cs typeface="Calibri"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r>
              <a:tr h="411480">
                <a:tc>
                  <a:txBody>
                    <a:bodyPr/>
                    <a:lstStyle/>
                    <a:p>
                      <a:pPr indent="0" marL="0">
                        <a:buNone/>
                      </a:pPr>
                      <a:r>
                        <a:rPr lang="en-US" sz="1100" b="1" dirty="0">
                          <a:solidFill>
                            <a:srgbClr val="1F4D3A"/>
                          </a:solidFill>
                          <a:latin typeface="Courier New" pitchFamily="34" charset="0"/>
                          <a:ea typeface="Courier New" pitchFamily="34" charset="-122"/>
                          <a:cs typeface="Courier New" pitchFamily="34" charset="-120"/>
                        </a:rPr>
                        <a:t>check --stubs</a:t>
                      </a:r>
                      <a:endParaRPr lang="en-US" sz="1100" dirty="0">
                        <a:latin typeface="Courier New" charset="0"/>
                        <a:ea typeface="Courier New" charset="0"/>
                        <a:cs typeface="Courier New"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100" dirty="0">
                          <a:solidFill>
                            <a:srgbClr val="1B2B22"/>
                          </a:solidFill>
                          <a:latin typeface="Calibri" pitchFamily="34" charset="0"/>
                          <a:ea typeface="Calibri" pitchFamily="34" charset="-122"/>
                          <a:cs typeface="Calibri" pitchFamily="34" charset="-120"/>
                        </a:rPr>
                        <a:t>Drafts the code skeleton for missing steps</a:t>
                      </a:r>
                      <a:endParaRPr lang="en-US" sz="1100" dirty="0">
                        <a:latin typeface="Calibri" charset="0"/>
                        <a:ea typeface="Calibri" charset="0"/>
                        <a:cs typeface="Calibri"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100" dirty="0">
                          <a:solidFill>
                            <a:srgbClr val="1B2B22"/>
                          </a:solidFill>
                          <a:latin typeface="Calibri" pitchFamily="34" charset="0"/>
                          <a:ea typeface="Calibri" pitchFamily="34" charset="-122"/>
                          <a:cs typeface="Calibri" pitchFamily="34" charset="-120"/>
                        </a:rPr>
                        <a:t>Removes boring, error-prone setup work</a:t>
                      </a:r>
                      <a:endParaRPr lang="en-US" sz="1100" dirty="0">
                        <a:latin typeface="Calibri" charset="0"/>
                        <a:ea typeface="Calibri" charset="0"/>
                        <a:cs typeface="Calibri"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r>
              <a:tr h="411480">
                <a:tc>
                  <a:txBody>
                    <a:bodyPr/>
                    <a:lstStyle/>
                    <a:p>
                      <a:pPr indent="0" marL="0">
                        <a:buNone/>
                      </a:pPr>
                      <a:r>
                        <a:rPr lang="en-US" sz="1100" b="1" dirty="0">
                          <a:solidFill>
                            <a:srgbClr val="1F4D3A"/>
                          </a:solidFill>
                          <a:latin typeface="Courier New" pitchFamily="34" charset="0"/>
                          <a:ea typeface="Courier New" pitchFamily="34" charset="-122"/>
                          <a:cs typeface="Courier New" pitchFamily="34" charset="-120"/>
                        </a:rPr>
                        <a:t>report</a:t>
                      </a:r>
                      <a:endParaRPr lang="en-US" sz="1100" dirty="0">
                        <a:latin typeface="Courier New" charset="0"/>
                        <a:ea typeface="Courier New" charset="0"/>
                        <a:cs typeface="Courier New"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100" dirty="0">
                          <a:solidFill>
                            <a:srgbClr val="1B2B22"/>
                          </a:solidFill>
                          <a:latin typeface="Calibri" pitchFamily="34" charset="0"/>
                          <a:ea typeface="Calibri" pitchFamily="34" charset="-122"/>
                          <a:cs typeface="Calibri" pitchFamily="34" charset="-120"/>
                        </a:rPr>
                        <a:t>Turns test results into one web page with pass/fail, timings, screenshots and replays</a:t>
                      </a:r>
                      <a:endParaRPr lang="en-US" sz="1100" dirty="0">
                        <a:latin typeface="Calibri" charset="0"/>
                        <a:ea typeface="Calibri" charset="0"/>
                        <a:cs typeface="Calibri"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100" dirty="0">
                          <a:solidFill>
                            <a:srgbClr val="1B2B22"/>
                          </a:solidFill>
                          <a:latin typeface="Calibri" pitchFamily="34" charset="0"/>
                          <a:ea typeface="Calibri" pitchFamily="34" charset="-122"/>
                          <a:cs typeface="Calibri" pitchFamily="34" charset="-120"/>
                        </a:rPr>
                        <a:t>Results anyone can read</a:t>
                      </a:r>
                      <a:endParaRPr lang="en-US" sz="1100" dirty="0">
                        <a:latin typeface="Calibri" charset="0"/>
                        <a:ea typeface="Calibri" charset="0"/>
                        <a:cs typeface="Calibri"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Cucumber">
  <a:themeElements>
    <a:clrScheme name="Cucumber">
      <a:dk1>
        <a:srgbClr val="1B2B22"/>
      </a:dk1>
      <a:lt1>
        <a:srgbClr val="FFFFFF"/>
      </a:lt1>
      <a:dk2>
        <a:srgbClr val="1F4D3A"/>
      </a:dk2>
      <a:lt2>
        <a:srgbClr val="EEF5EF"/>
      </a:lt2>
      <a:accent1>
        <a:srgbClr val="3E8E4F"/>
      </a:accent1>
      <a:accent2>
        <a:srgbClr val="E39B2D"/>
      </a:accent2>
      <a:accent3>
        <a:srgbClr val="2C6E8F"/>
      </a:accent3>
      <a:accent4>
        <a:srgbClr val="C0503A"/>
      </a:accent4>
      <a:accent5>
        <a:srgbClr val="D7E9D9"/>
      </a:accent5>
      <a:accent6>
        <a:srgbClr val="5F6F66"/>
      </a:accent6>
      <a:hlink>
        <a:srgbClr val="2C6E8F"/>
      </a:hlink>
      <a:folHlink>
        <a:srgbClr val="5F6F66"/>
      </a:folHlink>
    </a:clrScheme>
    <a:fontScheme name="Cucumb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gherkin-copilot</dc:title>
  <dc:subject>PptxGenJS Presentation</dc:subject>
  <dc:creator>Gabe Olsen</dc:creator>
  <cp:lastModifiedBy>Gabe Olsen</cp:lastModifiedBy>
  <cp:revision>1</cp:revision>
  <dcterms:created xsi:type="dcterms:W3CDTF">2026-10-09T21:25:28Z</dcterms:created>
  <dcterms:modified xsi:type="dcterms:W3CDTF">2026-10-09T21:25:28Z</dcterms:modified>
</cp:coreProperties>
</file>