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w it works" id="{ca2db283-7344-3b27-f791-6291ac7a243c}">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Lst>
        </p14:section>
        <p14:section name="Appendix" id="{536d67f9-7c85-11fd-bc8c-6bad90231427}">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walk-through of gherkin-copilot. I'll go command by command and show what the code actually does, with real output from the demo project.
Quick recap of the problem: in a big pytest-bdd or behave suite, people can't remember which step definitions exist, so they write near-duplicates, write scenarios against steps that don't exist yet, and hand-type boilerplate. The tool reads the step definitions and feature files and helps with all three.
Since the last version it has grown a local web app on top of the same core. Everything shown here is about 3,100 lines of Python, standard library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commands, the four constraints, because they explain a lot of the design choices.
One: it parses step files with the ast module instead of importing them. Importing would run module-level code and would need Playwright, pytest-bdd and everything else installed. With ast, you can point it at any project and nothing executes.
Two: standard library only. That's the locked-down work laptop constraint. pip install pulls nothing else.
Three: offline and deterministic. No network, no LLM. The one exception to 'no child processes' is the app's Run button, which starts only the project's own pytest command; more on that later.
Four: it only writes what you've confirmed. On the command line that's merge with --apply. In the app, every write is shown as a diff first and only happens when you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split into five modules. cli.py is a thin argparse layer; every command can print human-readable text or JSON.
indexer finds step definitions. matcher builds on it with two kinds of matching, exact and fuzzy. checker builds on matcher to parse feature files and check every line. merger uses all three to plan safe merges. report.py is independent: it only reads Cucumber JSON output from a test run.
The thing tying it together is one small frozen dataclass, StepDef: the keyword, the pattern text, what kind of pattern it is, plus the function name, file and line so every result can point you to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going module by module, here's the whole workflow in the app, with the module that does the work under each step.
Set up once: projects.py stores each project's steps folder, features folder and test command. Find: catalog.py turns every StepDef into a block with fill-in slots. Build: builder.py checks typed lines live using the exact and fuzzy matchers you'll see shortly. Fill gaps: stepcode.py turns action blocks into Playwright code. Save: every write is a previewed diff, re-checked by hash before it lands, and recorded by history.py. Run: runner.py starts the project's own pytest command and reads the results. Maintain: editor.py opens existing scenarios as blocks, and dupes.py wraps the merge planner.
The key design point at the bottom: the output is plain pytest-bdd. Nothing the app writes imports gherkin-copilot, so the suite runs with plain pytest in a terminal or in CI without the app installed.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refresher on how a pytest-bdd suite is wired, because the app relies on it.
Scenarios live in .feature files. A small test module calls scenarios with a dot, which turns every scenario under the features folder into a pytest test, so a new feature file is picked up without touching any Python. Each line is matched to one step definition, a function decorated with given, when or then, in the steps folder.
conftest.py now loads every module in steps/ as a pytest plugin, so it's one shared library of steps. A new step file, for example one the app creates from action blocks, is available immediately without registering it anywhere.
Analysis is static throughout: the tool reads these files with ast and never imports or runs them. No AI either; matching is pattern rules plus a similarity score, so it's deterministic.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gherkin-copilot ui starts a small web app. Architecturally it's three layers.
The browser loads one static page shipped inside the package. It never sends file contents to write; it sends structured specs as JSON, like 'a scenario with these steps' or 'an action list'.
server.py is a ThreadingHTTPServer bound to 127.0.0.1 only. It rejects requests whose Host header isn't itself, which blocks DNS-rebinding attacks. Every state-changing request is a POST that must have a matching Origin and carry a per-session random token embedded in the page, compared in constant time, so other websites open in the same browser can't drive it. Request bodies are capped at 1 MB.
Behind the server are nine small modules, about 1,500 lines in total, one per area of the app. They sit on top of the same core you've seen: indexer, matcher, checker and merger. So the app and the CLI always give the same answers. Still standard library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 walks every Python file under the folder, skipping virtualenvs and build folders, and parses each one with ast.
For every function it looks at the decorators. If the decorator is a call named given, when, then or step, it takes the first argument. That argument is either a plain string, a parsers.parse or cfparse call, or a parsers.re call. That gives us the pattern and its kind: string, parse or regex. Behave uses parse-style braces in plain strings, so a plain string with braces is treated as parse.
Each hit becomes a StepDef record, saved as plain JSON, never pickle. On the demo that's 12 step definitions. A file that doesn't parse is skipped rather than crashing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kinds of matching, and they answer different questions. Exact matching asks: if pytest-bdd ran this line, would it bind to this definition?
Every pattern is compiled to an anchored regex. Plain strings are escaped literally. Parse patterns have each field replaced: typed fields like {count:d} use the matching regex, so d becomes an optional minus and digits, and untyped fields become a lazy dot-plus. Regex patterns are used as they are, with anchors added if missing.
The Gherkin keyword is stripped from the line first. When check binds a line it also requires the keyword to match, which I'll come back to. Exact matching is what powers check and the 'is there a step for this' half of find.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Fuzzy matching answers a different question: does this wording mean roughly the same as that one? It's used for 'did you mean' suggestions and for duplicate detection.
Both sides are normalised. Strip the keyword. Replace concrete values, quoted strings and numbers, with an &lt;arg&gt; token, so 'I add Backpack' and 'I add Bike Light' look the same. Then lowercase, split into words and drop filler words like the, I, am, on.
Patterns get the same treatment, with parse fields and regex groups also turned into &lt;arg&gt;.
Then the score is a 50/50 blend of two measures. Character similarity from difflib's SequenceMatcher catches small wording changes, and word overlap, the Jaccard index, catches reordered or swapped words. It's deliberately simple: no embeddings, no model, fully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puts the two kinds of matching together. It first checks every definition for an exact binding; those score 1.0 and are listed first. Everything else gets a fuzzy score, and anything at 0.4 or above is shown, top five by default.
Here's the real output for 'Given I open the login page'. Nothing binds, but 'I am on the login page' scores 0.73.
The arithmetic, so you can see there's no magic: after normalising, we're comparing 'open login page' with 'login page'. The longest common block is 'login page', 10 characters, out of 25 total, so SequenceMatcher gives 2 times 10 over 25, 0.80. Two of the three distinct words are shared, 0.67. Average: 0.73.
The other suggestion, 'the user is on the login page', scores lower because 'user' isn't a filler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dupes uses the same fuzzy score, but compares step definitions with each other instead of with a line of text.
Every pattern is normalised once, then every pair is scored with itertools.combinations. Pairs at 0.6 or above are reported, highest first. The threshold is a flag, so a team can tune it.
In the demo there are two deliberate near-duplicates. The login pair scores 0.73. The cart pair, 'I add product to the cart' versus 'I put the product in my cart', normalises to 'add arg cart' versus 'put arg cart', which scores 0.64.
It's an all-pairs comparison, so it's quadratic. For 500 steps that's about 125 thousand comparisons, which is still fine for difflib, but it's a known limit I'll come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is the only command that edits files, so most of its code is about refusing.
For each pair dupes finds, it first picks the keeper: anything you name with --keep, otherwise the step more feature lines use, so fewer lines get rewritten, and on a tie the one defined first.
Then it checks. The keywords must match. The placeholder names must line up so values can be carried across. It won't rewrite lines into a regex step. The decorators must have the same options, like target_fixture or converters. The two functions must have identical parameters and bodies, compared as ast dumps, so formatting and comments don't matter but any real difference does. The dropped function mustn't be called from anywhere else in the project, mustn't carry other decorators, and finally every rewritten line must actually bind to the kept step.
If any check fails, the pair is reported with a plain-English reason and nothing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a merge is actually carried out. For each feature line that binds to the dropped step, it captures the values using the dropped pattern, so 'Sauce Labs Onesie' is pulled out of the old wording. It renders the kept pattern with those values, and checks the new line really binds to the kept step.
Then it deletes the dropped function from the step file. Deletions happen bottom-up so earlier line numbers in the same file stay valid.
All of this is computed in memory as before-and-after text. By default it prints a unified diff and stops. This is the real preview from the demo, abridged: one feature line is rewritten into the kept wording with the value carried across, and put_in_cart is removed. The login pair also merges, with zero feature lines to rewrite.
Only with --apply does it write the files. After applying both merges on the demo, all 5 scenarios still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runs in the other direction: start from the feature files and make sure every line has exactly one definition behind it.
It has a deliberately small Gherkin parser. And and But inherit the previous keyword. Scenario Outlines are filled in from the first Examples row so placeholders become real values. Backgrounds, tags, doc strings and data tables are handled so they don't confuse matching.
A line binds to a definition when the keyword matches, or the definition uses the generic step decorator, and the exact regex matches. Each line ends up ok, missing or ambiguous. Missing lines also get 'did you mean' suggestions at 0.5 or above.
This is the real output for the draft checkout scenario: 2 lines already exist, 4 are missing. Since pytest-bdd itself would only tell you this at run time, one line at a time, this is effectively a static check you can run before anything executes.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--stubs, check also prints a ready-to-paste pytest-bdd step definition for every missing line.
Values are turned into parameters: quoted strings become text1, text2 and so on, and bare numbers become typed parse fields, d for integers and g for decimals. The keyword is the resolved one, so an And after a When produces a @when. The function name is the wording with the values taken out, slugified. And the body raises NotImplementedError with the original line, so a half-finished step fails loudly instead of silently passing.
These are two of the real stubs for the checkout draft. Note that the price is in quotes in the scenario, so it's captured as text rather than a number, which keeps the dollar sign. A person then fills in the actual Playwright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blocks are the most security-sensitive feature, because the app writes executable code into the user's project. So the browser never sends code. It sends data: a list of actions like this, click on the link whose text is 'cart'.
stepcode.py maps that to a template from a fixed table: 13 actions times 7 ways of locating an element, Playwright's get_by_role, get_by_label and so on. Anything outside the table is rejected. Every piece of text the user typed is inserted with repr, so it can only ever be a Python string literal. Values can only reference the step's own parameters. The generated source is compiled, and the new step must bind to the scenario line it was made for, before it can be saved.
This is real output from the demo: 'I press the cart icon' became one Playwright call.
End to end: in the demo, a scenario with two new steps was built this way, one added to an existing step file and one to a new file. It was saved, run, and passed, with no hand-written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change the app makes, whether saving a scenario, adding a generated step, or merging duplicates, goes through the same four stages.
Plan: the server builds the new file content itself, from a validated spec. The editor uses a small Gherkin writer that replaces only the one scenario's line span, so comments, spacing and other scenarios are untouched.
Preview: the user sees a unified diff of every file that would change, plus a SHA-256 hash of each file's current content.
Apply: on confirm, the server re-reads the files and refuses if anything changed since the preview, for example a teammate's git pull. Writes are confined to the project's own folders and to feature files or step files.
Record: each change is appended to history.jsonl inside the project, with the author, time, diff, and for scenarios the full before and after text. Because it's inside the project it's shared through git, and scenario changes can be restored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runner.py is the only code in gherkin-copilot that starts another program, and it's tightly scoped. It runs only the test command saved in the project's settings. The command is split with shlex into an argument list and passed to Popen without a shell. Anything shell-like, cd, source, &amp;&amp;, pipes, semicolons, is rejected, and so is a non-pytest script. A bare 'python' is replaced with the interpreter the app itself runs under, which is the project's virtual environment.
To run one scenario, it collects the tests first and selects with -k, since pytest-bdd names each test test_ plus the scenario name. There's one run per project at a time, with a stop button and a time limit. pytest-playwright's screenshots and traces, plus the Cucumber JSON, go to .gherkin-copilot/results, which contains its own gitignore.
A real example of why this matters. Someone added 'add Bike Light to the cart' a second time. Both lines get a tick, correctly: the step exists. But running it fails, because on this shop the second click toggles the button and removes the item, so the badge shows 1, not 2. Static checks prove binding; only running proves behaviour. Now both are one click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is independent of the other commands. It takes the Cucumber-format JSON that pytest-bdd writes with --cucumberjson, or that behave or Cucumber itself writes, and turns it into one self-contained HTML page.
A scenario's status is its worst step: failed beats undefined, then pending, skipped, passed. Cucumber durations are in nanoseconds, so they're converted.
If pytest-playwright saved screenshots, videos or traces, they're matched to their scenario through the test id, which pytest-playwright uses as the folder name. For traces, the page shows the exact show-trace command, bound to localhost.
Security-wise, the page has no JavaScript at all and a Content-Security-Policy of default-src none, and every value from the JSON is HTML-escaped, so a malicious step name or error message can't inject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ships with a runnable demo so anyone can see it end to end. run_demo.py runs each tool command with a short explanation, then runs the actual test suite.
The suite is pytest-bdd with Playwright: 5 scenarios built from 12 step definitions, driving a real browser. It targets a small practice shop that mirrors saucedemo.com's pages. It's served from 127.0.0.1 by a read-only static server, so the demo needs no internet. Set DEMO_BASE_URL to run the same scenarios against the real saucedemo.com.
Playwright uses a browser that's already installed, via --browser-channel for Edge or Chrome, or --brave, which finds the Brave executable, so nothing extra has to be downloaded.
All 5 pass in about 4 seconds, and the run finishes by building the HTML report. Demo dependencies are locked with hashes so pip refuses anything altered.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upfront about the limits. Matching is lexical, so it doesn't know that 'visit' and 'open' mean the same thing. Outlines are checked using the first Examples row. It only understands Python step definitions, pytest-bdd and behave style. And dupes is all-pairs.
Quality: the tool has 153 automated tests of its own. 152 pass; the one failure is a test-environment quirk on my Mac, not a product issue.
Roadmap. Next: a warning on the Scenarios tab when a feature file isn't loaded by any test module, so a scenario can't be silently skipped. Then, once we have two or three real projects, a shared library of common steps across projects and websites. Later, optional AI drafting of scenarios and step code, clearly marked, with the network use kept separate from the offline core; that's also where the synonym limit would be addressed. And CI: every command has JSON output, so running check and dupes on every change is straightforward.
[ADD: the feedback you want from this group, e.g. whether our suites use pytest-bdd or Java Cucumber, and the number of steps / scenarios in our real test suites.]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slides for questions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command and its main options. Without --path, find, dupes and check use the saved index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look in the code for each piece covered in the talk. Everything is under src/gherkin_copilot/; unit tests live in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560320"/>
            <a:ext cx="8046720" cy="91440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3.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3.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gherkin-copilot: how it works</a:t>
            </a:r>
            <a:endParaRPr lang="en-US" sz="4000" dirty="0"/>
          </a:p>
        </p:txBody>
      </p:sp>
      <p:sp>
        <p:nvSpPr>
          <p:cNvPr id="3" name="Text 0"/>
          <p:cNvSpPr/>
          <p:nvPr>
            <p:ph idx="101" type="body" hasCustomPrompt="1"/>
          </p:nvPr>
        </p:nvSpPr>
        <p:spPr>
          <a:xfrm>
            <a:off x="548640" y="2560320"/>
            <a:ext cx="8046720" cy="914400"/>
          </a:xfrm>
          <a:prstGeom prst="rect">
            <a:avLst/>
          </a:prstGeom>
          <a:noFill/>
          <a:ln/>
        </p:spPr>
        <p:txBody>
          <a:bodyPr wrap="square" lIns="0" tIns="0" rIns="0" bIns="0" rtlCol="0" anchor="t"/>
          <a:lstStyle/>
          <a:p>
            <a:pPr indent="0" marL="0">
              <a:buNone/>
            </a:pPr>
            <a:r>
              <a:rPr lang="en-US" sz="2000" dirty="0">
                <a:solidFill>
                  <a:schemeClr val="accent5"/>
                </a:solidFill>
              </a:rPr>
              <a:t>A standard-library Python CLI and local web app to build, check, run and tidy BDD tests</a:t>
            </a:r>
            <a:endParaRPr lang="en-US" sz="2000" dirty="0"/>
          </a:p>
        </p:txBody>
      </p:sp>
      <p:sp>
        <p:nvSpPr>
          <p:cNvPr id="4" name="Title circle"/>
          <p:cNvSpPr/>
          <p:nvPr/>
        </p:nvSpPr>
        <p:spPr>
          <a:xfrm>
            <a:off x="548640" y="502920"/>
            <a:ext cx="640080" cy="640080"/>
          </a:xfrm>
          <a:prstGeom prst="ellipse">
            <a:avLst/>
          </a:prstGeom>
          <a:solidFill>
            <a:schemeClr val="accent1"/>
          </a:solidFill>
          <a:ln/>
        </p:spPr>
      </p:sp>
      <p:pic>
        <p:nvPicPr>
          <p:cNvPr id="5" name="Title icon" descr="preencoded.png">    </p:cNvPr>
          <p:cNvPicPr>
            <a:picLocks noChangeAspect="1"/>
          </p:cNvPicPr>
          <p:nvPr/>
        </p:nvPicPr>
        <p:blipFill>
          <a:blip r:embed="rId1"/>
          <a:stretch>
            <a:fillRect/>
          </a:stretch>
        </p:blipFill>
        <p:spPr>
          <a:xfrm>
            <a:off x="708660" y="662940"/>
            <a:ext cx="320040" cy="320040"/>
          </a:xfrm>
          <a:prstGeom prst="rect">
            <a:avLst/>
          </a:prstGeom>
        </p:spPr>
      </p:pic>
      <p:sp>
        <p:nvSpPr>
          <p:cNvPr id="6" name="Presenter"/>
          <p:cNvSpPr txBox="1"/>
          <p:nvPr/>
        </p:nvSpPr>
        <p:spPr>
          <a:xfrm>
            <a:off x="548640" y="3977640"/>
            <a:ext cx="4572000" cy="320040"/>
          </a:xfrm>
          <a:prstGeom prst="rect">
            <a:avLst/>
          </a:prstGeom>
          <a:noFill/>
          <a:ln/>
        </p:spPr>
        <p:txBody>
          <a:bodyPr wrap="square" lIns="0" tIns="0" rIns="0" bIns="0" rtlCol="0" anchor="t"/>
          <a:lstStyle/>
          <a:p>
            <a:pPr indent="0" marL="0">
              <a:buNone/>
            </a:pPr>
            <a:r>
              <a:rPr lang="en-US" sz="1600" b="1" dirty="0">
                <a:solidFill>
                  <a:schemeClr val="bg1"/>
                </a:solidFill>
              </a:rPr>
              <a:t>Gabe Olsen</a:t>
            </a:r>
            <a:endParaRPr lang="en-US" sz="1600" dirty="0"/>
          </a:p>
        </p:txBody>
      </p:sp>
      <p:sp>
        <p:nvSpPr>
          <p:cNvPr id="7" name="Team placeholder box"/>
          <p:cNvSpPr/>
          <p:nvPr/>
        </p:nvSpPr>
        <p:spPr>
          <a:xfrm>
            <a:off x="548640" y="4343400"/>
            <a:ext cx="2377440" cy="365760"/>
          </a:xfrm>
          <a:prstGeom prst="roundRect">
            <a:avLst>
              <a:gd name="adj" fmla="val 15000"/>
            </a:avLst>
          </a:prstGeom>
          <a:solidFill>
            <a:srgbClr val="FDF0D9"/>
          </a:solidFill>
          <a:ln w="15875">
            <a:solidFill>
              <a:srgbClr val="E39B2D"/>
            </a:solidFill>
            <a:prstDash val="solid"/>
          </a:ln>
        </p:spPr>
      </p:sp>
      <p:sp>
        <p:nvSpPr>
          <p:cNvPr id="8" name="Team placeholder"/>
          <p:cNvSpPr txBox="1"/>
          <p:nvPr/>
        </p:nvSpPr>
        <p:spPr>
          <a:xfrm>
            <a:off x="658368" y="4343400"/>
            <a:ext cx="2157984" cy="365760"/>
          </a:xfrm>
          <a:prstGeom prst="rect">
            <a:avLst/>
          </a:prstGeom>
          <a:noFill/>
          <a:ln/>
        </p:spPr>
        <p:txBody>
          <a:bodyPr wrap="square" lIns="0" tIns="0" rIns="0" bIns="0" rtlCol="0" anchor="ctr"/>
          <a:lstStyle/>
          <a:p>
            <a:pPr indent="0" marL="0">
              <a:buNone/>
            </a:pPr>
            <a:r>
              <a:rPr lang="en-US" sz="1200" b="1" dirty="0">
                <a:solidFill>
                  <a:srgbClr val="8A5A0C"/>
                </a:solidFill>
              </a:rPr>
              <a:t>[ADD: team and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Four constraints shaped every design decision</a:t>
            </a:r>
            <a:endParaRPr lang="en-US" sz="2800" dirty="0"/>
          </a:p>
        </p:txBody>
      </p:sp>
      <p:sp>
        <p:nvSpPr>
          <p:cNvPr id="3" name="Constraint 1"/>
          <p:cNvSpPr/>
          <p:nvPr/>
        </p:nvSpPr>
        <p:spPr>
          <a:xfrm>
            <a:off x="457200" y="1188720"/>
            <a:ext cx="4023360" cy="1508760"/>
          </a:xfrm>
          <a:prstGeom prst="roundRect">
            <a:avLst>
              <a:gd name="adj" fmla="val 4848"/>
            </a:avLst>
          </a:prstGeom>
          <a:solidFill>
            <a:schemeClr val="bg1"/>
          </a:solidFill>
          <a:ln/>
          <a:effectLst>
            <a:outerShdw sx="100000" sy="100000" kx="0" ky="0" algn="bl" rotWithShape="0" blurRad="76200" dist="25400" dir="5400000">
              <a:srgbClr val="000000">
                <a:alpha val="12000"/>
              </a:srgbClr>
            </a:outerShdw>
          </a:effectLst>
        </p:spPr>
      </p:sp>
      <p:sp>
        <p:nvSpPr>
          <p:cNvPr id="4" name="Constraint 1 circle"/>
          <p:cNvSpPr/>
          <p:nvPr/>
        </p:nvSpPr>
        <p:spPr>
          <a:xfrm>
            <a:off x="658368" y="1417320"/>
            <a:ext cx="548640" cy="548640"/>
          </a:xfrm>
          <a:prstGeom prst="ellipse">
            <a:avLst/>
          </a:prstGeom>
          <a:solidFill>
            <a:schemeClr val="tx2"/>
          </a:solidFill>
          <a:ln/>
        </p:spPr>
      </p:sp>
      <p:pic>
        <p:nvPicPr>
          <p:cNvPr id="5" name="Constraint 1 icon" descr="preencoded.png">    </p:cNvPr>
          <p:cNvPicPr>
            <a:picLocks noChangeAspect="1"/>
          </p:cNvPicPr>
          <p:nvPr/>
        </p:nvPicPr>
        <p:blipFill>
          <a:blip r:embed="rId1"/>
          <a:stretch>
            <a:fillRect/>
          </a:stretch>
        </p:blipFill>
        <p:spPr>
          <a:xfrm>
            <a:off x="795528" y="1554480"/>
            <a:ext cx="274320" cy="274320"/>
          </a:xfrm>
          <a:prstGeom prst="rect">
            <a:avLst/>
          </a:prstGeom>
        </p:spPr>
      </p:pic>
      <p:sp>
        <p:nvSpPr>
          <p:cNvPr id="6" name="Text 3"/>
          <p:cNvSpPr txBox="1"/>
          <p:nvPr/>
        </p:nvSpPr>
        <p:spPr>
          <a:xfrm>
            <a:off x="1371600" y="1325880"/>
            <a:ext cx="2971800" cy="1234440"/>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Parse, never import</a:t>
            </a:r>
            <a:endParaRPr lang="en-US" sz="1400" dirty="0"/>
          </a:p>
          <a:p>
            <a:pPr indent="0" marL="0">
              <a:spcAft>
                <a:spcPts val="400"/>
              </a:spcAft>
              <a:buNone/>
            </a:pPr>
            <a:r>
              <a:rPr lang="en-US" sz="1300" dirty="0">
                <a:solidFill>
                  <a:schemeClr val="tx1"/>
                </a:solidFill>
              </a:rPr>
              <a:t>Step files are read with the ast module. Scanned code is never imported or executed, so the project’s own dependencies don’t need to be installed.</a:t>
            </a:r>
            <a:endParaRPr lang="en-US" sz="1400" dirty="0"/>
          </a:p>
        </p:txBody>
      </p:sp>
      <p:sp>
        <p:nvSpPr>
          <p:cNvPr id="7" name="Constraint 2"/>
          <p:cNvSpPr/>
          <p:nvPr/>
        </p:nvSpPr>
        <p:spPr>
          <a:xfrm>
            <a:off x="4663440" y="1188720"/>
            <a:ext cx="4023360" cy="1508760"/>
          </a:xfrm>
          <a:prstGeom prst="roundRect">
            <a:avLst>
              <a:gd name="adj" fmla="val 4848"/>
            </a:avLst>
          </a:prstGeom>
          <a:solidFill>
            <a:schemeClr val="bg1"/>
          </a:solidFill>
          <a:ln/>
          <a:effectLst>
            <a:outerShdw sx="100000" sy="100000" kx="0" ky="0" algn="bl" rotWithShape="0" blurRad="76200" dist="25400" dir="5400000">
              <a:srgbClr val="000000">
                <a:alpha val="12000"/>
              </a:srgbClr>
            </a:outerShdw>
          </a:effectLst>
        </p:spPr>
      </p:sp>
      <p:sp>
        <p:nvSpPr>
          <p:cNvPr id="8" name="Constraint 2 circle"/>
          <p:cNvSpPr/>
          <p:nvPr/>
        </p:nvSpPr>
        <p:spPr>
          <a:xfrm>
            <a:off x="4864608" y="1417320"/>
            <a:ext cx="548640" cy="548640"/>
          </a:xfrm>
          <a:prstGeom prst="ellipse">
            <a:avLst/>
          </a:prstGeom>
          <a:solidFill>
            <a:schemeClr val="tx2"/>
          </a:solidFill>
          <a:ln/>
        </p:spPr>
      </p:sp>
      <p:pic>
        <p:nvPicPr>
          <p:cNvPr id="9" name="Constraint 2 icon" descr="preencoded.png">    </p:cNvPr>
          <p:cNvPicPr>
            <a:picLocks noChangeAspect="1"/>
          </p:cNvPicPr>
          <p:nvPr/>
        </p:nvPicPr>
        <p:blipFill>
          <a:blip r:embed="rId2"/>
          <a:stretch>
            <a:fillRect/>
          </a:stretch>
        </p:blipFill>
        <p:spPr>
          <a:xfrm>
            <a:off x="5001768" y="1554480"/>
            <a:ext cx="274320" cy="274320"/>
          </a:xfrm>
          <a:prstGeom prst="rect">
            <a:avLst/>
          </a:prstGeom>
        </p:spPr>
      </p:pic>
      <p:sp>
        <p:nvSpPr>
          <p:cNvPr id="10" name="Text 6"/>
          <p:cNvSpPr txBox="1"/>
          <p:nvPr/>
        </p:nvSpPr>
        <p:spPr>
          <a:xfrm>
            <a:off x="5577840" y="1325880"/>
            <a:ext cx="2971800" cy="1234440"/>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Standard library only</a:t>
            </a:r>
            <a:endParaRPr lang="en-US" sz="1400" dirty="0"/>
          </a:p>
          <a:p>
            <a:pPr indent="0" marL="0">
              <a:spcAft>
                <a:spcPts val="400"/>
              </a:spcAft>
              <a:buNone/>
            </a:pPr>
            <a:r>
              <a:rPr lang="en-US" sz="1300" dirty="0">
                <a:solidFill>
                  <a:schemeClr val="tx1"/>
                </a:solidFill>
              </a:rPr>
              <a:t>No runtime dependencies in pyproject.toml. Built on ast, re, difflib, json, argparse and html.</a:t>
            </a:r>
            <a:endParaRPr lang="en-US" sz="1400" dirty="0"/>
          </a:p>
        </p:txBody>
      </p:sp>
      <p:sp>
        <p:nvSpPr>
          <p:cNvPr id="11" name="Constraint 3"/>
          <p:cNvSpPr/>
          <p:nvPr/>
        </p:nvSpPr>
        <p:spPr>
          <a:xfrm>
            <a:off x="457200" y="2880360"/>
            <a:ext cx="4023360" cy="1508760"/>
          </a:xfrm>
          <a:prstGeom prst="roundRect">
            <a:avLst>
              <a:gd name="adj" fmla="val 4848"/>
            </a:avLst>
          </a:prstGeom>
          <a:solidFill>
            <a:schemeClr val="bg1"/>
          </a:solidFill>
          <a:ln/>
          <a:effectLst>
            <a:outerShdw sx="100000" sy="100000" kx="0" ky="0" algn="bl" rotWithShape="0" blurRad="76200" dist="25400" dir="5400000">
              <a:srgbClr val="000000">
                <a:alpha val="12000"/>
              </a:srgbClr>
            </a:outerShdw>
          </a:effectLst>
        </p:spPr>
      </p:sp>
      <p:sp>
        <p:nvSpPr>
          <p:cNvPr id="12" name="Constraint 3 circle"/>
          <p:cNvSpPr/>
          <p:nvPr/>
        </p:nvSpPr>
        <p:spPr>
          <a:xfrm>
            <a:off x="658368" y="3108960"/>
            <a:ext cx="548640" cy="548640"/>
          </a:xfrm>
          <a:prstGeom prst="ellipse">
            <a:avLst/>
          </a:prstGeom>
          <a:solidFill>
            <a:schemeClr val="tx2"/>
          </a:solidFill>
          <a:ln/>
        </p:spPr>
      </p:sp>
      <p:pic>
        <p:nvPicPr>
          <p:cNvPr id="13" name="Constraint 3 icon" descr="preencoded.png">    </p:cNvPr>
          <p:cNvPicPr>
            <a:picLocks noChangeAspect="1"/>
          </p:cNvPicPr>
          <p:nvPr/>
        </p:nvPicPr>
        <p:blipFill>
          <a:blip r:embed="rId3"/>
          <a:stretch>
            <a:fillRect/>
          </a:stretch>
        </p:blipFill>
        <p:spPr>
          <a:xfrm>
            <a:off x="795528" y="3246120"/>
            <a:ext cx="274320" cy="274320"/>
          </a:xfrm>
          <a:prstGeom prst="rect">
            <a:avLst/>
          </a:prstGeom>
        </p:spPr>
      </p:pic>
      <p:sp>
        <p:nvSpPr>
          <p:cNvPr id="14" name="Text 9"/>
          <p:cNvSpPr txBox="1"/>
          <p:nvPr/>
        </p:nvSpPr>
        <p:spPr>
          <a:xfrm>
            <a:off x="1371600" y="3017520"/>
            <a:ext cx="2971800" cy="1234440"/>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Offline and deterministic</a:t>
            </a:r>
            <a:endParaRPr lang="en-US" sz="1400" dirty="0"/>
          </a:p>
          <a:p>
            <a:pPr indent="0" marL="0">
              <a:spcAft>
                <a:spcPts val="400"/>
              </a:spcAft>
              <a:buNone/>
            </a:pPr>
            <a:r>
              <a:rPr lang="en-US" sz="1300" dirty="0">
                <a:solidFill>
                  <a:schemeClr val="tx1"/>
                </a:solidFill>
              </a:rPr>
              <a:t>No network calls, no AI. The only program it starts is your own test command, when you press Run.</a:t>
            </a:r>
            <a:endParaRPr lang="en-US" sz="1400" dirty="0"/>
          </a:p>
        </p:txBody>
      </p:sp>
      <p:sp>
        <p:nvSpPr>
          <p:cNvPr id="15" name="Constraint 4"/>
          <p:cNvSpPr/>
          <p:nvPr/>
        </p:nvSpPr>
        <p:spPr>
          <a:xfrm>
            <a:off x="4663440" y="2880360"/>
            <a:ext cx="4023360" cy="1508760"/>
          </a:xfrm>
          <a:prstGeom prst="roundRect">
            <a:avLst>
              <a:gd name="adj" fmla="val 4848"/>
            </a:avLst>
          </a:prstGeom>
          <a:solidFill>
            <a:schemeClr val="bg1"/>
          </a:solidFill>
          <a:ln/>
          <a:effectLst>
            <a:outerShdw sx="100000" sy="100000" kx="0" ky="0" algn="bl" rotWithShape="0" blurRad="76200" dist="25400" dir="5400000">
              <a:srgbClr val="000000">
                <a:alpha val="12000"/>
              </a:srgbClr>
            </a:outerShdw>
          </a:effectLst>
        </p:spPr>
      </p:sp>
      <p:sp>
        <p:nvSpPr>
          <p:cNvPr id="16" name="Constraint 4 circle"/>
          <p:cNvSpPr/>
          <p:nvPr/>
        </p:nvSpPr>
        <p:spPr>
          <a:xfrm>
            <a:off x="4864608" y="3108960"/>
            <a:ext cx="548640" cy="548640"/>
          </a:xfrm>
          <a:prstGeom prst="ellipse">
            <a:avLst/>
          </a:prstGeom>
          <a:solidFill>
            <a:schemeClr val="tx2"/>
          </a:solidFill>
          <a:ln/>
        </p:spPr>
      </p:sp>
      <p:pic>
        <p:nvPicPr>
          <p:cNvPr id="17" name="Constraint 4 icon" descr="preencoded.png">    </p:cNvPr>
          <p:cNvPicPr>
            <a:picLocks noChangeAspect="1"/>
          </p:cNvPicPr>
          <p:nvPr/>
        </p:nvPicPr>
        <p:blipFill>
          <a:blip r:embed="rId4"/>
          <a:stretch>
            <a:fillRect/>
          </a:stretch>
        </p:blipFill>
        <p:spPr>
          <a:xfrm>
            <a:off x="5001768" y="3246120"/>
            <a:ext cx="274320" cy="274320"/>
          </a:xfrm>
          <a:prstGeom prst="rect">
            <a:avLst/>
          </a:prstGeom>
        </p:spPr>
      </p:pic>
      <p:sp>
        <p:nvSpPr>
          <p:cNvPr id="18" name="Text 12"/>
          <p:cNvSpPr txBox="1"/>
          <p:nvPr/>
        </p:nvSpPr>
        <p:spPr>
          <a:xfrm>
            <a:off x="5577840" y="3017520"/>
            <a:ext cx="2971800" cy="1234440"/>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rPr>
              <a:t>Writes only what you confirmed</a:t>
            </a:r>
            <a:endParaRPr lang="en-US" sz="1400" dirty="0"/>
          </a:p>
          <a:p>
            <a:pPr indent="0" marL="0">
              <a:spcAft>
                <a:spcPts val="400"/>
              </a:spcAft>
              <a:buNone/>
            </a:pPr>
            <a:r>
              <a:rPr lang="en-US" sz="1300" dirty="0">
                <a:solidFill>
                  <a:schemeClr val="tx1"/>
                </a:solidFill>
              </a:rPr>
              <a:t>The CLI writes only with merge --apply. The app writes only after you confirm a preview diff.</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core: five modules around one shared record</a:t>
            </a:r>
            <a:endParaRPr lang="en-US" sz="2800" dirty="0"/>
          </a:p>
        </p:txBody>
      </p:sp>
      <p:sp>
        <p:nvSpPr>
          <p:cNvPr id="3" name="CLI bar"/>
          <p:cNvSpPr/>
          <p:nvPr/>
        </p:nvSpPr>
        <p:spPr>
          <a:xfrm>
            <a:off x="457200" y="1188720"/>
            <a:ext cx="8229600" cy="548640"/>
          </a:xfrm>
          <a:prstGeom prst="roundRect">
            <a:avLst>
              <a:gd name="adj" fmla="val 13333"/>
            </a:avLst>
          </a:prstGeom>
          <a:solidFill>
            <a:schemeClr val="tx2"/>
          </a:solidFill>
          <a:ln/>
        </p:spPr>
      </p:sp>
      <p:sp>
        <p:nvSpPr>
          <p:cNvPr id="4" name="Text 2"/>
          <p:cNvSpPr txBox="1"/>
          <p:nvPr/>
        </p:nvSpPr>
        <p:spPr>
          <a:xfrm>
            <a:off x="640080" y="1188720"/>
            <a:ext cx="7863840" cy="548640"/>
          </a:xfrm>
          <a:prstGeom prst="rect">
            <a:avLst/>
          </a:prstGeom>
          <a:noFill/>
          <a:ln/>
        </p:spPr>
        <p:txBody>
          <a:bodyPr wrap="square" lIns="0" tIns="0" rIns="0" bIns="0" rtlCol="0" anchor="ctr"/>
          <a:lstStyle/>
          <a:p>
            <a:pPr indent="0" marL="0">
              <a:buNone/>
            </a:pPr>
            <a:r>
              <a:rPr lang="en-US" sz="1300" b="1" dirty="0">
                <a:solidFill>
                  <a:srgbClr val="F2C46D"/>
                </a:solidFill>
                <a:latin typeface="Courier New" pitchFamily="34" charset="0"/>
                <a:ea typeface="Courier New" pitchFamily="34" charset="-122"/>
                <a:cs typeface="Courier New" pitchFamily="34" charset="-120"/>
              </a:rPr>
              <a:t>cli.py  </a:t>
            </a:r>
            <a:pPr indent="0" marL="0">
              <a:buNone/>
            </a:pPr>
            <a:r>
              <a:rPr lang="en-US" sz="1300" dirty="0">
                <a:solidFill>
                  <a:schemeClr val="bg1"/>
                </a:solidFill>
              </a:rPr>
              <a:t>argparse front end: index · find · dupes · merge · check · report · ui, each with readable or --json output</a:t>
            </a:r>
            <a:endParaRPr lang="en-US" sz="1300" dirty="0"/>
          </a:p>
        </p:txBody>
      </p:sp>
      <p:sp>
        <p:nvSpPr>
          <p:cNvPr id="5" name="Module indexer.py"/>
          <p:cNvSpPr/>
          <p:nvPr/>
        </p:nvSpPr>
        <p:spPr>
          <a:xfrm>
            <a:off x="457200" y="1965960"/>
            <a:ext cx="1426464" cy="1600200"/>
          </a:xfrm>
          <a:prstGeom prst="roundRect">
            <a:avLst>
              <a:gd name="adj" fmla="val 5128"/>
            </a:avLst>
          </a:prstGeom>
          <a:solidFill>
            <a:schemeClr val="bg2"/>
          </a:solidFill>
          <a:ln/>
        </p:spPr>
      </p:sp>
      <p:sp>
        <p:nvSpPr>
          <p:cNvPr id="6" name="Text 4"/>
          <p:cNvSpPr txBox="1"/>
          <p:nvPr/>
        </p:nvSpPr>
        <p:spPr>
          <a:xfrm>
            <a:off x="548640" y="2057400"/>
            <a:ext cx="1243584" cy="32004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indexer.py</a:t>
            </a:r>
            <a:endParaRPr lang="en-US" sz="1200" dirty="0"/>
          </a:p>
        </p:txBody>
      </p:sp>
      <p:sp>
        <p:nvSpPr>
          <p:cNvPr id="7" name="Text 5"/>
          <p:cNvSpPr txBox="1"/>
          <p:nvPr/>
        </p:nvSpPr>
        <p:spPr>
          <a:xfrm>
            <a:off x="548640" y="2395728"/>
            <a:ext cx="1243584" cy="777240"/>
          </a:xfrm>
          <a:prstGeom prst="rect">
            <a:avLst/>
          </a:prstGeom>
          <a:noFill/>
          <a:ln/>
        </p:spPr>
        <p:txBody>
          <a:bodyPr wrap="square" lIns="0" tIns="0" rIns="0" bIns="0" rtlCol="0" anchor="t"/>
          <a:lstStyle/>
          <a:p>
            <a:pPr indent="0" marL="0">
              <a:buNone/>
            </a:pPr>
            <a:r>
              <a:rPr lang="en-US" sz="1200" dirty="0">
                <a:solidFill>
                  <a:schemeClr val="tx1"/>
                </a:solidFill>
              </a:rPr>
              <a:t>Finds step definitions in .py files via ast</a:t>
            </a:r>
            <a:endParaRPr lang="en-US" sz="1200" dirty="0"/>
          </a:p>
        </p:txBody>
      </p:sp>
      <p:sp>
        <p:nvSpPr>
          <p:cNvPr id="8" name="Text 6"/>
          <p:cNvSpPr txBox="1"/>
          <p:nvPr/>
        </p:nvSpPr>
        <p:spPr>
          <a:xfrm>
            <a:off x="548640" y="3200400"/>
            <a:ext cx="1243584"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index</a:t>
            </a:r>
            <a:endParaRPr lang="en-US" sz="1000" dirty="0"/>
          </a:p>
        </p:txBody>
      </p:sp>
      <p:sp>
        <p:nvSpPr>
          <p:cNvPr id="9" name="Module arrow 1"/>
          <p:cNvSpPr/>
          <p:nvPr/>
        </p:nvSpPr>
        <p:spPr>
          <a:xfrm>
            <a:off x="1920240" y="2606040"/>
            <a:ext cx="201168" cy="347472"/>
          </a:xfrm>
          <a:prstGeom prst="rightArrow">
            <a:avLst/>
          </a:prstGeom>
          <a:solidFill>
            <a:schemeClr val="accent2"/>
          </a:solidFill>
          <a:ln/>
        </p:spPr>
      </p:sp>
      <p:sp>
        <p:nvSpPr>
          <p:cNvPr id="10" name="Module matcher.py"/>
          <p:cNvSpPr/>
          <p:nvPr/>
        </p:nvSpPr>
        <p:spPr>
          <a:xfrm>
            <a:off x="2157984" y="1965960"/>
            <a:ext cx="1426464" cy="1600200"/>
          </a:xfrm>
          <a:prstGeom prst="roundRect">
            <a:avLst>
              <a:gd name="adj" fmla="val 5128"/>
            </a:avLst>
          </a:prstGeom>
          <a:solidFill>
            <a:schemeClr val="bg2"/>
          </a:solidFill>
          <a:ln/>
        </p:spPr>
      </p:sp>
      <p:sp>
        <p:nvSpPr>
          <p:cNvPr id="11" name="Text 9"/>
          <p:cNvSpPr txBox="1"/>
          <p:nvPr/>
        </p:nvSpPr>
        <p:spPr>
          <a:xfrm>
            <a:off x="2249424" y="2057400"/>
            <a:ext cx="1243584" cy="32004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matcher.py</a:t>
            </a:r>
            <a:endParaRPr lang="en-US" sz="1200" dirty="0"/>
          </a:p>
        </p:txBody>
      </p:sp>
      <p:sp>
        <p:nvSpPr>
          <p:cNvPr id="12" name="Text 10"/>
          <p:cNvSpPr txBox="1"/>
          <p:nvPr/>
        </p:nvSpPr>
        <p:spPr>
          <a:xfrm>
            <a:off x="2249424" y="2395728"/>
            <a:ext cx="1243584" cy="777240"/>
          </a:xfrm>
          <a:prstGeom prst="rect">
            <a:avLst/>
          </a:prstGeom>
          <a:noFill/>
          <a:ln/>
        </p:spPr>
        <p:txBody>
          <a:bodyPr wrap="square" lIns="0" tIns="0" rIns="0" bIns="0" rtlCol="0" anchor="t"/>
          <a:lstStyle/>
          <a:p>
            <a:pPr indent="0" marL="0">
              <a:buNone/>
            </a:pPr>
            <a:r>
              <a:rPr lang="en-US" sz="1200" dirty="0">
                <a:solidFill>
                  <a:schemeClr val="tx1"/>
                </a:solidFill>
              </a:rPr>
              <a:t>Exact binding and fuzzy similarity</a:t>
            </a:r>
            <a:endParaRPr lang="en-US" sz="1200" dirty="0"/>
          </a:p>
        </p:txBody>
      </p:sp>
      <p:sp>
        <p:nvSpPr>
          <p:cNvPr id="13" name="Text 11"/>
          <p:cNvSpPr txBox="1"/>
          <p:nvPr/>
        </p:nvSpPr>
        <p:spPr>
          <a:xfrm>
            <a:off x="2249424" y="3200400"/>
            <a:ext cx="1243584"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find, dupes</a:t>
            </a:r>
            <a:endParaRPr lang="en-US" sz="1000" dirty="0"/>
          </a:p>
        </p:txBody>
      </p:sp>
      <p:sp>
        <p:nvSpPr>
          <p:cNvPr id="14" name="Module arrow 2"/>
          <p:cNvSpPr/>
          <p:nvPr/>
        </p:nvSpPr>
        <p:spPr>
          <a:xfrm>
            <a:off x="3621024" y="2606040"/>
            <a:ext cx="201168" cy="347472"/>
          </a:xfrm>
          <a:prstGeom prst="rightArrow">
            <a:avLst/>
          </a:prstGeom>
          <a:solidFill>
            <a:schemeClr val="accent2"/>
          </a:solidFill>
          <a:ln/>
        </p:spPr>
      </p:sp>
      <p:sp>
        <p:nvSpPr>
          <p:cNvPr id="15" name="Module checker.py"/>
          <p:cNvSpPr/>
          <p:nvPr/>
        </p:nvSpPr>
        <p:spPr>
          <a:xfrm>
            <a:off x="3858768" y="1965960"/>
            <a:ext cx="1426464" cy="1600200"/>
          </a:xfrm>
          <a:prstGeom prst="roundRect">
            <a:avLst>
              <a:gd name="adj" fmla="val 5128"/>
            </a:avLst>
          </a:prstGeom>
          <a:solidFill>
            <a:schemeClr val="bg2"/>
          </a:solidFill>
          <a:ln/>
        </p:spPr>
      </p:sp>
      <p:sp>
        <p:nvSpPr>
          <p:cNvPr id="16" name="Text 14"/>
          <p:cNvSpPr txBox="1"/>
          <p:nvPr/>
        </p:nvSpPr>
        <p:spPr>
          <a:xfrm>
            <a:off x="3950208" y="2057400"/>
            <a:ext cx="1243584" cy="32004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checker.py</a:t>
            </a:r>
            <a:endParaRPr lang="en-US" sz="1200" dirty="0"/>
          </a:p>
        </p:txBody>
      </p:sp>
      <p:sp>
        <p:nvSpPr>
          <p:cNvPr id="17" name="Text 15"/>
          <p:cNvSpPr txBox="1"/>
          <p:nvPr/>
        </p:nvSpPr>
        <p:spPr>
          <a:xfrm>
            <a:off x="3950208" y="2395728"/>
            <a:ext cx="1243584" cy="777240"/>
          </a:xfrm>
          <a:prstGeom prst="rect">
            <a:avLst/>
          </a:prstGeom>
          <a:noFill/>
          <a:ln/>
        </p:spPr>
        <p:txBody>
          <a:bodyPr wrap="square" lIns="0" tIns="0" rIns="0" bIns="0" rtlCol="0" anchor="t"/>
          <a:lstStyle/>
          <a:p>
            <a:pPr indent="0" marL="0">
              <a:buNone/>
            </a:pPr>
            <a:r>
              <a:rPr lang="en-US" sz="1200" dirty="0">
                <a:solidFill>
                  <a:schemeClr val="tx1"/>
                </a:solidFill>
              </a:rPr>
              <a:t>Parses .feature files, binds steps, drafts stubs</a:t>
            </a:r>
            <a:endParaRPr lang="en-US" sz="1200" dirty="0"/>
          </a:p>
        </p:txBody>
      </p:sp>
      <p:sp>
        <p:nvSpPr>
          <p:cNvPr id="18" name="Text 16"/>
          <p:cNvSpPr txBox="1"/>
          <p:nvPr/>
        </p:nvSpPr>
        <p:spPr>
          <a:xfrm>
            <a:off x="3950208" y="3200400"/>
            <a:ext cx="1243584"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check</a:t>
            </a:r>
            <a:endParaRPr lang="en-US" sz="1000" dirty="0"/>
          </a:p>
        </p:txBody>
      </p:sp>
      <p:sp>
        <p:nvSpPr>
          <p:cNvPr id="19" name="Module arrow 3"/>
          <p:cNvSpPr/>
          <p:nvPr/>
        </p:nvSpPr>
        <p:spPr>
          <a:xfrm>
            <a:off x="5321808" y="2606040"/>
            <a:ext cx="201168" cy="347472"/>
          </a:xfrm>
          <a:prstGeom prst="rightArrow">
            <a:avLst/>
          </a:prstGeom>
          <a:solidFill>
            <a:schemeClr val="accent2"/>
          </a:solidFill>
          <a:ln/>
        </p:spPr>
      </p:sp>
      <p:sp>
        <p:nvSpPr>
          <p:cNvPr id="20" name="Module merger.py"/>
          <p:cNvSpPr/>
          <p:nvPr/>
        </p:nvSpPr>
        <p:spPr>
          <a:xfrm>
            <a:off x="5559552" y="1965960"/>
            <a:ext cx="1426464" cy="1600200"/>
          </a:xfrm>
          <a:prstGeom prst="roundRect">
            <a:avLst>
              <a:gd name="adj" fmla="val 5128"/>
            </a:avLst>
          </a:prstGeom>
          <a:solidFill>
            <a:schemeClr val="bg2"/>
          </a:solidFill>
          <a:ln/>
        </p:spPr>
      </p:sp>
      <p:sp>
        <p:nvSpPr>
          <p:cNvPr id="21" name="Text 19"/>
          <p:cNvSpPr txBox="1"/>
          <p:nvPr/>
        </p:nvSpPr>
        <p:spPr>
          <a:xfrm>
            <a:off x="5650992" y="2057400"/>
            <a:ext cx="1243584" cy="32004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merger.py</a:t>
            </a:r>
            <a:endParaRPr lang="en-US" sz="1200" dirty="0"/>
          </a:p>
        </p:txBody>
      </p:sp>
      <p:sp>
        <p:nvSpPr>
          <p:cNvPr id="22" name="Text 20"/>
          <p:cNvSpPr txBox="1"/>
          <p:nvPr/>
        </p:nvSpPr>
        <p:spPr>
          <a:xfrm>
            <a:off x="5650992" y="2395728"/>
            <a:ext cx="1243584" cy="777240"/>
          </a:xfrm>
          <a:prstGeom prst="rect">
            <a:avLst/>
          </a:prstGeom>
          <a:noFill/>
          <a:ln/>
        </p:spPr>
        <p:txBody>
          <a:bodyPr wrap="square" lIns="0" tIns="0" rIns="0" bIns="0" rtlCol="0" anchor="t"/>
          <a:lstStyle/>
          <a:p>
            <a:pPr indent="0" marL="0">
              <a:buNone/>
            </a:pPr>
            <a:r>
              <a:rPr lang="en-US" sz="1200" dirty="0">
                <a:solidFill>
                  <a:schemeClr val="tx1"/>
                </a:solidFill>
              </a:rPr>
              <a:t>Plans and applies duplicate merges</a:t>
            </a:r>
            <a:endParaRPr lang="en-US" sz="1200" dirty="0"/>
          </a:p>
        </p:txBody>
      </p:sp>
      <p:sp>
        <p:nvSpPr>
          <p:cNvPr id="23" name="Text 21"/>
          <p:cNvSpPr txBox="1"/>
          <p:nvPr/>
        </p:nvSpPr>
        <p:spPr>
          <a:xfrm>
            <a:off x="5650992" y="3200400"/>
            <a:ext cx="1243584"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merge</a:t>
            </a:r>
            <a:endParaRPr lang="en-US" sz="1000" dirty="0"/>
          </a:p>
        </p:txBody>
      </p:sp>
      <p:sp>
        <p:nvSpPr>
          <p:cNvPr id="24" name="Module report.py"/>
          <p:cNvSpPr/>
          <p:nvPr/>
        </p:nvSpPr>
        <p:spPr>
          <a:xfrm>
            <a:off x="7260336" y="1965960"/>
            <a:ext cx="1426464" cy="1600200"/>
          </a:xfrm>
          <a:prstGeom prst="roundRect">
            <a:avLst>
              <a:gd name="adj" fmla="val 5128"/>
            </a:avLst>
          </a:prstGeom>
          <a:solidFill>
            <a:srgbClr val="FDF0D9"/>
          </a:solidFill>
          <a:ln/>
        </p:spPr>
      </p:sp>
      <p:sp>
        <p:nvSpPr>
          <p:cNvPr id="25" name="Text 23"/>
          <p:cNvSpPr txBox="1"/>
          <p:nvPr/>
        </p:nvSpPr>
        <p:spPr>
          <a:xfrm>
            <a:off x="7351776" y="2057400"/>
            <a:ext cx="1243584" cy="320040"/>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report.py</a:t>
            </a:r>
            <a:endParaRPr lang="en-US" sz="1200" dirty="0"/>
          </a:p>
        </p:txBody>
      </p:sp>
      <p:sp>
        <p:nvSpPr>
          <p:cNvPr id="26" name="Text 24"/>
          <p:cNvSpPr txBox="1"/>
          <p:nvPr/>
        </p:nvSpPr>
        <p:spPr>
          <a:xfrm>
            <a:off x="7351776" y="2395728"/>
            <a:ext cx="1243584" cy="777240"/>
          </a:xfrm>
          <a:prstGeom prst="rect">
            <a:avLst/>
          </a:prstGeom>
          <a:noFill/>
          <a:ln/>
        </p:spPr>
        <p:txBody>
          <a:bodyPr wrap="square" lIns="0" tIns="0" rIns="0" bIns="0" rtlCol="0" anchor="t"/>
          <a:lstStyle/>
          <a:p>
            <a:pPr indent="0" marL="0">
              <a:buNone/>
            </a:pPr>
            <a:r>
              <a:rPr lang="en-US" sz="1200" dirty="0">
                <a:solidFill>
                  <a:schemeClr val="tx1"/>
                </a:solidFill>
              </a:rPr>
              <a:t>Cucumber JSON to one HTML page</a:t>
            </a:r>
            <a:endParaRPr lang="en-US" sz="1200" dirty="0"/>
          </a:p>
        </p:txBody>
      </p:sp>
      <p:sp>
        <p:nvSpPr>
          <p:cNvPr id="27" name="Text 25"/>
          <p:cNvSpPr txBox="1"/>
          <p:nvPr/>
        </p:nvSpPr>
        <p:spPr>
          <a:xfrm>
            <a:off x="7351776" y="3200400"/>
            <a:ext cx="1243584" cy="274320"/>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report</a:t>
            </a:r>
            <a:endParaRPr lang="en-US" sz="1000" dirty="0"/>
          </a:p>
        </p:txBody>
      </p:sp>
      <p:sp>
        <p:nvSpPr>
          <p:cNvPr id="28" name="Text 26"/>
          <p:cNvSpPr txBox="1"/>
          <p:nvPr/>
        </p:nvSpPr>
        <p:spPr>
          <a:xfrm>
            <a:off x="457200" y="3639312"/>
            <a:ext cx="8229600" cy="274320"/>
          </a:xfrm>
          <a:prstGeom prst="rect">
            <a:avLst/>
          </a:prstGeom>
          <a:noFill/>
          <a:ln/>
        </p:spPr>
        <p:txBody>
          <a:bodyPr wrap="square" lIns="0" tIns="0" rIns="0" bIns="0" rtlCol="0" anchor="t"/>
          <a:lstStyle/>
          <a:p>
            <a:pPr indent="0" marL="0">
              <a:buNone/>
            </a:pPr>
            <a:r>
              <a:rPr lang="en-US" sz="1100" i="1" dirty="0">
                <a:solidFill>
                  <a:schemeClr val="accent6"/>
                </a:solidFill>
              </a:rPr>
              <a:t>Arrows: each module builds on the one before it. report.py stands alone. The app (ui/) is built on all five.</a:t>
            </a:r>
            <a:endParaRPr lang="en-US" sz="1100" dirty="0"/>
          </a:p>
        </p:txBody>
      </p:sp>
      <p:sp>
        <p:nvSpPr>
          <p:cNvPr id="29" name="StepDef code bg"/>
          <p:cNvSpPr/>
          <p:nvPr/>
        </p:nvSpPr>
        <p:spPr>
          <a:xfrm>
            <a:off x="457200" y="3977640"/>
            <a:ext cx="8229600" cy="658368"/>
          </a:xfrm>
          <a:prstGeom prst="roundRect">
            <a:avLst>
              <a:gd name="adj" fmla="val 11111"/>
            </a:avLst>
          </a:prstGeom>
          <a:solidFill>
            <a:schemeClr val="tx1"/>
          </a:solidFill>
          <a:ln/>
        </p:spPr>
      </p:sp>
      <p:sp>
        <p:nvSpPr>
          <p:cNvPr id="30" name="StepDef code"/>
          <p:cNvSpPr txBox="1"/>
          <p:nvPr/>
        </p:nvSpPr>
        <p:spPr>
          <a:xfrm>
            <a:off x="640080" y="4087368"/>
            <a:ext cx="7863840" cy="438912"/>
          </a:xfrm>
          <a:prstGeom prst="rect">
            <a:avLst/>
          </a:prstGeom>
          <a:noFill/>
          <a:ln/>
        </p:spPr>
        <p:txBody>
          <a:bodyPr wrap="square" lIns="0" tIns="0" rIns="0" bIns="0" rtlCol="0" anchor="ctr"/>
          <a:lstStyle/>
          <a:p>
            <a:pPr indent="0" marL="0">
              <a:buNone/>
            </a:pPr>
            <a:r>
              <a:rPr lang="en-US" sz="1100" dirty="0">
                <a:solidFill>
                  <a:srgbClr val="8A9A90"/>
                </a:solidFill>
                <a:latin typeface="Courier New" pitchFamily="34" charset="0"/>
                <a:ea typeface="Courier New" pitchFamily="34" charset="-122"/>
                <a:cs typeface="Courier New" pitchFamily="34" charset="-120"/>
              </a:rPr>
              <a:t>@dataclass(frozen=True)</a:t>
            </a:r>
            <a:endParaRPr lang="en-US" sz="1100" dirty="0"/>
          </a:p>
          <a:p>
            <a:pPr indent="0" marL="0">
              <a:buNone/>
            </a:pPr>
            <a:r>
              <a:rPr lang="en-US" sz="1100" dirty="0">
                <a:solidFill>
                  <a:srgbClr val="8FD19E"/>
                </a:solidFill>
                <a:latin typeface="Courier New" pitchFamily="34" charset="0"/>
                <a:ea typeface="Courier New" pitchFamily="34" charset="-122"/>
                <a:cs typeface="Courier New" pitchFamily="34" charset="-120"/>
              </a:rPr>
              <a:t>class </a:t>
            </a:r>
            <a:pPr indent="0" marL="0">
              <a:buNone/>
            </a:pPr>
            <a:r>
              <a:rPr lang="en-US" sz="1100" dirty="0">
                <a:solidFill>
                  <a:srgbClr val="F2C46D"/>
                </a:solidFill>
                <a:latin typeface="Courier New" pitchFamily="34" charset="0"/>
                <a:ea typeface="Courier New" pitchFamily="34" charset="-122"/>
                <a:cs typeface="Courier New" pitchFamily="34" charset="-120"/>
              </a:rPr>
              <a:t>StepDef</a:t>
            </a:r>
            <a:pPr indent="0" marL="0">
              <a:buNone/>
            </a:pPr>
            <a:r>
              <a:rPr lang="en-US" sz="1100" dirty="0">
                <a:solidFill>
                  <a:srgbClr val="E6EDE8"/>
                </a:solidFill>
                <a:latin typeface="Courier New" pitchFamily="34" charset="0"/>
                <a:ea typeface="Courier New" pitchFamily="34" charset="-122"/>
                <a:cs typeface="Courier New" pitchFamily="34" charset="-120"/>
              </a:rPr>
              <a:t>:  keyword · pattern · kind · function · file · line</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workflow, and the module behind each step</a:t>
            </a:r>
            <a:endParaRPr lang="en-US" sz="2800" dirty="0"/>
          </a:p>
        </p:txBody>
      </p:sp>
      <p:sp>
        <p:nvSpPr>
          <p:cNvPr id="3" name="Workflow line"/>
          <p:cNvSpPr/>
          <p:nvPr/>
        </p:nvSpPr>
        <p:spPr>
          <a:xfrm>
            <a:off x="1005840" y="1508760"/>
            <a:ext cx="7132320" cy="0"/>
          </a:xfrm>
          <a:prstGeom prst="line">
            <a:avLst/>
          </a:prstGeom>
          <a:noFill/>
          <a:ln w="38100">
            <a:solidFill>
              <a:srgbClr val="D7E9D9"/>
            </a:solidFill>
            <a:prstDash val="solid"/>
          </a:ln>
        </p:spPr>
      </p:sp>
      <p:sp>
        <p:nvSpPr>
          <p:cNvPr id="4" name="Workflow 1 circle"/>
          <p:cNvSpPr/>
          <p:nvPr/>
        </p:nvSpPr>
        <p:spPr>
          <a:xfrm>
            <a:off x="731520" y="1234440"/>
            <a:ext cx="548640" cy="548640"/>
          </a:xfrm>
          <a:prstGeom prst="ellipse">
            <a:avLst/>
          </a:prstGeom>
          <a:solidFill>
            <a:schemeClr val="tx2"/>
          </a:solidFill>
          <a:ln/>
        </p:spPr>
      </p:sp>
      <p:pic>
        <p:nvPicPr>
          <p:cNvPr id="5" name="Workflow 1 icon" descr="preencoded.png">    </p:cNvPr>
          <p:cNvPicPr>
            <a:picLocks noChangeAspect="1"/>
          </p:cNvPicPr>
          <p:nvPr/>
        </p:nvPicPr>
        <p:blipFill>
          <a:blip r:embed="rId1"/>
          <a:stretch>
            <a:fillRect/>
          </a:stretch>
        </p:blipFill>
        <p:spPr>
          <a:xfrm>
            <a:off x="868680" y="1371600"/>
            <a:ext cx="274320" cy="274320"/>
          </a:xfrm>
          <a:prstGeom prst="rect">
            <a:avLst/>
          </a:prstGeom>
        </p:spPr>
      </p:pic>
      <p:sp>
        <p:nvSpPr>
          <p:cNvPr id="6" name="Text 3"/>
          <p:cNvSpPr txBox="1"/>
          <p:nvPr/>
        </p:nvSpPr>
        <p:spPr>
          <a:xfrm>
            <a:off x="457200" y="1874520"/>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1. Set up once</a:t>
            </a:r>
            <a:endParaRPr lang="en-US" sz="1300" dirty="0"/>
          </a:p>
        </p:txBody>
      </p:sp>
      <p:sp>
        <p:nvSpPr>
          <p:cNvPr id="7" name="Text 4"/>
          <p:cNvSpPr txBox="1"/>
          <p:nvPr/>
        </p:nvSpPr>
        <p:spPr>
          <a:xfrm>
            <a:off x="475488" y="2212848"/>
            <a:ext cx="1060704" cy="777240"/>
          </a:xfrm>
          <a:prstGeom prst="rect">
            <a:avLst/>
          </a:prstGeom>
          <a:noFill/>
          <a:ln/>
        </p:spPr>
        <p:txBody>
          <a:bodyPr wrap="square" lIns="0" tIns="0" rIns="0" bIns="0" rtlCol="0" anchor="t"/>
          <a:lstStyle/>
          <a:p>
            <a:pPr algn="ctr" indent="0" marL="0">
              <a:buNone/>
            </a:pPr>
            <a:r>
              <a:rPr lang="en-US" sz="1100" dirty="0">
                <a:solidFill>
                  <a:schemeClr val="tx1"/>
                </a:solidFill>
              </a:rPr>
              <a:t>steps folder, features folder, test command</a:t>
            </a:r>
            <a:endParaRPr lang="en-US" sz="1100" dirty="0"/>
          </a:p>
        </p:txBody>
      </p:sp>
      <p:sp>
        <p:nvSpPr>
          <p:cNvPr id="8" name="Module chip 1"/>
          <p:cNvSpPr/>
          <p:nvPr/>
        </p:nvSpPr>
        <p:spPr>
          <a:xfrm>
            <a:off x="502920" y="3017520"/>
            <a:ext cx="1005840" cy="384048"/>
          </a:xfrm>
          <a:prstGeom prst="roundRect">
            <a:avLst>
              <a:gd name="adj" fmla="val 19048"/>
            </a:avLst>
          </a:prstGeom>
          <a:solidFill>
            <a:schemeClr val="bg2"/>
          </a:solidFill>
          <a:ln/>
        </p:spPr>
      </p:sp>
      <p:sp>
        <p:nvSpPr>
          <p:cNvPr id="9" name="Text 6"/>
          <p:cNvSpPr txBox="1"/>
          <p:nvPr/>
        </p:nvSpPr>
        <p:spPr>
          <a:xfrm>
            <a:off x="502920" y="3017520"/>
            <a:ext cx="1005840" cy="384048"/>
          </a:xfrm>
          <a:prstGeom prst="rect">
            <a:avLst/>
          </a:prstGeom>
          <a:noFill/>
          <a:ln/>
        </p:spPr>
        <p:txBody>
          <a:bodyPr wrap="square" lIns="0" tIns="0" rIns="0" bIns="0" rtlCol="0" anchor="ctr"/>
          <a:lstStyle/>
          <a:p>
            <a:pPr algn="ctr" indent="0" marL="0">
              <a:buNone/>
            </a:pPr>
            <a:r>
              <a:rPr lang="en-US" sz="950" dirty="0">
                <a:solidFill>
                  <a:schemeClr val="tx2"/>
                </a:solidFill>
                <a:latin typeface="Courier New" pitchFamily="34" charset="0"/>
                <a:ea typeface="Courier New" pitchFamily="34" charset="-122"/>
                <a:cs typeface="Courier New" pitchFamily="34" charset="-120"/>
              </a:rPr>
              <a:t>projects.py</a:t>
            </a:r>
            <a:endParaRPr lang="en-US" sz="950" dirty="0"/>
          </a:p>
        </p:txBody>
      </p:sp>
      <p:sp>
        <p:nvSpPr>
          <p:cNvPr id="10" name="Workflow 2 circle"/>
          <p:cNvSpPr/>
          <p:nvPr/>
        </p:nvSpPr>
        <p:spPr>
          <a:xfrm>
            <a:off x="1920240" y="1234440"/>
            <a:ext cx="548640" cy="548640"/>
          </a:xfrm>
          <a:prstGeom prst="ellipse">
            <a:avLst/>
          </a:prstGeom>
          <a:solidFill>
            <a:schemeClr val="accent1"/>
          </a:solidFill>
          <a:ln/>
        </p:spPr>
      </p:sp>
      <p:pic>
        <p:nvPicPr>
          <p:cNvPr id="11" name="Workflow 2 icon" descr="preencoded.png">    </p:cNvPr>
          <p:cNvPicPr>
            <a:picLocks noChangeAspect="1"/>
          </p:cNvPicPr>
          <p:nvPr/>
        </p:nvPicPr>
        <p:blipFill>
          <a:blip r:embed="rId2"/>
          <a:stretch>
            <a:fillRect/>
          </a:stretch>
        </p:blipFill>
        <p:spPr>
          <a:xfrm>
            <a:off x="2057400" y="1371600"/>
            <a:ext cx="274320" cy="274320"/>
          </a:xfrm>
          <a:prstGeom prst="rect">
            <a:avLst/>
          </a:prstGeom>
        </p:spPr>
      </p:pic>
      <p:sp>
        <p:nvSpPr>
          <p:cNvPr id="12" name="Text 8"/>
          <p:cNvSpPr txBox="1"/>
          <p:nvPr/>
        </p:nvSpPr>
        <p:spPr>
          <a:xfrm>
            <a:off x="1645920" y="1874520"/>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2. Find</a:t>
            </a:r>
            <a:endParaRPr lang="en-US" sz="1300" dirty="0"/>
          </a:p>
        </p:txBody>
      </p:sp>
      <p:sp>
        <p:nvSpPr>
          <p:cNvPr id="13" name="Text 9"/>
          <p:cNvSpPr txBox="1"/>
          <p:nvPr/>
        </p:nvSpPr>
        <p:spPr>
          <a:xfrm>
            <a:off x="1664208" y="2212848"/>
            <a:ext cx="1060704" cy="777240"/>
          </a:xfrm>
          <a:prstGeom prst="rect">
            <a:avLst/>
          </a:prstGeom>
          <a:noFill/>
          <a:ln/>
        </p:spPr>
        <p:txBody>
          <a:bodyPr wrap="square" lIns="0" tIns="0" rIns="0" bIns="0" rtlCol="0" anchor="t"/>
          <a:lstStyle/>
          <a:p>
            <a:pPr algn="ctr" indent="0" marL="0">
              <a:buNone/>
            </a:pPr>
            <a:r>
              <a:rPr lang="en-US" sz="1100" dirty="0">
                <a:solidFill>
                  <a:schemeClr val="tx1"/>
                </a:solidFill>
              </a:rPr>
              <a:t>search the step catalogue, reuse</a:t>
            </a:r>
            <a:endParaRPr lang="en-US" sz="1100" dirty="0"/>
          </a:p>
        </p:txBody>
      </p:sp>
      <p:sp>
        <p:nvSpPr>
          <p:cNvPr id="14" name="Module chip 2"/>
          <p:cNvSpPr/>
          <p:nvPr/>
        </p:nvSpPr>
        <p:spPr>
          <a:xfrm>
            <a:off x="1691640" y="3017520"/>
            <a:ext cx="1005840" cy="384048"/>
          </a:xfrm>
          <a:prstGeom prst="roundRect">
            <a:avLst>
              <a:gd name="adj" fmla="val 19048"/>
            </a:avLst>
          </a:prstGeom>
          <a:solidFill>
            <a:schemeClr val="bg2"/>
          </a:solidFill>
          <a:ln/>
        </p:spPr>
      </p:sp>
      <p:sp>
        <p:nvSpPr>
          <p:cNvPr id="15" name="Text 11"/>
          <p:cNvSpPr txBox="1"/>
          <p:nvPr/>
        </p:nvSpPr>
        <p:spPr>
          <a:xfrm>
            <a:off x="1691640" y="3017520"/>
            <a:ext cx="1005840" cy="384048"/>
          </a:xfrm>
          <a:prstGeom prst="rect">
            <a:avLst/>
          </a:prstGeom>
          <a:noFill/>
          <a:ln/>
        </p:spPr>
        <p:txBody>
          <a:bodyPr wrap="square" lIns="0" tIns="0" rIns="0" bIns="0" rtlCol="0" anchor="ctr"/>
          <a:lstStyle/>
          <a:p>
            <a:pPr algn="ctr" indent="0" marL="0">
              <a:buNone/>
            </a:pPr>
            <a:r>
              <a:rPr lang="en-US" sz="950" dirty="0">
                <a:solidFill>
                  <a:schemeClr val="tx2"/>
                </a:solidFill>
                <a:latin typeface="Courier New" pitchFamily="34" charset="0"/>
                <a:ea typeface="Courier New" pitchFamily="34" charset="-122"/>
                <a:cs typeface="Courier New" pitchFamily="34" charset="-120"/>
              </a:rPr>
              <a:t>catalog.py</a:t>
            </a:r>
            <a:endParaRPr lang="en-US" sz="950" dirty="0"/>
          </a:p>
        </p:txBody>
      </p:sp>
      <p:sp>
        <p:nvSpPr>
          <p:cNvPr id="16" name="Workflow 3 circle"/>
          <p:cNvSpPr/>
          <p:nvPr/>
        </p:nvSpPr>
        <p:spPr>
          <a:xfrm>
            <a:off x="3108960" y="1234440"/>
            <a:ext cx="548640" cy="548640"/>
          </a:xfrm>
          <a:prstGeom prst="ellipse">
            <a:avLst/>
          </a:prstGeom>
          <a:solidFill>
            <a:schemeClr val="accent1"/>
          </a:solidFill>
          <a:ln/>
        </p:spPr>
      </p:sp>
      <p:pic>
        <p:nvPicPr>
          <p:cNvPr id="17" name="Workflow 3 icon" descr="preencoded.png">    </p:cNvPr>
          <p:cNvPicPr>
            <a:picLocks noChangeAspect="1"/>
          </p:cNvPicPr>
          <p:nvPr/>
        </p:nvPicPr>
        <p:blipFill>
          <a:blip r:embed="rId3"/>
          <a:stretch>
            <a:fillRect/>
          </a:stretch>
        </p:blipFill>
        <p:spPr>
          <a:xfrm>
            <a:off x="3246120" y="1371600"/>
            <a:ext cx="274320" cy="274320"/>
          </a:xfrm>
          <a:prstGeom prst="rect">
            <a:avLst/>
          </a:prstGeom>
        </p:spPr>
      </p:pic>
      <p:sp>
        <p:nvSpPr>
          <p:cNvPr id="18" name="Text 13"/>
          <p:cNvSpPr txBox="1"/>
          <p:nvPr/>
        </p:nvSpPr>
        <p:spPr>
          <a:xfrm>
            <a:off x="2834640" y="1874520"/>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3. Build</a:t>
            </a:r>
            <a:endParaRPr lang="en-US" sz="1300" dirty="0"/>
          </a:p>
        </p:txBody>
      </p:sp>
      <p:sp>
        <p:nvSpPr>
          <p:cNvPr id="19" name="Text 14"/>
          <p:cNvSpPr txBox="1"/>
          <p:nvPr/>
        </p:nvSpPr>
        <p:spPr>
          <a:xfrm>
            <a:off x="2852928" y="2212848"/>
            <a:ext cx="1060704" cy="777240"/>
          </a:xfrm>
          <a:prstGeom prst="rect">
            <a:avLst/>
          </a:prstGeom>
          <a:noFill/>
          <a:ln/>
        </p:spPr>
        <p:txBody>
          <a:bodyPr wrap="square" lIns="0" tIns="0" rIns="0" bIns="0" rtlCol="0" anchor="t"/>
          <a:lstStyle/>
          <a:p>
            <a:pPr algn="ctr" indent="0" marL="0">
              <a:buNone/>
            </a:pPr>
            <a:r>
              <a:rPr lang="en-US" sz="1100" dirty="0">
                <a:solidFill>
                  <a:schemeClr val="tx1"/>
                </a:solidFill>
              </a:rPr>
              <a:t>blocks; typed lines get ✓ / ✗ + suggestions</a:t>
            </a:r>
            <a:endParaRPr lang="en-US" sz="1100" dirty="0"/>
          </a:p>
        </p:txBody>
      </p:sp>
      <p:sp>
        <p:nvSpPr>
          <p:cNvPr id="20" name="Module chip 3"/>
          <p:cNvSpPr/>
          <p:nvPr/>
        </p:nvSpPr>
        <p:spPr>
          <a:xfrm>
            <a:off x="2880360" y="3017520"/>
            <a:ext cx="1005840" cy="384048"/>
          </a:xfrm>
          <a:prstGeom prst="roundRect">
            <a:avLst>
              <a:gd name="adj" fmla="val 19048"/>
            </a:avLst>
          </a:prstGeom>
          <a:solidFill>
            <a:schemeClr val="bg2"/>
          </a:solidFill>
          <a:ln/>
        </p:spPr>
      </p:sp>
      <p:sp>
        <p:nvSpPr>
          <p:cNvPr id="21" name="Text 16"/>
          <p:cNvSpPr txBox="1"/>
          <p:nvPr/>
        </p:nvSpPr>
        <p:spPr>
          <a:xfrm>
            <a:off x="2880360" y="3017520"/>
            <a:ext cx="1005840" cy="384048"/>
          </a:xfrm>
          <a:prstGeom prst="rect">
            <a:avLst/>
          </a:prstGeom>
          <a:noFill/>
          <a:ln/>
        </p:spPr>
        <p:txBody>
          <a:bodyPr wrap="square" lIns="0" tIns="0" rIns="0" bIns="0" rtlCol="0" anchor="ctr"/>
          <a:lstStyle/>
          <a:p>
            <a:pPr algn="ctr" indent="0" marL="0">
              <a:buNone/>
            </a:pPr>
            <a:r>
              <a:rPr lang="en-US" sz="950" dirty="0">
                <a:solidFill>
                  <a:schemeClr val="tx2"/>
                </a:solidFill>
                <a:latin typeface="Courier New" pitchFamily="34" charset="0"/>
                <a:ea typeface="Courier New" pitchFamily="34" charset="-122"/>
                <a:cs typeface="Courier New" pitchFamily="34" charset="-120"/>
              </a:rPr>
              <a:t>builder.py</a:t>
            </a:r>
            <a:endParaRPr lang="en-US" sz="950" dirty="0"/>
          </a:p>
        </p:txBody>
      </p:sp>
      <p:sp>
        <p:nvSpPr>
          <p:cNvPr id="22" name="Workflow 4 circle"/>
          <p:cNvSpPr/>
          <p:nvPr/>
        </p:nvSpPr>
        <p:spPr>
          <a:xfrm>
            <a:off x="4297680" y="1234440"/>
            <a:ext cx="548640" cy="548640"/>
          </a:xfrm>
          <a:prstGeom prst="ellipse">
            <a:avLst/>
          </a:prstGeom>
          <a:solidFill>
            <a:schemeClr val="accent1"/>
          </a:solidFill>
          <a:ln/>
        </p:spPr>
      </p:sp>
      <p:pic>
        <p:nvPicPr>
          <p:cNvPr id="23" name="Workflow 4 icon" descr="preencoded.png">    </p:cNvPr>
          <p:cNvPicPr>
            <a:picLocks noChangeAspect="1"/>
          </p:cNvPicPr>
          <p:nvPr/>
        </p:nvPicPr>
        <p:blipFill>
          <a:blip r:embed="rId4"/>
          <a:stretch>
            <a:fillRect/>
          </a:stretch>
        </p:blipFill>
        <p:spPr>
          <a:xfrm>
            <a:off x="4434840" y="1371600"/>
            <a:ext cx="274320" cy="274320"/>
          </a:xfrm>
          <a:prstGeom prst="rect">
            <a:avLst/>
          </a:prstGeom>
        </p:spPr>
      </p:pic>
      <p:sp>
        <p:nvSpPr>
          <p:cNvPr id="24" name="Text 18"/>
          <p:cNvSpPr txBox="1"/>
          <p:nvPr/>
        </p:nvSpPr>
        <p:spPr>
          <a:xfrm>
            <a:off x="4023360" y="1874520"/>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4. Fill gaps</a:t>
            </a:r>
            <a:endParaRPr lang="en-US" sz="1300" dirty="0"/>
          </a:p>
        </p:txBody>
      </p:sp>
      <p:sp>
        <p:nvSpPr>
          <p:cNvPr id="25" name="Text 19"/>
          <p:cNvSpPr txBox="1"/>
          <p:nvPr/>
        </p:nvSpPr>
        <p:spPr>
          <a:xfrm>
            <a:off x="4041648" y="2212848"/>
            <a:ext cx="1060704" cy="777240"/>
          </a:xfrm>
          <a:prstGeom prst="rect">
            <a:avLst/>
          </a:prstGeom>
          <a:noFill/>
          <a:ln/>
        </p:spPr>
        <p:txBody>
          <a:bodyPr wrap="square" lIns="0" tIns="0" rIns="0" bIns="0" rtlCol="0" anchor="t"/>
          <a:lstStyle/>
          <a:p>
            <a:pPr algn="ctr" indent="0" marL="0">
              <a:buNone/>
            </a:pPr>
            <a:r>
              <a:rPr lang="en-US" sz="1100" dirty="0">
                <a:solidFill>
                  <a:schemeClr val="tx1"/>
                </a:solidFill>
              </a:rPr>
              <a:t>new step code from action blocks</a:t>
            </a:r>
            <a:endParaRPr lang="en-US" sz="1100" dirty="0"/>
          </a:p>
        </p:txBody>
      </p:sp>
      <p:sp>
        <p:nvSpPr>
          <p:cNvPr id="26" name="Module chip 4"/>
          <p:cNvSpPr/>
          <p:nvPr/>
        </p:nvSpPr>
        <p:spPr>
          <a:xfrm>
            <a:off x="4069080" y="3017520"/>
            <a:ext cx="1005840" cy="384048"/>
          </a:xfrm>
          <a:prstGeom prst="roundRect">
            <a:avLst>
              <a:gd name="adj" fmla="val 19048"/>
            </a:avLst>
          </a:prstGeom>
          <a:solidFill>
            <a:schemeClr val="bg2"/>
          </a:solidFill>
          <a:ln/>
        </p:spPr>
      </p:sp>
      <p:sp>
        <p:nvSpPr>
          <p:cNvPr id="27" name="Text 21"/>
          <p:cNvSpPr txBox="1"/>
          <p:nvPr/>
        </p:nvSpPr>
        <p:spPr>
          <a:xfrm>
            <a:off x="4069080" y="3017520"/>
            <a:ext cx="1005840" cy="384048"/>
          </a:xfrm>
          <a:prstGeom prst="rect">
            <a:avLst/>
          </a:prstGeom>
          <a:noFill/>
          <a:ln/>
        </p:spPr>
        <p:txBody>
          <a:bodyPr wrap="square" lIns="0" tIns="0" rIns="0" bIns="0" rtlCol="0" anchor="ctr"/>
          <a:lstStyle/>
          <a:p>
            <a:pPr algn="ctr" indent="0" marL="0">
              <a:buNone/>
            </a:pPr>
            <a:r>
              <a:rPr lang="en-US" sz="950" dirty="0">
                <a:solidFill>
                  <a:schemeClr val="tx2"/>
                </a:solidFill>
                <a:latin typeface="Courier New" pitchFamily="34" charset="0"/>
                <a:ea typeface="Courier New" pitchFamily="34" charset="-122"/>
                <a:cs typeface="Courier New" pitchFamily="34" charset="-120"/>
              </a:rPr>
              <a:t>stepcode.py</a:t>
            </a:r>
            <a:endParaRPr lang="en-US" sz="950" dirty="0"/>
          </a:p>
        </p:txBody>
      </p:sp>
      <p:sp>
        <p:nvSpPr>
          <p:cNvPr id="28" name="Workflow 5 circle"/>
          <p:cNvSpPr/>
          <p:nvPr/>
        </p:nvSpPr>
        <p:spPr>
          <a:xfrm>
            <a:off x="5486400" y="1234440"/>
            <a:ext cx="548640" cy="548640"/>
          </a:xfrm>
          <a:prstGeom prst="ellipse">
            <a:avLst/>
          </a:prstGeom>
          <a:solidFill>
            <a:schemeClr val="accent1"/>
          </a:solidFill>
          <a:ln/>
        </p:spPr>
      </p:sp>
      <p:pic>
        <p:nvPicPr>
          <p:cNvPr id="29" name="Workflow 5 icon" descr="preencoded.png">    </p:cNvPr>
          <p:cNvPicPr>
            <a:picLocks noChangeAspect="1"/>
          </p:cNvPicPr>
          <p:nvPr/>
        </p:nvPicPr>
        <p:blipFill>
          <a:blip r:embed="rId5"/>
          <a:stretch>
            <a:fillRect/>
          </a:stretch>
        </p:blipFill>
        <p:spPr>
          <a:xfrm>
            <a:off x="5623560" y="1371600"/>
            <a:ext cx="274320" cy="274320"/>
          </a:xfrm>
          <a:prstGeom prst="rect">
            <a:avLst/>
          </a:prstGeom>
        </p:spPr>
      </p:pic>
      <p:sp>
        <p:nvSpPr>
          <p:cNvPr id="30" name="Text 23"/>
          <p:cNvSpPr txBox="1"/>
          <p:nvPr/>
        </p:nvSpPr>
        <p:spPr>
          <a:xfrm>
            <a:off x="5212080" y="1874520"/>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5. Save</a:t>
            </a:r>
            <a:endParaRPr lang="en-US" sz="1300" dirty="0"/>
          </a:p>
        </p:txBody>
      </p:sp>
      <p:sp>
        <p:nvSpPr>
          <p:cNvPr id="31" name="Text 24"/>
          <p:cNvSpPr txBox="1"/>
          <p:nvPr/>
        </p:nvSpPr>
        <p:spPr>
          <a:xfrm>
            <a:off x="5230368" y="2212848"/>
            <a:ext cx="1060704" cy="777240"/>
          </a:xfrm>
          <a:prstGeom prst="rect">
            <a:avLst/>
          </a:prstGeom>
          <a:noFill/>
          <a:ln/>
        </p:spPr>
        <p:txBody>
          <a:bodyPr wrap="square" lIns="0" tIns="0" rIns="0" bIns="0" rtlCol="0" anchor="t"/>
          <a:lstStyle/>
          <a:p>
            <a:pPr algn="ctr" indent="0" marL="0">
              <a:buNone/>
            </a:pPr>
            <a:r>
              <a:rPr lang="en-US" sz="1100" dirty="0">
                <a:solidFill>
                  <a:schemeClr val="tx1"/>
                </a:solidFill>
              </a:rPr>
              <a:t>diff preview, confirm, hash-checked write</a:t>
            </a:r>
            <a:endParaRPr lang="en-US" sz="1100" dirty="0"/>
          </a:p>
        </p:txBody>
      </p:sp>
      <p:sp>
        <p:nvSpPr>
          <p:cNvPr id="32" name="Module chip 5"/>
          <p:cNvSpPr/>
          <p:nvPr/>
        </p:nvSpPr>
        <p:spPr>
          <a:xfrm>
            <a:off x="5257800" y="3017520"/>
            <a:ext cx="1005840" cy="384048"/>
          </a:xfrm>
          <a:prstGeom prst="roundRect">
            <a:avLst>
              <a:gd name="adj" fmla="val 19048"/>
            </a:avLst>
          </a:prstGeom>
          <a:solidFill>
            <a:schemeClr val="bg2"/>
          </a:solidFill>
          <a:ln/>
        </p:spPr>
      </p:sp>
      <p:sp>
        <p:nvSpPr>
          <p:cNvPr id="33" name="Text 26"/>
          <p:cNvSpPr txBox="1"/>
          <p:nvPr/>
        </p:nvSpPr>
        <p:spPr>
          <a:xfrm>
            <a:off x="5257800" y="3017520"/>
            <a:ext cx="1005840" cy="384048"/>
          </a:xfrm>
          <a:prstGeom prst="rect">
            <a:avLst/>
          </a:prstGeom>
          <a:noFill/>
          <a:ln/>
        </p:spPr>
        <p:txBody>
          <a:bodyPr wrap="square" lIns="0" tIns="0" rIns="0" bIns="0" rtlCol="0" anchor="ctr"/>
          <a:lstStyle/>
          <a:p>
            <a:pPr algn="ctr" indent="0" marL="0">
              <a:buNone/>
            </a:pPr>
            <a:r>
              <a:rPr lang="en-US" sz="950" dirty="0">
                <a:solidFill>
                  <a:schemeClr val="tx2"/>
                </a:solidFill>
                <a:latin typeface="Courier New" pitchFamily="34" charset="0"/>
                <a:ea typeface="Courier New" pitchFamily="34" charset="-122"/>
                <a:cs typeface="Courier New" pitchFamily="34" charset="-120"/>
              </a:rPr>
              <a:t>history.py</a:t>
            </a:r>
            <a:endParaRPr lang="en-US" sz="950" dirty="0"/>
          </a:p>
        </p:txBody>
      </p:sp>
      <p:sp>
        <p:nvSpPr>
          <p:cNvPr id="34" name="Workflow 6 circle"/>
          <p:cNvSpPr/>
          <p:nvPr/>
        </p:nvSpPr>
        <p:spPr>
          <a:xfrm>
            <a:off x="6675120" y="1234440"/>
            <a:ext cx="548640" cy="548640"/>
          </a:xfrm>
          <a:prstGeom prst="ellipse">
            <a:avLst/>
          </a:prstGeom>
          <a:solidFill>
            <a:schemeClr val="accent1"/>
          </a:solidFill>
          <a:ln/>
        </p:spPr>
      </p:sp>
      <p:pic>
        <p:nvPicPr>
          <p:cNvPr id="35" name="Workflow 6 icon" descr="preencoded.png">    </p:cNvPr>
          <p:cNvPicPr>
            <a:picLocks noChangeAspect="1"/>
          </p:cNvPicPr>
          <p:nvPr/>
        </p:nvPicPr>
        <p:blipFill>
          <a:blip r:embed="rId6"/>
          <a:stretch>
            <a:fillRect/>
          </a:stretch>
        </p:blipFill>
        <p:spPr>
          <a:xfrm>
            <a:off x="6812280" y="1371600"/>
            <a:ext cx="274320" cy="274320"/>
          </a:xfrm>
          <a:prstGeom prst="rect">
            <a:avLst/>
          </a:prstGeom>
        </p:spPr>
      </p:pic>
      <p:sp>
        <p:nvSpPr>
          <p:cNvPr id="36" name="Text 28"/>
          <p:cNvSpPr txBox="1"/>
          <p:nvPr/>
        </p:nvSpPr>
        <p:spPr>
          <a:xfrm>
            <a:off x="6400800" y="1874520"/>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6. Run</a:t>
            </a:r>
            <a:endParaRPr lang="en-US" sz="1300" dirty="0"/>
          </a:p>
        </p:txBody>
      </p:sp>
      <p:sp>
        <p:nvSpPr>
          <p:cNvPr id="37" name="Text 29"/>
          <p:cNvSpPr txBox="1"/>
          <p:nvPr/>
        </p:nvSpPr>
        <p:spPr>
          <a:xfrm>
            <a:off x="6419088" y="2212848"/>
            <a:ext cx="1060704" cy="777240"/>
          </a:xfrm>
          <a:prstGeom prst="rect">
            <a:avLst/>
          </a:prstGeom>
          <a:noFill/>
          <a:ln/>
        </p:spPr>
        <p:txBody>
          <a:bodyPr wrap="square" lIns="0" tIns="0" rIns="0" bIns="0" rtlCol="0" anchor="t"/>
          <a:lstStyle/>
          <a:p>
            <a:pPr algn="ctr" indent="0" marL="0">
              <a:buNone/>
            </a:pPr>
            <a:r>
              <a:rPr lang="en-US" sz="1100" dirty="0">
                <a:solidFill>
                  <a:schemeClr val="tx1"/>
                </a:solidFill>
              </a:rPr>
              <a:t>pass/fail, screenshots, traces</a:t>
            </a:r>
            <a:endParaRPr lang="en-US" sz="1100" dirty="0"/>
          </a:p>
        </p:txBody>
      </p:sp>
      <p:sp>
        <p:nvSpPr>
          <p:cNvPr id="38" name="Module chip 6"/>
          <p:cNvSpPr/>
          <p:nvPr/>
        </p:nvSpPr>
        <p:spPr>
          <a:xfrm>
            <a:off x="6446520" y="3017520"/>
            <a:ext cx="1005840" cy="384048"/>
          </a:xfrm>
          <a:prstGeom prst="roundRect">
            <a:avLst>
              <a:gd name="adj" fmla="val 19048"/>
            </a:avLst>
          </a:prstGeom>
          <a:solidFill>
            <a:schemeClr val="bg2"/>
          </a:solidFill>
          <a:ln/>
        </p:spPr>
      </p:sp>
      <p:sp>
        <p:nvSpPr>
          <p:cNvPr id="39" name="Text 31"/>
          <p:cNvSpPr txBox="1"/>
          <p:nvPr/>
        </p:nvSpPr>
        <p:spPr>
          <a:xfrm>
            <a:off x="6446520" y="3017520"/>
            <a:ext cx="1005840" cy="384048"/>
          </a:xfrm>
          <a:prstGeom prst="rect">
            <a:avLst/>
          </a:prstGeom>
          <a:noFill/>
          <a:ln/>
        </p:spPr>
        <p:txBody>
          <a:bodyPr wrap="square" lIns="0" tIns="0" rIns="0" bIns="0" rtlCol="0" anchor="ctr"/>
          <a:lstStyle/>
          <a:p>
            <a:pPr algn="ctr" indent="0" marL="0">
              <a:buNone/>
            </a:pPr>
            <a:r>
              <a:rPr lang="en-US" sz="950" dirty="0">
                <a:solidFill>
                  <a:schemeClr val="tx2"/>
                </a:solidFill>
                <a:latin typeface="Courier New" pitchFamily="34" charset="0"/>
                <a:ea typeface="Courier New" pitchFamily="34" charset="-122"/>
                <a:cs typeface="Courier New" pitchFamily="34" charset="-120"/>
              </a:rPr>
              <a:t>runner.py</a:t>
            </a:r>
            <a:endParaRPr lang="en-US" sz="950" dirty="0"/>
          </a:p>
        </p:txBody>
      </p:sp>
      <p:sp>
        <p:nvSpPr>
          <p:cNvPr id="40" name="Workflow 7 circle"/>
          <p:cNvSpPr/>
          <p:nvPr/>
        </p:nvSpPr>
        <p:spPr>
          <a:xfrm>
            <a:off x="7863840" y="1234440"/>
            <a:ext cx="548640" cy="548640"/>
          </a:xfrm>
          <a:prstGeom prst="ellipse">
            <a:avLst/>
          </a:prstGeom>
          <a:solidFill>
            <a:schemeClr val="accent1"/>
          </a:solidFill>
          <a:ln/>
        </p:spPr>
      </p:sp>
      <p:pic>
        <p:nvPicPr>
          <p:cNvPr id="41" name="Workflow 7 icon" descr="preencoded.png">    </p:cNvPr>
          <p:cNvPicPr>
            <a:picLocks noChangeAspect="1"/>
          </p:cNvPicPr>
          <p:nvPr/>
        </p:nvPicPr>
        <p:blipFill>
          <a:blip r:embed="rId7"/>
          <a:stretch>
            <a:fillRect/>
          </a:stretch>
        </p:blipFill>
        <p:spPr>
          <a:xfrm>
            <a:off x="8001000" y="1371600"/>
            <a:ext cx="274320" cy="274320"/>
          </a:xfrm>
          <a:prstGeom prst="rect">
            <a:avLst/>
          </a:prstGeom>
        </p:spPr>
      </p:pic>
      <p:sp>
        <p:nvSpPr>
          <p:cNvPr id="42" name="Text 33"/>
          <p:cNvSpPr txBox="1"/>
          <p:nvPr/>
        </p:nvSpPr>
        <p:spPr>
          <a:xfrm>
            <a:off x="7589520" y="1874520"/>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7. Maintain</a:t>
            </a:r>
            <a:endParaRPr lang="en-US" sz="1300" dirty="0"/>
          </a:p>
        </p:txBody>
      </p:sp>
      <p:sp>
        <p:nvSpPr>
          <p:cNvPr id="43" name="Text 34"/>
          <p:cNvSpPr txBox="1"/>
          <p:nvPr/>
        </p:nvSpPr>
        <p:spPr>
          <a:xfrm>
            <a:off x="7607808" y="2212848"/>
            <a:ext cx="1060704" cy="777240"/>
          </a:xfrm>
          <a:prstGeom prst="rect">
            <a:avLst/>
          </a:prstGeom>
          <a:noFill/>
          <a:ln/>
        </p:spPr>
        <p:txBody>
          <a:bodyPr wrap="square" lIns="0" tIns="0" rIns="0" bIns="0" rtlCol="0" anchor="t"/>
          <a:lstStyle/>
          <a:p>
            <a:pPr algn="ctr" indent="0" marL="0">
              <a:buNone/>
            </a:pPr>
            <a:r>
              <a:rPr lang="en-US" sz="1100" dirty="0">
                <a:solidFill>
                  <a:schemeClr val="tx1"/>
                </a:solidFill>
              </a:rPr>
              <a:t>edit as blocks, merge, undo</a:t>
            </a:r>
            <a:endParaRPr lang="en-US" sz="1100" dirty="0"/>
          </a:p>
        </p:txBody>
      </p:sp>
      <p:sp>
        <p:nvSpPr>
          <p:cNvPr id="44" name="Module chip 7"/>
          <p:cNvSpPr/>
          <p:nvPr/>
        </p:nvSpPr>
        <p:spPr>
          <a:xfrm>
            <a:off x="7635240" y="3017520"/>
            <a:ext cx="1005840" cy="384048"/>
          </a:xfrm>
          <a:prstGeom prst="roundRect">
            <a:avLst>
              <a:gd name="adj" fmla="val 19048"/>
            </a:avLst>
          </a:prstGeom>
          <a:solidFill>
            <a:schemeClr val="bg2"/>
          </a:solidFill>
          <a:ln/>
        </p:spPr>
      </p:sp>
      <p:sp>
        <p:nvSpPr>
          <p:cNvPr id="45" name="Text 36"/>
          <p:cNvSpPr txBox="1"/>
          <p:nvPr/>
        </p:nvSpPr>
        <p:spPr>
          <a:xfrm>
            <a:off x="7635240" y="3017520"/>
            <a:ext cx="1005840" cy="384048"/>
          </a:xfrm>
          <a:prstGeom prst="rect">
            <a:avLst/>
          </a:prstGeom>
          <a:noFill/>
          <a:ln/>
        </p:spPr>
        <p:txBody>
          <a:bodyPr wrap="square" lIns="0" tIns="0" rIns="0" bIns="0" rtlCol="0" anchor="ctr"/>
          <a:lstStyle/>
          <a:p>
            <a:pPr algn="ctr" indent="0" marL="0">
              <a:buNone/>
            </a:pPr>
            <a:r>
              <a:rPr lang="en-US" sz="850" dirty="0">
                <a:solidFill>
                  <a:schemeClr val="tx2"/>
                </a:solidFill>
                <a:latin typeface="Courier New" pitchFamily="34" charset="0"/>
                <a:ea typeface="Courier New" pitchFamily="34" charset="-122"/>
                <a:cs typeface="Courier New" pitchFamily="34" charset="-120"/>
              </a:rPr>
              <a:t>editor.py, dupes.py</a:t>
            </a:r>
            <a:endParaRPr lang="en-US" sz="850" dirty="0"/>
          </a:p>
        </p:txBody>
      </p:sp>
      <p:sp>
        <p:nvSpPr>
          <p:cNvPr id="46" name="Plain pytest bg"/>
          <p:cNvSpPr/>
          <p:nvPr/>
        </p:nvSpPr>
        <p:spPr>
          <a:xfrm>
            <a:off x="457200" y="3657600"/>
            <a:ext cx="8229600" cy="868680"/>
          </a:xfrm>
          <a:prstGeom prst="roundRect">
            <a:avLst>
              <a:gd name="adj" fmla="val 8421"/>
            </a:avLst>
          </a:prstGeom>
          <a:solidFill>
            <a:schemeClr val="tx1"/>
          </a:solidFill>
          <a:ln/>
        </p:spPr>
      </p:sp>
      <p:sp>
        <p:nvSpPr>
          <p:cNvPr id="47" name="Plain pytest"/>
          <p:cNvSpPr txBox="1"/>
          <p:nvPr/>
        </p:nvSpPr>
        <p:spPr>
          <a:xfrm>
            <a:off x="640080" y="3767328"/>
            <a:ext cx="7863840" cy="649224"/>
          </a:xfrm>
          <a:prstGeom prst="rect">
            <a:avLst/>
          </a:prstGeom>
          <a:noFill/>
          <a:ln/>
        </p:spPr>
        <p:txBody>
          <a:bodyPr wrap="square" lIns="0" tIns="0" rIns="0" bIns="0" rtlCol="0" anchor="ctr"/>
          <a:lstStyle/>
          <a:p>
            <a:pPr indent="0" marL="0">
              <a:buNone/>
            </a:pPr>
            <a:r>
              <a:rPr lang="en-US" sz="1050" dirty="0">
                <a:solidFill>
                  <a:srgbClr val="8A9A90"/>
                </a:solidFill>
                <a:latin typeface="Courier New" pitchFamily="34" charset="0"/>
                <a:ea typeface="Courier New" pitchFamily="34" charset="-122"/>
                <a:cs typeface="Courier New" pitchFamily="34" charset="-120"/>
              </a:rPr>
              <a:t># what the app writes is plain pytest-bdd; no gherkin-copilot import, no runtime dependency</a:t>
            </a:r>
            <a:endParaRPr lang="en-US" sz="1050" dirty="0"/>
          </a:p>
          <a:p>
            <a:pPr indent="0" marL="0">
              <a:buNone/>
            </a:pPr>
            <a:r>
              <a:rPr lang="en-US" sz="1050" dirty="0">
                <a:solidFill>
                  <a:srgbClr val="8A9A90"/>
                </a:solidFill>
                <a:latin typeface="Courier New" pitchFamily="34" charset="0"/>
                <a:ea typeface="Courier New" pitchFamily="34" charset="-122"/>
                <a:cs typeface="Courier New" pitchFamily="34" charset="-120"/>
              </a:rPr>
              <a:t>$ </a:t>
            </a:r>
            <a:pPr indent="0" marL="0">
              <a:buNone/>
            </a:pPr>
            <a:r>
              <a:rPr lang="en-US" sz="1050" b="1" dirty="0">
                <a:solidFill>
                  <a:srgbClr val="E6EDE8"/>
                </a:solidFill>
                <a:latin typeface="Courier New" pitchFamily="34" charset="0"/>
                <a:ea typeface="Courier New" pitchFamily="34" charset="-122"/>
                <a:cs typeface="Courier New" pitchFamily="34" charset="-120"/>
              </a:rPr>
              <a:t>python -m pytest</a:t>
            </a:r>
            <a:pPr indent="0" marL="0">
              <a:buNone/>
            </a:pPr>
            <a:r>
              <a:rPr lang="en-US" sz="1050" dirty="0">
                <a:solidFill>
                  <a:srgbClr val="8A9A90"/>
                </a:solidFill>
                <a:latin typeface="Courier New" pitchFamily="34" charset="0"/>
                <a:ea typeface="Courier New" pitchFamily="34" charset="-122"/>
                <a:cs typeface="Courier New" pitchFamily="34" charset="-120"/>
              </a:rPr>
              <a:t>      # in a terminal or CI, without the app installed</a:t>
            </a:r>
            <a:endParaRPr lang="en-US" sz="10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How the test suite fits together at run time</a:t>
            </a:r>
            <a:endParaRPr lang="en-US" sz="2800" dirty="0"/>
          </a:p>
        </p:txBody>
      </p:sp>
      <p:sp>
        <p:nvSpPr>
          <p:cNvPr id="3" name="Part 1"/>
          <p:cNvSpPr/>
          <p:nvPr/>
        </p:nvSpPr>
        <p:spPr>
          <a:xfrm>
            <a:off x="457200" y="1188720"/>
            <a:ext cx="1828800" cy="1051560"/>
          </a:xfrm>
          <a:prstGeom prst="roundRect">
            <a:avLst>
              <a:gd name="adj" fmla="val 6957"/>
            </a:avLst>
          </a:prstGeom>
          <a:solidFill>
            <a:schemeClr val="accent5"/>
          </a:solidFill>
          <a:ln/>
        </p:spPr>
      </p:sp>
      <p:sp>
        <p:nvSpPr>
          <p:cNvPr id="4" name="Text 2"/>
          <p:cNvSpPr txBox="1"/>
          <p:nvPr/>
        </p:nvSpPr>
        <p:spPr>
          <a:xfrm>
            <a:off x="566928" y="1188720"/>
            <a:ext cx="1645920" cy="1051560"/>
          </a:xfrm>
          <a:prstGeom prst="rect">
            <a:avLst/>
          </a:prstGeom>
          <a:noFill/>
          <a:ln/>
        </p:spPr>
        <p:txBody>
          <a:bodyPr wrap="square" lIns="0" tIns="0" rIns="0" bIns="0" rtlCol="0" anchor="ctr"/>
          <a:lstStyle/>
          <a:p>
            <a:pPr indent="0" marL="0">
              <a:spcAft>
                <a:spcPts val="300"/>
              </a:spcAft>
              <a:buNone/>
            </a:pPr>
            <a:r>
              <a:rPr lang="en-US" sz="1050" b="1" dirty="0">
                <a:solidFill>
                  <a:schemeClr val="tx2"/>
                </a:solidFill>
                <a:latin typeface="Courier New" pitchFamily="34" charset="0"/>
                <a:ea typeface="Courier New" pitchFamily="34" charset="-122"/>
                <a:cs typeface="Courier New" pitchFamily="34" charset="-120"/>
              </a:rPr>
              <a:t>features/*.feature</a:t>
            </a:r>
            <a:endParaRPr lang="en-US" sz="1400" dirty="0"/>
          </a:p>
          <a:p>
            <a:pPr indent="0" marL="0">
              <a:spcAft>
                <a:spcPts val="300"/>
              </a:spcAft>
              <a:buNone/>
            </a:pPr>
            <a:r>
              <a:rPr lang="en-US" sz="1150" dirty="0">
                <a:solidFill>
                  <a:schemeClr val="tx1"/>
                </a:solidFill>
              </a:rPr>
              <a:t>Scenarios, in Gherkin</a:t>
            </a:r>
            <a:endParaRPr lang="en-US" sz="1400" dirty="0"/>
          </a:p>
        </p:txBody>
      </p:sp>
      <p:sp>
        <p:nvSpPr>
          <p:cNvPr id="5" name="Part arrow 1"/>
          <p:cNvSpPr/>
          <p:nvPr/>
        </p:nvSpPr>
        <p:spPr>
          <a:xfrm>
            <a:off x="2313432" y="1545336"/>
            <a:ext cx="265176" cy="347472"/>
          </a:xfrm>
          <a:prstGeom prst="rightArrow">
            <a:avLst/>
          </a:prstGeom>
          <a:solidFill>
            <a:schemeClr val="accent2"/>
          </a:solidFill>
          <a:ln/>
        </p:spPr>
      </p:sp>
      <p:sp>
        <p:nvSpPr>
          <p:cNvPr id="6" name="Part 2"/>
          <p:cNvSpPr/>
          <p:nvPr/>
        </p:nvSpPr>
        <p:spPr>
          <a:xfrm>
            <a:off x="2606040" y="1188720"/>
            <a:ext cx="1828800" cy="1051560"/>
          </a:xfrm>
          <a:prstGeom prst="roundRect">
            <a:avLst>
              <a:gd name="adj" fmla="val 6957"/>
            </a:avLst>
          </a:prstGeom>
          <a:solidFill>
            <a:schemeClr val="bg2"/>
          </a:solidFill>
          <a:ln/>
        </p:spPr>
      </p:sp>
      <p:sp>
        <p:nvSpPr>
          <p:cNvPr id="7" name="Text 5"/>
          <p:cNvSpPr txBox="1"/>
          <p:nvPr/>
        </p:nvSpPr>
        <p:spPr>
          <a:xfrm>
            <a:off x="2715768" y="1188720"/>
            <a:ext cx="1645920" cy="1051560"/>
          </a:xfrm>
          <a:prstGeom prst="rect">
            <a:avLst/>
          </a:prstGeom>
          <a:noFill/>
          <a:ln/>
        </p:spPr>
        <p:txBody>
          <a:bodyPr wrap="square" lIns="0" tIns="0" rIns="0" bIns="0" rtlCol="0" anchor="ctr"/>
          <a:lstStyle/>
          <a:p>
            <a:pPr indent="0" marL="0">
              <a:spcAft>
                <a:spcPts val="300"/>
              </a:spcAft>
              <a:buNone/>
            </a:pPr>
            <a:r>
              <a:rPr lang="en-US" sz="1050" b="1" dirty="0">
                <a:solidFill>
                  <a:schemeClr val="tx2"/>
                </a:solidFill>
                <a:latin typeface="Courier New" pitchFamily="34" charset="0"/>
                <a:ea typeface="Courier New" pitchFamily="34" charset="-122"/>
                <a:cs typeface="Courier New" pitchFamily="34" charset="-120"/>
              </a:rPr>
              <a:t>tests/test_features.py</a:t>
            </a:r>
            <a:endParaRPr lang="en-US" sz="1400" dirty="0"/>
          </a:p>
          <a:p>
            <a:pPr indent="0" marL="0">
              <a:spcAft>
                <a:spcPts val="300"/>
              </a:spcAft>
              <a:buNone/>
            </a:pPr>
            <a:r>
              <a:rPr lang="en-US" sz="1150" dirty="0">
                <a:solidFill>
                  <a:schemeClr val="tx1"/>
                </a:solidFill>
              </a:rPr>
              <a:t>scenarios(".") turns each one into a test</a:t>
            </a:r>
            <a:endParaRPr lang="en-US" sz="1400" dirty="0"/>
          </a:p>
        </p:txBody>
      </p:sp>
      <p:sp>
        <p:nvSpPr>
          <p:cNvPr id="8" name="Part arrow 2"/>
          <p:cNvSpPr/>
          <p:nvPr/>
        </p:nvSpPr>
        <p:spPr>
          <a:xfrm>
            <a:off x="4462272" y="1545336"/>
            <a:ext cx="265176" cy="347472"/>
          </a:xfrm>
          <a:prstGeom prst="rightArrow">
            <a:avLst/>
          </a:prstGeom>
          <a:solidFill>
            <a:schemeClr val="accent2"/>
          </a:solidFill>
          <a:ln/>
        </p:spPr>
      </p:sp>
      <p:sp>
        <p:nvSpPr>
          <p:cNvPr id="9" name="Part 3"/>
          <p:cNvSpPr/>
          <p:nvPr/>
        </p:nvSpPr>
        <p:spPr>
          <a:xfrm>
            <a:off x="4754880" y="1188720"/>
            <a:ext cx="1828800" cy="1051560"/>
          </a:xfrm>
          <a:prstGeom prst="roundRect">
            <a:avLst>
              <a:gd name="adj" fmla="val 6957"/>
            </a:avLst>
          </a:prstGeom>
          <a:solidFill>
            <a:schemeClr val="accent5"/>
          </a:solidFill>
          <a:ln/>
        </p:spPr>
      </p:sp>
      <p:sp>
        <p:nvSpPr>
          <p:cNvPr id="10" name="Text 8"/>
          <p:cNvSpPr txBox="1"/>
          <p:nvPr/>
        </p:nvSpPr>
        <p:spPr>
          <a:xfrm>
            <a:off x="4864608" y="1188720"/>
            <a:ext cx="1645920" cy="1051560"/>
          </a:xfrm>
          <a:prstGeom prst="rect">
            <a:avLst/>
          </a:prstGeom>
          <a:noFill/>
          <a:ln/>
        </p:spPr>
        <p:txBody>
          <a:bodyPr wrap="square" lIns="0" tIns="0" rIns="0" bIns="0" rtlCol="0" anchor="ctr"/>
          <a:lstStyle/>
          <a:p>
            <a:pPr indent="0" marL="0">
              <a:spcAft>
                <a:spcPts val="300"/>
              </a:spcAft>
              <a:buNone/>
            </a:pPr>
            <a:r>
              <a:rPr lang="en-US" sz="1050" b="1" dirty="0">
                <a:solidFill>
                  <a:schemeClr val="tx2"/>
                </a:solidFill>
                <a:latin typeface="Courier New" pitchFamily="34" charset="0"/>
                <a:ea typeface="Courier New" pitchFamily="34" charset="-122"/>
                <a:cs typeface="Courier New" pitchFamily="34" charset="-120"/>
              </a:rPr>
              <a:t>steps/*.py</a:t>
            </a:r>
            <a:endParaRPr lang="en-US" sz="1400" dirty="0"/>
          </a:p>
          <a:p>
            <a:pPr indent="0" marL="0">
              <a:spcAft>
                <a:spcPts val="300"/>
              </a:spcAft>
              <a:buNone/>
            </a:pPr>
            <a:r>
              <a:rPr lang="en-US" sz="1150" dirty="0">
                <a:solidFill>
                  <a:schemeClr val="tx1"/>
                </a:solidFill>
              </a:rPr>
              <a:t>@given / @when / @then functions</a:t>
            </a:r>
            <a:endParaRPr lang="en-US" sz="1400" dirty="0"/>
          </a:p>
        </p:txBody>
      </p:sp>
      <p:sp>
        <p:nvSpPr>
          <p:cNvPr id="11" name="Part arrow 3"/>
          <p:cNvSpPr/>
          <p:nvPr/>
        </p:nvSpPr>
        <p:spPr>
          <a:xfrm>
            <a:off x="6611112" y="1545336"/>
            <a:ext cx="265176" cy="347472"/>
          </a:xfrm>
          <a:prstGeom prst="rightArrow">
            <a:avLst/>
          </a:prstGeom>
          <a:solidFill>
            <a:schemeClr val="accent2"/>
          </a:solidFill>
          <a:ln/>
        </p:spPr>
      </p:sp>
      <p:sp>
        <p:nvSpPr>
          <p:cNvPr id="12" name="Part 4"/>
          <p:cNvSpPr/>
          <p:nvPr/>
        </p:nvSpPr>
        <p:spPr>
          <a:xfrm>
            <a:off x="6903720" y="1188720"/>
            <a:ext cx="1828800" cy="1051560"/>
          </a:xfrm>
          <a:prstGeom prst="roundRect">
            <a:avLst>
              <a:gd name="adj" fmla="val 6957"/>
            </a:avLst>
          </a:prstGeom>
          <a:solidFill>
            <a:schemeClr val="bg2"/>
          </a:solidFill>
          <a:ln/>
        </p:spPr>
      </p:sp>
      <p:sp>
        <p:nvSpPr>
          <p:cNvPr id="13" name="Text 11"/>
          <p:cNvSpPr txBox="1"/>
          <p:nvPr/>
        </p:nvSpPr>
        <p:spPr>
          <a:xfrm>
            <a:off x="7013448" y="1188720"/>
            <a:ext cx="1645920" cy="1051560"/>
          </a:xfrm>
          <a:prstGeom prst="rect">
            <a:avLst/>
          </a:prstGeom>
          <a:noFill/>
          <a:ln/>
        </p:spPr>
        <p:txBody>
          <a:bodyPr wrap="square" lIns="0" tIns="0" rIns="0" bIns="0" rtlCol="0" anchor="ctr"/>
          <a:lstStyle/>
          <a:p>
            <a:pPr indent="0" marL="0">
              <a:spcAft>
                <a:spcPts val="300"/>
              </a:spcAft>
              <a:buNone/>
            </a:pPr>
            <a:r>
              <a:rPr lang="en-US" sz="1050" b="1" dirty="0">
                <a:solidFill>
                  <a:schemeClr val="tx2"/>
                </a:solidFill>
                <a:latin typeface="Courier New" pitchFamily="34" charset="0"/>
                <a:ea typeface="Courier New" pitchFamily="34" charset="-122"/>
                <a:cs typeface="Courier New" pitchFamily="34" charset="-120"/>
              </a:rPr>
              <a:t>conftest.py</a:t>
            </a:r>
            <a:endParaRPr lang="en-US" sz="1400" dirty="0"/>
          </a:p>
          <a:p>
            <a:pPr indent="0" marL="0">
              <a:spcAft>
                <a:spcPts val="300"/>
              </a:spcAft>
              <a:buNone/>
            </a:pPr>
            <a:r>
              <a:rPr lang="en-US" sz="1150" dirty="0">
                <a:solidFill>
                  <a:schemeClr val="tx1"/>
                </a:solidFill>
              </a:rPr>
              <a:t>loads every file in steps/</a:t>
            </a:r>
            <a:endParaRPr lang="en-US" sz="1400" dirty="0"/>
          </a:p>
        </p:txBody>
      </p:sp>
      <p:sp>
        <p:nvSpPr>
          <p:cNvPr id="14" name="Text 12"/>
          <p:cNvSpPr txBox="1"/>
          <p:nvPr/>
        </p:nvSpPr>
        <p:spPr>
          <a:xfrm>
            <a:off x="457200" y="2377440"/>
            <a:ext cx="8229600" cy="457200"/>
          </a:xfrm>
          <a:prstGeom prst="rect">
            <a:avLst/>
          </a:prstGeom>
          <a:noFill/>
          <a:ln/>
        </p:spPr>
        <p:txBody>
          <a:bodyPr wrap="square" lIns="0" tIns="0" rIns="0" bIns="0" rtlCol="0" anchor="t"/>
          <a:lstStyle/>
          <a:p>
            <a:pPr indent="0" marL="0">
              <a:buNone/>
            </a:pPr>
            <a:r>
              <a:rPr lang="en-US" sz="1300" dirty="0">
                <a:solidFill>
                  <a:schemeClr val="tx1"/>
                </a:solidFill>
              </a:rPr>
              <a:t>Each feature line is matched to one step definition. New feature files and new step files are picked up automatically.</a:t>
            </a:r>
            <a:endParaRPr lang="en-US" sz="1300" dirty="0"/>
          </a:p>
        </p:txBody>
      </p:sp>
      <p:sp>
        <p:nvSpPr>
          <p:cNvPr id="15" name="Text 13"/>
          <p:cNvSpPr txBox="1"/>
          <p:nvPr/>
        </p:nvSpPr>
        <p:spPr>
          <a:xfrm>
            <a:off x="457200" y="2880360"/>
            <a:ext cx="4663440" cy="274320"/>
          </a:xfrm>
          <a:prstGeom prst="rect">
            <a:avLst/>
          </a:prstGeom>
          <a:noFill/>
          <a:ln/>
        </p:spPr>
        <p:txBody>
          <a:bodyPr wrap="square" lIns="0" tIns="0" rIns="0" bIns="0" rtlCol="0" anchor="t"/>
          <a:lstStyle/>
          <a:p>
            <a:pPr indent="0" marL="0">
              <a:buNone/>
            </a:pPr>
            <a:r>
              <a:rPr lang="en-US" sz="1200" b="1" dirty="0">
                <a:solidFill>
                  <a:schemeClr val="accent6"/>
                </a:solidFill>
              </a:rPr>
              <a:t>demo/conftest.py</a:t>
            </a:r>
            <a:endParaRPr lang="en-US" sz="1200" dirty="0"/>
          </a:p>
        </p:txBody>
      </p:sp>
      <p:sp>
        <p:nvSpPr>
          <p:cNvPr id="16" name="Conftest code bg"/>
          <p:cNvSpPr/>
          <p:nvPr/>
        </p:nvSpPr>
        <p:spPr>
          <a:xfrm>
            <a:off x="457200" y="3154680"/>
            <a:ext cx="4663440" cy="1417320"/>
          </a:xfrm>
          <a:prstGeom prst="roundRect">
            <a:avLst>
              <a:gd name="adj" fmla="val 5161"/>
            </a:avLst>
          </a:prstGeom>
          <a:solidFill>
            <a:schemeClr val="tx1"/>
          </a:solidFill>
          <a:ln/>
        </p:spPr>
      </p:sp>
      <p:sp>
        <p:nvSpPr>
          <p:cNvPr id="17" name="Conftest code"/>
          <p:cNvSpPr txBox="1"/>
          <p:nvPr/>
        </p:nvSpPr>
        <p:spPr>
          <a:xfrm>
            <a:off x="640080" y="3264408"/>
            <a:ext cx="4297680" cy="1197864"/>
          </a:xfrm>
          <a:prstGeom prst="rect">
            <a:avLst/>
          </a:prstGeom>
          <a:noFill/>
          <a:ln/>
        </p:spPr>
        <p:txBody>
          <a:bodyPr wrap="square" lIns="0" tIns="0" rIns="0" bIns="0" rtlCol="0" anchor="ctr"/>
          <a:lstStyle/>
          <a:p>
            <a:pPr indent="0" marL="0">
              <a:buNone/>
            </a:pPr>
            <a:r>
              <a:rPr lang="en-US" sz="1000" dirty="0">
                <a:solidFill>
                  <a:srgbClr val="E6EDE8"/>
                </a:solidFill>
                <a:latin typeface="Courier New" pitchFamily="34" charset="0"/>
                <a:ea typeface="Courier New" pitchFamily="34" charset="-122"/>
                <a:cs typeface="Courier New" pitchFamily="34" charset="-120"/>
              </a:rPr>
              <a:t>STEPS_DIR = Path(__file__).resolve().parent / </a:t>
            </a:r>
            <a:pPr indent="0" marL="0">
              <a:buNone/>
            </a:pPr>
            <a:r>
              <a:rPr lang="en-US" sz="1000" dirty="0">
                <a:solidFill>
                  <a:srgbClr val="F2C46D"/>
                </a:solidFill>
                <a:latin typeface="Courier New" pitchFamily="34" charset="0"/>
                <a:ea typeface="Courier New" pitchFamily="34" charset="-122"/>
                <a:cs typeface="Courier New" pitchFamily="34" charset="-120"/>
              </a:rPr>
              <a:t>"steps"</a:t>
            </a:r>
            <a:endParaRPr lang="en-US" sz="1000" dirty="0"/>
          </a:p>
          <a:p>
            <a:pPr indent="0" marL="0">
              <a:buNone/>
            </a:pPr>
            <a:r>
              <a:rPr lang="en-US" sz="1000" dirty="0">
                <a:solidFill>
                  <a:srgbClr val="8FD19E"/>
                </a:solidFill>
                <a:latin typeface="Courier New" pitchFamily="34" charset="0"/>
                <a:ea typeface="Courier New" pitchFamily="34" charset="-122"/>
                <a:cs typeface="Courier New" pitchFamily="34" charset="-120"/>
              </a:rPr>
              <a:t>pytest_plugins</a:t>
            </a:r>
            <a:pPr indent="0" marL="0">
              <a:buNone/>
            </a:pPr>
            <a:r>
              <a:rPr lang="en-US" sz="1000" dirty="0">
                <a:solidFill>
                  <a:srgbClr val="E6EDE8"/>
                </a:solidFill>
                <a:latin typeface="Courier New" pitchFamily="34" charset="0"/>
                <a:ea typeface="Courier New" pitchFamily="34" charset="-122"/>
                <a:cs typeface="Courier New" pitchFamily="34" charset="-120"/>
              </a:rPr>
              <a:t> = [f</a:t>
            </a:r>
            <a:pPr indent="0" marL="0">
              <a:buNone/>
            </a:pPr>
            <a:r>
              <a:rPr lang="en-US" sz="1000" dirty="0">
                <a:solidFill>
                  <a:srgbClr val="F2C46D"/>
                </a:solidFill>
                <a:latin typeface="Courier New" pitchFamily="34" charset="0"/>
                <a:ea typeface="Courier New" pitchFamily="34" charset="-122"/>
                <a:cs typeface="Courier New" pitchFamily="34" charset="-120"/>
              </a:rPr>
              <a:t>"steps.{p.stem}"</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    for p in sorted(STEPS_DIR.glob(</a:t>
            </a:r>
            <a:pPr indent="0" marL="0">
              <a:buNone/>
            </a:pPr>
            <a:r>
              <a:rPr lang="en-US" sz="1000" dirty="0">
                <a:solidFill>
                  <a:srgbClr val="F2C46D"/>
                </a:solidFill>
                <a:latin typeface="Courier New" pitchFamily="34" charset="0"/>
                <a:ea typeface="Courier New" pitchFamily="34" charset="-122"/>
                <a:cs typeface="Courier New" pitchFamily="34" charset="-120"/>
              </a:rPr>
              <a:t>"*.py"</a:t>
            </a:r>
            <a:pPr indent="0" marL="0">
              <a:buNone/>
            </a:pPr>
            <a:r>
              <a:rPr lang="en-US" sz="1000" dirty="0">
                <a:solidFill>
                  <a:srgbClr val="E6EDE8"/>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    if p.stem != </a:t>
            </a:r>
            <a:pPr indent="0" marL="0">
              <a:buNone/>
            </a:pPr>
            <a:r>
              <a:rPr lang="en-US" sz="1000" dirty="0">
                <a:solidFill>
                  <a:srgbClr val="F2C46D"/>
                </a:solidFill>
                <a:latin typeface="Courier New" pitchFamily="34" charset="0"/>
                <a:ea typeface="Courier New" pitchFamily="34" charset="-122"/>
                <a:cs typeface="Courier New" pitchFamily="34" charset="-120"/>
              </a:rPr>
              <a:t>"__init__"</a:t>
            </a:r>
            <a:pPr indent="0" marL="0">
              <a:buNone/>
            </a:pPr>
            <a:r>
              <a:rPr lang="en-US" sz="1000" dirty="0">
                <a:solidFill>
                  <a:srgbClr val="E6EDE8"/>
                </a:solidFill>
                <a:latin typeface="Courier New" pitchFamily="34" charset="0"/>
                <a:ea typeface="Courier New" pitchFamily="34" charset="-122"/>
                <a:cs typeface="Courier New" pitchFamily="34" charset="-120"/>
              </a:rPr>
              <a:t>]</a:t>
            </a:r>
            <a:endParaRPr lang="en-US" sz="1000" dirty="0"/>
          </a:p>
        </p:txBody>
      </p:sp>
      <p:sp>
        <p:nvSpPr>
          <p:cNvPr id="18" name="Text 16"/>
          <p:cNvSpPr txBox="1"/>
          <p:nvPr/>
        </p:nvSpPr>
        <p:spPr>
          <a:xfrm>
            <a:off x="5394960" y="2880360"/>
            <a:ext cx="3291840" cy="274320"/>
          </a:xfrm>
          <a:prstGeom prst="rect">
            <a:avLst/>
          </a:prstGeom>
          <a:noFill/>
          <a:ln/>
        </p:spPr>
        <p:txBody>
          <a:bodyPr wrap="square" lIns="0" tIns="0" rIns="0" bIns="0" rtlCol="0" anchor="t"/>
          <a:lstStyle/>
          <a:p>
            <a:pPr indent="0" marL="0">
              <a:buNone/>
            </a:pPr>
            <a:r>
              <a:rPr lang="en-US" sz="1200" b="1" dirty="0">
                <a:solidFill>
                  <a:schemeClr val="accent6"/>
                </a:solidFill>
              </a:rPr>
              <a:t>demo/tests/test_features.py</a:t>
            </a:r>
            <a:endParaRPr lang="en-US" sz="1200" dirty="0"/>
          </a:p>
        </p:txBody>
      </p:sp>
      <p:sp>
        <p:nvSpPr>
          <p:cNvPr id="19" name="Scenarios code bg"/>
          <p:cNvSpPr/>
          <p:nvPr/>
        </p:nvSpPr>
        <p:spPr>
          <a:xfrm>
            <a:off x="5394960" y="3154680"/>
            <a:ext cx="3291840" cy="1417320"/>
          </a:xfrm>
          <a:prstGeom prst="roundRect">
            <a:avLst>
              <a:gd name="adj" fmla="val 5161"/>
            </a:avLst>
          </a:prstGeom>
          <a:solidFill>
            <a:schemeClr val="tx1"/>
          </a:solidFill>
          <a:ln/>
        </p:spPr>
      </p:sp>
      <p:sp>
        <p:nvSpPr>
          <p:cNvPr id="20" name="Scenarios code"/>
          <p:cNvSpPr txBox="1"/>
          <p:nvPr/>
        </p:nvSpPr>
        <p:spPr>
          <a:xfrm>
            <a:off x="5577840" y="3264408"/>
            <a:ext cx="2926080" cy="1197864"/>
          </a:xfrm>
          <a:prstGeom prst="rect">
            <a:avLst/>
          </a:prstGeom>
          <a:noFill/>
          <a:ln/>
        </p:spPr>
        <p:txBody>
          <a:bodyPr wrap="square" lIns="0" tIns="0" rIns="0" bIns="0" rtlCol="0" anchor="ctr"/>
          <a:lstStyle/>
          <a:p>
            <a:pPr indent="0" marL="0">
              <a:buNone/>
            </a:pPr>
            <a:r>
              <a:rPr lang="en-US" sz="1050" dirty="0">
                <a:solidFill>
                  <a:srgbClr val="8FD19E"/>
                </a:solidFill>
                <a:latin typeface="Courier New" pitchFamily="34" charset="0"/>
                <a:ea typeface="Courier New" pitchFamily="34" charset="-122"/>
                <a:cs typeface="Courier New" pitchFamily="34" charset="-120"/>
              </a:rPr>
              <a:t>from </a:t>
            </a:r>
            <a:pPr indent="0" marL="0">
              <a:buNone/>
            </a:pPr>
            <a:r>
              <a:rPr lang="en-US" sz="1050" dirty="0">
                <a:solidFill>
                  <a:srgbClr val="E6EDE8"/>
                </a:solidFill>
                <a:latin typeface="Courier New" pitchFamily="34" charset="0"/>
                <a:ea typeface="Courier New" pitchFamily="34" charset="-122"/>
                <a:cs typeface="Courier New" pitchFamily="34" charset="-120"/>
              </a:rPr>
              <a:t>pytest_bdd </a:t>
            </a:r>
            <a:pPr indent="0" marL="0">
              <a:buNone/>
            </a:pPr>
            <a:r>
              <a:rPr lang="en-US" sz="1050" dirty="0">
                <a:solidFill>
                  <a:srgbClr val="8FD19E"/>
                </a:solidFill>
                <a:latin typeface="Courier New" pitchFamily="34" charset="0"/>
                <a:ea typeface="Courier New" pitchFamily="34" charset="-122"/>
                <a:cs typeface="Courier New" pitchFamily="34" charset="-120"/>
              </a:rPr>
              <a:t>import </a:t>
            </a:r>
            <a:pPr indent="0" marL="0">
              <a:buNone/>
            </a:pPr>
            <a:r>
              <a:rPr lang="en-US" sz="1050" dirty="0">
                <a:solidFill>
                  <a:srgbClr val="E6EDE8"/>
                </a:solidFill>
                <a:latin typeface="Courier New" pitchFamily="34" charset="0"/>
                <a:ea typeface="Courier New" pitchFamily="34" charset="-122"/>
                <a:cs typeface="Courier New" pitchFamily="34" charset="-120"/>
              </a:rPr>
              <a:t>scenarios</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scenarios(</a:t>
            </a:r>
            <a:pPr indent="0" marL="0">
              <a:buNone/>
            </a:pPr>
            <a:r>
              <a:rPr lang="en-US" sz="1050" dirty="0">
                <a:solidFill>
                  <a:srgbClr val="F2C46D"/>
                </a:solidFill>
                <a:latin typeface="Courier New" pitchFamily="34" charset="0"/>
                <a:ea typeface="Courier New" pitchFamily="34" charset="-122"/>
                <a:cs typeface="Courier New" pitchFamily="34" charset="-120"/>
              </a:rPr>
              <a:t>"."</a:t>
            </a:r>
            <a:pPr indent="0" marL="0">
              <a:buNone/>
            </a:pPr>
            <a:r>
              <a:rPr lang="en-US" sz="1050" dirty="0">
                <a:solidFill>
                  <a:srgbClr val="E6EDE8"/>
                </a:solidFill>
                <a:latin typeface="Courier New" pitchFamily="34" charset="0"/>
                <a:ea typeface="Courier New" pitchFamily="34" charset="-122"/>
                <a:cs typeface="Courier New" pitchFamily="34" charset="-120"/>
              </a:rPr>
              <a:t>)</a:t>
            </a:r>
            <a:endParaRPr lang="en-US" sz="10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app: a local server on top of the same core</a:t>
            </a:r>
            <a:endParaRPr lang="en-US" sz="2800" dirty="0"/>
          </a:p>
        </p:txBody>
      </p:sp>
      <p:sp>
        <p:nvSpPr>
          <p:cNvPr id="3" name="Browser card"/>
          <p:cNvSpPr/>
          <p:nvPr/>
        </p:nvSpPr>
        <p:spPr>
          <a:xfrm>
            <a:off x="457200" y="1188720"/>
            <a:ext cx="1828800" cy="2377440"/>
          </a:xfrm>
          <a:prstGeom prst="roundRect">
            <a:avLst>
              <a:gd name="adj" fmla="val 4000"/>
            </a:avLst>
          </a:prstGeom>
          <a:solidFill>
            <a:schemeClr val="bg2"/>
          </a:solidFill>
          <a:ln/>
        </p:spPr>
      </p:sp>
      <p:sp>
        <p:nvSpPr>
          <p:cNvPr id="4" name="Browser circle"/>
          <p:cNvSpPr/>
          <p:nvPr/>
        </p:nvSpPr>
        <p:spPr>
          <a:xfrm>
            <a:off x="685800" y="1371600"/>
            <a:ext cx="457200" cy="457200"/>
          </a:xfrm>
          <a:prstGeom prst="ellipse">
            <a:avLst/>
          </a:prstGeom>
          <a:solidFill>
            <a:schemeClr val="accent6"/>
          </a:solidFill>
          <a:ln/>
        </p:spPr>
      </p:sp>
      <p:pic>
        <p:nvPicPr>
          <p:cNvPr id="5" name="Browser icon" descr="preencoded.png">    </p:cNvPr>
          <p:cNvPicPr>
            <a:picLocks noChangeAspect="1"/>
          </p:cNvPicPr>
          <p:nvPr/>
        </p:nvPicPr>
        <p:blipFill>
          <a:blip r:embed="rId1"/>
          <a:stretch>
            <a:fillRect/>
          </a:stretch>
        </p:blipFill>
        <p:spPr>
          <a:xfrm>
            <a:off x="800100" y="1485900"/>
            <a:ext cx="228600" cy="228600"/>
          </a:xfrm>
          <a:prstGeom prst="rect">
            <a:avLst/>
          </a:prstGeom>
        </p:spPr>
      </p:pic>
      <p:sp>
        <p:nvSpPr>
          <p:cNvPr id="6" name="Text 3"/>
          <p:cNvSpPr txBox="1"/>
          <p:nvPr/>
        </p:nvSpPr>
        <p:spPr>
          <a:xfrm>
            <a:off x="640080" y="1920240"/>
            <a:ext cx="1554480" cy="155448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Browser</a:t>
            </a:r>
            <a:endParaRPr lang="en-US" sz="1400" dirty="0"/>
          </a:p>
          <a:p>
            <a:pPr indent="0" marL="0">
              <a:spcAft>
                <a:spcPts val="400"/>
              </a:spcAft>
              <a:buNone/>
            </a:pPr>
            <a:r>
              <a:rPr lang="en-US" sz="1150" dirty="0">
                <a:solidFill>
                  <a:schemeClr val="tx1"/>
                </a:solidFill>
              </a:rPr>
              <a:t>Static page from the package. Sends specs as JSON, never file text.</a:t>
            </a:r>
            <a:endParaRPr lang="en-US" sz="1400" dirty="0"/>
          </a:p>
        </p:txBody>
      </p:sp>
      <p:sp>
        <p:nvSpPr>
          <p:cNvPr id="7" name="Browser to server"/>
          <p:cNvSpPr/>
          <p:nvPr/>
        </p:nvSpPr>
        <p:spPr>
          <a:xfrm>
            <a:off x="2331720" y="2194560"/>
            <a:ext cx="365760" cy="347472"/>
          </a:xfrm>
          <a:prstGeom prst="rightArrow">
            <a:avLst/>
          </a:prstGeom>
          <a:solidFill>
            <a:schemeClr val="accent2"/>
          </a:solidFill>
          <a:ln/>
        </p:spPr>
      </p:sp>
      <p:sp>
        <p:nvSpPr>
          <p:cNvPr id="8" name="Server card"/>
          <p:cNvSpPr/>
          <p:nvPr/>
        </p:nvSpPr>
        <p:spPr>
          <a:xfrm>
            <a:off x="2743200" y="1188720"/>
            <a:ext cx="1920240" cy="2377440"/>
          </a:xfrm>
          <a:prstGeom prst="roundRect">
            <a:avLst>
              <a:gd name="adj" fmla="val 3810"/>
            </a:avLst>
          </a:prstGeom>
          <a:solidFill>
            <a:schemeClr val="tx2"/>
          </a:solidFill>
          <a:ln/>
        </p:spPr>
      </p:sp>
      <p:sp>
        <p:nvSpPr>
          <p:cNvPr id="9" name="Text 6"/>
          <p:cNvSpPr txBox="1"/>
          <p:nvPr/>
        </p:nvSpPr>
        <p:spPr>
          <a:xfrm>
            <a:off x="2926080" y="1325880"/>
            <a:ext cx="1645920" cy="2148840"/>
          </a:xfrm>
          <a:prstGeom prst="rect">
            <a:avLst/>
          </a:prstGeom>
          <a:noFill/>
          <a:ln/>
        </p:spPr>
        <p:txBody>
          <a:bodyPr wrap="square" lIns="0" tIns="0" rIns="0" bIns="0" rtlCol="0" anchor="t"/>
          <a:lstStyle/>
          <a:p>
            <a:pPr indent="0" marL="0">
              <a:spcAft>
                <a:spcPts val="500"/>
              </a:spcAft>
              <a:buNone/>
            </a:pPr>
            <a:r>
              <a:rPr lang="en-US" sz="1300" b="1" dirty="0">
                <a:solidFill>
                  <a:srgbClr val="F2C46D"/>
                </a:solidFill>
                <a:latin typeface="Courier New" pitchFamily="34" charset="0"/>
                <a:ea typeface="Courier New" pitchFamily="34" charset="-122"/>
                <a:cs typeface="Courier New" pitchFamily="34" charset="-120"/>
              </a:rPr>
              <a:t>server.py</a:t>
            </a:r>
            <a:endParaRPr lang="en-US" sz="1400" dirty="0"/>
          </a:p>
          <a:p>
            <a:pPr indent="0" marL="0">
              <a:spcAft>
                <a:spcPts val="500"/>
              </a:spcAft>
              <a:buNone/>
            </a:pPr>
            <a:r>
              <a:rPr lang="en-US" sz="1150" dirty="0">
                <a:solidFill>
                  <a:schemeClr val="bg1"/>
                </a:solidFill>
              </a:rPr>
              <a:t>127.0.0.1 only</a:t>
            </a:r>
            <a:endParaRPr lang="en-US" sz="1400" dirty="0"/>
          </a:p>
          <a:p>
            <a:pPr indent="0" marL="0">
              <a:spcAft>
                <a:spcPts val="500"/>
              </a:spcAft>
              <a:buNone/>
            </a:pPr>
            <a:r>
              <a:rPr lang="en-US" sz="1150" dirty="0">
                <a:solidFill>
                  <a:schemeClr val="bg1"/>
                </a:solidFill>
              </a:rPr>
              <a:t>Host header checked</a:t>
            </a:r>
            <a:endParaRPr lang="en-US" sz="1400" dirty="0"/>
          </a:p>
          <a:p>
            <a:pPr indent="0" marL="0">
              <a:spcAft>
                <a:spcPts val="500"/>
              </a:spcAft>
              <a:buNone/>
            </a:pPr>
            <a:r>
              <a:rPr lang="en-US" sz="1150" dirty="0">
                <a:solidFill>
                  <a:schemeClr val="bg1"/>
                </a:solidFill>
              </a:rPr>
              <a:t>POSTs need Origin match + session token</a:t>
            </a:r>
            <a:endParaRPr lang="en-US" sz="1400" dirty="0"/>
          </a:p>
          <a:p>
            <a:pPr indent="0" marL="0">
              <a:spcAft>
                <a:spcPts val="500"/>
              </a:spcAft>
              <a:buNone/>
            </a:pPr>
            <a:r>
              <a:rPr lang="en-US" sz="1150" dirty="0">
                <a:solidFill>
                  <a:schemeClr val="bg1"/>
                </a:solidFill>
              </a:rPr>
              <a:t>1 MB request limit</a:t>
            </a:r>
            <a:endParaRPr lang="en-US" sz="1400" dirty="0"/>
          </a:p>
        </p:txBody>
      </p:sp>
      <p:sp>
        <p:nvSpPr>
          <p:cNvPr id="10" name="Server to modules"/>
          <p:cNvSpPr/>
          <p:nvPr/>
        </p:nvSpPr>
        <p:spPr>
          <a:xfrm>
            <a:off x="4709160" y="2194560"/>
            <a:ext cx="365760" cy="347472"/>
          </a:xfrm>
          <a:prstGeom prst="rightArrow">
            <a:avLst/>
          </a:prstGeom>
          <a:solidFill>
            <a:schemeClr val="accent2"/>
          </a:solidFill>
          <a:ln/>
        </p:spPr>
      </p:sp>
      <p:sp>
        <p:nvSpPr>
          <p:cNvPr id="11" name="UI module projects"/>
          <p:cNvSpPr/>
          <p:nvPr/>
        </p:nvSpPr>
        <p:spPr>
          <a:xfrm>
            <a:off x="5166360" y="1188720"/>
            <a:ext cx="1097280" cy="713232"/>
          </a:xfrm>
          <a:prstGeom prst="roundRect">
            <a:avLst>
              <a:gd name="adj" fmla="val 10256"/>
            </a:avLst>
          </a:prstGeom>
          <a:solidFill>
            <a:schemeClr val="bg2"/>
          </a:solidFill>
          <a:ln/>
        </p:spPr>
      </p:sp>
      <p:sp>
        <p:nvSpPr>
          <p:cNvPr id="12" name="Text 9"/>
          <p:cNvSpPr txBox="1"/>
          <p:nvPr/>
        </p:nvSpPr>
        <p:spPr>
          <a:xfrm>
            <a:off x="5239512" y="1188720"/>
            <a:ext cx="987552" cy="713232"/>
          </a:xfrm>
          <a:prstGeom prst="rect">
            <a:avLst/>
          </a:prstGeom>
          <a:noFill/>
          <a:ln/>
        </p:spPr>
        <p:txBody>
          <a:bodyPr wrap="square" lIns="0" tIns="0" rIns="0" bIns="0" rtlCol="0" anchor="ctr"/>
          <a:lstStyle/>
          <a:p>
            <a:pPr indent="0" marL="0">
              <a:buNone/>
            </a:pPr>
            <a:r>
              <a:rPr lang="en-US" sz="950" b="1" dirty="0">
                <a:solidFill>
                  <a:schemeClr val="tx2"/>
                </a:solidFill>
                <a:latin typeface="Courier New" pitchFamily="34" charset="0"/>
                <a:ea typeface="Courier New" pitchFamily="34" charset="-122"/>
                <a:cs typeface="Courier New" pitchFamily="34" charset="-120"/>
              </a:rPr>
              <a:t>projects.py</a:t>
            </a:r>
            <a:endParaRPr lang="en-US" sz="1400" dirty="0"/>
          </a:p>
          <a:p>
            <a:pPr indent="0" marL="0">
              <a:buNone/>
            </a:pPr>
            <a:r>
              <a:rPr lang="en-US" sz="1000" dirty="0">
                <a:solidFill>
                  <a:schemeClr val="accent6"/>
                </a:solidFill>
              </a:rPr>
              <a:t>121 lines</a:t>
            </a:r>
            <a:endParaRPr lang="en-US" sz="1400" dirty="0"/>
          </a:p>
        </p:txBody>
      </p:sp>
      <p:sp>
        <p:nvSpPr>
          <p:cNvPr id="13" name="UI module catalog"/>
          <p:cNvSpPr/>
          <p:nvPr/>
        </p:nvSpPr>
        <p:spPr>
          <a:xfrm>
            <a:off x="6355080" y="1188720"/>
            <a:ext cx="1097280" cy="713232"/>
          </a:xfrm>
          <a:prstGeom prst="roundRect">
            <a:avLst>
              <a:gd name="adj" fmla="val 10256"/>
            </a:avLst>
          </a:prstGeom>
          <a:solidFill>
            <a:schemeClr val="bg2"/>
          </a:solidFill>
          <a:ln/>
        </p:spPr>
      </p:sp>
      <p:sp>
        <p:nvSpPr>
          <p:cNvPr id="14" name="Text 11"/>
          <p:cNvSpPr txBox="1"/>
          <p:nvPr/>
        </p:nvSpPr>
        <p:spPr>
          <a:xfrm>
            <a:off x="6428232" y="1188720"/>
            <a:ext cx="987552" cy="713232"/>
          </a:xfrm>
          <a:prstGeom prst="rect">
            <a:avLst/>
          </a:prstGeom>
          <a:noFill/>
          <a:ln/>
        </p:spPr>
        <p:txBody>
          <a:bodyPr wrap="square" lIns="0" tIns="0" rIns="0" bIns="0" rtlCol="0" anchor="ctr"/>
          <a:lstStyle/>
          <a:p>
            <a:pPr indent="0" marL="0">
              <a:buNone/>
            </a:pPr>
            <a:r>
              <a:rPr lang="en-US" sz="950" b="1" dirty="0">
                <a:solidFill>
                  <a:schemeClr val="tx2"/>
                </a:solidFill>
                <a:latin typeface="Courier New" pitchFamily="34" charset="0"/>
                <a:ea typeface="Courier New" pitchFamily="34" charset="-122"/>
                <a:cs typeface="Courier New" pitchFamily="34" charset="-120"/>
              </a:rPr>
              <a:t>catalog.py</a:t>
            </a:r>
            <a:endParaRPr lang="en-US" sz="1400" dirty="0"/>
          </a:p>
          <a:p>
            <a:pPr indent="0" marL="0">
              <a:buNone/>
            </a:pPr>
            <a:r>
              <a:rPr lang="en-US" sz="1000" dirty="0">
                <a:solidFill>
                  <a:schemeClr val="accent6"/>
                </a:solidFill>
              </a:rPr>
              <a:t>50 lines</a:t>
            </a:r>
            <a:endParaRPr lang="en-US" sz="1400" dirty="0"/>
          </a:p>
        </p:txBody>
      </p:sp>
      <p:sp>
        <p:nvSpPr>
          <p:cNvPr id="15" name="UI module builder"/>
          <p:cNvSpPr/>
          <p:nvPr/>
        </p:nvSpPr>
        <p:spPr>
          <a:xfrm>
            <a:off x="7543800" y="1188720"/>
            <a:ext cx="1097280" cy="713232"/>
          </a:xfrm>
          <a:prstGeom prst="roundRect">
            <a:avLst>
              <a:gd name="adj" fmla="val 10256"/>
            </a:avLst>
          </a:prstGeom>
          <a:solidFill>
            <a:schemeClr val="bg2"/>
          </a:solidFill>
          <a:ln/>
        </p:spPr>
      </p:sp>
      <p:sp>
        <p:nvSpPr>
          <p:cNvPr id="16" name="Text 13"/>
          <p:cNvSpPr txBox="1"/>
          <p:nvPr/>
        </p:nvSpPr>
        <p:spPr>
          <a:xfrm>
            <a:off x="7616952" y="1188720"/>
            <a:ext cx="987552" cy="713232"/>
          </a:xfrm>
          <a:prstGeom prst="rect">
            <a:avLst/>
          </a:prstGeom>
          <a:noFill/>
          <a:ln/>
        </p:spPr>
        <p:txBody>
          <a:bodyPr wrap="square" lIns="0" tIns="0" rIns="0" bIns="0" rtlCol="0" anchor="ctr"/>
          <a:lstStyle/>
          <a:p>
            <a:pPr indent="0" marL="0">
              <a:buNone/>
            </a:pPr>
            <a:r>
              <a:rPr lang="en-US" sz="950" b="1" dirty="0">
                <a:solidFill>
                  <a:schemeClr val="tx2"/>
                </a:solidFill>
                <a:latin typeface="Courier New" pitchFamily="34" charset="0"/>
                <a:ea typeface="Courier New" pitchFamily="34" charset="-122"/>
                <a:cs typeface="Courier New" pitchFamily="34" charset="-120"/>
              </a:rPr>
              <a:t>builder.py</a:t>
            </a:r>
            <a:endParaRPr lang="en-US" sz="1400" dirty="0"/>
          </a:p>
          <a:p>
            <a:pPr indent="0" marL="0">
              <a:buNone/>
            </a:pPr>
            <a:r>
              <a:rPr lang="en-US" sz="1000" dirty="0">
                <a:solidFill>
                  <a:schemeClr val="accent6"/>
                </a:solidFill>
              </a:rPr>
              <a:t>170 lines</a:t>
            </a:r>
            <a:endParaRPr lang="en-US" sz="1400" dirty="0"/>
          </a:p>
        </p:txBody>
      </p:sp>
      <p:sp>
        <p:nvSpPr>
          <p:cNvPr id="17" name="UI module stepcode"/>
          <p:cNvSpPr/>
          <p:nvPr/>
        </p:nvSpPr>
        <p:spPr>
          <a:xfrm>
            <a:off x="5166360" y="2011680"/>
            <a:ext cx="1097280" cy="713232"/>
          </a:xfrm>
          <a:prstGeom prst="roundRect">
            <a:avLst>
              <a:gd name="adj" fmla="val 10256"/>
            </a:avLst>
          </a:prstGeom>
          <a:solidFill>
            <a:schemeClr val="bg2"/>
          </a:solidFill>
          <a:ln/>
        </p:spPr>
      </p:sp>
      <p:sp>
        <p:nvSpPr>
          <p:cNvPr id="18" name="Text 15"/>
          <p:cNvSpPr txBox="1"/>
          <p:nvPr/>
        </p:nvSpPr>
        <p:spPr>
          <a:xfrm>
            <a:off x="5239512" y="2011680"/>
            <a:ext cx="987552" cy="713232"/>
          </a:xfrm>
          <a:prstGeom prst="rect">
            <a:avLst/>
          </a:prstGeom>
          <a:noFill/>
          <a:ln/>
        </p:spPr>
        <p:txBody>
          <a:bodyPr wrap="square" lIns="0" tIns="0" rIns="0" bIns="0" rtlCol="0" anchor="ctr"/>
          <a:lstStyle/>
          <a:p>
            <a:pPr indent="0" marL="0">
              <a:buNone/>
            </a:pPr>
            <a:r>
              <a:rPr lang="en-US" sz="950" b="1" dirty="0">
                <a:solidFill>
                  <a:schemeClr val="tx2"/>
                </a:solidFill>
                <a:latin typeface="Courier New" pitchFamily="34" charset="0"/>
                <a:ea typeface="Courier New" pitchFamily="34" charset="-122"/>
                <a:cs typeface="Courier New" pitchFamily="34" charset="-120"/>
              </a:rPr>
              <a:t>stepcode.py</a:t>
            </a:r>
            <a:endParaRPr lang="en-US" sz="1400" dirty="0"/>
          </a:p>
          <a:p>
            <a:pPr indent="0" marL="0">
              <a:buNone/>
            </a:pPr>
            <a:r>
              <a:rPr lang="en-US" sz="1000" dirty="0">
                <a:solidFill>
                  <a:schemeClr val="accent6"/>
                </a:solidFill>
              </a:rPr>
              <a:t>218 lines</a:t>
            </a:r>
            <a:endParaRPr lang="en-US" sz="1400" dirty="0"/>
          </a:p>
        </p:txBody>
      </p:sp>
      <p:sp>
        <p:nvSpPr>
          <p:cNvPr id="19" name="UI module editor"/>
          <p:cNvSpPr/>
          <p:nvPr/>
        </p:nvSpPr>
        <p:spPr>
          <a:xfrm>
            <a:off x="6355080" y="2011680"/>
            <a:ext cx="1097280" cy="713232"/>
          </a:xfrm>
          <a:prstGeom prst="roundRect">
            <a:avLst>
              <a:gd name="adj" fmla="val 10256"/>
            </a:avLst>
          </a:prstGeom>
          <a:solidFill>
            <a:schemeClr val="bg2"/>
          </a:solidFill>
          <a:ln/>
        </p:spPr>
      </p:sp>
      <p:sp>
        <p:nvSpPr>
          <p:cNvPr id="20" name="Text 17"/>
          <p:cNvSpPr txBox="1"/>
          <p:nvPr/>
        </p:nvSpPr>
        <p:spPr>
          <a:xfrm>
            <a:off x="6428232" y="2011680"/>
            <a:ext cx="987552" cy="713232"/>
          </a:xfrm>
          <a:prstGeom prst="rect">
            <a:avLst/>
          </a:prstGeom>
          <a:noFill/>
          <a:ln/>
        </p:spPr>
        <p:txBody>
          <a:bodyPr wrap="square" lIns="0" tIns="0" rIns="0" bIns="0" rtlCol="0" anchor="ctr"/>
          <a:lstStyle/>
          <a:p>
            <a:pPr indent="0" marL="0">
              <a:buNone/>
            </a:pPr>
            <a:r>
              <a:rPr lang="en-US" sz="950" b="1" dirty="0">
                <a:solidFill>
                  <a:schemeClr val="tx2"/>
                </a:solidFill>
                <a:latin typeface="Courier New" pitchFamily="34" charset="0"/>
                <a:ea typeface="Courier New" pitchFamily="34" charset="-122"/>
                <a:cs typeface="Courier New" pitchFamily="34" charset="-120"/>
              </a:rPr>
              <a:t>editor.py</a:t>
            </a:r>
            <a:endParaRPr lang="en-US" sz="1400" dirty="0"/>
          </a:p>
          <a:p>
            <a:pPr indent="0" marL="0">
              <a:buNone/>
            </a:pPr>
            <a:r>
              <a:rPr lang="en-US" sz="1000" dirty="0">
                <a:solidFill>
                  <a:schemeClr val="accent6"/>
                </a:solidFill>
              </a:rPr>
              <a:t>298 lines</a:t>
            </a:r>
            <a:endParaRPr lang="en-US" sz="1400" dirty="0"/>
          </a:p>
        </p:txBody>
      </p:sp>
      <p:sp>
        <p:nvSpPr>
          <p:cNvPr id="21" name="UI module gherkin"/>
          <p:cNvSpPr/>
          <p:nvPr/>
        </p:nvSpPr>
        <p:spPr>
          <a:xfrm>
            <a:off x="7543800" y="2011680"/>
            <a:ext cx="1097280" cy="713232"/>
          </a:xfrm>
          <a:prstGeom prst="roundRect">
            <a:avLst>
              <a:gd name="adj" fmla="val 10256"/>
            </a:avLst>
          </a:prstGeom>
          <a:solidFill>
            <a:schemeClr val="bg2"/>
          </a:solidFill>
          <a:ln/>
        </p:spPr>
      </p:sp>
      <p:sp>
        <p:nvSpPr>
          <p:cNvPr id="22" name="Text 19"/>
          <p:cNvSpPr txBox="1"/>
          <p:nvPr/>
        </p:nvSpPr>
        <p:spPr>
          <a:xfrm>
            <a:off x="7616952" y="2011680"/>
            <a:ext cx="987552" cy="713232"/>
          </a:xfrm>
          <a:prstGeom prst="rect">
            <a:avLst/>
          </a:prstGeom>
          <a:noFill/>
          <a:ln/>
        </p:spPr>
        <p:txBody>
          <a:bodyPr wrap="square" lIns="0" tIns="0" rIns="0" bIns="0" rtlCol="0" anchor="ctr"/>
          <a:lstStyle/>
          <a:p>
            <a:pPr indent="0" marL="0">
              <a:buNone/>
            </a:pPr>
            <a:r>
              <a:rPr lang="en-US" sz="950" b="1" dirty="0">
                <a:solidFill>
                  <a:schemeClr val="tx2"/>
                </a:solidFill>
                <a:latin typeface="Courier New" pitchFamily="34" charset="0"/>
                <a:ea typeface="Courier New" pitchFamily="34" charset="-122"/>
                <a:cs typeface="Courier New" pitchFamily="34" charset="-120"/>
              </a:rPr>
              <a:t>gherkin.py</a:t>
            </a:r>
            <a:endParaRPr lang="en-US" sz="1400" dirty="0"/>
          </a:p>
          <a:p>
            <a:pPr indent="0" marL="0">
              <a:buNone/>
            </a:pPr>
            <a:r>
              <a:rPr lang="en-US" sz="1000" dirty="0">
                <a:solidFill>
                  <a:schemeClr val="accent6"/>
                </a:solidFill>
              </a:rPr>
              <a:t>212 lines</a:t>
            </a:r>
            <a:endParaRPr lang="en-US" sz="1400" dirty="0"/>
          </a:p>
        </p:txBody>
      </p:sp>
      <p:sp>
        <p:nvSpPr>
          <p:cNvPr id="23" name="UI module dupes"/>
          <p:cNvSpPr/>
          <p:nvPr/>
        </p:nvSpPr>
        <p:spPr>
          <a:xfrm>
            <a:off x="5166360" y="2834640"/>
            <a:ext cx="1097280" cy="713232"/>
          </a:xfrm>
          <a:prstGeom prst="roundRect">
            <a:avLst>
              <a:gd name="adj" fmla="val 10256"/>
            </a:avLst>
          </a:prstGeom>
          <a:solidFill>
            <a:schemeClr val="bg2"/>
          </a:solidFill>
          <a:ln/>
        </p:spPr>
      </p:sp>
      <p:sp>
        <p:nvSpPr>
          <p:cNvPr id="24" name="Text 21"/>
          <p:cNvSpPr txBox="1"/>
          <p:nvPr/>
        </p:nvSpPr>
        <p:spPr>
          <a:xfrm>
            <a:off x="5239512" y="2834640"/>
            <a:ext cx="987552" cy="713232"/>
          </a:xfrm>
          <a:prstGeom prst="rect">
            <a:avLst/>
          </a:prstGeom>
          <a:noFill/>
          <a:ln/>
        </p:spPr>
        <p:txBody>
          <a:bodyPr wrap="square" lIns="0" tIns="0" rIns="0" bIns="0" rtlCol="0" anchor="ctr"/>
          <a:lstStyle/>
          <a:p>
            <a:pPr indent="0" marL="0">
              <a:buNone/>
            </a:pPr>
            <a:r>
              <a:rPr lang="en-US" sz="950" b="1" dirty="0">
                <a:solidFill>
                  <a:schemeClr val="tx2"/>
                </a:solidFill>
                <a:latin typeface="Courier New" pitchFamily="34" charset="0"/>
                <a:ea typeface="Courier New" pitchFamily="34" charset="-122"/>
                <a:cs typeface="Courier New" pitchFamily="34" charset="-120"/>
              </a:rPr>
              <a:t>dupes.py</a:t>
            </a:r>
            <a:endParaRPr lang="en-US" sz="1400" dirty="0"/>
          </a:p>
          <a:p>
            <a:pPr indent="0" marL="0">
              <a:buNone/>
            </a:pPr>
            <a:r>
              <a:rPr lang="en-US" sz="1000" dirty="0">
                <a:solidFill>
                  <a:schemeClr val="accent6"/>
                </a:solidFill>
              </a:rPr>
              <a:t>113 lines</a:t>
            </a:r>
            <a:endParaRPr lang="en-US" sz="1400" dirty="0"/>
          </a:p>
        </p:txBody>
      </p:sp>
      <p:sp>
        <p:nvSpPr>
          <p:cNvPr id="25" name="UI module history"/>
          <p:cNvSpPr/>
          <p:nvPr/>
        </p:nvSpPr>
        <p:spPr>
          <a:xfrm>
            <a:off x="6355080" y="2834640"/>
            <a:ext cx="1097280" cy="713232"/>
          </a:xfrm>
          <a:prstGeom prst="roundRect">
            <a:avLst>
              <a:gd name="adj" fmla="val 10256"/>
            </a:avLst>
          </a:prstGeom>
          <a:solidFill>
            <a:schemeClr val="bg2"/>
          </a:solidFill>
          <a:ln/>
        </p:spPr>
      </p:sp>
      <p:sp>
        <p:nvSpPr>
          <p:cNvPr id="26" name="Text 23"/>
          <p:cNvSpPr txBox="1"/>
          <p:nvPr/>
        </p:nvSpPr>
        <p:spPr>
          <a:xfrm>
            <a:off x="6428232" y="2834640"/>
            <a:ext cx="987552" cy="713232"/>
          </a:xfrm>
          <a:prstGeom prst="rect">
            <a:avLst/>
          </a:prstGeom>
          <a:noFill/>
          <a:ln/>
        </p:spPr>
        <p:txBody>
          <a:bodyPr wrap="square" lIns="0" tIns="0" rIns="0" bIns="0" rtlCol="0" anchor="ctr"/>
          <a:lstStyle/>
          <a:p>
            <a:pPr indent="0" marL="0">
              <a:buNone/>
            </a:pPr>
            <a:r>
              <a:rPr lang="en-US" sz="950" b="1" dirty="0">
                <a:solidFill>
                  <a:schemeClr val="tx2"/>
                </a:solidFill>
                <a:latin typeface="Courier New" pitchFamily="34" charset="0"/>
                <a:ea typeface="Courier New" pitchFamily="34" charset="-122"/>
                <a:cs typeface="Courier New" pitchFamily="34" charset="-120"/>
              </a:rPr>
              <a:t>history.py</a:t>
            </a:r>
            <a:endParaRPr lang="en-US" sz="1400" dirty="0"/>
          </a:p>
          <a:p>
            <a:pPr indent="0" marL="0">
              <a:buNone/>
            </a:pPr>
            <a:r>
              <a:rPr lang="en-US" sz="1000" dirty="0">
                <a:solidFill>
                  <a:schemeClr val="accent6"/>
                </a:solidFill>
              </a:rPr>
              <a:t>88 lines</a:t>
            </a:r>
            <a:endParaRPr lang="en-US" sz="1400" dirty="0"/>
          </a:p>
        </p:txBody>
      </p:sp>
      <p:sp>
        <p:nvSpPr>
          <p:cNvPr id="27" name="UI module runner"/>
          <p:cNvSpPr/>
          <p:nvPr/>
        </p:nvSpPr>
        <p:spPr>
          <a:xfrm>
            <a:off x="7543800" y="2834640"/>
            <a:ext cx="1097280" cy="713232"/>
          </a:xfrm>
          <a:prstGeom prst="roundRect">
            <a:avLst>
              <a:gd name="adj" fmla="val 10256"/>
            </a:avLst>
          </a:prstGeom>
          <a:solidFill>
            <a:schemeClr val="bg2"/>
          </a:solidFill>
          <a:ln/>
        </p:spPr>
      </p:sp>
      <p:sp>
        <p:nvSpPr>
          <p:cNvPr id="28" name="Text 25"/>
          <p:cNvSpPr txBox="1"/>
          <p:nvPr/>
        </p:nvSpPr>
        <p:spPr>
          <a:xfrm>
            <a:off x="7616952" y="2834640"/>
            <a:ext cx="987552" cy="713232"/>
          </a:xfrm>
          <a:prstGeom prst="rect">
            <a:avLst/>
          </a:prstGeom>
          <a:noFill/>
          <a:ln/>
        </p:spPr>
        <p:txBody>
          <a:bodyPr wrap="square" lIns="0" tIns="0" rIns="0" bIns="0" rtlCol="0" anchor="ctr"/>
          <a:lstStyle/>
          <a:p>
            <a:pPr indent="0" marL="0">
              <a:buNone/>
            </a:pPr>
            <a:r>
              <a:rPr lang="en-US" sz="950" b="1" dirty="0">
                <a:solidFill>
                  <a:schemeClr val="tx2"/>
                </a:solidFill>
                <a:latin typeface="Courier New" pitchFamily="34" charset="0"/>
                <a:ea typeface="Courier New" pitchFamily="34" charset="-122"/>
                <a:cs typeface="Courier New" pitchFamily="34" charset="-120"/>
              </a:rPr>
              <a:t>runner.py</a:t>
            </a:r>
            <a:endParaRPr lang="en-US" sz="1400" dirty="0"/>
          </a:p>
          <a:p>
            <a:pPr indent="0" marL="0">
              <a:buNone/>
            </a:pPr>
            <a:r>
              <a:rPr lang="en-US" sz="1000" dirty="0">
                <a:solidFill>
                  <a:schemeClr val="accent6"/>
                </a:solidFill>
              </a:rPr>
              <a:t>265 lines</a:t>
            </a:r>
            <a:endParaRPr lang="en-US" sz="1400" dirty="0"/>
          </a:p>
        </p:txBody>
      </p:sp>
      <p:sp>
        <p:nvSpPr>
          <p:cNvPr id="29" name="Core strip"/>
          <p:cNvSpPr/>
          <p:nvPr/>
        </p:nvSpPr>
        <p:spPr>
          <a:xfrm>
            <a:off x="457200" y="3794760"/>
            <a:ext cx="8229600" cy="777240"/>
          </a:xfrm>
          <a:prstGeom prst="roundRect">
            <a:avLst>
              <a:gd name="adj" fmla="val 9412"/>
            </a:avLst>
          </a:prstGeom>
          <a:solidFill>
            <a:schemeClr val="accent5"/>
          </a:solidFill>
          <a:ln/>
        </p:spPr>
      </p:sp>
      <p:sp>
        <p:nvSpPr>
          <p:cNvPr id="30" name="Core strip text"/>
          <p:cNvSpPr txBox="1"/>
          <p:nvPr/>
        </p:nvSpPr>
        <p:spPr>
          <a:xfrm>
            <a:off x="640080" y="3794760"/>
            <a:ext cx="7863840" cy="777240"/>
          </a:xfrm>
          <a:prstGeom prst="rect">
            <a:avLst/>
          </a:prstGeom>
          <a:noFill/>
          <a:ln/>
        </p:spPr>
        <p:txBody>
          <a:bodyPr wrap="square" lIns="0" tIns="0" rIns="0" bIns="0" rtlCol="0" anchor="ctr"/>
          <a:lstStyle/>
          <a:p>
            <a:pPr indent="0" marL="0">
              <a:buNone/>
            </a:pPr>
            <a:r>
              <a:rPr lang="en-US" sz="1300" b="1" dirty="0">
                <a:solidFill>
                  <a:schemeClr val="tx2"/>
                </a:solidFill>
              </a:rPr>
              <a:t>Same core as the CLI: </a:t>
            </a:r>
            <a:pPr indent="0" marL="0">
              <a:buNone/>
            </a:pPr>
            <a:r>
              <a:rPr lang="en-US" sz="1300" dirty="0">
                <a:solidFill>
                  <a:schemeClr val="tx1"/>
                </a:solidFill>
              </a:rPr>
              <a:t>indexer, matcher, checker and merger do the analysis, so the app and the command line always agree. Still standard library only (http.server, threading).</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index: read the decorators, never run the code</a:t>
            </a:r>
            <a:endParaRPr lang="en-US" sz="2800" dirty="0"/>
          </a:p>
        </p:txBody>
      </p:sp>
      <p:sp>
        <p:nvSpPr>
          <p:cNvPr id="3" name="Text 1"/>
          <p:cNvSpPr txBox="1"/>
          <p:nvPr/>
        </p:nvSpPr>
        <p:spPr>
          <a:xfrm>
            <a:off x="457200" y="1143000"/>
            <a:ext cx="4572000" cy="274320"/>
          </a:xfrm>
          <a:prstGeom prst="rect">
            <a:avLst/>
          </a:prstGeom>
          <a:noFill/>
          <a:ln/>
        </p:spPr>
        <p:txBody>
          <a:bodyPr wrap="square" lIns="0" tIns="0" rIns="0" bIns="0" rtlCol="0" anchor="t"/>
          <a:lstStyle/>
          <a:p>
            <a:pPr indent="0" marL="0">
              <a:buNone/>
            </a:pPr>
            <a:r>
              <a:rPr lang="en-US" sz="1200" b="1" dirty="0">
                <a:solidFill>
                  <a:schemeClr val="accent6"/>
                </a:solidFill>
              </a:rPr>
              <a:t>Step definition in demo/steps/cart_steps.py</a:t>
            </a:r>
            <a:endParaRPr lang="en-US" sz="1200" dirty="0"/>
          </a:p>
        </p:txBody>
      </p:sp>
      <p:sp>
        <p:nvSpPr>
          <p:cNvPr id="4" name="Index input bg"/>
          <p:cNvSpPr/>
          <p:nvPr/>
        </p:nvSpPr>
        <p:spPr>
          <a:xfrm>
            <a:off x="457200" y="1417320"/>
            <a:ext cx="4572000" cy="960120"/>
          </a:xfrm>
          <a:prstGeom prst="roundRect">
            <a:avLst>
              <a:gd name="adj" fmla="val 7619"/>
            </a:avLst>
          </a:prstGeom>
          <a:solidFill>
            <a:schemeClr val="tx1"/>
          </a:solidFill>
          <a:ln/>
        </p:spPr>
      </p:sp>
      <p:sp>
        <p:nvSpPr>
          <p:cNvPr id="5" name="Index input"/>
          <p:cNvSpPr txBox="1"/>
          <p:nvPr/>
        </p:nvSpPr>
        <p:spPr>
          <a:xfrm>
            <a:off x="640080" y="1527048"/>
            <a:ext cx="4206240" cy="740664"/>
          </a:xfrm>
          <a:prstGeom prst="rect">
            <a:avLst/>
          </a:prstGeom>
          <a:noFill/>
          <a:ln/>
        </p:spPr>
        <p:txBody>
          <a:bodyPr wrap="square" lIns="0" tIns="0" rIns="0" bIns="0" rtlCol="0" anchor="ctr"/>
          <a:lstStyle/>
          <a:p>
            <a:pPr indent="0" marL="0">
              <a:buNone/>
            </a:pPr>
            <a:r>
              <a:rPr lang="en-US" sz="1000" dirty="0">
                <a:solidFill>
                  <a:srgbClr val="8FD19E"/>
                </a:solidFill>
                <a:latin typeface="Courier New" pitchFamily="34" charset="0"/>
                <a:ea typeface="Courier New" pitchFamily="34" charset="-122"/>
                <a:cs typeface="Courier New" pitchFamily="34" charset="-120"/>
              </a:rPr>
              <a:t>@when</a:t>
            </a:r>
            <a:pPr indent="0" marL="0">
              <a:buNone/>
            </a:pPr>
            <a:r>
              <a:rPr lang="en-US" sz="1000" dirty="0">
                <a:solidFill>
                  <a:srgbClr val="E6EDE8"/>
                </a:solidFill>
                <a:latin typeface="Courier New" pitchFamily="34" charset="0"/>
                <a:ea typeface="Courier New" pitchFamily="34" charset="-122"/>
                <a:cs typeface="Courier New" pitchFamily="34" charset="-120"/>
              </a:rPr>
              <a:t>(parsers.parse(</a:t>
            </a:r>
            <a:pPr indent="0" marL="0">
              <a:buNone/>
            </a:pPr>
            <a:r>
              <a:rPr lang="en-US" sz="1000" dirty="0">
                <a:solidFill>
                  <a:srgbClr val="F2C46D"/>
                </a:solidFill>
                <a:latin typeface="Courier New" pitchFamily="34" charset="0"/>
                <a:ea typeface="Courier New" pitchFamily="34" charset="-122"/>
                <a:cs typeface="Courier New" pitchFamily="34" charset="-120"/>
              </a:rPr>
              <a:t>'I add "{product}" to the cart'</a:t>
            </a:r>
            <a:pPr indent="0" marL="0">
              <a:buNone/>
            </a:pPr>
            <a:r>
              <a:rPr lang="en-US" sz="1000" dirty="0">
                <a:solidFill>
                  <a:srgbClr val="E6EDE8"/>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8FD19E"/>
                </a:solidFill>
                <a:latin typeface="Courier New" pitchFamily="34" charset="0"/>
                <a:ea typeface="Courier New" pitchFamily="34" charset="-122"/>
                <a:cs typeface="Courier New" pitchFamily="34" charset="-120"/>
              </a:rPr>
              <a:t>def </a:t>
            </a:r>
            <a:pPr indent="0" marL="0">
              <a:buNone/>
            </a:pPr>
            <a:r>
              <a:rPr lang="en-US" sz="1000" dirty="0">
                <a:solidFill>
                  <a:srgbClr val="E6EDE8"/>
                </a:solidFill>
                <a:latin typeface="Courier New" pitchFamily="34" charset="0"/>
                <a:ea typeface="Courier New" pitchFamily="34" charset="-122"/>
                <a:cs typeface="Courier New" pitchFamily="34" charset="-120"/>
              </a:rPr>
              <a:t>add_to_cart(page, product):</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    product_button(page, product).click()</a:t>
            </a:r>
            <a:endParaRPr lang="en-US" sz="1000" dirty="0"/>
          </a:p>
        </p:txBody>
      </p:sp>
      <p:sp>
        <p:nvSpPr>
          <p:cNvPr id="6" name="Index arrow"/>
          <p:cNvSpPr/>
          <p:nvPr/>
        </p:nvSpPr>
        <p:spPr>
          <a:xfrm>
            <a:off x="2560320" y="2450592"/>
            <a:ext cx="365760" cy="292608"/>
          </a:xfrm>
          <a:prstGeom prst="downArrow">
            <a:avLst/>
          </a:prstGeom>
          <a:solidFill>
            <a:schemeClr val="accent2"/>
          </a:solidFill>
          <a:ln/>
        </p:spPr>
      </p:sp>
      <p:sp>
        <p:nvSpPr>
          <p:cNvPr id="7" name="Text 5"/>
          <p:cNvSpPr txBox="1"/>
          <p:nvPr/>
        </p:nvSpPr>
        <p:spPr>
          <a:xfrm>
            <a:off x="457200" y="2761488"/>
            <a:ext cx="4572000" cy="274320"/>
          </a:xfrm>
          <a:prstGeom prst="rect">
            <a:avLst/>
          </a:prstGeom>
          <a:noFill/>
          <a:ln/>
        </p:spPr>
        <p:txBody>
          <a:bodyPr wrap="square" lIns="0" tIns="0" rIns="0" bIns="0" rtlCol="0" anchor="t"/>
          <a:lstStyle/>
          <a:p>
            <a:pPr indent="0" marL="0">
              <a:buNone/>
            </a:pPr>
            <a:r>
              <a:rPr lang="en-US" sz="1200" b="1" dirty="0">
                <a:solidFill>
                  <a:schemeClr val="accent6"/>
                </a:solidFill>
              </a:rPr>
              <a:t>Record saved to .gherkin-index.json</a:t>
            </a:r>
            <a:endParaRPr lang="en-US" sz="1200" dirty="0"/>
          </a:p>
        </p:txBody>
      </p:sp>
      <p:sp>
        <p:nvSpPr>
          <p:cNvPr id="8" name="Index output bg"/>
          <p:cNvSpPr/>
          <p:nvPr/>
        </p:nvSpPr>
        <p:spPr>
          <a:xfrm>
            <a:off x="457200" y="3035808"/>
            <a:ext cx="4572000" cy="1188720"/>
          </a:xfrm>
          <a:prstGeom prst="roundRect">
            <a:avLst>
              <a:gd name="adj" fmla="val 6154"/>
            </a:avLst>
          </a:prstGeom>
          <a:solidFill>
            <a:schemeClr val="tx1"/>
          </a:solidFill>
          <a:ln/>
        </p:spPr>
      </p:sp>
      <p:sp>
        <p:nvSpPr>
          <p:cNvPr id="9" name="Index output"/>
          <p:cNvSpPr txBox="1"/>
          <p:nvPr/>
        </p:nvSpPr>
        <p:spPr>
          <a:xfrm>
            <a:off x="640080" y="3145536"/>
            <a:ext cx="4206240" cy="969264"/>
          </a:xfrm>
          <a:prstGeom prst="rect">
            <a:avLst/>
          </a:prstGeom>
          <a:noFill/>
          <a:ln/>
        </p:spPr>
        <p:txBody>
          <a:bodyPr wrap="square" lIns="0" tIns="0" rIns="0" bIns="0" rtlCol="0" anchor="ctr"/>
          <a:lstStyle/>
          <a:p>
            <a:pPr indent="0" marL="0">
              <a:buNone/>
            </a:pPr>
            <a:r>
              <a:rPr lang="en-US" sz="1050" dirty="0">
                <a:solidFill>
                  <a:srgbClr val="8A9A90"/>
                </a:solidFill>
                <a:latin typeface="Courier New" pitchFamily="34" charset="0"/>
                <a:ea typeface="Courier New" pitchFamily="34" charset="-122"/>
                <a:cs typeface="Courier New" pitchFamily="34" charset="-120"/>
              </a:rPr>
              <a:t>"keyword": </a:t>
            </a:r>
            <a:pPr indent="0" marL="0">
              <a:buNone/>
            </a:pPr>
            <a:r>
              <a:rPr lang="en-US" sz="1050" dirty="0">
                <a:solidFill>
                  <a:srgbClr val="F2C46D"/>
                </a:solidFill>
                <a:latin typeface="Courier New" pitchFamily="34" charset="0"/>
                <a:ea typeface="Courier New" pitchFamily="34" charset="-122"/>
                <a:cs typeface="Courier New" pitchFamily="34" charset="-120"/>
              </a:rPr>
              <a:t>"when"</a:t>
            </a:r>
            <a:pPr indent="0" marL="0">
              <a:buNone/>
            </a:pPr>
            <a:r>
              <a:rPr lang="en-US" sz="1050" dirty="0">
                <a:solidFill>
                  <a:srgbClr val="8A9A90"/>
                </a:solidFill>
                <a:latin typeface="Courier New" pitchFamily="34" charset="0"/>
                <a:ea typeface="Courier New" pitchFamily="34" charset="-122"/>
                <a:cs typeface="Courier New" pitchFamily="34" charset="-120"/>
              </a:rPr>
              <a:t>, "kind": </a:t>
            </a:r>
            <a:pPr indent="0" marL="0">
              <a:buNone/>
            </a:pPr>
            <a:r>
              <a:rPr lang="en-US" sz="1050" dirty="0">
                <a:solidFill>
                  <a:srgbClr val="F2C46D"/>
                </a:solidFill>
                <a:latin typeface="Courier New" pitchFamily="34" charset="0"/>
                <a:ea typeface="Courier New" pitchFamily="34" charset="-122"/>
                <a:cs typeface="Courier New" pitchFamily="34" charset="-120"/>
              </a:rPr>
              <a:t>"parse"</a:t>
            </a:r>
            <a:pPr indent="0" marL="0">
              <a:buNone/>
            </a:pPr>
            <a:r>
              <a:rPr lang="en-US" sz="1050" dirty="0">
                <a:solidFill>
                  <a:srgbClr val="8A9A9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8A9A90"/>
                </a:solidFill>
                <a:latin typeface="Courier New" pitchFamily="34" charset="0"/>
                <a:ea typeface="Courier New" pitchFamily="34" charset="-122"/>
                <a:cs typeface="Courier New" pitchFamily="34" charset="-120"/>
              </a:rPr>
              <a:t>"pattern": </a:t>
            </a:r>
            <a:pPr indent="0" marL="0">
              <a:buNone/>
            </a:pPr>
            <a:r>
              <a:rPr lang="en-US" sz="1050" dirty="0">
                <a:solidFill>
                  <a:srgbClr val="F2C46D"/>
                </a:solidFill>
                <a:latin typeface="Courier New" pitchFamily="34" charset="0"/>
                <a:ea typeface="Courier New" pitchFamily="34" charset="-122"/>
                <a:cs typeface="Courier New" pitchFamily="34" charset="-120"/>
              </a:rPr>
              <a:t>"I add \"{product}\" to the cart"</a:t>
            </a:r>
            <a:pPr indent="0" marL="0">
              <a:buNone/>
            </a:pPr>
            <a:r>
              <a:rPr lang="en-US" sz="1050" dirty="0">
                <a:solidFill>
                  <a:srgbClr val="8A9A9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8A9A90"/>
                </a:solidFill>
                <a:latin typeface="Courier New" pitchFamily="34" charset="0"/>
                <a:ea typeface="Courier New" pitchFamily="34" charset="-122"/>
                <a:cs typeface="Courier New" pitchFamily="34" charset="-120"/>
              </a:rPr>
              <a:t>"function": </a:t>
            </a:r>
            <a:pPr indent="0" marL="0">
              <a:buNone/>
            </a:pPr>
            <a:r>
              <a:rPr lang="en-US" sz="1050" dirty="0">
                <a:solidFill>
                  <a:srgbClr val="F2C46D"/>
                </a:solidFill>
                <a:latin typeface="Courier New" pitchFamily="34" charset="0"/>
                <a:ea typeface="Courier New" pitchFamily="34" charset="-122"/>
                <a:cs typeface="Courier New" pitchFamily="34" charset="-120"/>
              </a:rPr>
              <a:t>"add_to_cart"</a:t>
            </a:r>
            <a:pPr indent="0" marL="0">
              <a:buNone/>
            </a:pPr>
            <a:r>
              <a:rPr lang="en-US" sz="1050" dirty="0">
                <a:solidFill>
                  <a:srgbClr val="8A9A9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8A9A90"/>
                </a:solidFill>
                <a:latin typeface="Courier New" pitchFamily="34" charset="0"/>
                <a:ea typeface="Courier New" pitchFamily="34" charset="-122"/>
                <a:cs typeface="Courier New" pitchFamily="34" charset="-120"/>
              </a:rPr>
              <a:t>"file": </a:t>
            </a:r>
            <a:pPr indent="0" marL="0">
              <a:buNone/>
            </a:pPr>
            <a:r>
              <a:rPr lang="en-US" sz="1050" dirty="0">
                <a:solidFill>
                  <a:srgbClr val="F2C46D"/>
                </a:solidFill>
                <a:latin typeface="Courier New" pitchFamily="34" charset="0"/>
                <a:ea typeface="Courier New" pitchFamily="34" charset="-122"/>
                <a:cs typeface="Courier New" pitchFamily="34" charset="-120"/>
              </a:rPr>
              <a:t>"steps/cart_steps.py"</a:t>
            </a:r>
            <a:pPr indent="0" marL="0">
              <a:buNone/>
            </a:pPr>
            <a:r>
              <a:rPr lang="en-US" sz="1050" dirty="0">
                <a:solidFill>
                  <a:srgbClr val="8A9A90"/>
                </a:solidFill>
                <a:latin typeface="Courier New" pitchFamily="34" charset="0"/>
                <a:ea typeface="Courier New" pitchFamily="34" charset="-122"/>
                <a:cs typeface="Courier New" pitchFamily="34" charset="-120"/>
              </a:rPr>
              <a:t>, "line": </a:t>
            </a:r>
            <a:pPr indent="0" marL="0">
              <a:buNone/>
            </a:pPr>
            <a:r>
              <a:rPr lang="en-US" sz="1050" dirty="0">
                <a:solidFill>
                  <a:srgbClr val="F2C46D"/>
                </a:solidFill>
                <a:latin typeface="Courier New" pitchFamily="34" charset="0"/>
                <a:ea typeface="Courier New" pitchFamily="34" charset="-122"/>
                <a:cs typeface="Courier New" pitchFamily="34" charset="-120"/>
              </a:rPr>
              <a:t>11</a:t>
            </a:r>
            <a:endParaRPr lang="en-US" sz="1050" dirty="0"/>
          </a:p>
        </p:txBody>
      </p:sp>
      <p:sp>
        <p:nvSpPr>
          <p:cNvPr id="10" name="Text 8"/>
          <p:cNvSpPr txBox="1"/>
          <p:nvPr/>
        </p:nvSpPr>
        <p:spPr>
          <a:xfrm>
            <a:off x="457200" y="4315968"/>
            <a:ext cx="4572000" cy="274320"/>
          </a:xfrm>
          <a:prstGeom prst="rect">
            <a:avLst/>
          </a:prstGeom>
          <a:noFill/>
          <a:ln/>
        </p:spPr>
        <p:txBody>
          <a:bodyPr wrap="square" lIns="0" tIns="0" rIns="0" bIns="0" rtlCol="0" anchor="t"/>
          <a:lstStyle/>
          <a:p>
            <a:pPr indent="0" marL="0">
              <a:buNone/>
            </a:pPr>
            <a:r>
              <a:rPr lang="en-US" sz="1200" b="1" dirty="0">
                <a:solidFill>
                  <a:schemeClr val="accent1"/>
                </a:solidFill>
              </a:rPr>
              <a:t>Demo: 12 step definitions indexed</a:t>
            </a:r>
            <a:endParaRPr lang="en-US" sz="1200" dirty="0"/>
          </a:p>
        </p:txBody>
      </p:sp>
      <p:sp>
        <p:nvSpPr>
          <p:cNvPr id="11" name="Index rule 1 circle"/>
          <p:cNvSpPr/>
          <p:nvPr/>
        </p:nvSpPr>
        <p:spPr>
          <a:xfrm>
            <a:off x="5303520" y="1362456"/>
            <a:ext cx="292608" cy="292608"/>
          </a:xfrm>
          <a:prstGeom prst="ellipse">
            <a:avLst/>
          </a:prstGeom>
          <a:solidFill>
            <a:schemeClr val="accent1"/>
          </a:solidFill>
          <a:ln/>
        </p:spPr>
      </p:sp>
      <p:pic>
        <p:nvPicPr>
          <p:cNvPr id="12" name="Index rule 1 icon" descr="preencoded.png">    </p:cNvPr>
          <p:cNvPicPr>
            <a:picLocks noChangeAspect="1"/>
          </p:cNvPicPr>
          <p:nvPr/>
        </p:nvPicPr>
        <p:blipFill>
          <a:blip r:embed="rId1"/>
          <a:stretch>
            <a:fillRect/>
          </a:stretch>
        </p:blipFill>
        <p:spPr>
          <a:xfrm>
            <a:off x="5376672" y="1435608"/>
            <a:ext cx="146304" cy="146304"/>
          </a:xfrm>
          <a:prstGeom prst="rect">
            <a:avLst/>
          </a:prstGeom>
        </p:spPr>
      </p:pic>
      <p:sp>
        <p:nvSpPr>
          <p:cNvPr id="13" name="Text 10"/>
          <p:cNvSpPr txBox="1"/>
          <p:nvPr/>
        </p:nvSpPr>
        <p:spPr>
          <a:xfrm>
            <a:off x="5715000" y="1188720"/>
            <a:ext cx="2971800" cy="676656"/>
          </a:xfrm>
          <a:prstGeom prst="rect">
            <a:avLst/>
          </a:prstGeom>
          <a:noFill/>
          <a:ln/>
        </p:spPr>
        <p:txBody>
          <a:bodyPr wrap="square" lIns="0" tIns="0" rIns="0" bIns="0" rtlCol="0" anchor="ctr"/>
          <a:lstStyle/>
          <a:p>
            <a:pPr indent="0" marL="0">
              <a:buNone/>
            </a:pPr>
            <a:r>
              <a:rPr lang="en-US" sz="1250" b="1" dirty="0">
                <a:solidFill>
                  <a:schemeClr val="tx2"/>
                </a:solidFill>
              </a:rPr>
              <a:t>Walks every .py file, </a:t>
            </a:r>
            <a:pPr indent="0" marL="0">
              <a:buNone/>
            </a:pPr>
            <a:r>
              <a:rPr lang="en-US" sz="1250" dirty="0">
                <a:solidFill>
                  <a:schemeClr val="tx1"/>
                </a:solidFill>
              </a:rPr>
              <a:t>skipping .venv, build, node_modules and similar</a:t>
            </a:r>
            <a:endParaRPr lang="en-US" sz="1250" dirty="0"/>
          </a:p>
        </p:txBody>
      </p:sp>
      <p:sp>
        <p:nvSpPr>
          <p:cNvPr id="14" name="Index rule 2 circle"/>
          <p:cNvSpPr/>
          <p:nvPr/>
        </p:nvSpPr>
        <p:spPr>
          <a:xfrm>
            <a:off x="5303520" y="2039112"/>
            <a:ext cx="292608" cy="292608"/>
          </a:xfrm>
          <a:prstGeom prst="ellipse">
            <a:avLst/>
          </a:prstGeom>
          <a:solidFill>
            <a:schemeClr val="accent1"/>
          </a:solidFill>
          <a:ln/>
        </p:spPr>
      </p:sp>
      <p:pic>
        <p:nvPicPr>
          <p:cNvPr id="15" name="Index rule 2 icon" descr="preencoded.png">    </p:cNvPr>
          <p:cNvPicPr>
            <a:picLocks noChangeAspect="1"/>
          </p:cNvPicPr>
          <p:nvPr/>
        </p:nvPicPr>
        <p:blipFill>
          <a:blip r:embed="rId2"/>
          <a:stretch>
            <a:fillRect/>
          </a:stretch>
        </p:blipFill>
        <p:spPr>
          <a:xfrm>
            <a:off x="5376672" y="2112264"/>
            <a:ext cx="146304" cy="146304"/>
          </a:xfrm>
          <a:prstGeom prst="rect">
            <a:avLst/>
          </a:prstGeom>
        </p:spPr>
      </p:pic>
      <p:sp>
        <p:nvSpPr>
          <p:cNvPr id="16" name="Text 12"/>
          <p:cNvSpPr txBox="1"/>
          <p:nvPr/>
        </p:nvSpPr>
        <p:spPr>
          <a:xfrm>
            <a:off x="5715000" y="1865376"/>
            <a:ext cx="2971800" cy="676656"/>
          </a:xfrm>
          <a:prstGeom prst="rect">
            <a:avLst/>
          </a:prstGeom>
          <a:noFill/>
          <a:ln/>
        </p:spPr>
        <p:txBody>
          <a:bodyPr wrap="square" lIns="0" tIns="0" rIns="0" bIns="0" rtlCol="0" anchor="ctr"/>
          <a:lstStyle/>
          <a:p>
            <a:pPr indent="0" marL="0">
              <a:buNone/>
            </a:pPr>
            <a:r>
              <a:rPr lang="en-US" sz="1250" b="1" dirty="0">
                <a:solidFill>
                  <a:schemeClr val="tx2"/>
                </a:solidFill>
              </a:rPr>
              <a:t>Keeps decorators </a:t>
            </a:r>
            <a:pPr indent="0" marL="0">
              <a:buNone/>
            </a:pPr>
            <a:r>
              <a:rPr lang="en-US" sz="1250" dirty="0">
                <a:solidFill>
                  <a:schemeClr val="tx1"/>
                </a:solidFill>
              </a:rPr>
              <a:t>named given, when, then or step (also pytest_bdd.given)</a:t>
            </a:r>
            <a:endParaRPr lang="en-US" sz="1250" dirty="0"/>
          </a:p>
        </p:txBody>
      </p:sp>
      <p:sp>
        <p:nvSpPr>
          <p:cNvPr id="17" name="Index rule 3 circle"/>
          <p:cNvSpPr/>
          <p:nvPr/>
        </p:nvSpPr>
        <p:spPr>
          <a:xfrm>
            <a:off x="5303520" y="2715768"/>
            <a:ext cx="292608" cy="292608"/>
          </a:xfrm>
          <a:prstGeom prst="ellipse">
            <a:avLst/>
          </a:prstGeom>
          <a:solidFill>
            <a:schemeClr val="accent1"/>
          </a:solidFill>
          <a:ln/>
        </p:spPr>
      </p:sp>
      <p:pic>
        <p:nvPicPr>
          <p:cNvPr id="18" name="Index rule 3 icon" descr="preencoded.png">    </p:cNvPr>
          <p:cNvPicPr>
            <a:picLocks noChangeAspect="1"/>
          </p:cNvPicPr>
          <p:nvPr/>
        </p:nvPicPr>
        <p:blipFill>
          <a:blip r:embed="rId3"/>
          <a:stretch>
            <a:fillRect/>
          </a:stretch>
        </p:blipFill>
        <p:spPr>
          <a:xfrm>
            <a:off x="5376672" y="2788920"/>
            <a:ext cx="146304" cy="146304"/>
          </a:xfrm>
          <a:prstGeom prst="rect">
            <a:avLst/>
          </a:prstGeom>
        </p:spPr>
      </p:pic>
      <p:sp>
        <p:nvSpPr>
          <p:cNvPr id="19" name="Text 14"/>
          <p:cNvSpPr txBox="1"/>
          <p:nvPr/>
        </p:nvSpPr>
        <p:spPr>
          <a:xfrm>
            <a:off x="5715000" y="2542032"/>
            <a:ext cx="2971800" cy="676656"/>
          </a:xfrm>
          <a:prstGeom prst="rect">
            <a:avLst/>
          </a:prstGeom>
          <a:noFill/>
          <a:ln/>
        </p:spPr>
        <p:txBody>
          <a:bodyPr wrap="square" lIns="0" tIns="0" rIns="0" bIns="0" rtlCol="0" anchor="ctr"/>
          <a:lstStyle/>
          <a:p>
            <a:pPr indent="0" marL="0">
              <a:buNone/>
            </a:pPr>
            <a:r>
              <a:rPr lang="en-US" sz="1250" b="1" dirty="0">
                <a:solidFill>
                  <a:schemeClr val="tx2"/>
                </a:solidFill>
              </a:rPr>
              <a:t>Classifies the pattern: </a:t>
            </a:r>
            <a:pPr indent="0" marL="0">
              <a:buNone/>
            </a:pPr>
            <a:r>
              <a:rPr lang="en-US" sz="1250" dirty="0">
                <a:solidFill>
                  <a:schemeClr val="tx1"/>
                </a:solidFill>
              </a:rPr>
              <a:t>string, parsers.parse / cfparse, or parsers.re</a:t>
            </a:r>
            <a:endParaRPr lang="en-US" sz="1250" dirty="0"/>
          </a:p>
        </p:txBody>
      </p:sp>
      <p:sp>
        <p:nvSpPr>
          <p:cNvPr id="20" name="Index rule 4 circle"/>
          <p:cNvSpPr/>
          <p:nvPr/>
        </p:nvSpPr>
        <p:spPr>
          <a:xfrm>
            <a:off x="5303520" y="3392424"/>
            <a:ext cx="292608" cy="292608"/>
          </a:xfrm>
          <a:prstGeom prst="ellipse">
            <a:avLst/>
          </a:prstGeom>
          <a:solidFill>
            <a:schemeClr val="accent1"/>
          </a:solidFill>
          <a:ln/>
        </p:spPr>
      </p:sp>
      <p:pic>
        <p:nvPicPr>
          <p:cNvPr id="21" name="Index rule 4 icon" descr="preencoded.png">    </p:cNvPr>
          <p:cNvPicPr>
            <a:picLocks noChangeAspect="1"/>
          </p:cNvPicPr>
          <p:nvPr/>
        </p:nvPicPr>
        <p:blipFill>
          <a:blip r:embed="rId4"/>
          <a:stretch>
            <a:fillRect/>
          </a:stretch>
        </p:blipFill>
        <p:spPr>
          <a:xfrm>
            <a:off x="5376672" y="3465576"/>
            <a:ext cx="146304" cy="146304"/>
          </a:xfrm>
          <a:prstGeom prst="rect">
            <a:avLst/>
          </a:prstGeom>
        </p:spPr>
      </p:pic>
      <p:sp>
        <p:nvSpPr>
          <p:cNvPr id="22" name="Text 16"/>
          <p:cNvSpPr txBox="1"/>
          <p:nvPr/>
        </p:nvSpPr>
        <p:spPr>
          <a:xfrm>
            <a:off x="5715000" y="3218688"/>
            <a:ext cx="2971800" cy="676656"/>
          </a:xfrm>
          <a:prstGeom prst="rect">
            <a:avLst/>
          </a:prstGeom>
          <a:noFill/>
          <a:ln/>
        </p:spPr>
        <p:txBody>
          <a:bodyPr wrap="square" lIns="0" tIns="0" rIns="0" bIns="0" rtlCol="0" anchor="ctr"/>
          <a:lstStyle/>
          <a:p>
            <a:pPr indent="0" marL="0">
              <a:buNone/>
            </a:pPr>
            <a:r>
              <a:rPr lang="en-US" sz="1250" b="1" dirty="0">
                <a:solidFill>
                  <a:schemeClr val="tx2"/>
                </a:solidFill>
              </a:rPr>
              <a:t>Plain strings with {braces} </a:t>
            </a:r>
            <a:pPr indent="0" marL="0">
              <a:buNone/>
            </a:pPr>
            <a:r>
              <a:rPr lang="en-US" sz="1250" dirty="0">
                <a:solidFill>
                  <a:schemeClr val="tx1"/>
                </a:solidFill>
              </a:rPr>
              <a:t>count as parse style, like behave</a:t>
            </a:r>
            <a:endParaRPr lang="en-US" sz="1250" dirty="0"/>
          </a:p>
        </p:txBody>
      </p:sp>
      <p:sp>
        <p:nvSpPr>
          <p:cNvPr id="23" name="Index rule 5 circle"/>
          <p:cNvSpPr/>
          <p:nvPr/>
        </p:nvSpPr>
        <p:spPr>
          <a:xfrm>
            <a:off x="5303520" y="4069080"/>
            <a:ext cx="292608" cy="292608"/>
          </a:xfrm>
          <a:prstGeom prst="ellipse">
            <a:avLst/>
          </a:prstGeom>
          <a:solidFill>
            <a:schemeClr val="accent1"/>
          </a:solidFill>
          <a:ln/>
        </p:spPr>
      </p:sp>
      <p:pic>
        <p:nvPicPr>
          <p:cNvPr id="24" name="Index rule 5 icon" descr="preencoded.png">    </p:cNvPr>
          <p:cNvPicPr>
            <a:picLocks noChangeAspect="1"/>
          </p:cNvPicPr>
          <p:nvPr/>
        </p:nvPicPr>
        <p:blipFill>
          <a:blip r:embed="rId5"/>
          <a:stretch>
            <a:fillRect/>
          </a:stretch>
        </p:blipFill>
        <p:spPr>
          <a:xfrm>
            <a:off x="5376672" y="4142232"/>
            <a:ext cx="146304" cy="146304"/>
          </a:xfrm>
          <a:prstGeom prst="rect">
            <a:avLst/>
          </a:prstGeom>
        </p:spPr>
      </p:pic>
      <p:sp>
        <p:nvSpPr>
          <p:cNvPr id="25" name="Text 18"/>
          <p:cNvSpPr txBox="1"/>
          <p:nvPr/>
        </p:nvSpPr>
        <p:spPr>
          <a:xfrm>
            <a:off x="5715000" y="3895344"/>
            <a:ext cx="2971800" cy="676656"/>
          </a:xfrm>
          <a:prstGeom prst="rect">
            <a:avLst/>
          </a:prstGeom>
          <a:noFill/>
          <a:ln/>
        </p:spPr>
        <p:txBody>
          <a:bodyPr wrap="square" lIns="0" tIns="0" rIns="0" bIns="0" rtlCol="0" anchor="ctr"/>
          <a:lstStyle/>
          <a:p>
            <a:pPr indent="0" marL="0">
              <a:buNone/>
            </a:pPr>
            <a:r>
              <a:rPr lang="en-US" sz="1250" b="1" dirty="0">
                <a:solidFill>
                  <a:schemeClr val="tx2"/>
                </a:solidFill>
              </a:rPr>
              <a:t>Files with syntax errors </a:t>
            </a:r>
            <a:pPr indent="0" marL="0">
              <a:buNone/>
            </a:pPr>
            <a:r>
              <a:rPr lang="en-US" sz="1250" dirty="0">
                <a:solidFill>
                  <a:schemeClr val="tx1"/>
                </a:solidFill>
              </a:rPr>
              <a:t>are skipped, not fatal</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Exact matching: would this line bind at runtime?</a:t>
            </a:r>
            <a:endParaRPr lang="en-US" sz="2800" dirty="0"/>
          </a:p>
        </p:txBody>
      </p:sp>
      <p:sp>
        <p:nvSpPr>
          <p:cNvPr id="3" name="Text 1"/>
          <p:cNvSpPr txBox="1"/>
          <p:nvPr/>
        </p:nvSpPr>
        <p:spPr>
          <a:xfrm>
            <a:off x="1325880" y="1143000"/>
            <a:ext cx="3291840" cy="274320"/>
          </a:xfrm>
          <a:prstGeom prst="rect">
            <a:avLst/>
          </a:prstGeom>
          <a:noFill/>
          <a:ln/>
        </p:spPr>
        <p:txBody>
          <a:bodyPr wrap="square" lIns="0" tIns="0" rIns="0" bIns="0" rtlCol="0" anchor="t"/>
          <a:lstStyle/>
          <a:p>
            <a:pPr indent="0" marL="0">
              <a:buNone/>
            </a:pPr>
            <a:r>
              <a:rPr lang="en-US" sz="1200" b="1" dirty="0">
                <a:solidFill>
                  <a:schemeClr val="accent6"/>
                </a:solidFill>
              </a:rPr>
              <a:t>Pattern</a:t>
            </a:r>
            <a:endParaRPr lang="en-US" sz="1200" dirty="0"/>
          </a:p>
        </p:txBody>
      </p:sp>
      <p:sp>
        <p:nvSpPr>
          <p:cNvPr id="4" name="Text 2"/>
          <p:cNvSpPr txBox="1"/>
          <p:nvPr/>
        </p:nvSpPr>
        <p:spPr>
          <a:xfrm>
            <a:off x="5074920" y="1143000"/>
            <a:ext cx="3566160" cy="274320"/>
          </a:xfrm>
          <a:prstGeom prst="rect">
            <a:avLst/>
          </a:prstGeom>
          <a:noFill/>
          <a:ln/>
        </p:spPr>
        <p:txBody>
          <a:bodyPr wrap="square" lIns="0" tIns="0" rIns="0" bIns="0" rtlCol="0" anchor="t"/>
          <a:lstStyle/>
          <a:p>
            <a:pPr indent="0" marL="0">
              <a:buNone/>
            </a:pPr>
            <a:r>
              <a:rPr lang="en-US" sz="1200" b="1" dirty="0">
                <a:solidFill>
                  <a:schemeClr val="accent6"/>
                </a:solidFill>
              </a:rPr>
              <a:t>Compiled regex</a:t>
            </a:r>
            <a:endParaRPr lang="en-US" sz="1200" dirty="0"/>
          </a:p>
        </p:txBody>
      </p:sp>
      <p:sp>
        <p:nvSpPr>
          <p:cNvPr id="5" name="Kind 1"/>
          <p:cNvSpPr/>
          <p:nvPr/>
        </p:nvSpPr>
        <p:spPr>
          <a:xfrm>
            <a:off x="457200" y="1463040"/>
            <a:ext cx="777240" cy="457200"/>
          </a:xfrm>
          <a:prstGeom prst="roundRect">
            <a:avLst>
              <a:gd name="adj" fmla="val 16000"/>
            </a:avLst>
          </a:prstGeom>
          <a:solidFill>
            <a:schemeClr val="accent5"/>
          </a:solidFill>
          <a:ln/>
        </p:spPr>
      </p:sp>
      <p:sp>
        <p:nvSpPr>
          <p:cNvPr id="6" name="Text 4"/>
          <p:cNvSpPr txBox="1"/>
          <p:nvPr/>
        </p:nvSpPr>
        <p:spPr>
          <a:xfrm>
            <a:off x="457200" y="1463040"/>
            <a:ext cx="777240" cy="457200"/>
          </a:xfrm>
          <a:prstGeom prst="rect">
            <a:avLst/>
          </a:prstGeom>
          <a:noFill/>
          <a:ln/>
        </p:spPr>
        <p:txBody>
          <a:bodyPr wrap="square" lIns="0" tIns="0" rIns="0" bIns="0" rtlCol="0" anchor="ctr"/>
          <a:lstStyle/>
          <a:p>
            <a:pPr algn="ctr" indent="0" marL="0">
              <a:buNone/>
            </a:pPr>
            <a:r>
              <a:rPr lang="en-US" sz="1100" b="1" dirty="0">
                <a:solidFill>
                  <a:schemeClr val="tx2"/>
                </a:solidFill>
              </a:rPr>
              <a:t>string</a:t>
            </a:r>
            <a:endParaRPr lang="en-US" sz="1100" dirty="0"/>
          </a:p>
        </p:txBody>
      </p:sp>
      <p:sp>
        <p:nvSpPr>
          <p:cNvPr id="7" name="Pattern 1"/>
          <p:cNvSpPr/>
          <p:nvPr/>
        </p:nvSpPr>
        <p:spPr>
          <a:xfrm>
            <a:off x="1325880" y="1463040"/>
            <a:ext cx="3383280" cy="457200"/>
          </a:xfrm>
          <a:prstGeom prst="roundRect">
            <a:avLst>
              <a:gd name="adj" fmla="val 16000"/>
            </a:avLst>
          </a:prstGeom>
          <a:solidFill>
            <a:schemeClr val="bg2"/>
          </a:solidFill>
          <a:ln/>
        </p:spPr>
      </p:sp>
      <p:sp>
        <p:nvSpPr>
          <p:cNvPr id="8" name="Text 6"/>
          <p:cNvSpPr txBox="1"/>
          <p:nvPr/>
        </p:nvSpPr>
        <p:spPr>
          <a:xfrm>
            <a:off x="1417320" y="1463040"/>
            <a:ext cx="3200400" cy="45720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the cart badge is hidden</a:t>
            </a:r>
            <a:endParaRPr lang="en-US" sz="1000" dirty="0"/>
          </a:p>
        </p:txBody>
      </p:sp>
      <p:sp>
        <p:nvSpPr>
          <p:cNvPr id="9" name="Exact arrow 1"/>
          <p:cNvSpPr/>
          <p:nvPr/>
        </p:nvSpPr>
        <p:spPr>
          <a:xfrm>
            <a:off x="4754880" y="1527048"/>
            <a:ext cx="274320" cy="347472"/>
          </a:xfrm>
          <a:prstGeom prst="rightArrow">
            <a:avLst/>
          </a:prstGeom>
          <a:solidFill>
            <a:schemeClr val="accent2"/>
          </a:solidFill>
          <a:ln/>
        </p:spPr>
      </p:sp>
      <p:sp>
        <p:nvSpPr>
          <p:cNvPr id="10" name="Regex 1"/>
          <p:cNvSpPr/>
          <p:nvPr/>
        </p:nvSpPr>
        <p:spPr>
          <a:xfrm>
            <a:off x="5074920" y="1463040"/>
            <a:ext cx="3611880" cy="457200"/>
          </a:xfrm>
          <a:prstGeom prst="roundRect">
            <a:avLst>
              <a:gd name="adj" fmla="val 16000"/>
            </a:avLst>
          </a:prstGeom>
          <a:solidFill>
            <a:schemeClr val="bg2"/>
          </a:solidFill>
          <a:ln/>
        </p:spPr>
      </p:sp>
      <p:sp>
        <p:nvSpPr>
          <p:cNvPr id="11" name="Text 9"/>
          <p:cNvSpPr txBox="1"/>
          <p:nvPr/>
        </p:nvSpPr>
        <p:spPr>
          <a:xfrm>
            <a:off x="5166360" y="1463040"/>
            <a:ext cx="3429000" cy="45720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^the cart badge is hidden$</a:t>
            </a:r>
            <a:endParaRPr lang="en-US" sz="1000" dirty="0"/>
          </a:p>
        </p:txBody>
      </p:sp>
      <p:sp>
        <p:nvSpPr>
          <p:cNvPr id="12" name="Kind 2"/>
          <p:cNvSpPr/>
          <p:nvPr/>
        </p:nvSpPr>
        <p:spPr>
          <a:xfrm>
            <a:off x="457200" y="2029968"/>
            <a:ext cx="777240" cy="457200"/>
          </a:xfrm>
          <a:prstGeom prst="roundRect">
            <a:avLst>
              <a:gd name="adj" fmla="val 16000"/>
            </a:avLst>
          </a:prstGeom>
          <a:solidFill>
            <a:schemeClr val="accent5"/>
          </a:solidFill>
          <a:ln/>
        </p:spPr>
      </p:sp>
      <p:sp>
        <p:nvSpPr>
          <p:cNvPr id="13" name="Text 11"/>
          <p:cNvSpPr txBox="1"/>
          <p:nvPr/>
        </p:nvSpPr>
        <p:spPr>
          <a:xfrm>
            <a:off x="457200" y="2029968"/>
            <a:ext cx="777240" cy="457200"/>
          </a:xfrm>
          <a:prstGeom prst="rect">
            <a:avLst/>
          </a:prstGeom>
          <a:noFill/>
          <a:ln/>
        </p:spPr>
        <p:txBody>
          <a:bodyPr wrap="square" lIns="0" tIns="0" rIns="0" bIns="0" rtlCol="0" anchor="ctr"/>
          <a:lstStyle/>
          <a:p>
            <a:pPr algn="ctr" indent="0" marL="0">
              <a:buNone/>
            </a:pPr>
            <a:r>
              <a:rPr lang="en-US" sz="1100" b="1" dirty="0">
                <a:solidFill>
                  <a:schemeClr val="tx2"/>
                </a:solidFill>
              </a:rPr>
              <a:t>parse</a:t>
            </a:r>
            <a:endParaRPr lang="en-US" sz="1100" dirty="0"/>
          </a:p>
        </p:txBody>
      </p:sp>
      <p:sp>
        <p:nvSpPr>
          <p:cNvPr id="14" name="Pattern 2"/>
          <p:cNvSpPr/>
          <p:nvPr/>
        </p:nvSpPr>
        <p:spPr>
          <a:xfrm>
            <a:off x="1325880" y="2029968"/>
            <a:ext cx="3383280" cy="457200"/>
          </a:xfrm>
          <a:prstGeom prst="roundRect">
            <a:avLst>
              <a:gd name="adj" fmla="val 16000"/>
            </a:avLst>
          </a:prstGeom>
          <a:solidFill>
            <a:schemeClr val="bg2"/>
          </a:solidFill>
          <a:ln/>
        </p:spPr>
      </p:sp>
      <p:sp>
        <p:nvSpPr>
          <p:cNvPr id="15" name="Text 13"/>
          <p:cNvSpPr txBox="1"/>
          <p:nvPr/>
        </p:nvSpPr>
        <p:spPr>
          <a:xfrm>
            <a:off x="1417320" y="2029968"/>
            <a:ext cx="3200400" cy="45720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the cart badge shows {count:d}</a:t>
            </a:r>
            <a:endParaRPr lang="en-US" sz="1000" dirty="0"/>
          </a:p>
        </p:txBody>
      </p:sp>
      <p:sp>
        <p:nvSpPr>
          <p:cNvPr id="16" name="Exact arrow 2"/>
          <p:cNvSpPr/>
          <p:nvPr/>
        </p:nvSpPr>
        <p:spPr>
          <a:xfrm>
            <a:off x="4754880" y="2093976"/>
            <a:ext cx="274320" cy="347472"/>
          </a:xfrm>
          <a:prstGeom prst="rightArrow">
            <a:avLst/>
          </a:prstGeom>
          <a:solidFill>
            <a:schemeClr val="accent2"/>
          </a:solidFill>
          <a:ln/>
        </p:spPr>
      </p:sp>
      <p:sp>
        <p:nvSpPr>
          <p:cNvPr id="17" name="Regex 2"/>
          <p:cNvSpPr/>
          <p:nvPr/>
        </p:nvSpPr>
        <p:spPr>
          <a:xfrm>
            <a:off x="5074920" y="2029968"/>
            <a:ext cx="3611880" cy="457200"/>
          </a:xfrm>
          <a:prstGeom prst="roundRect">
            <a:avLst>
              <a:gd name="adj" fmla="val 16000"/>
            </a:avLst>
          </a:prstGeom>
          <a:solidFill>
            <a:schemeClr val="bg2"/>
          </a:solidFill>
          <a:ln/>
        </p:spPr>
      </p:sp>
      <p:sp>
        <p:nvSpPr>
          <p:cNvPr id="18" name="Text 16"/>
          <p:cNvSpPr txBox="1"/>
          <p:nvPr/>
        </p:nvSpPr>
        <p:spPr>
          <a:xfrm>
            <a:off x="5166360" y="2029968"/>
            <a:ext cx="3429000" cy="45720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^the cart badge shows (-?\d+)$</a:t>
            </a:r>
            <a:endParaRPr lang="en-US" sz="1000" dirty="0"/>
          </a:p>
        </p:txBody>
      </p:sp>
      <p:sp>
        <p:nvSpPr>
          <p:cNvPr id="19" name="Kind 3"/>
          <p:cNvSpPr/>
          <p:nvPr/>
        </p:nvSpPr>
        <p:spPr>
          <a:xfrm>
            <a:off x="457200" y="2596896"/>
            <a:ext cx="777240" cy="457200"/>
          </a:xfrm>
          <a:prstGeom prst="roundRect">
            <a:avLst>
              <a:gd name="adj" fmla="val 16000"/>
            </a:avLst>
          </a:prstGeom>
          <a:solidFill>
            <a:schemeClr val="accent5"/>
          </a:solidFill>
          <a:ln/>
        </p:spPr>
      </p:sp>
      <p:sp>
        <p:nvSpPr>
          <p:cNvPr id="20" name="Text 18"/>
          <p:cNvSpPr txBox="1"/>
          <p:nvPr/>
        </p:nvSpPr>
        <p:spPr>
          <a:xfrm>
            <a:off x="457200" y="2596896"/>
            <a:ext cx="777240" cy="457200"/>
          </a:xfrm>
          <a:prstGeom prst="rect">
            <a:avLst/>
          </a:prstGeom>
          <a:noFill/>
          <a:ln/>
        </p:spPr>
        <p:txBody>
          <a:bodyPr wrap="square" lIns="0" tIns="0" rIns="0" bIns="0" rtlCol="0" anchor="ctr"/>
          <a:lstStyle/>
          <a:p>
            <a:pPr algn="ctr" indent="0" marL="0">
              <a:buNone/>
            </a:pPr>
            <a:r>
              <a:rPr lang="en-US" sz="1100" b="1" dirty="0">
                <a:solidFill>
                  <a:schemeClr val="tx2"/>
                </a:solidFill>
              </a:rPr>
              <a:t>parse</a:t>
            </a:r>
            <a:endParaRPr lang="en-US" sz="1100" dirty="0"/>
          </a:p>
        </p:txBody>
      </p:sp>
      <p:sp>
        <p:nvSpPr>
          <p:cNvPr id="21" name="Pattern 3"/>
          <p:cNvSpPr/>
          <p:nvPr/>
        </p:nvSpPr>
        <p:spPr>
          <a:xfrm>
            <a:off x="1325880" y="2596896"/>
            <a:ext cx="3383280" cy="457200"/>
          </a:xfrm>
          <a:prstGeom prst="roundRect">
            <a:avLst>
              <a:gd name="adj" fmla="val 16000"/>
            </a:avLst>
          </a:prstGeom>
          <a:solidFill>
            <a:schemeClr val="bg2"/>
          </a:solidFill>
          <a:ln/>
        </p:spPr>
      </p:sp>
      <p:sp>
        <p:nvSpPr>
          <p:cNvPr id="22" name="Text 20"/>
          <p:cNvSpPr txBox="1"/>
          <p:nvPr/>
        </p:nvSpPr>
        <p:spPr>
          <a:xfrm>
            <a:off x="1417320" y="2596896"/>
            <a:ext cx="3200400" cy="45720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I add "{product}" to the cart</a:t>
            </a:r>
            <a:endParaRPr lang="en-US" sz="1000" dirty="0"/>
          </a:p>
        </p:txBody>
      </p:sp>
      <p:sp>
        <p:nvSpPr>
          <p:cNvPr id="23" name="Exact arrow 3"/>
          <p:cNvSpPr/>
          <p:nvPr/>
        </p:nvSpPr>
        <p:spPr>
          <a:xfrm>
            <a:off x="4754880" y="2660904"/>
            <a:ext cx="274320" cy="347472"/>
          </a:xfrm>
          <a:prstGeom prst="rightArrow">
            <a:avLst/>
          </a:prstGeom>
          <a:solidFill>
            <a:schemeClr val="accent2"/>
          </a:solidFill>
          <a:ln/>
        </p:spPr>
      </p:sp>
      <p:sp>
        <p:nvSpPr>
          <p:cNvPr id="24" name="Regex 3"/>
          <p:cNvSpPr/>
          <p:nvPr/>
        </p:nvSpPr>
        <p:spPr>
          <a:xfrm>
            <a:off x="5074920" y="2596896"/>
            <a:ext cx="3611880" cy="457200"/>
          </a:xfrm>
          <a:prstGeom prst="roundRect">
            <a:avLst>
              <a:gd name="adj" fmla="val 16000"/>
            </a:avLst>
          </a:prstGeom>
          <a:solidFill>
            <a:schemeClr val="bg2"/>
          </a:solidFill>
          <a:ln/>
        </p:spPr>
      </p:sp>
      <p:sp>
        <p:nvSpPr>
          <p:cNvPr id="25" name="Text 23"/>
          <p:cNvSpPr txBox="1"/>
          <p:nvPr/>
        </p:nvSpPr>
        <p:spPr>
          <a:xfrm>
            <a:off x="5166360" y="2596896"/>
            <a:ext cx="3429000" cy="45720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^I add "(.+?)" to the cart$</a:t>
            </a:r>
            <a:endParaRPr lang="en-US" sz="1000" dirty="0"/>
          </a:p>
        </p:txBody>
      </p:sp>
      <p:sp>
        <p:nvSpPr>
          <p:cNvPr id="26" name="Kind 4"/>
          <p:cNvSpPr/>
          <p:nvPr/>
        </p:nvSpPr>
        <p:spPr>
          <a:xfrm>
            <a:off x="457200" y="3163824"/>
            <a:ext cx="777240" cy="457200"/>
          </a:xfrm>
          <a:prstGeom prst="roundRect">
            <a:avLst>
              <a:gd name="adj" fmla="val 16000"/>
            </a:avLst>
          </a:prstGeom>
          <a:solidFill>
            <a:schemeClr val="accent5"/>
          </a:solidFill>
          <a:ln/>
        </p:spPr>
      </p:sp>
      <p:sp>
        <p:nvSpPr>
          <p:cNvPr id="27" name="Text 25"/>
          <p:cNvSpPr txBox="1"/>
          <p:nvPr/>
        </p:nvSpPr>
        <p:spPr>
          <a:xfrm>
            <a:off x="457200" y="3163824"/>
            <a:ext cx="777240" cy="457200"/>
          </a:xfrm>
          <a:prstGeom prst="rect">
            <a:avLst/>
          </a:prstGeom>
          <a:noFill/>
          <a:ln/>
        </p:spPr>
        <p:txBody>
          <a:bodyPr wrap="square" lIns="0" tIns="0" rIns="0" bIns="0" rtlCol="0" anchor="ctr"/>
          <a:lstStyle/>
          <a:p>
            <a:pPr algn="ctr" indent="0" marL="0">
              <a:buNone/>
            </a:pPr>
            <a:r>
              <a:rPr lang="en-US" sz="1100" b="1" dirty="0">
                <a:solidFill>
                  <a:schemeClr val="tx2"/>
                </a:solidFill>
              </a:rPr>
              <a:t>regex</a:t>
            </a:r>
            <a:endParaRPr lang="en-US" sz="1100" dirty="0"/>
          </a:p>
        </p:txBody>
      </p:sp>
      <p:sp>
        <p:nvSpPr>
          <p:cNvPr id="28" name="Pattern 4"/>
          <p:cNvSpPr/>
          <p:nvPr/>
        </p:nvSpPr>
        <p:spPr>
          <a:xfrm>
            <a:off x="1325880" y="3163824"/>
            <a:ext cx="3383280" cy="457200"/>
          </a:xfrm>
          <a:prstGeom prst="roundRect">
            <a:avLst>
              <a:gd name="adj" fmla="val 16000"/>
            </a:avLst>
          </a:prstGeom>
          <a:solidFill>
            <a:schemeClr val="bg2"/>
          </a:solidFill>
          <a:ln/>
        </p:spPr>
      </p:sp>
      <p:sp>
        <p:nvSpPr>
          <p:cNvPr id="29" name="Text 27"/>
          <p:cNvSpPr txBox="1"/>
          <p:nvPr/>
        </p:nvSpPr>
        <p:spPr>
          <a:xfrm>
            <a:off x="1417320" y="3163824"/>
            <a:ext cx="3200400" cy="457200"/>
          </a:xfrm>
          <a:prstGeom prst="rect">
            <a:avLst/>
          </a:prstGeom>
          <a:noFill/>
          <a:ln/>
        </p:spPr>
        <p:txBody>
          <a:bodyPr wrap="square" lIns="0" tIns="0" rIns="0" bIns="0" rtlCol="0" anchor="ctr"/>
          <a:lstStyle/>
          <a:p>
            <a:pPr indent="0" marL="0">
              <a:buNone/>
            </a:pPr>
            <a:r>
              <a:rPr lang="en-US" sz="1000" dirty="0">
                <a:solidFill>
                  <a:schemeClr val="tx1"/>
                </a:solidFill>
                <a:latin typeface="Courier New" pitchFamily="34" charset="0"/>
                <a:ea typeface="Courier New" pitchFamily="34" charset="-122"/>
                <a:cs typeface="Courier New" pitchFamily="34" charset="-120"/>
              </a:rPr>
              <a:t>the cart should contain (?P&lt;count&gt;\d+) items?</a:t>
            </a:r>
            <a:endParaRPr lang="en-US" sz="1000" dirty="0"/>
          </a:p>
        </p:txBody>
      </p:sp>
      <p:sp>
        <p:nvSpPr>
          <p:cNvPr id="30" name="Exact arrow 4"/>
          <p:cNvSpPr/>
          <p:nvPr/>
        </p:nvSpPr>
        <p:spPr>
          <a:xfrm>
            <a:off x="4754880" y="3227832"/>
            <a:ext cx="274320" cy="347472"/>
          </a:xfrm>
          <a:prstGeom prst="rightArrow">
            <a:avLst/>
          </a:prstGeom>
          <a:solidFill>
            <a:schemeClr val="accent2"/>
          </a:solidFill>
          <a:ln/>
        </p:spPr>
      </p:sp>
      <p:sp>
        <p:nvSpPr>
          <p:cNvPr id="31" name="Regex 4"/>
          <p:cNvSpPr/>
          <p:nvPr/>
        </p:nvSpPr>
        <p:spPr>
          <a:xfrm>
            <a:off x="5074920" y="3163824"/>
            <a:ext cx="3611880" cy="457200"/>
          </a:xfrm>
          <a:prstGeom prst="roundRect">
            <a:avLst>
              <a:gd name="adj" fmla="val 16000"/>
            </a:avLst>
          </a:prstGeom>
          <a:solidFill>
            <a:schemeClr val="bg2"/>
          </a:solidFill>
          <a:ln/>
        </p:spPr>
      </p:sp>
      <p:sp>
        <p:nvSpPr>
          <p:cNvPr id="32" name="Text 30"/>
          <p:cNvSpPr txBox="1"/>
          <p:nvPr/>
        </p:nvSpPr>
        <p:spPr>
          <a:xfrm>
            <a:off x="5166360" y="3163824"/>
            <a:ext cx="3429000" cy="457200"/>
          </a:xfrm>
          <a:prstGeom prst="rect">
            <a:avLst/>
          </a:prstGeom>
          <a:noFill/>
          <a:ln/>
        </p:spPr>
        <p:txBody>
          <a:bodyPr wrap="square" lIns="0" tIns="0" rIns="0" bIns="0" rtlCol="0" anchor="ctr"/>
          <a:lstStyle/>
          <a:p>
            <a:pPr indent="0" marL="0">
              <a:buNone/>
            </a:pPr>
            <a:r>
              <a:rPr lang="en-US" sz="1200" i="1" dirty="0">
                <a:solidFill>
                  <a:schemeClr val="tx1"/>
                </a:solidFill>
                <a:latin typeface="Calibri" pitchFamily="34" charset="0"/>
                <a:ea typeface="Calibri" pitchFamily="34" charset="-122"/>
                <a:cs typeface="Calibri" pitchFamily="34" charset="-120"/>
              </a:rPr>
              <a:t>used as written, anchored with ^ and $</a:t>
            </a:r>
            <a:endParaRPr lang="en-US" sz="1200" dirty="0"/>
          </a:p>
        </p:txBody>
      </p:sp>
      <p:sp>
        <p:nvSpPr>
          <p:cNvPr id="33" name="Exact notes"/>
          <p:cNvSpPr/>
          <p:nvPr/>
        </p:nvSpPr>
        <p:spPr>
          <a:xfrm>
            <a:off x="457200" y="3840480"/>
            <a:ext cx="8229600" cy="749808"/>
          </a:xfrm>
          <a:prstGeom prst="roundRect">
            <a:avLst>
              <a:gd name="adj" fmla="val 9756"/>
            </a:avLst>
          </a:prstGeom>
          <a:solidFill>
            <a:schemeClr val="tx2"/>
          </a:solidFill>
          <a:ln/>
        </p:spPr>
      </p:sp>
      <p:sp>
        <p:nvSpPr>
          <p:cNvPr id="34" name="Text 32"/>
          <p:cNvSpPr txBox="1"/>
          <p:nvPr/>
        </p:nvSpPr>
        <p:spPr>
          <a:xfrm>
            <a:off x="640080" y="3840480"/>
            <a:ext cx="7863840" cy="749808"/>
          </a:xfrm>
          <a:prstGeom prst="rect">
            <a:avLst/>
          </a:prstGeom>
          <a:noFill/>
          <a:ln/>
        </p:spPr>
        <p:txBody>
          <a:bodyPr wrap="square" lIns="0" tIns="0" rIns="0" bIns="0" rtlCol="0" anchor="ctr"/>
          <a:lstStyle/>
          <a:p>
            <a:pPr indent="0" marL="0">
              <a:buNone/>
            </a:pPr>
            <a:r>
              <a:rPr lang="en-US" sz="1300" dirty="0">
                <a:solidFill>
                  <a:schemeClr val="bg1"/>
                </a:solidFill>
              </a:rPr>
              <a:t>Before matching, </a:t>
            </a:r>
            <a:pPr indent="0" marL="0">
              <a:buNone/>
            </a:pPr>
            <a:r>
              <a:rPr lang="en-US" sz="1300" b="1" dirty="0">
                <a:solidFill>
                  <a:srgbClr val="F2C46D"/>
                </a:solidFill>
              </a:rPr>
              <a:t>Given / When / Then / And / But / *</a:t>
            </a:r>
            <a:pPr indent="0" marL="0">
              <a:buNone/>
            </a:pPr>
            <a:r>
              <a:rPr lang="en-US" sz="1300" dirty="0">
                <a:solidFill>
                  <a:schemeClr val="bg1"/>
                </a:solidFill>
              </a:rPr>
              <a:t> is stripped from the line. Parse types map to regexes (d, n, f, g, w, S); untyped fields become a lazy (.+?). Literal text is re.escape’d.</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Fuzzy matching: normalise, then compare</a:t>
            </a:r>
            <a:endParaRPr lang="en-US" sz="2800" dirty="0"/>
          </a:p>
        </p:txBody>
      </p:sp>
      <p:sp>
        <p:nvSpPr>
          <p:cNvPr id="3" name="Pipe 1"/>
          <p:cNvSpPr/>
          <p:nvPr/>
        </p:nvSpPr>
        <p:spPr>
          <a:xfrm>
            <a:off x="457200" y="1188720"/>
            <a:ext cx="2468880" cy="1600200"/>
          </a:xfrm>
          <a:prstGeom prst="roundRect">
            <a:avLst>
              <a:gd name="adj" fmla="val 4571"/>
            </a:avLst>
          </a:prstGeom>
          <a:solidFill>
            <a:schemeClr val="bg2"/>
          </a:solidFill>
          <a:ln/>
        </p:spPr>
      </p:sp>
      <p:sp>
        <p:nvSpPr>
          <p:cNvPr id="4" name="Pipe num bg 1"/>
          <p:cNvSpPr/>
          <p:nvPr/>
        </p:nvSpPr>
        <p:spPr>
          <a:xfrm>
            <a:off x="621792" y="1325880"/>
            <a:ext cx="384048" cy="384048"/>
          </a:xfrm>
          <a:prstGeom prst="ellipse">
            <a:avLst/>
          </a:prstGeom>
          <a:solidFill>
            <a:schemeClr val="accent1"/>
          </a:solidFill>
          <a:ln/>
        </p:spPr>
      </p:sp>
      <p:sp>
        <p:nvSpPr>
          <p:cNvPr id="5" name="Text 3"/>
          <p:cNvSpPr txBox="1"/>
          <p:nvPr/>
        </p:nvSpPr>
        <p:spPr>
          <a:xfrm>
            <a:off x="621792" y="1325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097280" y="1325880"/>
            <a:ext cx="1783080" cy="384048"/>
          </a:xfrm>
          <a:prstGeom prst="rect">
            <a:avLst/>
          </a:prstGeom>
          <a:noFill/>
          <a:ln/>
        </p:spPr>
        <p:txBody>
          <a:bodyPr wrap="square" lIns="0" tIns="0" rIns="0" bIns="0" rtlCol="0" anchor="ctr"/>
          <a:lstStyle/>
          <a:p>
            <a:pPr indent="0" marL="0">
              <a:buNone/>
            </a:pPr>
            <a:r>
              <a:rPr lang="en-US" sz="1400" b="1" dirty="0">
                <a:solidFill>
                  <a:schemeClr val="tx2"/>
                </a:solidFill>
              </a:rPr>
              <a:t>Strip the keyword</a:t>
            </a:r>
            <a:endParaRPr lang="en-US" sz="1400" dirty="0"/>
          </a:p>
        </p:txBody>
      </p:sp>
      <p:sp>
        <p:nvSpPr>
          <p:cNvPr id="7" name="Text 5"/>
          <p:cNvSpPr txBox="1"/>
          <p:nvPr/>
        </p:nvSpPr>
        <p:spPr>
          <a:xfrm>
            <a:off x="621792" y="1783080"/>
            <a:ext cx="2194560" cy="365760"/>
          </a:xfrm>
          <a:prstGeom prst="rect">
            <a:avLst/>
          </a:prstGeom>
          <a:noFill/>
          <a:ln/>
        </p:spPr>
        <p:txBody>
          <a:bodyPr wrap="square" lIns="0" tIns="0" rIns="0" bIns="0" rtlCol="0" anchor="t"/>
          <a:lstStyle/>
          <a:p>
            <a:pPr indent="0" marL="0">
              <a:buNone/>
            </a:pPr>
            <a:r>
              <a:rPr lang="en-US" sz="1100" dirty="0">
                <a:solidFill>
                  <a:schemeClr val="accent6"/>
                </a:solidFill>
              </a:rPr>
              <a:t>Given I open the login page</a:t>
            </a:r>
            <a:endParaRPr lang="en-US" sz="1100" dirty="0"/>
          </a:p>
        </p:txBody>
      </p:sp>
      <p:sp>
        <p:nvSpPr>
          <p:cNvPr id="8" name="Text 6"/>
          <p:cNvSpPr txBox="1"/>
          <p:nvPr/>
        </p:nvSpPr>
        <p:spPr>
          <a:xfrm>
            <a:off x="621792" y="2240280"/>
            <a:ext cx="2194560" cy="41148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I open the login page</a:t>
            </a:r>
            <a:endParaRPr lang="en-US" sz="1100" dirty="0"/>
          </a:p>
        </p:txBody>
      </p:sp>
      <p:sp>
        <p:nvSpPr>
          <p:cNvPr id="9" name="Pipe arrow 1"/>
          <p:cNvSpPr/>
          <p:nvPr/>
        </p:nvSpPr>
        <p:spPr>
          <a:xfrm>
            <a:off x="2962656" y="1810512"/>
            <a:ext cx="292608" cy="347472"/>
          </a:xfrm>
          <a:prstGeom prst="rightArrow">
            <a:avLst/>
          </a:prstGeom>
          <a:solidFill>
            <a:schemeClr val="accent2"/>
          </a:solidFill>
          <a:ln/>
        </p:spPr>
      </p:sp>
      <p:sp>
        <p:nvSpPr>
          <p:cNvPr id="10" name="Pipe 2"/>
          <p:cNvSpPr/>
          <p:nvPr/>
        </p:nvSpPr>
        <p:spPr>
          <a:xfrm>
            <a:off x="3291840" y="1188720"/>
            <a:ext cx="2468880" cy="1600200"/>
          </a:xfrm>
          <a:prstGeom prst="roundRect">
            <a:avLst>
              <a:gd name="adj" fmla="val 4571"/>
            </a:avLst>
          </a:prstGeom>
          <a:solidFill>
            <a:schemeClr val="bg2"/>
          </a:solidFill>
          <a:ln/>
        </p:spPr>
      </p:sp>
      <p:sp>
        <p:nvSpPr>
          <p:cNvPr id="11" name="Pipe num bg 2"/>
          <p:cNvSpPr/>
          <p:nvPr/>
        </p:nvSpPr>
        <p:spPr>
          <a:xfrm>
            <a:off x="3456432" y="1325880"/>
            <a:ext cx="384048" cy="384048"/>
          </a:xfrm>
          <a:prstGeom prst="ellipse">
            <a:avLst/>
          </a:prstGeom>
          <a:solidFill>
            <a:schemeClr val="accent1"/>
          </a:solidFill>
          <a:ln/>
        </p:spPr>
      </p:sp>
      <p:sp>
        <p:nvSpPr>
          <p:cNvPr id="12" name="Text 10"/>
          <p:cNvSpPr txBox="1"/>
          <p:nvPr/>
        </p:nvSpPr>
        <p:spPr>
          <a:xfrm>
            <a:off x="3456432" y="1325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1"/>
          <p:cNvSpPr txBox="1"/>
          <p:nvPr/>
        </p:nvSpPr>
        <p:spPr>
          <a:xfrm>
            <a:off x="3931920" y="1325880"/>
            <a:ext cx="1783080" cy="384048"/>
          </a:xfrm>
          <a:prstGeom prst="rect">
            <a:avLst/>
          </a:prstGeom>
          <a:noFill/>
          <a:ln/>
        </p:spPr>
        <p:txBody>
          <a:bodyPr wrap="square" lIns="0" tIns="0" rIns="0" bIns="0" rtlCol="0" anchor="ctr"/>
          <a:lstStyle/>
          <a:p>
            <a:pPr indent="0" marL="0">
              <a:buNone/>
            </a:pPr>
            <a:r>
              <a:rPr lang="en-US" sz="1400" b="1" dirty="0">
                <a:solidFill>
                  <a:schemeClr val="tx2"/>
                </a:solidFill>
              </a:rPr>
              <a:t>Values become &lt;arg&gt;</a:t>
            </a:r>
            <a:endParaRPr lang="en-US" sz="1400" dirty="0"/>
          </a:p>
        </p:txBody>
      </p:sp>
      <p:sp>
        <p:nvSpPr>
          <p:cNvPr id="14" name="Text 12"/>
          <p:cNvSpPr txBox="1"/>
          <p:nvPr/>
        </p:nvSpPr>
        <p:spPr>
          <a:xfrm>
            <a:off x="3456432" y="1783080"/>
            <a:ext cx="2194560" cy="365760"/>
          </a:xfrm>
          <a:prstGeom prst="rect">
            <a:avLst/>
          </a:prstGeom>
          <a:noFill/>
          <a:ln/>
        </p:spPr>
        <p:txBody>
          <a:bodyPr wrap="square" lIns="0" tIns="0" rIns="0" bIns="0" rtlCol="0" anchor="t"/>
          <a:lstStyle/>
          <a:p>
            <a:pPr indent="0" marL="0">
              <a:buNone/>
            </a:pPr>
            <a:r>
              <a:rPr lang="en-US" sz="1100" dirty="0">
                <a:solidFill>
                  <a:schemeClr val="accent6"/>
                </a:solidFill>
              </a:rPr>
              <a:t>quoted strings and numbers</a:t>
            </a:r>
            <a:endParaRPr lang="en-US" sz="1100" dirty="0"/>
          </a:p>
        </p:txBody>
      </p:sp>
      <p:sp>
        <p:nvSpPr>
          <p:cNvPr id="15" name="Text 13"/>
          <p:cNvSpPr txBox="1"/>
          <p:nvPr/>
        </p:nvSpPr>
        <p:spPr>
          <a:xfrm>
            <a:off x="3456432" y="2240280"/>
            <a:ext cx="2194560" cy="41148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I open the login page</a:t>
            </a:r>
            <a:endParaRPr lang="en-US" sz="1100" dirty="0"/>
          </a:p>
        </p:txBody>
      </p:sp>
      <p:sp>
        <p:nvSpPr>
          <p:cNvPr id="16" name="Pipe arrow 2"/>
          <p:cNvSpPr/>
          <p:nvPr/>
        </p:nvSpPr>
        <p:spPr>
          <a:xfrm>
            <a:off x="5797296" y="1810512"/>
            <a:ext cx="292608" cy="347472"/>
          </a:xfrm>
          <a:prstGeom prst="rightArrow">
            <a:avLst/>
          </a:prstGeom>
          <a:solidFill>
            <a:schemeClr val="accent2"/>
          </a:solidFill>
          <a:ln/>
        </p:spPr>
      </p:sp>
      <p:sp>
        <p:nvSpPr>
          <p:cNvPr id="17" name="Pipe 3"/>
          <p:cNvSpPr/>
          <p:nvPr/>
        </p:nvSpPr>
        <p:spPr>
          <a:xfrm>
            <a:off x="6126480" y="1188720"/>
            <a:ext cx="2468880" cy="1600200"/>
          </a:xfrm>
          <a:prstGeom prst="roundRect">
            <a:avLst>
              <a:gd name="adj" fmla="val 4571"/>
            </a:avLst>
          </a:prstGeom>
          <a:solidFill>
            <a:schemeClr val="bg2"/>
          </a:solidFill>
          <a:ln/>
        </p:spPr>
      </p:sp>
      <p:sp>
        <p:nvSpPr>
          <p:cNvPr id="18" name="Pipe num bg 3"/>
          <p:cNvSpPr/>
          <p:nvPr/>
        </p:nvSpPr>
        <p:spPr>
          <a:xfrm>
            <a:off x="6291072" y="1325880"/>
            <a:ext cx="384048" cy="384048"/>
          </a:xfrm>
          <a:prstGeom prst="ellipse">
            <a:avLst/>
          </a:prstGeom>
          <a:solidFill>
            <a:schemeClr val="accent1"/>
          </a:solidFill>
          <a:ln/>
        </p:spPr>
      </p:sp>
      <p:sp>
        <p:nvSpPr>
          <p:cNvPr id="19" name="Text 17"/>
          <p:cNvSpPr txBox="1"/>
          <p:nvPr/>
        </p:nvSpPr>
        <p:spPr>
          <a:xfrm>
            <a:off x="6291072" y="1325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0" name="Text 18"/>
          <p:cNvSpPr txBox="1"/>
          <p:nvPr/>
        </p:nvSpPr>
        <p:spPr>
          <a:xfrm>
            <a:off x="6766560" y="1325880"/>
            <a:ext cx="1783080" cy="384048"/>
          </a:xfrm>
          <a:prstGeom prst="rect">
            <a:avLst/>
          </a:prstGeom>
          <a:noFill/>
          <a:ln/>
        </p:spPr>
        <p:txBody>
          <a:bodyPr wrap="square" lIns="0" tIns="0" rIns="0" bIns="0" rtlCol="0" anchor="ctr"/>
          <a:lstStyle/>
          <a:p>
            <a:pPr indent="0" marL="0">
              <a:buNone/>
            </a:pPr>
            <a:r>
              <a:rPr lang="en-US" sz="1400" b="1" dirty="0">
                <a:solidFill>
                  <a:schemeClr val="tx2"/>
                </a:solidFill>
              </a:rPr>
              <a:t>Lowercase words, drop filler</a:t>
            </a:r>
            <a:endParaRPr lang="en-US" sz="1400" dirty="0"/>
          </a:p>
        </p:txBody>
      </p:sp>
      <p:sp>
        <p:nvSpPr>
          <p:cNvPr id="21" name="Text 19"/>
          <p:cNvSpPr txBox="1"/>
          <p:nvPr/>
        </p:nvSpPr>
        <p:spPr>
          <a:xfrm>
            <a:off x="6291072" y="1783080"/>
            <a:ext cx="2194560" cy="365760"/>
          </a:xfrm>
          <a:prstGeom prst="rect">
            <a:avLst/>
          </a:prstGeom>
          <a:noFill/>
          <a:ln/>
        </p:spPr>
        <p:txBody>
          <a:bodyPr wrap="square" lIns="0" tIns="0" rIns="0" bIns="0" rtlCol="0" anchor="t"/>
          <a:lstStyle/>
          <a:p>
            <a:pPr indent="0" marL="0">
              <a:buNone/>
            </a:pPr>
            <a:r>
              <a:rPr lang="en-US" sz="1100" dirty="0">
                <a:solidFill>
                  <a:schemeClr val="accent6"/>
                </a:solidFill>
              </a:rPr>
              <a:t>a, an, the, i, is, am, on, to…</a:t>
            </a:r>
            <a:endParaRPr lang="en-US" sz="1100" dirty="0"/>
          </a:p>
        </p:txBody>
      </p:sp>
      <p:sp>
        <p:nvSpPr>
          <p:cNvPr id="22" name="Text 20"/>
          <p:cNvSpPr txBox="1"/>
          <p:nvPr/>
        </p:nvSpPr>
        <p:spPr>
          <a:xfrm>
            <a:off x="6291072" y="2240280"/>
            <a:ext cx="2194560" cy="41148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open login page</a:t>
            </a:r>
            <a:endParaRPr lang="en-US" sz="1100" dirty="0"/>
          </a:p>
        </p:txBody>
      </p:sp>
      <p:sp>
        <p:nvSpPr>
          <p:cNvPr id="23" name="Text 21"/>
          <p:cNvSpPr txBox="1"/>
          <p:nvPr/>
        </p:nvSpPr>
        <p:spPr>
          <a:xfrm>
            <a:off x="457200" y="2907792"/>
            <a:ext cx="8229600" cy="502920"/>
          </a:xfrm>
          <a:prstGeom prst="rect">
            <a:avLst/>
          </a:prstGeom>
          <a:noFill/>
          <a:ln/>
        </p:spPr>
        <p:txBody>
          <a:bodyPr wrap="square" lIns="0" tIns="0" rIns="0" bIns="0" rtlCol="0" anchor="t"/>
          <a:lstStyle/>
          <a:p>
            <a:pPr indent="0" marL="0">
              <a:buNone/>
            </a:pPr>
            <a:r>
              <a:rPr lang="en-US" sz="1300" dirty="0">
                <a:solidFill>
                  <a:schemeClr val="tx1"/>
                </a:solidFill>
              </a:rPr>
              <a:t>Step patterns get the same treatment: placeholders like {product} or (?P&lt;count&gt;\d+) also become &lt;arg&gt;. “I am on the login page” becomes “login page”.</a:t>
            </a:r>
            <a:endParaRPr lang="en-US" sz="1300" dirty="0"/>
          </a:p>
        </p:txBody>
      </p:sp>
      <p:sp>
        <p:nvSpPr>
          <p:cNvPr id="24" name="Formula"/>
          <p:cNvSpPr/>
          <p:nvPr/>
        </p:nvSpPr>
        <p:spPr>
          <a:xfrm>
            <a:off x="457200" y="3566160"/>
            <a:ext cx="8229600" cy="1005840"/>
          </a:xfrm>
          <a:prstGeom prst="roundRect">
            <a:avLst>
              <a:gd name="adj" fmla="val 7273"/>
            </a:avLst>
          </a:prstGeom>
          <a:solidFill>
            <a:schemeClr val="tx2"/>
          </a:solidFill>
          <a:ln/>
        </p:spPr>
      </p:sp>
      <p:sp>
        <p:nvSpPr>
          <p:cNvPr id="25" name="Text 23"/>
          <p:cNvSpPr txBox="1"/>
          <p:nvPr/>
        </p:nvSpPr>
        <p:spPr>
          <a:xfrm>
            <a:off x="685800" y="3566160"/>
            <a:ext cx="7772400" cy="1005840"/>
          </a:xfrm>
          <a:prstGeom prst="rect">
            <a:avLst/>
          </a:prstGeom>
          <a:noFill/>
          <a:ln/>
        </p:spPr>
        <p:txBody>
          <a:bodyPr wrap="square" lIns="0" tIns="0" rIns="0" bIns="0" rtlCol="0" anchor="ctr"/>
          <a:lstStyle/>
          <a:p>
            <a:pPr indent="0" marL="0">
              <a:spcAft>
                <a:spcPts val="400"/>
              </a:spcAft>
              <a:buNone/>
            </a:pPr>
            <a:r>
              <a:rPr lang="en-US" sz="1600" b="1" dirty="0">
                <a:solidFill>
                  <a:srgbClr val="F2C46D"/>
                </a:solidFill>
                <a:latin typeface="Courier New" pitchFamily="34" charset="0"/>
                <a:ea typeface="Courier New" pitchFamily="34" charset="-122"/>
                <a:cs typeface="Courier New" pitchFamily="34" charset="-120"/>
              </a:rPr>
              <a:t>score = 0.5 × characters + 0.5 × words</a:t>
            </a:r>
            <a:endParaRPr lang="en-US" sz="1400" dirty="0"/>
          </a:p>
          <a:p>
            <a:pPr indent="0" marL="0">
              <a:spcAft>
                <a:spcPts val="400"/>
              </a:spcAft>
              <a:buNone/>
            </a:pPr>
            <a:r>
              <a:rPr lang="en-US" sz="1300" dirty="0">
                <a:solidFill>
                  <a:schemeClr val="bg1"/>
                </a:solidFill>
              </a:rPr>
              <a:t>characters: difflib.SequenceMatcher ratio of the two strings. words: shared words ÷ all distinct words (Jaccard).</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find: exact hits first, then the closest wording</a:t>
            </a:r>
            <a:endParaRPr lang="en-US" sz="2800" dirty="0"/>
          </a:p>
        </p:txBody>
      </p:sp>
      <p:sp>
        <p:nvSpPr>
          <p:cNvPr id="3" name="Text 1"/>
          <p:cNvSpPr txBox="1"/>
          <p:nvPr/>
        </p:nvSpPr>
        <p:spPr>
          <a:xfrm>
            <a:off x="457200" y="1143000"/>
            <a:ext cx="4937760" cy="274320"/>
          </a:xfrm>
          <a:prstGeom prst="rect">
            <a:avLst/>
          </a:prstGeom>
          <a:noFill/>
          <a:ln/>
        </p:spPr>
        <p:txBody>
          <a:bodyPr wrap="square" lIns="0" tIns="0" rIns="0" bIns="0" rtlCol="0" anchor="t"/>
          <a:lstStyle/>
          <a:p>
            <a:pPr indent="0" marL="0">
              <a:buNone/>
            </a:pPr>
            <a:r>
              <a:rPr lang="en-US" sz="1200" b="1" dirty="0">
                <a:solidFill>
                  <a:schemeClr val="accent6"/>
                </a:solidFill>
              </a:rPr>
              <a:t>Real output from the demo project</a:t>
            </a:r>
            <a:endParaRPr lang="en-US" sz="1200" dirty="0"/>
          </a:p>
        </p:txBody>
      </p:sp>
      <p:sp>
        <p:nvSpPr>
          <p:cNvPr id="4" name="Find output bg"/>
          <p:cNvSpPr/>
          <p:nvPr/>
        </p:nvSpPr>
        <p:spPr>
          <a:xfrm>
            <a:off x="457200" y="1417320"/>
            <a:ext cx="4937760" cy="2194560"/>
          </a:xfrm>
          <a:prstGeom prst="roundRect">
            <a:avLst>
              <a:gd name="adj" fmla="val 3333"/>
            </a:avLst>
          </a:prstGeom>
          <a:solidFill>
            <a:schemeClr val="tx1"/>
          </a:solidFill>
          <a:ln/>
        </p:spPr>
      </p:sp>
      <p:sp>
        <p:nvSpPr>
          <p:cNvPr id="5" name="Find output"/>
          <p:cNvSpPr txBox="1"/>
          <p:nvPr/>
        </p:nvSpPr>
        <p:spPr>
          <a:xfrm>
            <a:off x="640080" y="1527048"/>
            <a:ext cx="4572000" cy="1975104"/>
          </a:xfrm>
          <a:prstGeom prst="rect">
            <a:avLst/>
          </a:prstGeom>
          <a:noFill/>
          <a:ln/>
        </p:spPr>
        <p:txBody>
          <a:bodyPr wrap="square" lIns="0" tIns="0" rIns="0" bIns="0" rtlCol="0" anchor="ctr"/>
          <a:lstStyle/>
          <a:p>
            <a:pPr indent="0" marL="0">
              <a:buNone/>
            </a:pPr>
            <a:r>
              <a:rPr lang="en-US" sz="1050" dirty="0">
                <a:solidFill>
                  <a:srgbClr val="8A9A90"/>
                </a:solidFill>
                <a:latin typeface="Courier New" pitchFamily="34" charset="0"/>
                <a:ea typeface="Courier New" pitchFamily="34" charset="-122"/>
                <a:cs typeface="Courier New" pitchFamily="34" charset="-120"/>
              </a:rPr>
              <a:t>$ </a:t>
            </a:r>
            <a:pPr indent="0" marL="0">
              <a:buNone/>
            </a:pPr>
            <a:r>
              <a:rPr lang="en-US" sz="1050" b="1" dirty="0">
                <a:solidFill>
                  <a:srgbClr val="E6EDE8"/>
                </a:solidFill>
                <a:latin typeface="Courier New" pitchFamily="34" charset="0"/>
                <a:ea typeface="Courier New" pitchFamily="34" charset="-122"/>
                <a:cs typeface="Courier New" pitchFamily="34" charset="-120"/>
              </a:rPr>
              <a:t>gherkin-copilot find "Given I open the login page"</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No step definition matches this text.</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Did you mean:</a:t>
            </a:r>
            <a:endParaRPr lang="en-US" sz="1050" dirty="0"/>
          </a:p>
          <a:p>
            <a:pPr indent="0" marL="0">
              <a:buNone/>
            </a:pPr>
            <a:r>
              <a:rPr lang="en-US" sz="1050" dirty="0">
                <a:solidFill>
                  <a:srgbClr val="F2C46D"/>
                </a:solidFill>
                <a:latin typeface="Courier New" pitchFamily="34" charset="0"/>
                <a:ea typeface="Courier New" pitchFamily="34" charset="-122"/>
                <a:cs typeface="Courier New" pitchFamily="34" charset="-120"/>
              </a:rPr>
              <a:t>  0.73</a:t>
            </a:r>
            <a:pPr indent="0" marL="0">
              <a:buNone/>
            </a:pPr>
            <a:r>
              <a:rPr lang="en-US" sz="1050" dirty="0">
                <a:solidFill>
                  <a:srgbClr val="8FD19E"/>
                </a:solidFill>
                <a:latin typeface="Courier New" pitchFamily="34" charset="0"/>
                <a:ea typeface="Courier New" pitchFamily="34" charset="-122"/>
                <a:cs typeface="Courier New" pitchFamily="34" charset="-120"/>
              </a:rPr>
              <a:t>  Given I am on the login page</a:t>
            </a:r>
            <a:endParaRPr lang="en-US" sz="1050" dirty="0"/>
          </a:p>
          <a:p>
            <a:pPr indent="0" marL="0">
              <a:buNone/>
            </a:pPr>
            <a:r>
              <a:rPr lang="en-US" sz="1050" dirty="0">
                <a:solidFill>
                  <a:srgbClr val="F2C46D"/>
                </a:solidFill>
                <a:latin typeface="Courier New" pitchFamily="34" charset="0"/>
                <a:ea typeface="Courier New" pitchFamily="34" charset="-122"/>
                <a:cs typeface="Courier New" pitchFamily="34" charset="-120"/>
              </a:rPr>
              <a:t>  0.65</a:t>
            </a:r>
            <a:pPr indent="0" marL="0">
              <a:buNone/>
            </a:pPr>
            <a:r>
              <a:rPr lang="en-US" sz="1050" dirty="0">
                <a:solidFill>
                  <a:srgbClr val="E6EDE8"/>
                </a:solidFill>
                <a:latin typeface="Courier New" pitchFamily="34" charset="0"/>
                <a:ea typeface="Courier New" pitchFamily="34" charset="-122"/>
                <a:cs typeface="Courier New" pitchFamily="34" charset="-120"/>
              </a:rPr>
              <a:t>  Given the user is on the login page</a:t>
            </a:r>
            <a:endParaRPr lang="en-US" sz="1050" dirty="0"/>
          </a:p>
        </p:txBody>
      </p:sp>
      <p:sp>
        <p:nvSpPr>
          <p:cNvPr id="6" name="Text 4"/>
          <p:cNvSpPr txBox="1"/>
          <p:nvPr/>
        </p:nvSpPr>
        <p:spPr>
          <a:xfrm>
            <a:off x="457200" y="3749040"/>
            <a:ext cx="4937760" cy="777240"/>
          </a:xfrm>
          <a:prstGeom prst="rect">
            <a:avLst/>
          </a:prstGeom>
          <a:noFill/>
          <a:ln/>
        </p:spPr>
        <p:txBody>
          <a:bodyPr wrap="square" lIns="0" tIns="0" rIns="0" bIns="0" rtlCol="0" anchor="t"/>
          <a:lstStyle/>
          <a:p>
            <a:pPr indent="0" marL="0">
              <a:buNone/>
            </a:pPr>
            <a:r>
              <a:rPr lang="en-US" sz="1300" dirty="0">
                <a:solidFill>
                  <a:schemeClr val="tx1"/>
                </a:solidFill>
              </a:rPr>
              <a:t>Exact matches score 1.0 and always come first. Fuzzy results need at least 0.4 (--min-score); the top 5 are shown (--limit).</a:t>
            </a:r>
            <a:endParaRPr lang="en-US" sz="1300" dirty="0"/>
          </a:p>
        </p:txBody>
      </p:sp>
      <p:sp>
        <p:nvSpPr>
          <p:cNvPr id="7" name="Text 5"/>
          <p:cNvSpPr txBox="1"/>
          <p:nvPr/>
        </p:nvSpPr>
        <p:spPr>
          <a:xfrm>
            <a:off x="5669280" y="1143000"/>
            <a:ext cx="3017520" cy="320040"/>
          </a:xfrm>
          <a:prstGeom prst="rect">
            <a:avLst/>
          </a:prstGeom>
          <a:noFill/>
          <a:ln/>
        </p:spPr>
        <p:txBody>
          <a:bodyPr wrap="square" lIns="0" tIns="0" rIns="0" bIns="0" rtlCol="0" anchor="t"/>
          <a:lstStyle/>
          <a:p>
            <a:pPr indent="0" marL="0">
              <a:buNone/>
            </a:pPr>
            <a:r>
              <a:rPr lang="en-US" sz="1600" b="1" dirty="0">
                <a:solidFill>
                  <a:schemeClr val="tx2"/>
                </a:solidFill>
              </a:rPr>
              <a:t>Why 0.73?</a:t>
            </a:r>
            <a:endParaRPr lang="en-US" sz="1600" dirty="0"/>
          </a:p>
        </p:txBody>
      </p:sp>
      <p:sp>
        <p:nvSpPr>
          <p:cNvPr id="8" name="Calc 1"/>
          <p:cNvSpPr/>
          <p:nvPr/>
        </p:nvSpPr>
        <p:spPr>
          <a:xfrm>
            <a:off x="5669280" y="1554480"/>
            <a:ext cx="3017520" cy="475488"/>
          </a:xfrm>
          <a:prstGeom prst="roundRect">
            <a:avLst>
              <a:gd name="adj" fmla="val 15385"/>
            </a:avLst>
          </a:prstGeom>
          <a:solidFill>
            <a:schemeClr val="bg2"/>
          </a:solidFill>
          <a:ln/>
        </p:spPr>
      </p:sp>
      <p:sp>
        <p:nvSpPr>
          <p:cNvPr id="9" name="Text 7"/>
          <p:cNvSpPr txBox="1"/>
          <p:nvPr/>
        </p:nvSpPr>
        <p:spPr>
          <a:xfrm>
            <a:off x="5806440" y="1554480"/>
            <a:ext cx="2788920" cy="475488"/>
          </a:xfrm>
          <a:prstGeom prst="rect">
            <a:avLst/>
          </a:prstGeom>
          <a:noFill/>
          <a:ln/>
        </p:spPr>
        <p:txBody>
          <a:bodyPr wrap="square" lIns="0" tIns="0" rIns="0" bIns="0" rtlCol="0" anchor="ctr"/>
          <a:lstStyle/>
          <a:p>
            <a:pPr indent="0" marL="0">
              <a:buNone/>
            </a:pPr>
            <a:r>
              <a:rPr lang="en-US" sz="1100" b="1" dirty="0">
                <a:solidFill>
                  <a:schemeClr val="tx1"/>
                </a:solidFill>
                <a:latin typeface="Courier New" pitchFamily="34" charset="0"/>
                <a:ea typeface="Courier New" pitchFamily="34" charset="-122"/>
                <a:cs typeface="Courier New" pitchFamily="34" charset="-120"/>
              </a:rPr>
              <a:t>open login page</a:t>
            </a:r>
            <a:pPr indent="0" marL="0">
              <a:buNone/>
            </a:pPr>
            <a:r>
              <a:rPr lang="en-US" sz="1100" dirty="0">
                <a:solidFill>
                  <a:schemeClr val="accent6"/>
                </a:solidFill>
                <a:latin typeface="Courier New" pitchFamily="34" charset="0"/>
                <a:ea typeface="Courier New" pitchFamily="34" charset="-122"/>
                <a:cs typeface="Courier New" pitchFamily="34" charset="-120"/>
              </a:rPr>
              <a:t>  vs  login page</a:t>
            </a:r>
            <a:endParaRPr lang="en-US" sz="1100" dirty="0"/>
          </a:p>
        </p:txBody>
      </p:sp>
      <p:sp>
        <p:nvSpPr>
          <p:cNvPr id="10" name="Calc 2"/>
          <p:cNvSpPr/>
          <p:nvPr/>
        </p:nvSpPr>
        <p:spPr>
          <a:xfrm>
            <a:off x="5669280" y="2121408"/>
            <a:ext cx="3017520" cy="475488"/>
          </a:xfrm>
          <a:prstGeom prst="roundRect">
            <a:avLst>
              <a:gd name="adj" fmla="val 15385"/>
            </a:avLst>
          </a:prstGeom>
          <a:solidFill>
            <a:schemeClr val="bg2"/>
          </a:solidFill>
          <a:ln/>
        </p:spPr>
      </p:sp>
      <p:sp>
        <p:nvSpPr>
          <p:cNvPr id="11" name="Text 9"/>
          <p:cNvSpPr txBox="1"/>
          <p:nvPr/>
        </p:nvSpPr>
        <p:spPr>
          <a:xfrm>
            <a:off x="5806440" y="2121408"/>
            <a:ext cx="2011680" cy="475488"/>
          </a:xfrm>
          <a:prstGeom prst="rect">
            <a:avLst/>
          </a:prstGeom>
          <a:noFill/>
          <a:ln/>
        </p:spPr>
        <p:txBody>
          <a:bodyPr wrap="square" lIns="0" tIns="0" rIns="0" bIns="0" rtlCol="0" anchor="ctr"/>
          <a:lstStyle/>
          <a:p>
            <a:pPr indent="0" marL="0">
              <a:buNone/>
            </a:pPr>
            <a:r>
              <a:rPr lang="en-US" sz="1300" dirty="0">
                <a:solidFill>
                  <a:schemeClr val="tx1"/>
                </a:solidFill>
              </a:rPr>
              <a:t>characters</a:t>
            </a:r>
            <a:endParaRPr lang="en-US" sz="1300" dirty="0"/>
          </a:p>
        </p:txBody>
      </p:sp>
      <p:sp>
        <p:nvSpPr>
          <p:cNvPr id="12" name="Text 10"/>
          <p:cNvSpPr txBox="1"/>
          <p:nvPr/>
        </p:nvSpPr>
        <p:spPr>
          <a:xfrm>
            <a:off x="7772400" y="2121408"/>
            <a:ext cx="777240" cy="475488"/>
          </a:xfrm>
          <a:prstGeom prst="rect">
            <a:avLst/>
          </a:prstGeom>
          <a:noFill/>
          <a:ln/>
        </p:spPr>
        <p:txBody>
          <a:bodyPr wrap="square" lIns="0" tIns="0" rIns="0" bIns="0" rtlCol="0" anchor="ctr"/>
          <a:lstStyle/>
          <a:p>
            <a:pPr algn="r" indent="0" marL="0">
              <a:buNone/>
            </a:pPr>
            <a:r>
              <a:rPr lang="en-US" sz="1500" b="1" dirty="0">
                <a:solidFill>
                  <a:schemeClr val="accent1"/>
                </a:solidFill>
              </a:rPr>
              <a:t>0.80</a:t>
            </a:r>
            <a:endParaRPr lang="en-US" sz="1500" dirty="0"/>
          </a:p>
        </p:txBody>
      </p:sp>
      <p:sp>
        <p:nvSpPr>
          <p:cNvPr id="13" name="Calc 3"/>
          <p:cNvSpPr/>
          <p:nvPr/>
        </p:nvSpPr>
        <p:spPr>
          <a:xfrm>
            <a:off x="5669280" y="2688336"/>
            <a:ext cx="3017520" cy="475488"/>
          </a:xfrm>
          <a:prstGeom prst="roundRect">
            <a:avLst>
              <a:gd name="adj" fmla="val 15385"/>
            </a:avLst>
          </a:prstGeom>
          <a:solidFill>
            <a:schemeClr val="bg2"/>
          </a:solidFill>
          <a:ln/>
        </p:spPr>
      </p:sp>
      <p:sp>
        <p:nvSpPr>
          <p:cNvPr id="14" name="Text 12"/>
          <p:cNvSpPr txBox="1"/>
          <p:nvPr/>
        </p:nvSpPr>
        <p:spPr>
          <a:xfrm>
            <a:off x="5806440" y="2688336"/>
            <a:ext cx="2011680" cy="475488"/>
          </a:xfrm>
          <a:prstGeom prst="rect">
            <a:avLst/>
          </a:prstGeom>
          <a:noFill/>
          <a:ln/>
        </p:spPr>
        <p:txBody>
          <a:bodyPr wrap="square" lIns="0" tIns="0" rIns="0" bIns="0" rtlCol="0" anchor="ctr"/>
          <a:lstStyle/>
          <a:p>
            <a:pPr indent="0" marL="0">
              <a:buNone/>
            </a:pPr>
            <a:r>
              <a:rPr lang="en-US" sz="1300" dirty="0">
                <a:solidFill>
                  <a:schemeClr val="tx1"/>
                </a:solidFill>
              </a:rPr>
              <a:t>words  (2 of 3 shared)</a:t>
            </a:r>
            <a:endParaRPr lang="en-US" sz="1300" dirty="0"/>
          </a:p>
        </p:txBody>
      </p:sp>
      <p:sp>
        <p:nvSpPr>
          <p:cNvPr id="15" name="Text 13"/>
          <p:cNvSpPr txBox="1"/>
          <p:nvPr/>
        </p:nvSpPr>
        <p:spPr>
          <a:xfrm>
            <a:off x="7772400" y="2688336"/>
            <a:ext cx="777240" cy="475488"/>
          </a:xfrm>
          <a:prstGeom prst="rect">
            <a:avLst/>
          </a:prstGeom>
          <a:noFill/>
          <a:ln/>
        </p:spPr>
        <p:txBody>
          <a:bodyPr wrap="square" lIns="0" tIns="0" rIns="0" bIns="0" rtlCol="0" anchor="ctr"/>
          <a:lstStyle/>
          <a:p>
            <a:pPr algn="r" indent="0" marL="0">
              <a:buNone/>
            </a:pPr>
            <a:r>
              <a:rPr lang="en-US" sz="1500" b="1" dirty="0">
                <a:solidFill>
                  <a:schemeClr val="accent1"/>
                </a:solidFill>
              </a:rPr>
              <a:t>0.67</a:t>
            </a:r>
            <a:endParaRPr lang="en-US" sz="1500" dirty="0"/>
          </a:p>
        </p:txBody>
      </p:sp>
      <p:sp>
        <p:nvSpPr>
          <p:cNvPr id="16" name="Calc 4"/>
          <p:cNvSpPr/>
          <p:nvPr/>
        </p:nvSpPr>
        <p:spPr>
          <a:xfrm>
            <a:off x="5669280" y="3255264"/>
            <a:ext cx="3017520" cy="475488"/>
          </a:xfrm>
          <a:prstGeom prst="roundRect">
            <a:avLst>
              <a:gd name="adj" fmla="val 15385"/>
            </a:avLst>
          </a:prstGeom>
          <a:solidFill>
            <a:schemeClr val="accent5"/>
          </a:solidFill>
          <a:ln/>
        </p:spPr>
      </p:sp>
      <p:sp>
        <p:nvSpPr>
          <p:cNvPr id="17" name="Text 15"/>
          <p:cNvSpPr txBox="1"/>
          <p:nvPr/>
        </p:nvSpPr>
        <p:spPr>
          <a:xfrm>
            <a:off x="5806440" y="3255264"/>
            <a:ext cx="2011680" cy="475488"/>
          </a:xfrm>
          <a:prstGeom prst="rect">
            <a:avLst/>
          </a:prstGeom>
          <a:noFill/>
          <a:ln/>
        </p:spPr>
        <p:txBody>
          <a:bodyPr wrap="square" lIns="0" tIns="0" rIns="0" bIns="0" rtlCol="0" anchor="ctr"/>
          <a:lstStyle/>
          <a:p>
            <a:pPr indent="0" marL="0">
              <a:buNone/>
            </a:pPr>
            <a:r>
              <a:rPr lang="en-US" sz="1300" dirty="0">
                <a:solidFill>
                  <a:schemeClr val="tx1"/>
                </a:solidFill>
              </a:rPr>
              <a:t>average</a:t>
            </a:r>
            <a:endParaRPr lang="en-US" sz="1300" dirty="0"/>
          </a:p>
        </p:txBody>
      </p:sp>
      <p:sp>
        <p:nvSpPr>
          <p:cNvPr id="18" name="Text 16"/>
          <p:cNvSpPr txBox="1"/>
          <p:nvPr/>
        </p:nvSpPr>
        <p:spPr>
          <a:xfrm>
            <a:off x="7772400" y="3255264"/>
            <a:ext cx="777240" cy="475488"/>
          </a:xfrm>
          <a:prstGeom prst="rect">
            <a:avLst/>
          </a:prstGeom>
          <a:noFill/>
          <a:ln/>
        </p:spPr>
        <p:txBody>
          <a:bodyPr wrap="square" lIns="0" tIns="0" rIns="0" bIns="0" rtlCol="0" anchor="ctr"/>
          <a:lstStyle/>
          <a:p>
            <a:pPr algn="r" indent="0" marL="0">
              <a:buNone/>
            </a:pPr>
            <a:r>
              <a:rPr lang="en-US" sz="1500" b="1" dirty="0">
                <a:solidFill>
                  <a:schemeClr val="accent1"/>
                </a:solidFill>
              </a:rPr>
              <a:t>0.73</a:t>
            </a:r>
            <a:endParaRPr lang="en-US" sz="1500" dirty="0"/>
          </a:p>
        </p:txBody>
      </p:sp>
      <p:sp>
        <p:nvSpPr>
          <p:cNvPr id="19" name="Text 17"/>
          <p:cNvSpPr txBox="1"/>
          <p:nvPr/>
        </p:nvSpPr>
        <p:spPr>
          <a:xfrm>
            <a:off x="5669280" y="3886200"/>
            <a:ext cx="3017520" cy="640080"/>
          </a:xfrm>
          <a:prstGeom prst="rect">
            <a:avLst/>
          </a:prstGeom>
          <a:noFill/>
          <a:ln/>
        </p:spPr>
        <p:txBody>
          <a:bodyPr wrap="square" lIns="0" tIns="0" rIns="0" bIns="0" rtlCol="0" anchor="t"/>
          <a:lstStyle/>
          <a:p>
            <a:pPr indent="0" marL="0">
              <a:buNone/>
            </a:pPr>
            <a:r>
              <a:rPr lang="en-US" sz="1100" dirty="0">
                <a:solidFill>
                  <a:schemeClr val="accent6"/>
                </a:solidFill>
              </a:rPr>
              <a:t>SequenceMatcher: 2 × 10 matching characters ÷ 25 total = 0.80</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dupes: score every pair of step patterns</a:t>
            </a:r>
            <a:endParaRPr lang="en-US" sz="2800" dirty="0"/>
          </a:p>
        </p:txBody>
      </p:sp>
      <p:sp>
        <p:nvSpPr>
          <p:cNvPr id="3" name="Text 1"/>
          <p:cNvSpPr txBox="1"/>
          <p:nvPr/>
        </p:nvSpPr>
        <p:spPr>
          <a:xfrm>
            <a:off x="457200" y="1143000"/>
            <a:ext cx="5120640" cy="274320"/>
          </a:xfrm>
          <a:prstGeom prst="rect">
            <a:avLst/>
          </a:prstGeom>
          <a:noFill/>
          <a:ln/>
        </p:spPr>
        <p:txBody>
          <a:bodyPr wrap="square" lIns="0" tIns="0" rIns="0" bIns="0" rtlCol="0" anchor="t"/>
          <a:lstStyle/>
          <a:p>
            <a:pPr indent="0" marL="0">
              <a:buNone/>
            </a:pPr>
            <a:r>
              <a:rPr lang="en-US" sz="1200" b="1" dirty="0">
                <a:solidFill>
                  <a:schemeClr val="accent6"/>
                </a:solidFill>
              </a:rPr>
              <a:t>Real output from the demo project</a:t>
            </a:r>
            <a:endParaRPr lang="en-US" sz="1200" dirty="0"/>
          </a:p>
        </p:txBody>
      </p:sp>
      <p:sp>
        <p:nvSpPr>
          <p:cNvPr id="4" name="Dupes output bg"/>
          <p:cNvSpPr/>
          <p:nvPr/>
        </p:nvSpPr>
        <p:spPr>
          <a:xfrm>
            <a:off x="457200" y="1417320"/>
            <a:ext cx="5120640" cy="2331720"/>
          </a:xfrm>
          <a:prstGeom prst="roundRect">
            <a:avLst>
              <a:gd name="adj" fmla="val 3137"/>
            </a:avLst>
          </a:prstGeom>
          <a:solidFill>
            <a:schemeClr val="tx1"/>
          </a:solidFill>
          <a:ln/>
        </p:spPr>
      </p:sp>
      <p:sp>
        <p:nvSpPr>
          <p:cNvPr id="5" name="Dupes output"/>
          <p:cNvSpPr txBox="1"/>
          <p:nvPr/>
        </p:nvSpPr>
        <p:spPr>
          <a:xfrm>
            <a:off x="640080" y="1527048"/>
            <a:ext cx="4754880" cy="2112264"/>
          </a:xfrm>
          <a:prstGeom prst="rect">
            <a:avLst/>
          </a:prstGeom>
          <a:noFill/>
          <a:ln/>
        </p:spPr>
        <p:txBody>
          <a:bodyPr wrap="square" lIns="0" tIns="0" rIns="0" bIns="0" rtlCol="0" anchor="ctr"/>
          <a:lstStyle/>
          <a:p>
            <a:pPr indent="0" marL="0">
              <a:buNone/>
            </a:pPr>
            <a:r>
              <a:rPr lang="en-US" sz="1050" dirty="0">
                <a:solidFill>
                  <a:srgbClr val="8A9A90"/>
                </a:solidFill>
                <a:latin typeface="Courier New" pitchFamily="34" charset="0"/>
                <a:ea typeface="Courier New" pitchFamily="34" charset="-122"/>
                <a:cs typeface="Courier New" pitchFamily="34" charset="-120"/>
              </a:rPr>
              <a:t>$ </a:t>
            </a:r>
            <a:pPr indent="0" marL="0">
              <a:buNone/>
            </a:pPr>
            <a:r>
              <a:rPr lang="en-US" sz="1050" b="1" dirty="0">
                <a:solidFill>
                  <a:srgbClr val="E6EDE8"/>
                </a:solidFill>
                <a:latin typeface="Courier New" pitchFamily="34" charset="0"/>
                <a:ea typeface="Courier New" pitchFamily="34" charset="-122"/>
                <a:cs typeface="Courier New" pitchFamily="34" charset="-120"/>
              </a:rPr>
              <a:t>gherkin-copilot dupes</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2 possible duplicate pair(s):</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F2C46D"/>
                </a:solidFill>
                <a:latin typeface="Courier New" pitchFamily="34" charset="0"/>
                <a:ea typeface="Courier New" pitchFamily="34" charset="-122"/>
                <a:cs typeface="Courier New" pitchFamily="34" charset="-120"/>
              </a:rPr>
              <a:t>0.73</a:t>
            </a:r>
            <a:pPr indent="0" marL="0">
              <a:buNone/>
            </a:pPr>
            <a:r>
              <a:rPr lang="en-US" sz="1050" dirty="0">
                <a:solidFill>
                  <a:srgbClr val="E6EDE8"/>
                </a:solidFill>
                <a:latin typeface="Courier New" pitchFamily="34" charset="0"/>
                <a:ea typeface="Courier New" pitchFamily="34" charset="-122"/>
                <a:cs typeface="Courier New" pitchFamily="34" charset="-120"/>
              </a:rPr>
              <a:t>  Given I am on the login page</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      Given the user is on the login page</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F2C46D"/>
                </a:solidFill>
                <a:latin typeface="Courier New" pitchFamily="34" charset="0"/>
                <a:ea typeface="Courier New" pitchFamily="34" charset="-122"/>
                <a:cs typeface="Courier New" pitchFamily="34" charset="-120"/>
              </a:rPr>
              <a:t>0.64</a:t>
            </a:r>
            <a:pPr indent="0" marL="0">
              <a:buNone/>
            </a:pPr>
            <a:r>
              <a:rPr lang="en-US" sz="1050" dirty="0">
                <a:solidFill>
                  <a:srgbClr val="E6EDE8"/>
                </a:solidFill>
                <a:latin typeface="Courier New" pitchFamily="34" charset="0"/>
                <a:ea typeface="Courier New" pitchFamily="34" charset="-122"/>
                <a:cs typeface="Courier New" pitchFamily="34" charset="-120"/>
              </a:rPr>
              <a:t>  When I add "{product}" to the cart</a:t>
            </a:r>
            <a:endParaRPr lang="en-US" sz="1050" dirty="0"/>
          </a:p>
          <a:p>
            <a:pPr indent="0" marL="0">
              <a:buNone/>
            </a:pPr>
            <a:r>
              <a:rPr lang="en-US" sz="1050" dirty="0">
                <a:solidFill>
                  <a:srgbClr val="E6EDE8"/>
                </a:solidFill>
                <a:latin typeface="Courier New" pitchFamily="34" charset="0"/>
                <a:ea typeface="Courier New" pitchFamily="34" charset="-122"/>
                <a:cs typeface="Courier New" pitchFamily="34" charset="-120"/>
              </a:rPr>
              <a:t>      When I put the "{product}" in my cart</a:t>
            </a:r>
            <a:endParaRPr lang="en-US" sz="1050" dirty="0"/>
          </a:p>
        </p:txBody>
      </p:sp>
      <p:sp>
        <p:nvSpPr>
          <p:cNvPr id="6" name="Text 4"/>
          <p:cNvSpPr txBox="1"/>
          <p:nvPr/>
        </p:nvSpPr>
        <p:spPr>
          <a:xfrm>
            <a:off x="457200" y="3886200"/>
            <a:ext cx="5120640" cy="685800"/>
          </a:xfrm>
          <a:prstGeom prst="rect">
            <a:avLst/>
          </a:prstGeom>
          <a:noFill/>
          <a:ln/>
        </p:spPr>
        <p:txBody>
          <a:bodyPr wrap="square" lIns="0" tIns="0" rIns="0" bIns="0" rtlCol="0" anchor="t"/>
          <a:lstStyle/>
          <a:p>
            <a:pPr indent="0" marL="0">
              <a:buNone/>
            </a:pPr>
            <a:r>
              <a:rPr lang="en-US" sz="1300" b="1" dirty="0">
                <a:solidFill>
                  <a:schemeClr val="tx2"/>
                </a:solidFill>
              </a:rPr>
              <a:t>Second pair: </a:t>
            </a:r>
            <a:pPr indent="0" marL="0">
              <a:buNone/>
            </a:pPr>
            <a:r>
              <a:rPr lang="en-US" sz="1300" dirty="0">
                <a:solidFill>
                  <a:schemeClr val="tx1"/>
                </a:solidFill>
              </a:rPr>
              <a:t>“add &lt;arg&gt; cart” vs “put &lt;arg&gt; cart”. Characters 0.79, words 2 of 4 = 0.50, average 0.64.</a:t>
            </a:r>
            <a:endParaRPr lang="en-US" sz="1300" dirty="0"/>
          </a:p>
        </p:txBody>
      </p:sp>
      <p:sp>
        <p:nvSpPr>
          <p:cNvPr id="7" name="Dupes rule 1 circle"/>
          <p:cNvSpPr/>
          <p:nvPr/>
        </p:nvSpPr>
        <p:spPr>
          <a:xfrm>
            <a:off x="5852160" y="1367028"/>
            <a:ext cx="292608" cy="292608"/>
          </a:xfrm>
          <a:prstGeom prst="ellipse">
            <a:avLst/>
          </a:prstGeom>
          <a:solidFill>
            <a:schemeClr val="accent1"/>
          </a:solidFill>
          <a:ln/>
        </p:spPr>
      </p:sp>
      <p:pic>
        <p:nvPicPr>
          <p:cNvPr id="8" name="Dupes rule 1 icon" descr="preencoded.png">    </p:cNvPr>
          <p:cNvPicPr>
            <a:picLocks noChangeAspect="1"/>
          </p:cNvPicPr>
          <p:nvPr/>
        </p:nvPicPr>
        <p:blipFill>
          <a:blip r:embed="rId1"/>
          <a:stretch>
            <a:fillRect/>
          </a:stretch>
        </p:blipFill>
        <p:spPr>
          <a:xfrm>
            <a:off x="5925312" y="1440180"/>
            <a:ext cx="146304" cy="146304"/>
          </a:xfrm>
          <a:prstGeom prst="rect">
            <a:avLst/>
          </a:prstGeom>
        </p:spPr>
      </p:pic>
      <p:sp>
        <p:nvSpPr>
          <p:cNvPr id="9" name="Text 6"/>
          <p:cNvSpPr txBox="1"/>
          <p:nvPr/>
        </p:nvSpPr>
        <p:spPr>
          <a:xfrm>
            <a:off x="6263640" y="1188720"/>
            <a:ext cx="2423160" cy="685800"/>
          </a:xfrm>
          <a:prstGeom prst="rect">
            <a:avLst/>
          </a:prstGeom>
          <a:noFill/>
          <a:ln/>
        </p:spPr>
        <p:txBody>
          <a:bodyPr wrap="square" lIns="0" tIns="0" rIns="0" bIns="0" rtlCol="0" anchor="ctr"/>
          <a:lstStyle/>
          <a:p>
            <a:pPr indent="0" marL="0">
              <a:buNone/>
            </a:pPr>
            <a:r>
              <a:rPr lang="en-US" sz="1300" b="1" dirty="0">
                <a:solidFill>
                  <a:schemeClr val="tx2"/>
                </a:solidFill>
              </a:rPr>
              <a:t>Normalise </a:t>
            </a:r>
            <a:pPr indent="0" marL="0">
              <a:buNone/>
            </a:pPr>
            <a:r>
              <a:rPr lang="en-US" sz="1300" dirty="0">
                <a:solidFill>
                  <a:schemeClr val="tx1"/>
                </a:solidFill>
              </a:rPr>
              <a:t>every pattern once</a:t>
            </a:r>
            <a:endParaRPr lang="en-US" sz="1300" dirty="0"/>
          </a:p>
        </p:txBody>
      </p:sp>
      <p:sp>
        <p:nvSpPr>
          <p:cNvPr id="10" name="Dupes rule 2 circle"/>
          <p:cNvSpPr/>
          <p:nvPr/>
        </p:nvSpPr>
        <p:spPr>
          <a:xfrm>
            <a:off x="5852160" y="2052828"/>
            <a:ext cx="292608" cy="292608"/>
          </a:xfrm>
          <a:prstGeom prst="ellipse">
            <a:avLst/>
          </a:prstGeom>
          <a:solidFill>
            <a:schemeClr val="accent1"/>
          </a:solidFill>
          <a:ln/>
        </p:spPr>
      </p:sp>
      <p:pic>
        <p:nvPicPr>
          <p:cNvPr id="11" name="Dupes rule 2 icon" descr="preencoded.png">    </p:cNvPr>
          <p:cNvPicPr>
            <a:picLocks noChangeAspect="1"/>
          </p:cNvPicPr>
          <p:nvPr/>
        </p:nvPicPr>
        <p:blipFill>
          <a:blip r:embed="rId2"/>
          <a:stretch>
            <a:fillRect/>
          </a:stretch>
        </p:blipFill>
        <p:spPr>
          <a:xfrm>
            <a:off x="5925312" y="2125980"/>
            <a:ext cx="146304" cy="146304"/>
          </a:xfrm>
          <a:prstGeom prst="rect">
            <a:avLst/>
          </a:prstGeom>
        </p:spPr>
      </p:pic>
      <p:sp>
        <p:nvSpPr>
          <p:cNvPr id="12" name="Text 8"/>
          <p:cNvSpPr txBox="1"/>
          <p:nvPr/>
        </p:nvSpPr>
        <p:spPr>
          <a:xfrm>
            <a:off x="6263640" y="1874520"/>
            <a:ext cx="2423160" cy="685800"/>
          </a:xfrm>
          <a:prstGeom prst="rect">
            <a:avLst/>
          </a:prstGeom>
          <a:noFill/>
          <a:ln/>
        </p:spPr>
        <p:txBody>
          <a:bodyPr wrap="square" lIns="0" tIns="0" rIns="0" bIns="0" rtlCol="0" anchor="ctr"/>
          <a:lstStyle/>
          <a:p>
            <a:pPr indent="0" marL="0">
              <a:buNone/>
            </a:pPr>
            <a:r>
              <a:rPr lang="en-US" sz="1300" b="1" dirty="0">
                <a:solidFill>
                  <a:schemeClr val="tx2"/>
                </a:solidFill>
              </a:rPr>
              <a:t>Compare all pairs </a:t>
            </a:r>
            <a:pPr indent="0" marL="0">
              <a:buNone/>
            </a:pPr>
            <a:r>
              <a:rPr lang="en-US" sz="1300" dirty="0">
                <a:solidFill>
                  <a:schemeClr val="tx1"/>
                </a:solidFill>
              </a:rPr>
              <a:t>with itertools.combinations</a:t>
            </a:r>
            <a:endParaRPr lang="en-US" sz="1300" dirty="0"/>
          </a:p>
        </p:txBody>
      </p:sp>
      <p:sp>
        <p:nvSpPr>
          <p:cNvPr id="13" name="Dupes rule 3 circle"/>
          <p:cNvSpPr/>
          <p:nvPr/>
        </p:nvSpPr>
        <p:spPr>
          <a:xfrm>
            <a:off x="5852160" y="2738628"/>
            <a:ext cx="292608" cy="292608"/>
          </a:xfrm>
          <a:prstGeom prst="ellipse">
            <a:avLst/>
          </a:prstGeom>
          <a:solidFill>
            <a:schemeClr val="accent1"/>
          </a:solidFill>
          <a:ln/>
        </p:spPr>
      </p:sp>
      <p:pic>
        <p:nvPicPr>
          <p:cNvPr id="14" name="Dupes rule 3 icon" descr="preencoded.png">    </p:cNvPr>
          <p:cNvPicPr>
            <a:picLocks noChangeAspect="1"/>
          </p:cNvPicPr>
          <p:nvPr/>
        </p:nvPicPr>
        <p:blipFill>
          <a:blip r:embed="rId3"/>
          <a:stretch>
            <a:fillRect/>
          </a:stretch>
        </p:blipFill>
        <p:spPr>
          <a:xfrm>
            <a:off x="5925312" y="2811780"/>
            <a:ext cx="146304" cy="146304"/>
          </a:xfrm>
          <a:prstGeom prst="rect">
            <a:avLst/>
          </a:prstGeom>
        </p:spPr>
      </p:pic>
      <p:sp>
        <p:nvSpPr>
          <p:cNvPr id="15" name="Text 10"/>
          <p:cNvSpPr txBox="1"/>
          <p:nvPr/>
        </p:nvSpPr>
        <p:spPr>
          <a:xfrm>
            <a:off x="6263640" y="2560320"/>
            <a:ext cx="2423160" cy="685800"/>
          </a:xfrm>
          <a:prstGeom prst="rect">
            <a:avLst/>
          </a:prstGeom>
          <a:noFill/>
          <a:ln/>
        </p:spPr>
        <p:txBody>
          <a:bodyPr wrap="square" lIns="0" tIns="0" rIns="0" bIns="0" rtlCol="0" anchor="ctr"/>
          <a:lstStyle/>
          <a:p>
            <a:pPr indent="0" marL="0">
              <a:buNone/>
            </a:pPr>
            <a:r>
              <a:rPr lang="en-US" sz="1300" b="1" dirty="0">
                <a:solidFill>
                  <a:schemeClr val="tx2"/>
                </a:solidFill>
              </a:rPr>
              <a:t>Report pairs ≥ 0.6 </a:t>
            </a:r>
            <a:pPr indent="0" marL="0">
              <a:buNone/>
            </a:pPr>
            <a:r>
              <a:rPr lang="en-US" sz="1300" dirty="0">
                <a:solidFill>
                  <a:schemeClr val="tx1"/>
                </a:solidFill>
              </a:rPr>
              <a:t>(--threshold), highest first</a:t>
            </a:r>
            <a:endParaRPr lang="en-US" sz="1300" dirty="0"/>
          </a:p>
        </p:txBody>
      </p:sp>
      <p:sp>
        <p:nvSpPr>
          <p:cNvPr id="16" name="Dupes rule 4 circle"/>
          <p:cNvSpPr/>
          <p:nvPr/>
        </p:nvSpPr>
        <p:spPr>
          <a:xfrm>
            <a:off x="5852160" y="3424428"/>
            <a:ext cx="292608" cy="292608"/>
          </a:xfrm>
          <a:prstGeom prst="ellipse">
            <a:avLst/>
          </a:prstGeom>
          <a:solidFill>
            <a:schemeClr val="accent1"/>
          </a:solidFill>
          <a:ln/>
        </p:spPr>
      </p:sp>
      <p:pic>
        <p:nvPicPr>
          <p:cNvPr id="17" name="Dupes rule 4 icon" descr="preencoded.png">    </p:cNvPr>
          <p:cNvPicPr>
            <a:picLocks noChangeAspect="1"/>
          </p:cNvPicPr>
          <p:nvPr/>
        </p:nvPicPr>
        <p:blipFill>
          <a:blip r:embed="rId4"/>
          <a:stretch>
            <a:fillRect/>
          </a:stretch>
        </p:blipFill>
        <p:spPr>
          <a:xfrm>
            <a:off x="5925312" y="3497580"/>
            <a:ext cx="146304" cy="146304"/>
          </a:xfrm>
          <a:prstGeom prst="rect">
            <a:avLst/>
          </a:prstGeom>
        </p:spPr>
      </p:pic>
      <p:sp>
        <p:nvSpPr>
          <p:cNvPr id="18" name="Text 12"/>
          <p:cNvSpPr txBox="1"/>
          <p:nvPr/>
        </p:nvSpPr>
        <p:spPr>
          <a:xfrm>
            <a:off x="6263640" y="3246120"/>
            <a:ext cx="2423160" cy="685800"/>
          </a:xfrm>
          <a:prstGeom prst="rect">
            <a:avLst/>
          </a:prstGeom>
          <a:noFill/>
          <a:ln/>
        </p:spPr>
        <p:txBody>
          <a:bodyPr wrap="square" lIns="0" tIns="0" rIns="0" bIns="0" rtlCol="0" anchor="ctr"/>
          <a:lstStyle/>
          <a:p>
            <a:pPr indent="0" marL="0">
              <a:buNone/>
            </a:pPr>
            <a:r>
              <a:rPr lang="en-US" sz="1300" b="1" dirty="0">
                <a:solidFill>
                  <a:schemeClr val="tx2"/>
                </a:solidFill>
              </a:rPr>
              <a:t>Cost grows with n²: </a:t>
            </a:r>
            <a:pPr indent="0" marL="0">
              <a:buNone/>
            </a:pPr>
            <a:r>
              <a:rPr lang="en-US" sz="1300" dirty="0">
                <a:solidFill>
                  <a:schemeClr val="tx1"/>
                </a:solidFill>
              </a:rPr>
              <a:t>500 steps is 124,750 pairs</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merge: only when it provably changes nothing</a:t>
            </a:r>
            <a:endParaRPr lang="en-US" sz="2800" dirty="0"/>
          </a:p>
        </p:txBody>
      </p:sp>
      <p:sp>
        <p:nvSpPr>
          <p:cNvPr id="3" name="Keeper card"/>
          <p:cNvSpPr/>
          <p:nvPr/>
        </p:nvSpPr>
        <p:spPr>
          <a:xfrm>
            <a:off x="457200" y="1188720"/>
            <a:ext cx="3108960" cy="3383280"/>
          </a:xfrm>
          <a:prstGeom prst="roundRect">
            <a:avLst>
              <a:gd name="adj" fmla="val 2353"/>
            </a:avLst>
          </a:prstGeom>
          <a:solidFill>
            <a:schemeClr val="tx2"/>
          </a:solidFill>
          <a:ln/>
        </p:spPr>
      </p:sp>
      <p:sp>
        <p:nvSpPr>
          <p:cNvPr id="4" name="Text 2"/>
          <p:cNvSpPr txBox="1"/>
          <p:nvPr/>
        </p:nvSpPr>
        <p:spPr>
          <a:xfrm>
            <a:off x="685800" y="1325880"/>
            <a:ext cx="2743200" cy="365760"/>
          </a:xfrm>
          <a:prstGeom prst="rect">
            <a:avLst/>
          </a:prstGeom>
          <a:noFill/>
          <a:ln/>
        </p:spPr>
        <p:txBody>
          <a:bodyPr wrap="square" lIns="0" tIns="0" rIns="0" bIns="0" rtlCol="0" anchor="t"/>
          <a:lstStyle/>
          <a:p>
            <a:pPr indent="0" marL="0">
              <a:buNone/>
            </a:pPr>
            <a:r>
              <a:rPr lang="en-US" sz="1600" b="1" dirty="0">
                <a:solidFill>
                  <a:srgbClr val="F2C46D"/>
                </a:solidFill>
              </a:rPr>
              <a:t>Which step is kept?</a:t>
            </a:r>
            <a:endParaRPr lang="en-US" sz="1600" dirty="0"/>
          </a:p>
        </p:txBody>
      </p:sp>
      <p:sp>
        <p:nvSpPr>
          <p:cNvPr id="5" name="Text 3"/>
          <p:cNvSpPr txBox="1"/>
          <p:nvPr/>
        </p:nvSpPr>
        <p:spPr>
          <a:xfrm>
            <a:off x="685800" y="1783080"/>
            <a:ext cx="2697480" cy="14630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300" dirty="0">
                <a:solidFill>
                  <a:schemeClr val="bg1"/>
                </a:solidFill>
              </a:rPr>
              <a:t>Any function named with --keep</a:t>
            </a:r>
            <a:endParaRPr lang="en-US" sz="1300" dirty="0"/>
          </a:p>
          <a:p>
            <a:pPr marL="342900" indent="-342900">
              <a:spcAft>
                <a:spcPts val="800"/>
              </a:spcAft>
              <a:buSzPct val="100000"/>
              <a:buFont typeface="+mj-lt"/>
              <a:buAutoNum type="arabicPeriod" startAt="1"/>
            </a:pPr>
            <a:r>
              <a:rPr lang="en-US" sz="1300" dirty="0">
                <a:solidFill>
                  <a:schemeClr val="bg1"/>
                </a:solidFill>
              </a:rPr>
              <a:t>Otherwise, the one used by more feature lines</a:t>
            </a:r>
            <a:endParaRPr lang="en-US" sz="1300" dirty="0"/>
          </a:p>
          <a:p>
            <a:pPr marL="342900" indent="-342900">
              <a:spcAft>
                <a:spcPts val="800"/>
              </a:spcAft>
              <a:buSzPct val="100000"/>
              <a:buFont typeface="+mj-lt"/>
              <a:buAutoNum type="arabicPeriod" startAt="1"/>
            </a:pPr>
            <a:r>
              <a:rPr lang="en-US" sz="1300" dirty="0">
                <a:solidFill>
                  <a:schemeClr val="bg1"/>
                </a:solidFill>
              </a:rPr>
              <a:t>On a tie, the one defined first</a:t>
            </a:r>
            <a:endParaRPr lang="en-US" sz="1300" dirty="0"/>
          </a:p>
        </p:txBody>
      </p:sp>
      <p:sp>
        <p:nvSpPr>
          <p:cNvPr id="6" name="Text 4"/>
          <p:cNvSpPr txBox="1"/>
          <p:nvPr/>
        </p:nvSpPr>
        <p:spPr>
          <a:xfrm>
            <a:off x="685800" y="3520440"/>
            <a:ext cx="2697480" cy="868680"/>
          </a:xfrm>
          <a:prstGeom prst="rect">
            <a:avLst/>
          </a:prstGeom>
          <a:noFill/>
          <a:ln/>
        </p:spPr>
        <p:txBody>
          <a:bodyPr wrap="square" lIns="0" tIns="0" rIns="0" bIns="0" rtlCol="0" anchor="t"/>
          <a:lstStyle/>
          <a:p>
            <a:pPr indent="0" marL="0">
              <a:buNone/>
            </a:pPr>
            <a:r>
              <a:rPr lang="en-US" sz="1300" i="1" dirty="0">
                <a:solidFill>
                  <a:schemeClr val="accent5"/>
                </a:solidFill>
              </a:rPr>
              <a:t>A pair that fails any check is reported with the reason and left untouched.</a:t>
            </a:r>
            <a:endParaRPr lang="en-US" sz="1300" dirty="0"/>
          </a:p>
        </p:txBody>
      </p:sp>
      <p:sp>
        <p:nvSpPr>
          <p:cNvPr id="7" name="Text 5"/>
          <p:cNvSpPr txBox="1"/>
          <p:nvPr/>
        </p:nvSpPr>
        <p:spPr>
          <a:xfrm>
            <a:off x="3840480" y="1143000"/>
            <a:ext cx="4846320" cy="274320"/>
          </a:xfrm>
          <a:prstGeom prst="rect">
            <a:avLst/>
          </a:prstGeom>
          <a:noFill/>
          <a:ln/>
        </p:spPr>
        <p:txBody>
          <a:bodyPr wrap="square" lIns="0" tIns="0" rIns="0" bIns="0" rtlCol="0" anchor="t"/>
          <a:lstStyle/>
          <a:p>
            <a:pPr indent="0" marL="0">
              <a:buNone/>
            </a:pPr>
            <a:r>
              <a:rPr lang="en-US" sz="1200" b="1" dirty="0">
                <a:solidFill>
                  <a:schemeClr val="accent6"/>
                </a:solidFill>
              </a:rPr>
              <a:t>Checks before a pair is merged</a:t>
            </a:r>
            <a:endParaRPr lang="en-US" sz="1200" dirty="0"/>
          </a:p>
        </p:txBody>
      </p:sp>
      <p:sp>
        <p:nvSpPr>
          <p:cNvPr id="8" name="Merge check 1 circle"/>
          <p:cNvSpPr/>
          <p:nvPr/>
        </p:nvSpPr>
        <p:spPr>
          <a:xfrm>
            <a:off x="3840480" y="1474470"/>
            <a:ext cx="292608" cy="292608"/>
          </a:xfrm>
          <a:prstGeom prst="ellipse">
            <a:avLst/>
          </a:prstGeom>
          <a:solidFill>
            <a:schemeClr val="tx2"/>
          </a:solidFill>
          <a:ln/>
        </p:spPr>
      </p:sp>
      <p:pic>
        <p:nvPicPr>
          <p:cNvPr id="9" name="Merge check 1 icon" descr="preencoded.png">    </p:cNvPr>
          <p:cNvPicPr>
            <a:picLocks noChangeAspect="1"/>
          </p:cNvPicPr>
          <p:nvPr/>
        </p:nvPicPr>
        <p:blipFill>
          <a:blip r:embed="rId1"/>
          <a:stretch>
            <a:fillRect/>
          </a:stretch>
        </p:blipFill>
        <p:spPr>
          <a:xfrm>
            <a:off x="3913632" y="1547622"/>
            <a:ext cx="146304" cy="146304"/>
          </a:xfrm>
          <a:prstGeom prst="rect">
            <a:avLst/>
          </a:prstGeom>
        </p:spPr>
      </p:pic>
      <p:sp>
        <p:nvSpPr>
          <p:cNvPr id="10" name="Text 7"/>
          <p:cNvSpPr txBox="1"/>
          <p:nvPr/>
        </p:nvSpPr>
        <p:spPr>
          <a:xfrm>
            <a:off x="4251960" y="1444752"/>
            <a:ext cx="4434840" cy="388620"/>
          </a:xfrm>
          <a:prstGeom prst="rect">
            <a:avLst/>
          </a:prstGeom>
          <a:noFill/>
          <a:ln/>
        </p:spPr>
        <p:txBody>
          <a:bodyPr wrap="square" lIns="0" tIns="0" rIns="0" bIns="0" rtlCol="0" anchor="ctr"/>
          <a:lstStyle/>
          <a:p>
            <a:pPr indent="0" marL="0">
              <a:buNone/>
            </a:pPr>
            <a:r>
              <a:rPr lang="en-US" sz="1250" dirty="0">
                <a:solidFill>
                  <a:schemeClr val="tx1"/>
                </a:solidFill>
              </a:rPr>
              <a:t>Same keyword (a Given is never merged into a When)</a:t>
            </a:r>
            <a:endParaRPr lang="en-US" sz="1250" dirty="0"/>
          </a:p>
        </p:txBody>
      </p:sp>
      <p:sp>
        <p:nvSpPr>
          <p:cNvPr id="11" name="Merge check 2 circle"/>
          <p:cNvSpPr/>
          <p:nvPr/>
        </p:nvSpPr>
        <p:spPr>
          <a:xfrm>
            <a:off x="3840480" y="1863090"/>
            <a:ext cx="292608" cy="292608"/>
          </a:xfrm>
          <a:prstGeom prst="ellipse">
            <a:avLst/>
          </a:prstGeom>
          <a:solidFill>
            <a:schemeClr val="tx2"/>
          </a:solidFill>
          <a:ln/>
        </p:spPr>
      </p:sp>
      <p:pic>
        <p:nvPicPr>
          <p:cNvPr id="12" name="Merge check 2 icon" descr="preencoded.png">    </p:cNvPr>
          <p:cNvPicPr>
            <a:picLocks noChangeAspect="1"/>
          </p:cNvPicPr>
          <p:nvPr/>
        </p:nvPicPr>
        <p:blipFill>
          <a:blip r:embed="rId2"/>
          <a:stretch>
            <a:fillRect/>
          </a:stretch>
        </p:blipFill>
        <p:spPr>
          <a:xfrm>
            <a:off x="3913632" y="1936242"/>
            <a:ext cx="146304" cy="146304"/>
          </a:xfrm>
          <a:prstGeom prst="rect">
            <a:avLst/>
          </a:prstGeom>
        </p:spPr>
      </p:pic>
      <p:sp>
        <p:nvSpPr>
          <p:cNvPr id="13" name="Text 9"/>
          <p:cNvSpPr txBox="1"/>
          <p:nvPr/>
        </p:nvSpPr>
        <p:spPr>
          <a:xfrm>
            <a:off x="4251960" y="1833372"/>
            <a:ext cx="4434840" cy="388620"/>
          </a:xfrm>
          <a:prstGeom prst="rect">
            <a:avLst/>
          </a:prstGeom>
          <a:noFill/>
          <a:ln/>
        </p:spPr>
        <p:txBody>
          <a:bodyPr wrap="square" lIns="0" tIns="0" rIns="0" bIns="0" rtlCol="0" anchor="ctr"/>
          <a:lstStyle/>
          <a:p>
            <a:pPr indent="0" marL="0">
              <a:buNone/>
            </a:pPr>
            <a:r>
              <a:rPr lang="en-US" sz="1250" dirty="0">
                <a:solidFill>
                  <a:schemeClr val="tx1"/>
                </a:solidFill>
              </a:rPr>
              <a:t>Same placeholder names, so values carry across</a:t>
            </a:r>
            <a:endParaRPr lang="en-US" sz="1250" dirty="0"/>
          </a:p>
        </p:txBody>
      </p:sp>
      <p:sp>
        <p:nvSpPr>
          <p:cNvPr id="14" name="Merge check 3 circle"/>
          <p:cNvSpPr/>
          <p:nvPr/>
        </p:nvSpPr>
        <p:spPr>
          <a:xfrm>
            <a:off x="3840480" y="2251710"/>
            <a:ext cx="292608" cy="292608"/>
          </a:xfrm>
          <a:prstGeom prst="ellipse">
            <a:avLst/>
          </a:prstGeom>
          <a:solidFill>
            <a:schemeClr val="tx2"/>
          </a:solidFill>
          <a:ln/>
        </p:spPr>
      </p:sp>
      <p:pic>
        <p:nvPicPr>
          <p:cNvPr id="15" name="Merge check 3 icon" descr="preencoded.png">    </p:cNvPr>
          <p:cNvPicPr>
            <a:picLocks noChangeAspect="1"/>
          </p:cNvPicPr>
          <p:nvPr/>
        </p:nvPicPr>
        <p:blipFill>
          <a:blip r:embed="rId3"/>
          <a:stretch>
            <a:fillRect/>
          </a:stretch>
        </p:blipFill>
        <p:spPr>
          <a:xfrm>
            <a:off x="3913632" y="2324862"/>
            <a:ext cx="146304" cy="146304"/>
          </a:xfrm>
          <a:prstGeom prst="rect">
            <a:avLst/>
          </a:prstGeom>
        </p:spPr>
      </p:pic>
      <p:sp>
        <p:nvSpPr>
          <p:cNvPr id="16" name="Text 11"/>
          <p:cNvSpPr txBox="1"/>
          <p:nvPr/>
        </p:nvSpPr>
        <p:spPr>
          <a:xfrm>
            <a:off x="4251960" y="2221992"/>
            <a:ext cx="4434840" cy="388620"/>
          </a:xfrm>
          <a:prstGeom prst="rect">
            <a:avLst/>
          </a:prstGeom>
          <a:noFill/>
          <a:ln/>
        </p:spPr>
        <p:txBody>
          <a:bodyPr wrap="square" lIns="0" tIns="0" rIns="0" bIns="0" rtlCol="0" anchor="ctr"/>
          <a:lstStyle/>
          <a:p>
            <a:pPr indent="0" marL="0">
              <a:buNone/>
            </a:pPr>
            <a:r>
              <a:rPr lang="en-US" sz="1250" dirty="0">
                <a:solidFill>
                  <a:schemeClr val="tx1"/>
                </a:solidFill>
              </a:rPr>
              <a:t>Lines are never rewritten into a regex step</a:t>
            </a:r>
            <a:endParaRPr lang="en-US" sz="1250" dirty="0"/>
          </a:p>
        </p:txBody>
      </p:sp>
      <p:sp>
        <p:nvSpPr>
          <p:cNvPr id="17" name="Merge check 4 circle"/>
          <p:cNvSpPr/>
          <p:nvPr/>
        </p:nvSpPr>
        <p:spPr>
          <a:xfrm>
            <a:off x="3840480" y="2640330"/>
            <a:ext cx="292608" cy="292608"/>
          </a:xfrm>
          <a:prstGeom prst="ellipse">
            <a:avLst/>
          </a:prstGeom>
          <a:solidFill>
            <a:schemeClr val="tx2"/>
          </a:solidFill>
          <a:ln/>
        </p:spPr>
      </p:sp>
      <p:pic>
        <p:nvPicPr>
          <p:cNvPr id="18" name="Merge check 4 icon" descr="preencoded.png">    </p:cNvPr>
          <p:cNvPicPr>
            <a:picLocks noChangeAspect="1"/>
          </p:cNvPicPr>
          <p:nvPr/>
        </p:nvPicPr>
        <p:blipFill>
          <a:blip r:embed="rId4"/>
          <a:stretch>
            <a:fillRect/>
          </a:stretch>
        </p:blipFill>
        <p:spPr>
          <a:xfrm>
            <a:off x="3913632" y="2713482"/>
            <a:ext cx="146304" cy="146304"/>
          </a:xfrm>
          <a:prstGeom prst="rect">
            <a:avLst/>
          </a:prstGeom>
        </p:spPr>
      </p:pic>
      <p:sp>
        <p:nvSpPr>
          <p:cNvPr id="19" name="Text 13"/>
          <p:cNvSpPr txBox="1"/>
          <p:nvPr/>
        </p:nvSpPr>
        <p:spPr>
          <a:xfrm>
            <a:off x="4251960" y="2610612"/>
            <a:ext cx="4434840" cy="388620"/>
          </a:xfrm>
          <a:prstGeom prst="rect">
            <a:avLst/>
          </a:prstGeom>
          <a:noFill/>
          <a:ln/>
        </p:spPr>
        <p:txBody>
          <a:bodyPr wrap="square" lIns="0" tIns="0" rIns="0" bIns="0" rtlCol="0" anchor="ctr"/>
          <a:lstStyle/>
          <a:p>
            <a:pPr indent="0" marL="0">
              <a:buNone/>
            </a:pPr>
            <a:r>
              <a:rPr lang="en-US" sz="1250" dirty="0">
                <a:solidFill>
                  <a:schemeClr val="tx1"/>
                </a:solidFill>
              </a:rPr>
              <a:t>Same decorator options, e.g. target_fixture</a:t>
            </a:r>
            <a:endParaRPr lang="en-US" sz="1250" dirty="0"/>
          </a:p>
        </p:txBody>
      </p:sp>
      <p:sp>
        <p:nvSpPr>
          <p:cNvPr id="20" name="Merge check 5 circle"/>
          <p:cNvSpPr/>
          <p:nvPr/>
        </p:nvSpPr>
        <p:spPr>
          <a:xfrm>
            <a:off x="3840480" y="3028950"/>
            <a:ext cx="292608" cy="292608"/>
          </a:xfrm>
          <a:prstGeom prst="ellipse">
            <a:avLst/>
          </a:prstGeom>
          <a:solidFill>
            <a:schemeClr val="tx2"/>
          </a:solidFill>
          <a:ln/>
        </p:spPr>
      </p:sp>
      <p:pic>
        <p:nvPicPr>
          <p:cNvPr id="21" name="Merge check 5 icon" descr="preencoded.png">    </p:cNvPr>
          <p:cNvPicPr>
            <a:picLocks noChangeAspect="1"/>
          </p:cNvPicPr>
          <p:nvPr/>
        </p:nvPicPr>
        <p:blipFill>
          <a:blip r:embed="rId5"/>
          <a:stretch>
            <a:fillRect/>
          </a:stretch>
        </p:blipFill>
        <p:spPr>
          <a:xfrm>
            <a:off x="3913632" y="3102102"/>
            <a:ext cx="146304" cy="146304"/>
          </a:xfrm>
          <a:prstGeom prst="rect">
            <a:avLst/>
          </a:prstGeom>
        </p:spPr>
      </p:pic>
      <p:sp>
        <p:nvSpPr>
          <p:cNvPr id="22" name="Text 15"/>
          <p:cNvSpPr txBox="1"/>
          <p:nvPr/>
        </p:nvSpPr>
        <p:spPr>
          <a:xfrm>
            <a:off x="4251960" y="2999232"/>
            <a:ext cx="4434840" cy="388620"/>
          </a:xfrm>
          <a:prstGeom prst="rect">
            <a:avLst/>
          </a:prstGeom>
          <a:noFill/>
          <a:ln/>
        </p:spPr>
        <p:txBody>
          <a:bodyPr wrap="square" lIns="0" tIns="0" rIns="0" bIns="0" rtlCol="0" anchor="ctr"/>
          <a:lstStyle/>
          <a:p>
            <a:pPr indent="0" marL="0">
              <a:buNone/>
            </a:pPr>
            <a:r>
              <a:rPr lang="en-US" sz="1250" dirty="0">
                <a:solidFill>
                  <a:schemeClr val="tx1"/>
                </a:solidFill>
              </a:rPr>
              <a:t>Identical parameters and body (compared with ast.dump)</a:t>
            </a:r>
            <a:endParaRPr lang="en-US" sz="1250" dirty="0"/>
          </a:p>
        </p:txBody>
      </p:sp>
      <p:sp>
        <p:nvSpPr>
          <p:cNvPr id="23" name="Merge check 6 circle"/>
          <p:cNvSpPr/>
          <p:nvPr/>
        </p:nvSpPr>
        <p:spPr>
          <a:xfrm>
            <a:off x="3840480" y="3417570"/>
            <a:ext cx="292608" cy="292608"/>
          </a:xfrm>
          <a:prstGeom prst="ellipse">
            <a:avLst/>
          </a:prstGeom>
          <a:solidFill>
            <a:schemeClr val="tx2"/>
          </a:solidFill>
          <a:ln/>
        </p:spPr>
      </p:sp>
      <p:pic>
        <p:nvPicPr>
          <p:cNvPr id="24" name="Merge check 6 icon" descr="preencoded.png">    </p:cNvPr>
          <p:cNvPicPr>
            <a:picLocks noChangeAspect="1"/>
          </p:cNvPicPr>
          <p:nvPr/>
        </p:nvPicPr>
        <p:blipFill>
          <a:blip r:embed="rId6"/>
          <a:stretch>
            <a:fillRect/>
          </a:stretch>
        </p:blipFill>
        <p:spPr>
          <a:xfrm>
            <a:off x="3913632" y="3490722"/>
            <a:ext cx="146304" cy="146304"/>
          </a:xfrm>
          <a:prstGeom prst="rect">
            <a:avLst/>
          </a:prstGeom>
        </p:spPr>
      </p:pic>
      <p:sp>
        <p:nvSpPr>
          <p:cNvPr id="25" name="Text 17"/>
          <p:cNvSpPr txBox="1"/>
          <p:nvPr/>
        </p:nvSpPr>
        <p:spPr>
          <a:xfrm>
            <a:off x="4251960" y="3387852"/>
            <a:ext cx="4434840" cy="388620"/>
          </a:xfrm>
          <a:prstGeom prst="rect">
            <a:avLst/>
          </a:prstGeom>
          <a:noFill/>
          <a:ln/>
        </p:spPr>
        <p:txBody>
          <a:bodyPr wrap="square" lIns="0" tIns="0" rIns="0" bIns="0" rtlCol="0" anchor="ctr"/>
          <a:lstStyle/>
          <a:p>
            <a:pPr indent="0" marL="0">
              <a:buNone/>
            </a:pPr>
            <a:r>
              <a:rPr lang="en-US" sz="1250" dirty="0">
                <a:solidFill>
                  <a:schemeClr val="tx1"/>
                </a:solidFill>
              </a:rPr>
              <a:t>The dropped function isn’t referenced anywhere else</a:t>
            </a:r>
            <a:endParaRPr lang="en-US" sz="1250" dirty="0"/>
          </a:p>
        </p:txBody>
      </p:sp>
      <p:sp>
        <p:nvSpPr>
          <p:cNvPr id="26" name="Merge check 7 circle"/>
          <p:cNvSpPr/>
          <p:nvPr/>
        </p:nvSpPr>
        <p:spPr>
          <a:xfrm>
            <a:off x="3840480" y="3806190"/>
            <a:ext cx="292608" cy="292608"/>
          </a:xfrm>
          <a:prstGeom prst="ellipse">
            <a:avLst/>
          </a:prstGeom>
          <a:solidFill>
            <a:schemeClr val="tx2"/>
          </a:solidFill>
          <a:ln/>
        </p:spPr>
      </p:sp>
      <p:pic>
        <p:nvPicPr>
          <p:cNvPr id="27" name="Merge check 7 icon" descr="preencoded.png">    </p:cNvPr>
          <p:cNvPicPr>
            <a:picLocks noChangeAspect="1"/>
          </p:cNvPicPr>
          <p:nvPr/>
        </p:nvPicPr>
        <p:blipFill>
          <a:blip r:embed="rId7"/>
          <a:stretch>
            <a:fillRect/>
          </a:stretch>
        </p:blipFill>
        <p:spPr>
          <a:xfrm>
            <a:off x="3913632" y="3879342"/>
            <a:ext cx="146304" cy="146304"/>
          </a:xfrm>
          <a:prstGeom prst="rect">
            <a:avLst/>
          </a:prstGeom>
        </p:spPr>
      </p:pic>
      <p:sp>
        <p:nvSpPr>
          <p:cNvPr id="28" name="Text 19"/>
          <p:cNvSpPr txBox="1"/>
          <p:nvPr/>
        </p:nvSpPr>
        <p:spPr>
          <a:xfrm>
            <a:off x="4251960" y="3776472"/>
            <a:ext cx="4434840" cy="388620"/>
          </a:xfrm>
          <a:prstGeom prst="rect">
            <a:avLst/>
          </a:prstGeom>
          <a:noFill/>
          <a:ln/>
        </p:spPr>
        <p:txBody>
          <a:bodyPr wrap="square" lIns="0" tIns="0" rIns="0" bIns="0" rtlCol="0" anchor="ctr"/>
          <a:lstStyle/>
          <a:p>
            <a:pPr indent="0" marL="0">
              <a:buNone/>
            </a:pPr>
            <a:r>
              <a:rPr lang="en-US" sz="1250" dirty="0">
                <a:solidFill>
                  <a:schemeClr val="tx1"/>
                </a:solidFill>
              </a:rPr>
              <a:t>The dropped function has no other decorators</a:t>
            </a:r>
            <a:endParaRPr lang="en-US" sz="1250" dirty="0"/>
          </a:p>
        </p:txBody>
      </p:sp>
      <p:sp>
        <p:nvSpPr>
          <p:cNvPr id="29" name="Merge check 8 circle"/>
          <p:cNvSpPr/>
          <p:nvPr/>
        </p:nvSpPr>
        <p:spPr>
          <a:xfrm>
            <a:off x="3840480" y="4194810"/>
            <a:ext cx="292608" cy="292608"/>
          </a:xfrm>
          <a:prstGeom prst="ellipse">
            <a:avLst/>
          </a:prstGeom>
          <a:solidFill>
            <a:schemeClr val="tx2"/>
          </a:solidFill>
          <a:ln/>
        </p:spPr>
      </p:sp>
      <p:pic>
        <p:nvPicPr>
          <p:cNvPr id="30" name="Merge check 8 icon" descr="preencoded.png">    </p:cNvPr>
          <p:cNvPicPr>
            <a:picLocks noChangeAspect="1"/>
          </p:cNvPicPr>
          <p:nvPr/>
        </p:nvPicPr>
        <p:blipFill>
          <a:blip r:embed="rId8"/>
          <a:stretch>
            <a:fillRect/>
          </a:stretch>
        </p:blipFill>
        <p:spPr>
          <a:xfrm>
            <a:off x="3913632" y="4267962"/>
            <a:ext cx="146304" cy="146304"/>
          </a:xfrm>
          <a:prstGeom prst="rect">
            <a:avLst/>
          </a:prstGeom>
        </p:spPr>
      </p:pic>
      <p:sp>
        <p:nvSpPr>
          <p:cNvPr id="31" name="Text 21"/>
          <p:cNvSpPr txBox="1"/>
          <p:nvPr/>
        </p:nvSpPr>
        <p:spPr>
          <a:xfrm>
            <a:off x="4251960" y="4165092"/>
            <a:ext cx="4434840" cy="388620"/>
          </a:xfrm>
          <a:prstGeom prst="rect">
            <a:avLst/>
          </a:prstGeom>
          <a:noFill/>
          <a:ln/>
        </p:spPr>
        <p:txBody>
          <a:bodyPr wrap="square" lIns="0" tIns="0" rIns="0" bIns="0" rtlCol="0" anchor="ctr"/>
          <a:lstStyle/>
          <a:p>
            <a:pPr indent="0" marL="0">
              <a:buNone/>
            </a:pPr>
            <a:r>
              <a:rPr lang="en-US" sz="1250" dirty="0">
                <a:solidFill>
                  <a:schemeClr val="tx1"/>
                </a:solidFill>
              </a:rPr>
              <a:t>Every rewritten line still binds to the kept step</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merge: a preview diff first, files only with --apply</a:t>
            </a:r>
            <a:endParaRPr lang="en-US" sz="2800" dirty="0"/>
          </a:p>
        </p:txBody>
      </p:sp>
      <p:sp>
        <p:nvSpPr>
          <p:cNvPr id="3" name="Merge step bg 1"/>
          <p:cNvSpPr/>
          <p:nvPr/>
        </p:nvSpPr>
        <p:spPr>
          <a:xfrm>
            <a:off x="457200" y="1261872"/>
            <a:ext cx="384048" cy="384048"/>
          </a:xfrm>
          <a:prstGeom prst="ellipse">
            <a:avLst/>
          </a:prstGeom>
          <a:solidFill>
            <a:schemeClr val="accent1"/>
          </a:solidFill>
          <a:ln/>
        </p:spPr>
      </p:sp>
      <p:sp>
        <p:nvSpPr>
          <p:cNvPr id="4" name="Text 2"/>
          <p:cNvSpPr txBox="1"/>
          <p:nvPr/>
        </p:nvSpPr>
        <p:spPr>
          <a:xfrm>
            <a:off x="457200" y="12618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960120" y="1188720"/>
            <a:ext cx="2560320" cy="548640"/>
          </a:xfrm>
          <a:prstGeom prst="rect">
            <a:avLst/>
          </a:prstGeom>
          <a:noFill/>
          <a:ln/>
        </p:spPr>
        <p:txBody>
          <a:bodyPr wrap="square" lIns="0" tIns="0" rIns="0" bIns="0" rtlCol="0" anchor="ctr"/>
          <a:lstStyle/>
          <a:p>
            <a:pPr indent="0" marL="0">
              <a:buNone/>
            </a:pPr>
            <a:r>
              <a:rPr lang="en-US" sz="1300" b="1" dirty="0">
                <a:solidFill>
                  <a:schemeClr val="tx2"/>
                </a:solidFill>
              </a:rPr>
              <a:t>Capture </a:t>
            </a:r>
            <a:pPr indent="0" marL="0">
              <a:buNone/>
            </a:pPr>
            <a:r>
              <a:rPr lang="en-US" sz="1300" dirty="0">
                <a:solidFill>
                  <a:schemeClr val="tx1"/>
                </a:solidFill>
              </a:rPr>
              <a:t>values from the line using the dropped pattern</a:t>
            </a:r>
            <a:endParaRPr lang="en-US" sz="1300" dirty="0"/>
          </a:p>
        </p:txBody>
      </p:sp>
      <p:sp>
        <p:nvSpPr>
          <p:cNvPr id="6" name="Merge step bg 2"/>
          <p:cNvSpPr/>
          <p:nvPr/>
        </p:nvSpPr>
        <p:spPr>
          <a:xfrm>
            <a:off x="457200" y="1947672"/>
            <a:ext cx="384048" cy="384048"/>
          </a:xfrm>
          <a:prstGeom prst="ellipse">
            <a:avLst/>
          </a:prstGeom>
          <a:solidFill>
            <a:schemeClr val="accent1"/>
          </a:solidFill>
          <a:ln/>
        </p:spPr>
      </p:sp>
      <p:sp>
        <p:nvSpPr>
          <p:cNvPr id="7" name="Text 5"/>
          <p:cNvSpPr txBox="1"/>
          <p:nvPr/>
        </p:nvSpPr>
        <p:spPr>
          <a:xfrm>
            <a:off x="457200" y="19476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960120" y="1874520"/>
            <a:ext cx="2560320" cy="548640"/>
          </a:xfrm>
          <a:prstGeom prst="rect">
            <a:avLst/>
          </a:prstGeom>
          <a:noFill/>
          <a:ln/>
        </p:spPr>
        <p:txBody>
          <a:bodyPr wrap="square" lIns="0" tIns="0" rIns="0" bIns="0" rtlCol="0" anchor="ctr"/>
          <a:lstStyle/>
          <a:p>
            <a:pPr indent="0" marL="0">
              <a:buNone/>
            </a:pPr>
            <a:r>
              <a:rPr lang="en-US" sz="1300" b="1" dirty="0">
                <a:solidFill>
                  <a:schemeClr val="tx2"/>
                </a:solidFill>
              </a:rPr>
              <a:t>Render </a:t>
            </a:r>
            <a:pPr indent="0" marL="0">
              <a:buNone/>
            </a:pPr>
            <a:r>
              <a:rPr lang="en-US" sz="1300" dirty="0">
                <a:solidFill>
                  <a:schemeClr val="tx1"/>
                </a:solidFill>
              </a:rPr>
              <a:t>the kept pattern with those values</a:t>
            </a:r>
            <a:endParaRPr lang="en-US" sz="1300" dirty="0"/>
          </a:p>
        </p:txBody>
      </p:sp>
      <p:sp>
        <p:nvSpPr>
          <p:cNvPr id="9" name="Merge step bg 3"/>
          <p:cNvSpPr/>
          <p:nvPr/>
        </p:nvSpPr>
        <p:spPr>
          <a:xfrm>
            <a:off x="457200" y="2633472"/>
            <a:ext cx="384048" cy="384048"/>
          </a:xfrm>
          <a:prstGeom prst="ellipse">
            <a:avLst/>
          </a:prstGeom>
          <a:solidFill>
            <a:schemeClr val="accent1"/>
          </a:solidFill>
          <a:ln/>
        </p:spPr>
      </p:sp>
      <p:sp>
        <p:nvSpPr>
          <p:cNvPr id="10" name="Text 8"/>
          <p:cNvSpPr txBox="1"/>
          <p:nvPr/>
        </p:nvSpPr>
        <p:spPr>
          <a:xfrm>
            <a:off x="457200" y="26334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960120" y="2560320"/>
            <a:ext cx="2560320" cy="548640"/>
          </a:xfrm>
          <a:prstGeom prst="rect">
            <a:avLst/>
          </a:prstGeom>
          <a:noFill/>
          <a:ln/>
        </p:spPr>
        <p:txBody>
          <a:bodyPr wrap="square" lIns="0" tIns="0" rIns="0" bIns="0" rtlCol="0" anchor="ctr"/>
          <a:lstStyle/>
          <a:p>
            <a:pPr indent="0" marL="0">
              <a:buNone/>
            </a:pPr>
            <a:r>
              <a:rPr lang="en-US" sz="1300" b="1" dirty="0">
                <a:solidFill>
                  <a:schemeClr val="tx2"/>
                </a:solidFill>
              </a:rPr>
              <a:t>Verify </a:t>
            </a:r>
            <a:pPr indent="0" marL="0">
              <a:buNone/>
            </a:pPr>
            <a:r>
              <a:rPr lang="en-US" sz="1300" dirty="0">
                <a:solidFill>
                  <a:schemeClr val="tx1"/>
                </a:solidFill>
              </a:rPr>
              <a:t>the new line binds to the kept step</a:t>
            </a:r>
            <a:endParaRPr lang="en-US" sz="1300" dirty="0"/>
          </a:p>
        </p:txBody>
      </p:sp>
      <p:sp>
        <p:nvSpPr>
          <p:cNvPr id="12" name="Merge step bg 4"/>
          <p:cNvSpPr/>
          <p:nvPr/>
        </p:nvSpPr>
        <p:spPr>
          <a:xfrm>
            <a:off x="457200" y="3319272"/>
            <a:ext cx="384048" cy="384048"/>
          </a:xfrm>
          <a:prstGeom prst="ellipse">
            <a:avLst/>
          </a:prstGeom>
          <a:solidFill>
            <a:schemeClr val="accent1"/>
          </a:solidFill>
          <a:ln/>
        </p:spPr>
      </p:sp>
      <p:sp>
        <p:nvSpPr>
          <p:cNvPr id="13" name="Text 11"/>
          <p:cNvSpPr txBox="1"/>
          <p:nvPr/>
        </p:nvSpPr>
        <p:spPr>
          <a:xfrm>
            <a:off x="457200" y="33192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960120" y="3246120"/>
            <a:ext cx="2560320" cy="548640"/>
          </a:xfrm>
          <a:prstGeom prst="rect">
            <a:avLst/>
          </a:prstGeom>
          <a:noFill/>
          <a:ln/>
        </p:spPr>
        <p:txBody>
          <a:bodyPr wrap="square" lIns="0" tIns="0" rIns="0" bIns="0" rtlCol="0" anchor="ctr"/>
          <a:lstStyle/>
          <a:p>
            <a:pPr indent="0" marL="0">
              <a:buNone/>
            </a:pPr>
            <a:r>
              <a:rPr lang="en-US" sz="1300" b="1" dirty="0">
                <a:solidFill>
                  <a:schemeClr val="tx2"/>
                </a:solidFill>
              </a:rPr>
              <a:t>Delete </a:t>
            </a:r>
            <a:pPr indent="0" marL="0">
              <a:buNone/>
            </a:pPr>
            <a:r>
              <a:rPr lang="en-US" sz="1300" dirty="0">
                <a:solidFill>
                  <a:schemeClr val="tx1"/>
                </a:solidFill>
              </a:rPr>
              <a:t>dropped functions bottom-up, so line numbers stay valid</a:t>
            </a:r>
            <a:endParaRPr lang="en-US" sz="1300" dirty="0"/>
          </a:p>
        </p:txBody>
      </p:sp>
      <p:sp>
        <p:nvSpPr>
          <p:cNvPr id="15" name="Merge step bg 5"/>
          <p:cNvSpPr/>
          <p:nvPr/>
        </p:nvSpPr>
        <p:spPr>
          <a:xfrm>
            <a:off x="457200" y="4005072"/>
            <a:ext cx="384048" cy="384048"/>
          </a:xfrm>
          <a:prstGeom prst="ellipse">
            <a:avLst/>
          </a:prstGeom>
          <a:solidFill>
            <a:schemeClr val="accent1"/>
          </a:solidFill>
          <a:ln/>
        </p:spPr>
      </p:sp>
      <p:sp>
        <p:nvSpPr>
          <p:cNvPr id="16" name="Text 14"/>
          <p:cNvSpPr txBox="1"/>
          <p:nvPr/>
        </p:nvSpPr>
        <p:spPr>
          <a:xfrm>
            <a:off x="457200" y="400507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Text 15"/>
          <p:cNvSpPr txBox="1"/>
          <p:nvPr/>
        </p:nvSpPr>
        <p:spPr>
          <a:xfrm>
            <a:off x="960120" y="3931920"/>
            <a:ext cx="2560320" cy="548640"/>
          </a:xfrm>
          <a:prstGeom prst="rect">
            <a:avLst/>
          </a:prstGeom>
          <a:noFill/>
          <a:ln/>
        </p:spPr>
        <p:txBody>
          <a:bodyPr wrap="square" lIns="0" tIns="0" rIns="0" bIns="0" rtlCol="0" anchor="ctr"/>
          <a:lstStyle/>
          <a:p>
            <a:pPr indent="0" marL="0">
              <a:buNone/>
            </a:pPr>
            <a:r>
              <a:rPr lang="en-US" sz="1300" b="1" dirty="0">
                <a:solidFill>
                  <a:schemeClr val="tx2"/>
                </a:solidFill>
              </a:rPr>
              <a:t>Print </a:t>
            </a:r>
            <a:pPr indent="0" marL="0">
              <a:buNone/>
            </a:pPr>
            <a:r>
              <a:rPr lang="en-US" sz="1300" dirty="0">
                <a:solidFill>
                  <a:schemeClr val="tx1"/>
                </a:solidFill>
              </a:rPr>
              <a:t>a unified diff; --apply writes it</a:t>
            </a:r>
            <a:endParaRPr lang="en-US" sz="1300" dirty="0"/>
          </a:p>
        </p:txBody>
      </p:sp>
      <p:sp>
        <p:nvSpPr>
          <p:cNvPr id="18" name="Text 16"/>
          <p:cNvSpPr txBox="1"/>
          <p:nvPr/>
        </p:nvSpPr>
        <p:spPr>
          <a:xfrm>
            <a:off x="3749040" y="1143000"/>
            <a:ext cx="4937760" cy="274320"/>
          </a:xfrm>
          <a:prstGeom prst="rect">
            <a:avLst/>
          </a:prstGeom>
          <a:noFill/>
          <a:ln/>
        </p:spPr>
        <p:txBody>
          <a:bodyPr wrap="square" lIns="0" tIns="0" rIns="0" bIns="0" rtlCol="0" anchor="t"/>
          <a:lstStyle/>
          <a:p>
            <a:pPr indent="0" marL="0">
              <a:buNone/>
            </a:pPr>
            <a:r>
              <a:rPr lang="en-US" sz="1200" b="1" dirty="0">
                <a:solidFill>
                  <a:schemeClr val="accent6"/>
                </a:solidFill>
              </a:rPr>
              <a:t>Real preview from the demo project (abridged)</a:t>
            </a:r>
            <a:endParaRPr lang="en-US" sz="1200" dirty="0"/>
          </a:p>
        </p:txBody>
      </p:sp>
      <p:sp>
        <p:nvSpPr>
          <p:cNvPr id="19" name="Merge diff bg"/>
          <p:cNvSpPr/>
          <p:nvPr/>
        </p:nvSpPr>
        <p:spPr>
          <a:xfrm>
            <a:off x="3749040" y="1417320"/>
            <a:ext cx="4937760" cy="3154680"/>
          </a:xfrm>
          <a:prstGeom prst="roundRect">
            <a:avLst>
              <a:gd name="adj" fmla="val 2319"/>
            </a:avLst>
          </a:prstGeom>
          <a:solidFill>
            <a:schemeClr val="tx1"/>
          </a:solidFill>
          <a:ln/>
        </p:spPr>
      </p:sp>
      <p:sp>
        <p:nvSpPr>
          <p:cNvPr id="20" name="Merge diff"/>
          <p:cNvSpPr txBox="1"/>
          <p:nvPr/>
        </p:nvSpPr>
        <p:spPr>
          <a:xfrm>
            <a:off x="3931920" y="1527048"/>
            <a:ext cx="4572000" cy="2935224"/>
          </a:xfrm>
          <a:prstGeom prst="rect">
            <a:avLst/>
          </a:prstGeom>
          <a:noFill/>
          <a:ln/>
        </p:spPr>
        <p:txBody>
          <a:bodyPr wrap="square" lIns="0" tIns="0" rIns="0" bIns="0" rtlCol="0" anchor="ctr"/>
          <a:lstStyle/>
          <a:p>
            <a:pPr indent="0" marL="0">
              <a:buNone/>
            </a:pPr>
            <a:r>
              <a:rPr lang="en-US" sz="1000" dirty="0">
                <a:solidFill>
                  <a:srgbClr val="8A9A90"/>
                </a:solidFill>
                <a:latin typeface="Courier New" pitchFamily="34" charset="0"/>
                <a:ea typeface="Courier New" pitchFamily="34" charset="-122"/>
                <a:cs typeface="Courier New" pitchFamily="34" charset="-120"/>
              </a:rPr>
              <a:t>--- a/demo/features/cart.feature</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  Scenario: Remove a product again</a:t>
            </a:r>
            <a:endParaRPr lang="en-US" sz="1000" dirty="0"/>
          </a:p>
          <a:p>
            <a:pPr indent="0" marL="0">
              <a:buNone/>
            </a:pPr>
            <a:r>
              <a:rPr lang="en-US" sz="1000" dirty="0">
                <a:solidFill>
                  <a:srgbClr val="F2998A"/>
                </a:solidFill>
                <a:latin typeface="Courier New" pitchFamily="34" charset="0"/>
                <a:ea typeface="Courier New" pitchFamily="34" charset="-122"/>
                <a:cs typeface="Courier New" pitchFamily="34" charset="-120"/>
              </a:rPr>
              <a:t>-   When I put the "Sauce Labs Onesie" in my cart</a:t>
            </a:r>
            <a:endParaRPr lang="en-US" sz="1000" dirty="0"/>
          </a:p>
          <a:p>
            <a:pPr indent="0" marL="0">
              <a:buNone/>
            </a:pPr>
            <a:r>
              <a:rPr lang="en-US" sz="1000" dirty="0">
                <a:solidFill>
                  <a:srgbClr val="8FD19E"/>
                </a:solidFill>
                <a:latin typeface="Courier New" pitchFamily="34" charset="0"/>
                <a:ea typeface="Courier New" pitchFamily="34" charset="-122"/>
                <a:cs typeface="Courier New" pitchFamily="34" charset="-120"/>
              </a:rPr>
              <a:t>+   When I add "Sauce Labs Onesie" to the cart</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8A9A90"/>
                </a:solidFill>
                <a:latin typeface="Courier New" pitchFamily="34" charset="0"/>
                <a:ea typeface="Courier New" pitchFamily="34" charset="-122"/>
                <a:cs typeface="Courier New" pitchFamily="34" charset="-120"/>
              </a:rPr>
              <a:t>--- a/demo/steps/cart_steps.py</a:t>
            </a:r>
            <a:endParaRPr lang="en-US" sz="1000" dirty="0"/>
          </a:p>
          <a:p>
            <a:pPr indent="0" marL="0">
              <a:buNone/>
            </a:pPr>
            <a:r>
              <a:rPr lang="en-US" sz="1000" dirty="0">
                <a:solidFill>
                  <a:srgbClr val="F2998A"/>
                </a:solidFill>
                <a:latin typeface="Courier New" pitchFamily="34" charset="0"/>
                <a:ea typeface="Courier New" pitchFamily="34" charset="-122"/>
                <a:cs typeface="Courier New" pitchFamily="34" charset="-120"/>
              </a:rPr>
              <a:t>-@when(parsers.parse('I put the "{product}" in my cart'))</a:t>
            </a:r>
            <a:endParaRPr lang="en-US" sz="1000" dirty="0"/>
          </a:p>
          <a:p>
            <a:pPr indent="0" marL="0">
              <a:buNone/>
            </a:pPr>
            <a:r>
              <a:rPr lang="en-US" sz="1000" dirty="0">
                <a:solidFill>
                  <a:srgbClr val="F2998A"/>
                </a:solidFill>
                <a:latin typeface="Courier New" pitchFamily="34" charset="0"/>
                <a:ea typeface="Courier New" pitchFamily="34" charset="-122"/>
                <a:cs typeface="Courier New" pitchFamily="34" charset="-120"/>
              </a:rPr>
              <a:t>-def put_in_cart(page: Page, product: str):</a:t>
            </a:r>
            <a:endParaRPr lang="en-US" sz="1000" dirty="0"/>
          </a:p>
          <a:p>
            <a:pPr indent="0" marL="0">
              <a:buNone/>
            </a:pPr>
            <a:r>
              <a:rPr lang="en-US" sz="1000" dirty="0">
                <a:solidFill>
                  <a:srgbClr val="F2998A"/>
                </a:solidFill>
                <a:latin typeface="Courier New" pitchFamily="34" charset="0"/>
                <a:ea typeface="Courier New" pitchFamily="34" charset="-122"/>
                <a:cs typeface="Courier New" pitchFamily="34" charset="-120"/>
              </a:rPr>
              <a:t>-    product_button(page, product).click()</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F2C46D"/>
                </a:solidFill>
                <a:latin typeface="Courier New" pitchFamily="34" charset="0"/>
                <a:ea typeface="Courier New" pitchFamily="34" charset="-122"/>
                <a:cs typeface="Courier New" pitchFamily="34" charset="-120"/>
              </a:rPr>
              <a:t>Preview only, nothing was changed.</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check: parse every feature line and bind it</a:t>
            </a:r>
            <a:endParaRPr lang="en-US" sz="2800" dirty="0"/>
          </a:p>
        </p:txBody>
      </p:sp>
      <p:sp>
        <p:nvSpPr>
          <p:cNvPr id="3" name="Check rule 1 circle"/>
          <p:cNvSpPr/>
          <p:nvPr/>
        </p:nvSpPr>
        <p:spPr>
          <a:xfrm>
            <a:off x="457200" y="1243584"/>
            <a:ext cx="292608" cy="292608"/>
          </a:xfrm>
          <a:prstGeom prst="ellipse">
            <a:avLst/>
          </a:prstGeom>
          <a:solidFill>
            <a:schemeClr val="accent1"/>
          </a:solidFill>
          <a:ln/>
        </p:spPr>
      </p:sp>
      <p:pic>
        <p:nvPicPr>
          <p:cNvPr id="4" name="Check rule 1 icon" descr="preencoded.png">    </p:cNvPr>
          <p:cNvPicPr>
            <a:picLocks noChangeAspect="1"/>
          </p:cNvPicPr>
          <p:nvPr/>
        </p:nvPicPr>
        <p:blipFill>
          <a:blip r:embed="rId1"/>
          <a:stretch>
            <a:fillRect/>
          </a:stretch>
        </p:blipFill>
        <p:spPr>
          <a:xfrm>
            <a:off x="530352" y="1316736"/>
            <a:ext cx="146304" cy="146304"/>
          </a:xfrm>
          <a:prstGeom prst="rect">
            <a:avLst/>
          </a:prstGeom>
        </p:spPr>
      </p:pic>
      <p:sp>
        <p:nvSpPr>
          <p:cNvPr id="5" name="Text 2"/>
          <p:cNvSpPr txBox="1"/>
          <p:nvPr/>
        </p:nvSpPr>
        <p:spPr>
          <a:xfrm>
            <a:off x="868680" y="1188720"/>
            <a:ext cx="4343400" cy="438912"/>
          </a:xfrm>
          <a:prstGeom prst="rect">
            <a:avLst/>
          </a:prstGeom>
          <a:noFill/>
          <a:ln/>
        </p:spPr>
        <p:txBody>
          <a:bodyPr wrap="square" lIns="0" tIns="0" rIns="0" bIns="0" rtlCol="0" anchor="ctr"/>
          <a:lstStyle/>
          <a:p>
            <a:pPr indent="0" marL="0">
              <a:buNone/>
            </a:pPr>
            <a:r>
              <a:rPr lang="en-US" sz="1250" b="1" dirty="0">
                <a:solidFill>
                  <a:schemeClr val="tx2"/>
                </a:solidFill>
              </a:rPr>
              <a:t>And / But </a:t>
            </a:r>
            <a:pPr indent="0" marL="0">
              <a:buNone/>
            </a:pPr>
            <a:r>
              <a:rPr lang="en-US" sz="1250" dirty="0">
                <a:solidFill>
                  <a:schemeClr val="tx1"/>
                </a:solidFill>
              </a:rPr>
              <a:t>inherit the previous keyword</a:t>
            </a:r>
            <a:endParaRPr lang="en-US" sz="1250" dirty="0"/>
          </a:p>
        </p:txBody>
      </p:sp>
      <p:sp>
        <p:nvSpPr>
          <p:cNvPr id="6" name="Check rule 2 circle"/>
          <p:cNvSpPr/>
          <p:nvPr/>
        </p:nvSpPr>
        <p:spPr>
          <a:xfrm>
            <a:off x="457200" y="1682496"/>
            <a:ext cx="292608" cy="292608"/>
          </a:xfrm>
          <a:prstGeom prst="ellipse">
            <a:avLst/>
          </a:prstGeom>
          <a:solidFill>
            <a:schemeClr val="accent1"/>
          </a:solidFill>
          <a:ln/>
        </p:spPr>
      </p:sp>
      <p:pic>
        <p:nvPicPr>
          <p:cNvPr id="7" name="Check rule 2 icon" descr="preencoded.png">    </p:cNvPr>
          <p:cNvPicPr>
            <a:picLocks noChangeAspect="1"/>
          </p:cNvPicPr>
          <p:nvPr/>
        </p:nvPicPr>
        <p:blipFill>
          <a:blip r:embed="rId2"/>
          <a:stretch>
            <a:fillRect/>
          </a:stretch>
        </p:blipFill>
        <p:spPr>
          <a:xfrm>
            <a:off x="530352" y="1755648"/>
            <a:ext cx="146304" cy="146304"/>
          </a:xfrm>
          <a:prstGeom prst="rect">
            <a:avLst/>
          </a:prstGeom>
        </p:spPr>
      </p:pic>
      <p:sp>
        <p:nvSpPr>
          <p:cNvPr id="8" name="Text 4"/>
          <p:cNvSpPr txBox="1"/>
          <p:nvPr/>
        </p:nvSpPr>
        <p:spPr>
          <a:xfrm>
            <a:off x="868680" y="1627632"/>
            <a:ext cx="4343400" cy="438912"/>
          </a:xfrm>
          <a:prstGeom prst="rect">
            <a:avLst/>
          </a:prstGeom>
          <a:noFill/>
          <a:ln/>
        </p:spPr>
        <p:txBody>
          <a:bodyPr wrap="square" lIns="0" tIns="0" rIns="0" bIns="0" rtlCol="0" anchor="ctr"/>
          <a:lstStyle/>
          <a:p>
            <a:pPr indent="0" marL="0">
              <a:buNone/>
            </a:pPr>
            <a:r>
              <a:rPr lang="en-US" sz="1250" b="1" dirty="0">
                <a:solidFill>
                  <a:schemeClr val="tx2"/>
                </a:solidFill>
              </a:rPr>
              <a:t>Outlines </a:t>
            </a:r>
            <a:pPr indent="0" marL="0">
              <a:buNone/>
            </a:pPr>
            <a:r>
              <a:rPr lang="en-US" sz="1250" dirty="0">
                <a:solidFill>
                  <a:schemeClr val="tx1"/>
                </a:solidFill>
              </a:rPr>
              <a:t>are filled from the first Examples row</a:t>
            </a:r>
            <a:endParaRPr lang="en-US" sz="1250" dirty="0"/>
          </a:p>
        </p:txBody>
      </p:sp>
      <p:sp>
        <p:nvSpPr>
          <p:cNvPr id="9" name="Check rule 3 circle"/>
          <p:cNvSpPr/>
          <p:nvPr/>
        </p:nvSpPr>
        <p:spPr>
          <a:xfrm>
            <a:off x="457200" y="2121408"/>
            <a:ext cx="292608" cy="292608"/>
          </a:xfrm>
          <a:prstGeom prst="ellipse">
            <a:avLst/>
          </a:prstGeom>
          <a:solidFill>
            <a:schemeClr val="accent1"/>
          </a:solidFill>
          <a:ln/>
        </p:spPr>
      </p:sp>
      <p:pic>
        <p:nvPicPr>
          <p:cNvPr id="10" name="Check rule 3 icon" descr="preencoded.png">    </p:cNvPr>
          <p:cNvPicPr>
            <a:picLocks noChangeAspect="1"/>
          </p:cNvPicPr>
          <p:nvPr/>
        </p:nvPicPr>
        <p:blipFill>
          <a:blip r:embed="rId3"/>
          <a:stretch>
            <a:fillRect/>
          </a:stretch>
        </p:blipFill>
        <p:spPr>
          <a:xfrm>
            <a:off x="530352" y="2194560"/>
            <a:ext cx="146304" cy="146304"/>
          </a:xfrm>
          <a:prstGeom prst="rect">
            <a:avLst/>
          </a:prstGeom>
        </p:spPr>
      </p:pic>
      <p:sp>
        <p:nvSpPr>
          <p:cNvPr id="11" name="Text 6"/>
          <p:cNvSpPr txBox="1"/>
          <p:nvPr/>
        </p:nvSpPr>
        <p:spPr>
          <a:xfrm>
            <a:off x="868680" y="2066544"/>
            <a:ext cx="4343400" cy="438912"/>
          </a:xfrm>
          <a:prstGeom prst="rect">
            <a:avLst/>
          </a:prstGeom>
          <a:noFill/>
          <a:ln/>
        </p:spPr>
        <p:txBody>
          <a:bodyPr wrap="square" lIns="0" tIns="0" rIns="0" bIns="0" rtlCol="0" anchor="ctr"/>
          <a:lstStyle/>
          <a:p>
            <a:pPr indent="0" marL="0">
              <a:buNone/>
            </a:pPr>
            <a:r>
              <a:rPr lang="en-US" sz="1250" b="1" dirty="0">
                <a:solidFill>
                  <a:schemeClr val="tx2"/>
                </a:solidFill>
              </a:rPr>
              <a:t>Binds </a:t>
            </a:r>
            <a:pPr indent="0" marL="0">
              <a:buNone/>
            </a:pPr>
            <a:r>
              <a:rPr lang="en-US" sz="1250" dirty="0">
                <a:solidFill>
                  <a:schemeClr val="tx1"/>
                </a:solidFill>
              </a:rPr>
              <a:t>if the keyword matches (or is step) and the regex matches</a:t>
            </a:r>
            <a:endParaRPr lang="en-US" sz="1250" dirty="0"/>
          </a:p>
        </p:txBody>
      </p:sp>
      <p:sp>
        <p:nvSpPr>
          <p:cNvPr id="12" name="Check rule 4 circle"/>
          <p:cNvSpPr/>
          <p:nvPr/>
        </p:nvSpPr>
        <p:spPr>
          <a:xfrm>
            <a:off x="457200" y="2560320"/>
            <a:ext cx="292608" cy="292608"/>
          </a:xfrm>
          <a:prstGeom prst="ellipse">
            <a:avLst/>
          </a:prstGeom>
          <a:solidFill>
            <a:schemeClr val="accent1"/>
          </a:solidFill>
          <a:ln/>
        </p:spPr>
      </p:sp>
      <p:pic>
        <p:nvPicPr>
          <p:cNvPr id="13" name="Check rule 4 icon" descr="preencoded.png">    </p:cNvPr>
          <p:cNvPicPr>
            <a:picLocks noChangeAspect="1"/>
          </p:cNvPicPr>
          <p:nvPr/>
        </p:nvPicPr>
        <p:blipFill>
          <a:blip r:embed="rId4"/>
          <a:stretch>
            <a:fillRect/>
          </a:stretch>
        </p:blipFill>
        <p:spPr>
          <a:xfrm>
            <a:off x="530352" y="2633472"/>
            <a:ext cx="146304" cy="146304"/>
          </a:xfrm>
          <a:prstGeom prst="rect">
            <a:avLst/>
          </a:prstGeom>
        </p:spPr>
      </p:pic>
      <p:sp>
        <p:nvSpPr>
          <p:cNvPr id="14" name="Text 8"/>
          <p:cNvSpPr txBox="1"/>
          <p:nvPr/>
        </p:nvSpPr>
        <p:spPr>
          <a:xfrm>
            <a:off x="868680" y="2505456"/>
            <a:ext cx="4343400" cy="438912"/>
          </a:xfrm>
          <a:prstGeom prst="rect">
            <a:avLst/>
          </a:prstGeom>
          <a:noFill/>
          <a:ln/>
        </p:spPr>
        <p:txBody>
          <a:bodyPr wrap="square" lIns="0" tIns="0" rIns="0" bIns="0" rtlCol="0" anchor="ctr"/>
          <a:lstStyle/>
          <a:p>
            <a:pPr indent="0" marL="0">
              <a:buNone/>
            </a:pPr>
            <a:r>
              <a:rPr lang="en-US" sz="1250" b="1" dirty="0">
                <a:solidFill>
                  <a:schemeClr val="tx2"/>
                </a:solidFill>
              </a:rPr>
              <a:t>Background, tags, doc strings, tables </a:t>
            </a:r>
            <a:pPr indent="0" marL="0">
              <a:buNone/>
            </a:pPr>
            <a:r>
              <a:rPr lang="en-US" sz="1250" dirty="0">
                <a:solidFill>
                  <a:schemeClr val="tx1"/>
                </a:solidFill>
              </a:rPr>
              <a:t>are handled</a:t>
            </a:r>
            <a:endParaRPr lang="en-US" sz="1250" dirty="0"/>
          </a:p>
        </p:txBody>
      </p:sp>
      <p:sp>
        <p:nvSpPr>
          <p:cNvPr id="15" name="Status ok"/>
          <p:cNvSpPr/>
          <p:nvPr/>
        </p:nvSpPr>
        <p:spPr>
          <a:xfrm>
            <a:off x="5486400" y="1188720"/>
            <a:ext cx="3200400" cy="493776"/>
          </a:xfrm>
          <a:prstGeom prst="roundRect">
            <a:avLst>
              <a:gd name="adj" fmla="val 14815"/>
            </a:avLst>
          </a:prstGeom>
          <a:solidFill>
            <a:schemeClr val="accent5"/>
          </a:solidFill>
          <a:ln/>
        </p:spPr>
      </p:sp>
      <p:sp>
        <p:nvSpPr>
          <p:cNvPr id="16" name="Text 10"/>
          <p:cNvSpPr txBox="1"/>
          <p:nvPr/>
        </p:nvSpPr>
        <p:spPr>
          <a:xfrm>
            <a:off x="5623560" y="1188720"/>
            <a:ext cx="3017520" cy="493776"/>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ok  </a:t>
            </a:r>
            <a:pPr indent="0" marL="0">
              <a:buNone/>
            </a:pPr>
            <a:r>
              <a:rPr lang="en-US" sz="1200" dirty="0">
                <a:solidFill>
                  <a:schemeClr val="tx1"/>
                </a:solidFill>
              </a:rPr>
              <a:t>exactly one definition binds</a:t>
            </a:r>
            <a:endParaRPr lang="en-US" sz="1200" dirty="0"/>
          </a:p>
        </p:txBody>
      </p:sp>
      <p:sp>
        <p:nvSpPr>
          <p:cNvPr id="17" name="Status missing"/>
          <p:cNvSpPr/>
          <p:nvPr/>
        </p:nvSpPr>
        <p:spPr>
          <a:xfrm>
            <a:off x="5486400" y="1773936"/>
            <a:ext cx="3200400" cy="493776"/>
          </a:xfrm>
          <a:prstGeom prst="roundRect">
            <a:avLst>
              <a:gd name="adj" fmla="val 14815"/>
            </a:avLst>
          </a:prstGeom>
          <a:solidFill>
            <a:srgbClr val="FDF0D9"/>
          </a:solidFill>
          <a:ln/>
        </p:spPr>
      </p:sp>
      <p:sp>
        <p:nvSpPr>
          <p:cNvPr id="18" name="Text 12"/>
          <p:cNvSpPr txBox="1"/>
          <p:nvPr/>
        </p:nvSpPr>
        <p:spPr>
          <a:xfrm>
            <a:off x="5623560" y="1773936"/>
            <a:ext cx="3017520" cy="493776"/>
          </a:xfrm>
          <a:prstGeom prst="rect">
            <a:avLst/>
          </a:prstGeom>
          <a:noFill/>
          <a:ln/>
        </p:spPr>
        <p:txBody>
          <a:bodyPr wrap="square" lIns="0" tIns="0" rIns="0" bIns="0" rtlCol="0" anchor="ctr"/>
          <a:lstStyle/>
          <a:p>
            <a:pPr indent="0" marL="0">
              <a:buNone/>
            </a:pPr>
            <a:r>
              <a:rPr lang="en-US" sz="1200" b="1" dirty="0">
                <a:solidFill>
                  <a:srgbClr val="B5761A"/>
                </a:solidFill>
                <a:latin typeface="Courier New" pitchFamily="34" charset="0"/>
                <a:ea typeface="Courier New" pitchFamily="34" charset="-122"/>
                <a:cs typeface="Courier New" pitchFamily="34" charset="-120"/>
              </a:rPr>
              <a:t>missing  </a:t>
            </a:r>
            <a:pPr indent="0" marL="0">
              <a:buNone/>
            </a:pPr>
            <a:r>
              <a:rPr lang="en-US" sz="1200" dirty="0">
                <a:solidFill>
                  <a:schemeClr val="tx1"/>
                </a:solidFill>
              </a:rPr>
              <a:t>none binds; suggests close matches</a:t>
            </a:r>
            <a:endParaRPr lang="en-US" sz="1200" dirty="0"/>
          </a:p>
        </p:txBody>
      </p:sp>
      <p:sp>
        <p:nvSpPr>
          <p:cNvPr id="19" name="Status ambiguous"/>
          <p:cNvSpPr/>
          <p:nvPr/>
        </p:nvSpPr>
        <p:spPr>
          <a:xfrm>
            <a:off x="5486400" y="2359152"/>
            <a:ext cx="3200400" cy="493776"/>
          </a:xfrm>
          <a:prstGeom prst="roundRect">
            <a:avLst>
              <a:gd name="adj" fmla="val 14815"/>
            </a:avLst>
          </a:prstGeom>
          <a:solidFill>
            <a:srgbClr val="FBE9E5"/>
          </a:solidFill>
          <a:ln/>
        </p:spPr>
      </p:sp>
      <p:sp>
        <p:nvSpPr>
          <p:cNvPr id="20" name="Text 14"/>
          <p:cNvSpPr txBox="1"/>
          <p:nvPr/>
        </p:nvSpPr>
        <p:spPr>
          <a:xfrm>
            <a:off x="5623560" y="2359152"/>
            <a:ext cx="3017520" cy="493776"/>
          </a:xfrm>
          <a:prstGeom prst="rect">
            <a:avLst/>
          </a:prstGeom>
          <a:noFill/>
          <a:ln/>
        </p:spPr>
        <p:txBody>
          <a:bodyPr wrap="square" lIns="0" tIns="0" rIns="0" bIns="0" rtlCol="0" anchor="ctr"/>
          <a:lstStyle/>
          <a:p>
            <a:pPr indent="0" marL="0">
              <a:buNone/>
            </a:pPr>
            <a:r>
              <a:rPr lang="en-US" sz="1200" b="1" dirty="0">
                <a:solidFill>
                  <a:schemeClr val="accent4"/>
                </a:solidFill>
                <a:latin typeface="Courier New" pitchFamily="34" charset="0"/>
                <a:ea typeface="Courier New" pitchFamily="34" charset="-122"/>
                <a:cs typeface="Courier New" pitchFamily="34" charset="-120"/>
              </a:rPr>
              <a:t>ambiguous  </a:t>
            </a:r>
            <a:pPr indent="0" marL="0">
              <a:buNone/>
            </a:pPr>
            <a:r>
              <a:rPr lang="en-US" sz="1200" dirty="0">
                <a:solidFill>
                  <a:schemeClr val="tx1"/>
                </a:solidFill>
              </a:rPr>
              <a:t>more than one binds</a:t>
            </a:r>
            <a:endParaRPr lang="en-US" sz="1200" dirty="0"/>
          </a:p>
        </p:txBody>
      </p:sp>
      <p:sp>
        <p:nvSpPr>
          <p:cNvPr id="21" name="Check output bg"/>
          <p:cNvSpPr/>
          <p:nvPr/>
        </p:nvSpPr>
        <p:spPr>
          <a:xfrm>
            <a:off x="457200" y="3017520"/>
            <a:ext cx="8229600" cy="1600200"/>
          </a:xfrm>
          <a:prstGeom prst="roundRect">
            <a:avLst>
              <a:gd name="adj" fmla="val 4571"/>
            </a:avLst>
          </a:prstGeom>
          <a:solidFill>
            <a:schemeClr val="tx1"/>
          </a:solidFill>
          <a:ln/>
        </p:spPr>
      </p:sp>
      <p:sp>
        <p:nvSpPr>
          <p:cNvPr id="22" name="Check output"/>
          <p:cNvSpPr txBox="1"/>
          <p:nvPr/>
        </p:nvSpPr>
        <p:spPr>
          <a:xfrm>
            <a:off x="640080" y="3127248"/>
            <a:ext cx="7863840" cy="1380744"/>
          </a:xfrm>
          <a:prstGeom prst="rect">
            <a:avLst/>
          </a:prstGeom>
          <a:noFill/>
          <a:ln/>
        </p:spPr>
        <p:txBody>
          <a:bodyPr wrap="square" lIns="0" tIns="0" rIns="0" bIns="0" rtlCol="0" anchor="ctr"/>
          <a:lstStyle/>
          <a:p>
            <a:pPr indent="0" marL="0">
              <a:buNone/>
            </a:pPr>
            <a:r>
              <a:rPr lang="en-US" sz="1000" dirty="0">
                <a:solidFill>
                  <a:srgbClr val="8A9A90"/>
                </a:solidFill>
                <a:latin typeface="Courier New" pitchFamily="34" charset="0"/>
                <a:ea typeface="Courier New" pitchFamily="34" charset="-122"/>
                <a:cs typeface="Courier New" pitchFamily="34" charset="-120"/>
              </a:rPr>
              <a:t>$ </a:t>
            </a:r>
            <a:pPr indent="0" marL="0">
              <a:buNone/>
            </a:pPr>
            <a:r>
              <a:rPr lang="en-US" sz="1000" b="1" dirty="0">
                <a:solidFill>
                  <a:srgbClr val="E6EDE8"/>
                </a:solidFill>
                <a:latin typeface="Courier New" pitchFamily="34" charset="0"/>
                <a:ea typeface="Courier New" pitchFamily="34" charset="-122"/>
                <a:cs typeface="Courier New" pitchFamily="34" charset="-120"/>
              </a:rPr>
              <a:t>gherkin-copilot check demo/drafts</a:t>
            </a:r>
            <a:endParaRPr lang="en-US" sz="1000" dirty="0"/>
          </a:p>
          <a:p>
            <a:pPr indent="0" marL="0">
              <a:buNone/>
            </a:pPr>
            <a:r>
              <a:rPr lang="en-US" sz="1000" dirty="0">
                <a:solidFill>
                  <a:srgbClr val="8FD19E"/>
                </a:solidFill>
                <a:latin typeface="Courier New" pitchFamily="34" charset="0"/>
                <a:ea typeface="Courier New" pitchFamily="34" charset="-122"/>
                <a:cs typeface="Courier New" pitchFamily="34" charset="-120"/>
              </a:rPr>
              <a:t>  ✓   7  Given I am logged in as "standard_user"        </a:t>
            </a:r>
            <a:pPr indent="0" marL="0">
              <a:buNone/>
            </a:pPr>
            <a:r>
              <a:rPr lang="en-US" sz="1000" dirty="0">
                <a:solidFill>
                  <a:srgbClr val="8A9A90"/>
                </a:solidFill>
                <a:latin typeface="Courier New" pitchFamily="34" charset="0"/>
                <a:ea typeface="Courier New" pitchFamily="34" charset="-122"/>
                <a:cs typeface="Courier New" pitchFamily="34" charset="-120"/>
              </a:rPr>
              <a:t>login_steps.py:27</a:t>
            </a:r>
            <a:endParaRPr lang="en-US" sz="1000" dirty="0"/>
          </a:p>
          <a:p>
            <a:pPr indent="0" marL="0">
              <a:buNone/>
            </a:pPr>
            <a:r>
              <a:rPr lang="en-US" sz="1000" dirty="0">
                <a:solidFill>
                  <a:srgbClr val="8FD19E"/>
                </a:solidFill>
                <a:latin typeface="Courier New" pitchFamily="34" charset="0"/>
                <a:ea typeface="Courier New" pitchFamily="34" charset="-122"/>
                <a:cs typeface="Courier New" pitchFamily="34" charset="-120"/>
              </a:rPr>
              <a:t>  ✓   8  When I add "Sauce Labs Backpack" to the cart   </a:t>
            </a:r>
            <a:pPr indent="0" marL="0">
              <a:buNone/>
            </a:pPr>
            <a:r>
              <a:rPr lang="en-US" sz="1000" dirty="0">
                <a:solidFill>
                  <a:srgbClr val="8A9A90"/>
                </a:solidFill>
                <a:latin typeface="Courier New" pitchFamily="34" charset="0"/>
                <a:ea typeface="Courier New" pitchFamily="34" charset="-122"/>
                <a:cs typeface="Courier New" pitchFamily="34" charset="-120"/>
              </a:rPr>
              <a:t>cart_steps.py:11</a:t>
            </a:r>
            <a:endParaRPr lang="en-US" sz="1000" dirty="0"/>
          </a:p>
          <a:p>
            <a:pPr indent="0" marL="0">
              <a:buNone/>
            </a:pPr>
            <a:r>
              <a:rPr lang="en-US" sz="1000" dirty="0">
                <a:solidFill>
                  <a:srgbClr val="F2C46D"/>
                </a:solidFill>
                <a:latin typeface="Courier New" pitchFamily="34" charset="0"/>
                <a:ea typeface="Courier New" pitchFamily="34" charset="-122"/>
                <a:cs typeface="Courier New" pitchFamily="34" charset="-120"/>
              </a:rPr>
              <a:t>  ✗   9  And I open the cart page</a:t>
            </a:r>
            <a:endParaRPr lang="en-US" sz="1000" dirty="0"/>
          </a:p>
          <a:p>
            <a:pPr indent="0" marL="0">
              <a:buNone/>
            </a:pPr>
            <a:r>
              <a:rPr lang="en-US" sz="1000" dirty="0">
                <a:solidFill>
                  <a:srgbClr val="F2C46D"/>
                </a:solidFill>
                <a:latin typeface="Courier New" pitchFamily="34" charset="0"/>
                <a:ea typeface="Courier New" pitchFamily="34" charset="-122"/>
                <a:cs typeface="Courier New" pitchFamily="34" charset="-120"/>
              </a:rPr>
              <a:t>  ✗  10  And I go to checkout</a:t>
            </a:r>
            <a:endParaRPr lang="en-US" sz="1000" dirty="0"/>
          </a:p>
          <a:p>
            <a:pPr indent="0" marL="0">
              <a:buNone/>
            </a:pPr>
            <a:r>
              <a:rPr lang="en-US" sz="1000" dirty="0">
                <a:solidFill>
                  <a:srgbClr val="F2C46D"/>
                </a:solidFill>
                <a:latin typeface="Courier New" pitchFamily="34" charset="0"/>
                <a:ea typeface="Courier New" pitchFamily="34" charset="-122"/>
                <a:cs typeface="Courier New" pitchFamily="34" charset="-120"/>
              </a:rPr>
              <a:t>  ✗  11  And I enter my details "Ada" "Lovelace" "90210"</a:t>
            </a:r>
            <a:endParaRPr lang="en-US" sz="1000" dirty="0"/>
          </a:p>
          <a:p>
            <a:pPr indent="0" marL="0">
              <a:buNone/>
            </a:pPr>
            <a:r>
              <a:rPr lang="en-US" sz="1000" dirty="0">
                <a:solidFill>
                  <a:srgbClr val="F2C46D"/>
                </a:solidFill>
                <a:latin typeface="Courier New" pitchFamily="34" charset="0"/>
                <a:ea typeface="Courier New" pitchFamily="34" charset="-122"/>
                <a:cs typeface="Courier New" pitchFamily="34" charset="-120"/>
              </a:rPr>
              <a:t>  ✗  12  Then the order total is "$29.99"</a:t>
            </a:r>
            <a:endParaRPr lang="en-US" sz="1000" dirty="0"/>
          </a:p>
          <a:p>
            <a:pPr indent="0" marL="0">
              <a:buNone/>
            </a:pPr>
            <a:r>
              <a:rPr lang="en-US" sz="1000" b="1" dirty="0">
                <a:solidFill>
                  <a:srgbClr val="E6EDE8"/>
                </a:solidFill>
                <a:latin typeface="Courier New" pitchFamily="34" charset="0"/>
                <a:ea typeface="Courier New" pitchFamily="34" charset="-122"/>
                <a:cs typeface="Courier New" pitchFamily="34" charset="-120"/>
              </a:rPr>
              <a:t>6 steps: 2 ok, 4 missing, 0 ambiguous</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--stubs: draft the boilerplate for missing steps</a:t>
            </a:r>
            <a:endParaRPr lang="en-US" sz="2800" dirty="0"/>
          </a:p>
        </p:txBody>
      </p:sp>
      <p:sp>
        <p:nvSpPr>
          <p:cNvPr id="3" name="Stub rule 1 circle"/>
          <p:cNvSpPr/>
          <p:nvPr/>
        </p:nvSpPr>
        <p:spPr>
          <a:xfrm>
            <a:off x="457200" y="1353312"/>
            <a:ext cx="292608" cy="292608"/>
          </a:xfrm>
          <a:prstGeom prst="ellipse">
            <a:avLst/>
          </a:prstGeom>
          <a:solidFill>
            <a:schemeClr val="accent2"/>
          </a:solidFill>
          <a:ln/>
        </p:spPr>
      </p:sp>
      <p:pic>
        <p:nvPicPr>
          <p:cNvPr id="4" name="Stub rule 1 icon" descr="preencoded.png">    </p:cNvPr>
          <p:cNvPicPr>
            <a:picLocks noChangeAspect="1"/>
          </p:cNvPicPr>
          <p:nvPr/>
        </p:nvPicPr>
        <p:blipFill>
          <a:blip r:embed="rId1"/>
          <a:stretch>
            <a:fillRect/>
          </a:stretch>
        </p:blipFill>
        <p:spPr>
          <a:xfrm>
            <a:off x="530352" y="1426464"/>
            <a:ext cx="146304" cy="146304"/>
          </a:xfrm>
          <a:prstGeom prst="rect">
            <a:avLst/>
          </a:prstGeom>
        </p:spPr>
      </p:pic>
      <p:sp>
        <p:nvSpPr>
          <p:cNvPr id="5" name="Text 2"/>
          <p:cNvSpPr txBox="1"/>
          <p:nvPr/>
        </p:nvSpPr>
        <p:spPr>
          <a:xfrm>
            <a:off x="868680" y="1188720"/>
            <a:ext cx="2880360" cy="658368"/>
          </a:xfrm>
          <a:prstGeom prst="rect">
            <a:avLst/>
          </a:prstGeom>
          <a:noFill/>
          <a:ln/>
        </p:spPr>
        <p:txBody>
          <a:bodyPr wrap="square" lIns="0" tIns="0" rIns="0" bIns="0" rtlCol="0" anchor="ctr"/>
          <a:lstStyle/>
          <a:p>
            <a:pPr indent="0" marL="0">
              <a:buNone/>
            </a:pPr>
            <a:r>
              <a:rPr lang="en-US" sz="1250" b="1" dirty="0">
                <a:solidFill>
                  <a:schemeClr val="tx2"/>
                </a:solidFill>
              </a:rPr>
              <a:t>Quoted values </a:t>
            </a:r>
            <a:pPr indent="0" marL="0">
              <a:buNone/>
            </a:pPr>
            <a:r>
              <a:rPr lang="en-US" sz="1250" dirty="0">
                <a:solidFill>
                  <a:schemeClr val="tx1"/>
                </a:solidFill>
              </a:rPr>
              <a:t>become "{text1}", "{text2}"…</a:t>
            </a:r>
            <a:endParaRPr lang="en-US" sz="1250" dirty="0"/>
          </a:p>
        </p:txBody>
      </p:sp>
      <p:sp>
        <p:nvSpPr>
          <p:cNvPr id="6" name="Stub rule 2 circle"/>
          <p:cNvSpPr/>
          <p:nvPr/>
        </p:nvSpPr>
        <p:spPr>
          <a:xfrm>
            <a:off x="457200" y="2011680"/>
            <a:ext cx="292608" cy="292608"/>
          </a:xfrm>
          <a:prstGeom prst="ellipse">
            <a:avLst/>
          </a:prstGeom>
          <a:solidFill>
            <a:schemeClr val="accent2"/>
          </a:solidFill>
          <a:ln/>
        </p:spPr>
      </p:sp>
      <p:pic>
        <p:nvPicPr>
          <p:cNvPr id="7" name="Stub rule 2 icon" descr="preencoded.png">    </p:cNvPr>
          <p:cNvPicPr>
            <a:picLocks noChangeAspect="1"/>
          </p:cNvPicPr>
          <p:nvPr/>
        </p:nvPicPr>
        <p:blipFill>
          <a:blip r:embed="rId2"/>
          <a:stretch>
            <a:fillRect/>
          </a:stretch>
        </p:blipFill>
        <p:spPr>
          <a:xfrm>
            <a:off x="530352" y="2084832"/>
            <a:ext cx="146304" cy="146304"/>
          </a:xfrm>
          <a:prstGeom prst="rect">
            <a:avLst/>
          </a:prstGeom>
        </p:spPr>
      </p:pic>
      <p:sp>
        <p:nvSpPr>
          <p:cNvPr id="8" name="Text 4"/>
          <p:cNvSpPr txBox="1"/>
          <p:nvPr/>
        </p:nvSpPr>
        <p:spPr>
          <a:xfrm>
            <a:off x="868680" y="1847088"/>
            <a:ext cx="2880360" cy="658368"/>
          </a:xfrm>
          <a:prstGeom prst="rect">
            <a:avLst/>
          </a:prstGeom>
          <a:noFill/>
          <a:ln/>
        </p:spPr>
        <p:txBody>
          <a:bodyPr wrap="square" lIns="0" tIns="0" rIns="0" bIns="0" rtlCol="0" anchor="ctr"/>
          <a:lstStyle/>
          <a:p>
            <a:pPr indent="0" marL="0">
              <a:buNone/>
            </a:pPr>
            <a:r>
              <a:rPr lang="en-US" sz="1250" b="1" dirty="0">
                <a:solidFill>
                  <a:schemeClr val="tx2"/>
                </a:solidFill>
              </a:rPr>
              <a:t>Numbers </a:t>
            </a:r>
            <a:pPr indent="0" marL="0">
              <a:buNone/>
            </a:pPr>
            <a:r>
              <a:rPr lang="en-US" sz="1250" dirty="0">
                <a:solidFill>
                  <a:schemeClr val="tx1"/>
                </a:solidFill>
              </a:rPr>
              <a:t>become {number1:d}, or :g for decimals</a:t>
            </a:r>
            <a:endParaRPr lang="en-US" sz="1250" dirty="0"/>
          </a:p>
        </p:txBody>
      </p:sp>
      <p:sp>
        <p:nvSpPr>
          <p:cNvPr id="9" name="Stub rule 3 circle"/>
          <p:cNvSpPr/>
          <p:nvPr/>
        </p:nvSpPr>
        <p:spPr>
          <a:xfrm>
            <a:off x="457200" y="2670048"/>
            <a:ext cx="292608" cy="292608"/>
          </a:xfrm>
          <a:prstGeom prst="ellipse">
            <a:avLst/>
          </a:prstGeom>
          <a:solidFill>
            <a:schemeClr val="accent2"/>
          </a:solidFill>
          <a:ln/>
        </p:spPr>
      </p:sp>
      <p:pic>
        <p:nvPicPr>
          <p:cNvPr id="10" name="Stub rule 3 icon" descr="preencoded.png">    </p:cNvPr>
          <p:cNvPicPr>
            <a:picLocks noChangeAspect="1"/>
          </p:cNvPicPr>
          <p:nvPr/>
        </p:nvPicPr>
        <p:blipFill>
          <a:blip r:embed="rId3"/>
          <a:stretch>
            <a:fillRect/>
          </a:stretch>
        </p:blipFill>
        <p:spPr>
          <a:xfrm>
            <a:off x="530352" y="2743200"/>
            <a:ext cx="146304" cy="146304"/>
          </a:xfrm>
          <a:prstGeom prst="rect">
            <a:avLst/>
          </a:prstGeom>
        </p:spPr>
      </p:pic>
      <p:sp>
        <p:nvSpPr>
          <p:cNvPr id="11" name="Text 6"/>
          <p:cNvSpPr txBox="1"/>
          <p:nvPr/>
        </p:nvSpPr>
        <p:spPr>
          <a:xfrm>
            <a:off x="868680" y="2505456"/>
            <a:ext cx="2880360" cy="658368"/>
          </a:xfrm>
          <a:prstGeom prst="rect">
            <a:avLst/>
          </a:prstGeom>
          <a:noFill/>
          <a:ln/>
        </p:spPr>
        <p:txBody>
          <a:bodyPr wrap="square" lIns="0" tIns="0" rIns="0" bIns="0" rtlCol="0" anchor="ctr"/>
          <a:lstStyle/>
          <a:p>
            <a:pPr indent="0" marL="0">
              <a:buNone/>
            </a:pPr>
            <a:r>
              <a:rPr lang="en-US" sz="1250" b="1" dirty="0">
                <a:solidFill>
                  <a:schemeClr val="tx2"/>
                </a:solidFill>
              </a:rPr>
              <a:t>Keyword </a:t>
            </a:r>
            <a:pPr indent="0" marL="0">
              <a:buNone/>
            </a:pPr>
            <a:r>
              <a:rPr lang="en-US" sz="1250" dirty="0">
                <a:solidFill>
                  <a:schemeClr val="tx1"/>
                </a:solidFill>
              </a:rPr>
              <a:t>comes from the line (And resolved, so And here is When)</a:t>
            </a:r>
            <a:endParaRPr lang="en-US" sz="1250" dirty="0"/>
          </a:p>
        </p:txBody>
      </p:sp>
      <p:sp>
        <p:nvSpPr>
          <p:cNvPr id="12" name="Stub rule 4 circle"/>
          <p:cNvSpPr/>
          <p:nvPr/>
        </p:nvSpPr>
        <p:spPr>
          <a:xfrm>
            <a:off x="457200" y="3328416"/>
            <a:ext cx="292608" cy="292608"/>
          </a:xfrm>
          <a:prstGeom prst="ellipse">
            <a:avLst/>
          </a:prstGeom>
          <a:solidFill>
            <a:schemeClr val="accent2"/>
          </a:solidFill>
          <a:ln/>
        </p:spPr>
      </p:sp>
      <p:pic>
        <p:nvPicPr>
          <p:cNvPr id="13" name="Stub rule 4 icon" descr="preencoded.png">    </p:cNvPr>
          <p:cNvPicPr>
            <a:picLocks noChangeAspect="1"/>
          </p:cNvPicPr>
          <p:nvPr/>
        </p:nvPicPr>
        <p:blipFill>
          <a:blip r:embed="rId4"/>
          <a:stretch>
            <a:fillRect/>
          </a:stretch>
        </p:blipFill>
        <p:spPr>
          <a:xfrm>
            <a:off x="530352" y="3401568"/>
            <a:ext cx="146304" cy="146304"/>
          </a:xfrm>
          <a:prstGeom prst="rect">
            <a:avLst/>
          </a:prstGeom>
        </p:spPr>
      </p:pic>
      <p:sp>
        <p:nvSpPr>
          <p:cNvPr id="14" name="Text 8"/>
          <p:cNvSpPr txBox="1"/>
          <p:nvPr/>
        </p:nvSpPr>
        <p:spPr>
          <a:xfrm>
            <a:off x="868680" y="3163824"/>
            <a:ext cx="2880360" cy="658368"/>
          </a:xfrm>
          <a:prstGeom prst="rect">
            <a:avLst/>
          </a:prstGeom>
          <a:noFill/>
          <a:ln/>
        </p:spPr>
        <p:txBody>
          <a:bodyPr wrap="square" lIns="0" tIns="0" rIns="0" bIns="0" rtlCol="0" anchor="ctr"/>
          <a:lstStyle/>
          <a:p>
            <a:pPr indent="0" marL="0">
              <a:buNone/>
            </a:pPr>
            <a:r>
              <a:rPr lang="en-US" sz="1250" b="1" dirty="0">
                <a:solidFill>
                  <a:schemeClr val="tx2"/>
                </a:solidFill>
              </a:rPr>
              <a:t>Function name </a:t>
            </a:r>
            <a:pPr indent="0" marL="0">
              <a:buNone/>
            </a:pPr>
            <a:r>
              <a:rPr lang="en-US" sz="1250" dirty="0">
                <a:solidFill>
                  <a:schemeClr val="tx1"/>
                </a:solidFill>
              </a:rPr>
              <a:t>is the wording without values, slugified</a:t>
            </a:r>
            <a:endParaRPr lang="en-US" sz="1250" dirty="0"/>
          </a:p>
        </p:txBody>
      </p:sp>
      <p:sp>
        <p:nvSpPr>
          <p:cNvPr id="15" name="Stub rule 5 circle"/>
          <p:cNvSpPr/>
          <p:nvPr/>
        </p:nvSpPr>
        <p:spPr>
          <a:xfrm>
            <a:off x="457200" y="3986784"/>
            <a:ext cx="292608" cy="292608"/>
          </a:xfrm>
          <a:prstGeom prst="ellipse">
            <a:avLst/>
          </a:prstGeom>
          <a:solidFill>
            <a:schemeClr val="accent2"/>
          </a:solidFill>
          <a:ln/>
        </p:spPr>
      </p:sp>
      <p:pic>
        <p:nvPicPr>
          <p:cNvPr id="16" name="Stub rule 5 icon" descr="preencoded.png">    </p:cNvPr>
          <p:cNvPicPr>
            <a:picLocks noChangeAspect="1"/>
          </p:cNvPicPr>
          <p:nvPr/>
        </p:nvPicPr>
        <p:blipFill>
          <a:blip r:embed="rId5"/>
          <a:stretch>
            <a:fillRect/>
          </a:stretch>
        </p:blipFill>
        <p:spPr>
          <a:xfrm>
            <a:off x="530352" y="4059936"/>
            <a:ext cx="146304" cy="146304"/>
          </a:xfrm>
          <a:prstGeom prst="rect">
            <a:avLst/>
          </a:prstGeom>
        </p:spPr>
      </p:pic>
      <p:sp>
        <p:nvSpPr>
          <p:cNvPr id="17" name="Text 10"/>
          <p:cNvSpPr txBox="1"/>
          <p:nvPr/>
        </p:nvSpPr>
        <p:spPr>
          <a:xfrm>
            <a:off x="868680" y="3822192"/>
            <a:ext cx="2880360" cy="658368"/>
          </a:xfrm>
          <a:prstGeom prst="rect">
            <a:avLst/>
          </a:prstGeom>
          <a:noFill/>
          <a:ln/>
        </p:spPr>
        <p:txBody>
          <a:bodyPr wrap="square" lIns="0" tIns="0" rIns="0" bIns="0" rtlCol="0" anchor="ctr"/>
          <a:lstStyle/>
          <a:p>
            <a:pPr indent="0" marL="0">
              <a:buNone/>
            </a:pPr>
            <a:r>
              <a:rPr lang="en-US" sz="1250" b="1" dirty="0">
                <a:solidFill>
                  <a:schemeClr val="tx2"/>
                </a:solidFill>
              </a:rPr>
              <a:t>Body raises </a:t>
            </a:r>
            <a:pPr indent="0" marL="0">
              <a:buNone/>
            </a:pPr>
            <a:r>
              <a:rPr lang="en-US" sz="1250" dirty="0">
                <a:solidFill>
                  <a:schemeClr val="tx1"/>
                </a:solidFill>
              </a:rPr>
              <a:t>NotImplementedError, so the test fails loudly until written</a:t>
            </a:r>
            <a:endParaRPr lang="en-US" sz="1250" dirty="0"/>
          </a:p>
        </p:txBody>
      </p:sp>
      <p:sp>
        <p:nvSpPr>
          <p:cNvPr id="18" name="Text 11"/>
          <p:cNvSpPr txBox="1"/>
          <p:nvPr/>
        </p:nvSpPr>
        <p:spPr>
          <a:xfrm>
            <a:off x="4023360" y="1143000"/>
            <a:ext cx="4663440" cy="274320"/>
          </a:xfrm>
          <a:prstGeom prst="rect">
            <a:avLst/>
          </a:prstGeom>
          <a:noFill/>
          <a:ln/>
        </p:spPr>
        <p:txBody>
          <a:bodyPr wrap="square" lIns="0" tIns="0" rIns="0" bIns="0" rtlCol="0" anchor="t"/>
          <a:lstStyle/>
          <a:p>
            <a:pPr indent="0" marL="0">
              <a:buNone/>
            </a:pPr>
            <a:r>
              <a:rPr lang="en-US" sz="1200" b="1" dirty="0">
                <a:solidFill>
                  <a:schemeClr val="accent6"/>
                </a:solidFill>
              </a:rPr>
              <a:t>Real stubs for two of the four missing lines</a:t>
            </a:r>
            <a:endParaRPr lang="en-US" sz="1200" dirty="0"/>
          </a:p>
        </p:txBody>
      </p:sp>
      <p:sp>
        <p:nvSpPr>
          <p:cNvPr id="19" name="Stub code bg"/>
          <p:cNvSpPr/>
          <p:nvPr/>
        </p:nvSpPr>
        <p:spPr>
          <a:xfrm>
            <a:off x="4023360" y="1417320"/>
            <a:ext cx="4663440" cy="2377440"/>
          </a:xfrm>
          <a:prstGeom prst="roundRect">
            <a:avLst>
              <a:gd name="adj" fmla="val 3077"/>
            </a:avLst>
          </a:prstGeom>
          <a:solidFill>
            <a:schemeClr val="tx1"/>
          </a:solidFill>
          <a:ln/>
        </p:spPr>
      </p:sp>
      <p:sp>
        <p:nvSpPr>
          <p:cNvPr id="20" name="Stub code"/>
          <p:cNvSpPr txBox="1"/>
          <p:nvPr/>
        </p:nvSpPr>
        <p:spPr>
          <a:xfrm>
            <a:off x="4206240" y="1527048"/>
            <a:ext cx="4297680" cy="2157984"/>
          </a:xfrm>
          <a:prstGeom prst="rect">
            <a:avLst/>
          </a:prstGeom>
          <a:noFill/>
          <a:ln/>
        </p:spPr>
        <p:txBody>
          <a:bodyPr wrap="square" lIns="0" tIns="0" rIns="0" bIns="0" rtlCol="0" anchor="ctr"/>
          <a:lstStyle/>
          <a:p>
            <a:pPr indent="0" marL="0">
              <a:buNone/>
            </a:pPr>
            <a:r>
              <a:rPr lang="en-US" sz="950" dirty="0">
                <a:solidFill>
                  <a:srgbClr val="8FD19E"/>
                </a:solidFill>
                <a:latin typeface="Courier New" pitchFamily="34" charset="0"/>
                <a:ea typeface="Courier New" pitchFamily="34" charset="-122"/>
                <a:cs typeface="Courier New" pitchFamily="34" charset="-120"/>
              </a:rPr>
              <a:t>@when</a:t>
            </a:r>
            <a:pPr indent="0" marL="0">
              <a:buNone/>
            </a:pPr>
            <a:r>
              <a:rPr lang="en-US" sz="950" dirty="0">
                <a:solidFill>
                  <a:srgbClr val="E6EDE8"/>
                </a:solidFill>
                <a:latin typeface="Courier New" pitchFamily="34" charset="0"/>
                <a:ea typeface="Courier New" pitchFamily="34" charset="-122"/>
                <a:cs typeface="Courier New" pitchFamily="34" charset="-120"/>
              </a:rPr>
              <a:t>(parsers.parse(</a:t>
            </a:r>
            <a:endParaRPr lang="en-US" sz="950" dirty="0"/>
          </a:p>
          <a:p>
            <a:pPr indent="0" marL="0">
              <a:buNone/>
            </a:pPr>
            <a:r>
              <a:rPr lang="en-US" sz="950" dirty="0">
                <a:solidFill>
                  <a:srgbClr val="F2C46D"/>
                </a:solidFill>
                <a:latin typeface="Courier New" pitchFamily="34" charset="0"/>
                <a:ea typeface="Courier New" pitchFamily="34" charset="-122"/>
                <a:cs typeface="Courier New" pitchFamily="34" charset="-120"/>
              </a:rPr>
              <a:t>    'I enter my details "{text1}" "{text2}" "{text3}"'</a:t>
            </a:r>
            <a:pPr indent="0" marL="0">
              <a:buNone/>
            </a:pPr>
            <a:r>
              <a:rPr lang="en-US" sz="950" dirty="0">
                <a:solidFill>
                  <a:srgbClr val="E6EDE8"/>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8FD19E"/>
                </a:solidFill>
                <a:latin typeface="Courier New" pitchFamily="34" charset="0"/>
                <a:ea typeface="Courier New" pitchFamily="34" charset="-122"/>
                <a:cs typeface="Courier New" pitchFamily="34" charset="-120"/>
              </a:rPr>
              <a:t>def </a:t>
            </a:r>
            <a:pPr indent="0" marL="0">
              <a:buNone/>
            </a:pPr>
            <a:r>
              <a:rPr lang="en-US" sz="950" dirty="0">
                <a:solidFill>
                  <a:srgbClr val="E6EDE8"/>
                </a:solidFill>
                <a:latin typeface="Courier New" pitchFamily="34" charset="0"/>
                <a:ea typeface="Courier New" pitchFamily="34" charset="-122"/>
                <a:cs typeface="Courier New" pitchFamily="34" charset="-120"/>
              </a:rPr>
              <a:t>i_enter_my_details(page, text1, text2, text3):</a:t>
            </a:r>
            <a:endParaRPr lang="en-US" sz="950" dirty="0"/>
          </a:p>
          <a:p>
            <a:pPr indent="0" marL="0">
              <a:buNone/>
            </a:pPr>
            <a:r>
              <a:rPr lang="en-US" sz="950" dirty="0">
                <a:solidFill>
                  <a:srgbClr val="E6EDE8"/>
                </a:solidFill>
                <a:latin typeface="Courier New" pitchFamily="34" charset="0"/>
                <a:ea typeface="Courier New" pitchFamily="34" charset="-122"/>
                <a:cs typeface="Courier New" pitchFamily="34" charset="-120"/>
              </a:rPr>
              <a:t>    raise NotImplementedError(</a:t>
            </a:r>
            <a:pPr indent="0" marL="0">
              <a:buNone/>
            </a:pPr>
            <a:r>
              <a:rPr lang="en-US" sz="950" dirty="0">
                <a:solidFill>
                  <a:srgbClr val="F2C46D"/>
                </a:solidFill>
                <a:latin typeface="Courier New" pitchFamily="34" charset="0"/>
                <a:ea typeface="Courier New" pitchFamily="34" charset="-122"/>
                <a:cs typeface="Courier New" pitchFamily="34" charset="-120"/>
              </a:rPr>
              <a:t>'Step not written yet: …'</a:t>
            </a:r>
            <a:pPr indent="0" marL="0">
              <a:buNone/>
            </a:pPr>
            <a:r>
              <a:rPr lang="en-US" sz="950" dirty="0">
                <a:solidFill>
                  <a:srgbClr val="E6EDE8"/>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E6EDE8"/>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8FD19E"/>
                </a:solidFill>
                <a:latin typeface="Courier New" pitchFamily="34" charset="0"/>
                <a:ea typeface="Courier New" pitchFamily="34" charset="-122"/>
                <a:cs typeface="Courier New" pitchFamily="34" charset="-120"/>
              </a:rPr>
              <a:t>@then</a:t>
            </a:r>
            <a:pPr indent="0" marL="0">
              <a:buNone/>
            </a:pPr>
            <a:r>
              <a:rPr lang="en-US" sz="950" dirty="0">
                <a:solidFill>
                  <a:srgbClr val="E6EDE8"/>
                </a:solidFill>
                <a:latin typeface="Courier New" pitchFamily="34" charset="0"/>
                <a:ea typeface="Courier New" pitchFamily="34" charset="-122"/>
                <a:cs typeface="Courier New" pitchFamily="34" charset="-120"/>
              </a:rPr>
              <a:t>(parsers.parse(</a:t>
            </a:r>
            <a:pPr indent="0" marL="0">
              <a:buNone/>
            </a:pPr>
            <a:r>
              <a:rPr lang="en-US" sz="950" dirty="0">
                <a:solidFill>
                  <a:srgbClr val="F2C46D"/>
                </a:solidFill>
                <a:latin typeface="Courier New" pitchFamily="34" charset="0"/>
                <a:ea typeface="Courier New" pitchFamily="34" charset="-122"/>
                <a:cs typeface="Courier New" pitchFamily="34" charset="-120"/>
              </a:rPr>
              <a:t>'the order total is "{text1}"'</a:t>
            </a:r>
            <a:pPr indent="0" marL="0">
              <a:buNone/>
            </a:pPr>
            <a:r>
              <a:rPr lang="en-US" sz="950" dirty="0">
                <a:solidFill>
                  <a:srgbClr val="E6EDE8"/>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8FD19E"/>
                </a:solidFill>
                <a:latin typeface="Courier New" pitchFamily="34" charset="0"/>
                <a:ea typeface="Courier New" pitchFamily="34" charset="-122"/>
                <a:cs typeface="Courier New" pitchFamily="34" charset="-120"/>
              </a:rPr>
              <a:t>def </a:t>
            </a:r>
            <a:pPr indent="0" marL="0">
              <a:buNone/>
            </a:pPr>
            <a:r>
              <a:rPr lang="en-US" sz="950" dirty="0">
                <a:solidFill>
                  <a:srgbClr val="E6EDE8"/>
                </a:solidFill>
                <a:latin typeface="Courier New" pitchFamily="34" charset="0"/>
                <a:ea typeface="Courier New" pitchFamily="34" charset="-122"/>
                <a:cs typeface="Courier New" pitchFamily="34" charset="-120"/>
              </a:rPr>
              <a:t>the_order_total_is(page, text1):</a:t>
            </a:r>
            <a:endParaRPr lang="en-US" sz="950" dirty="0"/>
          </a:p>
          <a:p>
            <a:pPr indent="0" marL="0">
              <a:buNone/>
            </a:pPr>
            <a:r>
              <a:rPr lang="en-US" sz="950" dirty="0">
                <a:solidFill>
                  <a:srgbClr val="E6EDE8"/>
                </a:solidFill>
                <a:latin typeface="Courier New" pitchFamily="34" charset="0"/>
                <a:ea typeface="Courier New" pitchFamily="34" charset="-122"/>
                <a:cs typeface="Courier New" pitchFamily="34" charset="-120"/>
              </a:rPr>
              <a:t>    raise NotImplementedError(</a:t>
            </a:r>
            <a:pPr indent="0" marL="0">
              <a:buNone/>
            </a:pPr>
            <a:r>
              <a:rPr lang="en-US" sz="950" dirty="0">
                <a:solidFill>
                  <a:srgbClr val="F2C46D"/>
                </a:solidFill>
                <a:latin typeface="Courier New" pitchFamily="34" charset="0"/>
                <a:ea typeface="Courier New" pitchFamily="34" charset="-122"/>
                <a:cs typeface="Courier New" pitchFamily="34" charset="-120"/>
              </a:rPr>
              <a:t>'Step not written yet: …'</a:t>
            </a:r>
            <a:pPr indent="0" marL="0">
              <a:buNone/>
            </a:pPr>
            <a:r>
              <a:rPr lang="en-US" sz="950" dirty="0">
                <a:solidFill>
                  <a:srgbClr val="E6EDE8"/>
                </a:solidFill>
                <a:latin typeface="Courier New" pitchFamily="34" charset="0"/>
                <a:ea typeface="Courier New" pitchFamily="34" charset="-122"/>
                <a:cs typeface="Courier New" pitchFamily="34" charset="-120"/>
              </a:rPr>
              <a:t>)</a:t>
            </a:r>
            <a:endParaRPr lang="en-US" sz="950" dirty="0"/>
          </a:p>
        </p:txBody>
      </p:sp>
      <p:sp>
        <p:nvSpPr>
          <p:cNvPr id="21" name="Text 14"/>
          <p:cNvSpPr txBox="1"/>
          <p:nvPr/>
        </p:nvSpPr>
        <p:spPr>
          <a:xfrm>
            <a:off x="4023360" y="3931920"/>
            <a:ext cx="4663440" cy="640080"/>
          </a:xfrm>
          <a:prstGeom prst="rect">
            <a:avLst/>
          </a:prstGeom>
          <a:noFill/>
          <a:ln/>
        </p:spPr>
        <p:txBody>
          <a:bodyPr wrap="square" lIns="0" tIns="0" rIns="0" bIns="0" rtlCol="0" anchor="t"/>
          <a:lstStyle/>
          <a:p>
            <a:pPr indent="0" marL="0">
              <a:buNone/>
            </a:pPr>
            <a:r>
              <a:rPr lang="en-US" sz="1250" dirty="0">
                <a:solidFill>
                  <a:schemeClr val="accent6"/>
                </a:solidFill>
              </a:rPr>
              <a:t>“$29.99” is quoted, so it becomes text, not a number: the stub keeps the exact format the scenario uses.</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Action blocks: data in, Playwright code out</a:t>
            </a:r>
            <a:endParaRPr lang="en-US" sz="2800" dirty="0"/>
          </a:p>
        </p:txBody>
      </p:sp>
      <p:sp>
        <p:nvSpPr>
          <p:cNvPr id="3" name="Text 1"/>
          <p:cNvSpPr txBox="1"/>
          <p:nvPr/>
        </p:nvSpPr>
        <p:spPr>
          <a:xfrm>
            <a:off x="457200" y="1143000"/>
            <a:ext cx="4023360" cy="274320"/>
          </a:xfrm>
          <a:prstGeom prst="rect">
            <a:avLst/>
          </a:prstGeom>
          <a:noFill/>
          <a:ln/>
        </p:spPr>
        <p:txBody>
          <a:bodyPr wrap="square" lIns="0" tIns="0" rIns="0" bIns="0" rtlCol="0" anchor="t"/>
          <a:lstStyle/>
          <a:p>
            <a:pPr indent="0" marL="0">
              <a:buNone/>
            </a:pPr>
            <a:r>
              <a:rPr lang="en-US" sz="1200" b="1" dirty="0">
                <a:solidFill>
                  <a:schemeClr val="accent6"/>
                </a:solidFill>
              </a:rPr>
              <a:t>What the browser sends (stepcode.py docstring)</a:t>
            </a:r>
            <a:endParaRPr lang="en-US" sz="1200" dirty="0"/>
          </a:p>
        </p:txBody>
      </p:sp>
      <p:sp>
        <p:nvSpPr>
          <p:cNvPr id="4" name="Action JSON bg"/>
          <p:cNvSpPr/>
          <p:nvPr/>
        </p:nvSpPr>
        <p:spPr>
          <a:xfrm>
            <a:off x="457200" y="1417320"/>
            <a:ext cx="4023360" cy="777240"/>
          </a:xfrm>
          <a:prstGeom prst="roundRect">
            <a:avLst>
              <a:gd name="adj" fmla="val 9412"/>
            </a:avLst>
          </a:prstGeom>
          <a:solidFill>
            <a:schemeClr val="tx1"/>
          </a:solidFill>
          <a:ln/>
        </p:spPr>
      </p:sp>
      <p:sp>
        <p:nvSpPr>
          <p:cNvPr id="5" name="Action JSON"/>
          <p:cNvSpPr txBox="1"/>
          <p:nvPr/>
        </p:nvSpPr>
        <p:spPr>
          <a:xfrm>
            <a:off x="640080" y="1527048"/>
            <a:ext cx="3657600" cy="557784"/>
          </a:xfrm>
          <a:prstGeom prst="rect">
            <a:avLst/>
          </a:prstGeom>
          <a:noFill/>
          <a:ln/>
        </p:spPr>
        <p:txBody>
          <a:bodyPr wrap="square" lIns="0" tIns="0" rIns="0" bIns="0" rtlCol="0" anchor="ctr"/>
          <a:lstStyle/>
          <a:p>
            <a:pPr indent="0" marL="0">
              <a:buNone/>
            </a:pPr>
            <a:r>
              <a:rPr lang="en-US" sz="1050" dirty="0">
                <a:solidFill>
                  <a:srgbClr val="8A9A90"/>
                </a:solidFill>
                <a:latin typeface="Courier New" pitchFamily="34" charset="0"/>
                <a:ea typeface="Courier New" pitchFamily="34" charset="-122"/>
                <a:cs typeface="Courier New" pitchFamily="34" charset="-120"/>
              </a:rPr>
              <a:t>{"action": </a:t>
            </a:r>
            <a:pPr indent="0" marL="0">
              <a:buNone/>
            </a:pPr>
            <a:r>
              <a:rPr lang="en-US" sz="1050" dirty="0">
                <a:solidFill>
                  <a:srgbClr val="F2C46D"/>
                </a:solidFill>
                <a:latin typeface="Courier New" pitchFamily="34" charset="0"/>
                <a:ea typeface="Courier New" pitchFamily="34" charset="-122"/>
                <a:cs typeface="Courier New" pitchFamily="34" charset="-120"/>
              </a:rPr>
              <a:t>"click"</a:t>
            </a:r>
            <a:pPr indent="0" marL="0">
              <a:buNone/>
            </a:pPr>
            <a:r>
              <a:rPr lang="en-US" sz="1050" dirty="0">
                <a:solidFill>
                  <a:srgbClr val="8A9A9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8A9A90"/>
                </a:solidFill>
                <a:latin typeface="Courier New" pitchFamily="34" charset="0"/>
                <a:ea typeface="Courier New" pitchFamily="34" charset="-122"/>
                <a:cs typeface="Courier New" pitchFamily="34" charset="-120"/>
              </a:rPr>
              <a:t> "target": {"by": </a:t>
            </a:r>
            <a:pPr indent="0" marL="0">
              <a:buNone/>
            </a:pPr>
            <a:r>
              <a:rPr lang="en-US" sz="1050" dirty="0">
                <a:solidFill>
                  <a:srgbClr val="F2C46D"/>
                </a:solidFill>
                <a:latin typeface="Courier New" pitchFamily="34" charset="0"/>
                <a:ea typeface="Courier New" pitchFamily="34" charset="-122"/>
                <a:cs typeface="Courier New" pitchFamily="34" charset="-120"/>
              </a:rPr>
              <a:t>"link"</a:t>
            </a:r>
            <a:pPr indent="0" marL="0">
              <a:buNone/>
            </a:pPr>
            <a:r>
              <a:rPr lang="en-US" sz="1050" dirty="0">
                <a:solidFill>
                  <a:srgbClr val="8A9A90"/>
                </a:solidFill>
                <a:latin typeface="Courier New" pitchFamily="34" charset="0"/>
                <a:ea typeface="Courier New" pitchFamily="34" charset="-122"/>
                <a:cs typeface="Courier New" pitchFamily="34" charset="-120"/>
              </a:rPr>
              <a:t>, "value": </a:t>
            </a:r>
            <a:pPr indent="0" marL="0">
              <a:buNone/>
            </a:pPr>
            <a:r>
              <a:rPr lang="en-US" sz="1050" dirty="0">
                <a:solidFill>
                  <a:srgbClr val="F2C46D"/>
                </a:solidFill>
                <a:latin typeface="Courier New" pitchFamily="34" charset="0"/>
                <a:ea typeface="Courier New" pitchFamily="34" charset="-122"/>
                <a:cs typeface="Courier New" pitchFamily="34" charset="-120"/>
              </a:rPr>
              <a:t>"cart"</a:t>
            </a:r>
            <a:pPr indent="0" marL="0">
              <a:buNone/>
            </a:pPr>
            <a:r>
              <a:rPr lang="en-US" sz="1050" dirty="0">
                <a:solidFill>
                  <a:srgbClr val="8A9A90"/>
                </a:solidFill>
                <a:latin typeface="Courier New" pitchFamily="34" charset="0"/>
                <a:ea typeface="Courier New" pitchFamily="34" charset="-122"/>
                <a:cs typeface="Courier New" pitchFamily="34" charset="-120"/>
              </a:rPr>
              <a:t>}}</a:t>
            </a:r>
            <a:endParaRPr lang="en-US" sz="1050" dirty="0"/>
          </a:p>
        </p:txBody>
      </p:sp>
      <p:sp>
        <p:nvSpPr>
          <p:cNvPr id="6" name="Action arrow"/>
          <p:cNvSpPr/>
          <p:nvPr/>
        </p:nvSpPr>
        <p:spPr>
          <a:xfrm>
            <a:off x="2286000" y="2258568"/>
            <a:ext cx="365760" cy="274320"/>
          </a:xfrm>
          <a:prstGeom prst="downArrow">
            <a:avLst/>
          </a:prstGeom>
          <a:solidFill>
            <a:schemeClr val="accent2"/>
          </a:solidFill>
          <a:ln/>
        </p:spPr>
      </p:sp>
      <p:sp>
        <p:nvSpPr>
          <p:cNvPr id="7" name="Text 5"/>
          <p:cNvSpPr txBox="1"/>
          <p:nvPr/>
        </p:nvSpPr>
        <p:spPr>
          <a:xfrm>
            <a:off x="457200" y="2560320"/>
            <a:ext cx="4023360" cy="274320"/>
          </a:xfrm>
          <a:prstGeom prst="rect">
            <a:avLst/>
          </a:prstGeom>
          <a:noFill/>
          <a:ln/>
        </p:spPr>
        <p:txBody>
          <a:bodyPr wrap="square" lIns="0" tIns="0" rIns="0" bIns="0" rtlCol="0" anchor="t"/>
          <a:lstStyle/>
          <a:p>
            <a:pPr indent="0" marL="0">
              <a:buNone/>
            </a:pPr>
            <a:r>
              <a:rPr lang="en-US" sz="1200" b="1" dirty="0">
                <a:solidFill>
                  <a:schemeClr val="accent6"/>
                </a:solidFill>
              </a:rPr>
              <a:t>What the app wrote (real, from the demo)</a:t>
            </a:r>
            <a:endParaRPr lang="en-US" sz="1200" dirty="0"/>
          </a:p>
        </p:txBody>
      </p:sp>
      <p:sp>
        <p:nvSpPr>
          <p:cNvPr id="8" name="Generated code bg"/>
          <p:cNvSpPr/>
          <p:nvPr/>
        </p:nvSpPr>
        <p:spPr>
          <a:xfrm>
            <a:off x="457200" y="2834640"/>
            <a:ext cx="4023360" cy="1051560"/>
          </a:xfrm>
          <a:prstGeom prst="roundRect">
            <a:avLst>
              <a:gd name="adj" fmla="val 6957"/>
            </a:avLst>
          </a:prstGeom>
          <a:solidFill>
            <a:schemeClr val="tx1"/>
          </a:solidFill>
          <a:ln/>
        </p:spPr>
      </p:sp>
      <p:sp>
        <p:nvSpPr>
          <p:cNvPr id="9" name="Generated code"/>
          <p:cNvSpPr txBox="1"/>
          <p:nvPr/>
        </p:nvSpPr>
        <p:spPr>
          <a:xfrm>
            <a:off x="640080" y="2944368"/>
            <a:ext cx="3657600" cy="832104"/>
          </a:xfrm>
          <a:prstGeom prst="rect">
            <a:avLst/>
          </a:prstGeom>
          <a:noFill/>
          <a:ln/>
        </p:spPr>
        <p:txBody>
          <a:bodyPr wrap="square" lIns="0" tIns="0" rIns="0" bIns="0" rtlCol="0" anchor="ctr"/>
          <a:lstStyle/>
          <a:p>
            <a:pPr indent="0" marL="0">
              <a:buNone/>
            </a:pPr>
            <a:r>
              <a:rPr lang="en-US" sz="950" dirty="0">
                <a:solidFill>
                  <a:srgbClr val="8FD19E"/>
                </a:solidFill>
                <a:latin typeface="Courier New" pitchFamily="34" charset="0"/>
                <a:ea typeface="Courier New" pitchFamily="34" charset="-122"/>
                <a:cs typeface="Courier New" pitchFamily="34" charset="-120"/>
              </a:rPr>
              <a:t>@when</a:t>
            </a:r>
            <a:pPr indent="0" marL="0">
              <a:buNone/>
            </a:pPr>
            <a:r>
              <a:rPr lang="en-US" sz="950" dirty="0">
                <a:solidFill>
                  <a:srgbClr val="E6EDE8"/>
                </a:solidFill>
                <a:latin typeface="Courier New" pitchFamily="34" charset="0"/>
                <a:ea typeface="Courier New" pitchFamily="34" charset="-122"/>
                <a:cs typeface="Courier New" pitchFamily="34" charset="-120"/>
              </a:rPr>
              <a:t>(</a:t>
            </a:r>
            <a:pPr indent="0" marL="0">
              <a:buNone/>
            </a:pPr>
            <a:r>
              <a:rPr lang="en-US" sz="950" dirty="0">
                <a:solidFill>
                  <a:srgbClr val="F2C46D"/>
                </a:solidFill>
                <a:latin typeface="Courier New" pitchFamily="34" charset="0"/>
                <a:ea typeface="Courier New" pitchFamily="34" charset="-122"/>
                <a:cs typeface="Courier New" pitchFamily="34" charset="-120"/>
              </a:rPr>
              <a:t>'I press the cart icon'</a:t>
            </a:r>
            <a:pPr indent="0" marL="0">
              <a:buNone/>
            </a:pPr>
            <a:r>
              <a:rPr lang="en-US" sz="950" dirty="0">
                <a:solidFill>
                  <a:srgbClr val="E6EDE8"/>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8FD19E"/>
                </a:solidFill>
                <a:latin typeface="Courier New" pitchFamily="34" charset="0"/>
                <a:ea typeface="Courier New" pitchFamily="34" charset="-122"/>
                <a:cs typeface="Courier New" pitchFamily="34" charset="-120"/>
              </a:rPr>
              <a:t>def </a:t>
            </a:r>
            <a:pPr indent="0" marL="0">
              <a:buNone/>
            </a:pPr>
            <a:r>
              <a:rPr lang="en-US" sz="950" dirty="0">
                <a:solidFill>
                  <a:srgbClr val="E6EDE8"/>
                </a:solidFill>
                <a:latin typeface="Courier New" pitchFamily="34" charset="0"/>
                <a:ea typeface="Courier New" pitchFamily="34" charset="-122"/>
                <a:cs typeface="Courier New" pitchFamily="34" charset="-120"/>
              </a:rPr>
              <a:t>i_press_the_cart_icon(page):</a:t>
            </a:r>
            <a:endParaRPr lang="en-US" sz="950" dirty="0"/>
          </a:p>
          <a:p>
            <a:pPr indent="0" marL="0">
              <a:buNone/>
            </a:pPr>
            <a:r>
              <a:rPr lang="en-US" sz="950" dirty="0">
                <a:solidFill>
                  <a:srgbClr val="E6EDE8"/>
                </a:solidFill>
                <a:latin typeface="Courier New" pitchFamily="34" charset="0"/>
                <a:ea typeface="Courier New" pitchFamily="34" charset="-122"/>
                <a:cs typeface="Courier New" pitchFamily="34" charset="-120"/>
              </a:rPr>
              <a:t>    page.get_by_role(</a:t>
            </a:r>
            <a:pPr indent="0" marL="0">
              <a:buNone/>
            </a:pPr>
            <a:r>
              <a:rPr lang="en-US" sz="950" dirty="0">
                <a:solidFill>
                  <a:srgbClr val="F2C46D"/>
                </a:solidFill>
                <a:latin typeface="Courier New" pitchFamily="34" charset="0"/>
                <a:ea typeface="Courier New" pitchFamily="34" charset="-122"/>
                <a:cs typeface="Courier New" pitchFamily="34" charset="-120"/>
              </a:rPr>
              <a:t>"link"</a:t>
            </a:r>
            <a:pPr indent="0" marL="0">
              <a:buNone/>
            </a:pPr>
            <a:r>
              <a:rPr lang="en-US" sz="950" dirty="0">
                <a:solidFill>
                  <a:srgbClr val="E6EDE8"/>
                </a:solidFill>
                <a:latin typeface="Courier New" pitchFamily="34" charset="0"/>
                <a:ea typeface="Courier New" pitchFamily="34" charset="-122"/>
                <a:cs typeface="Courier New" pitchFamily="34" charset="-120"/>
              </a:rPr>
              <a:t>, name=</a:t>
            </a:r>
            <a:pPr indent="0" marL="0">
              <a:buNone/>
            </a:pPr>
            <a:r>
              <a:rPr lang="en-US" sz="950" dirty="0">
                <a:solidFill>
                  <a:srgbClr val="F2C46D"/>
                </a:solidFill>
                <a:latin typeface="Courier New" pitchFamily="34" charset="0"/>
                <a:ea typeface="Courier New" pitchFamily="34" charset="-122"/>
                <a:cs typeface="Courier New" pitchFamily="34" charset="-120"/>
              </a:rPr>
              <a:t>'cart'</a:t>
            </a:r>
            <a:pPr indent="0" marL="0">
              <a:buNone/>
            </a:pPr>
            <a:r>
              <a:rPr lang="en-US" sz="950" dirty="0">
                <a:solidFill>
                  <a:srgbClr val="E6EDE8"/>
                </a:solidFill>
                <a:latin typeface="Courier New" pitchFamily="34" charset="0"/>
                <a:ea typeface="Courier New" pitchFamily="34" charset="-122"/>
                <a:cs typeface="Courier New" pitchFamily="34" charset="-120"/>
              </a:rPr>
              <a:t>).click()</a:t>
            </a:r>
            <a:endParaRPr lang="en-US" sz="950" dirty="0"/>
          </a:p>
        </p:txBody>
      </p:sp>
      <p:sp>
        <p:nvSpPr>
          <p:cNvPr id="10" name="Text 8"/>
          <p:cNvSpPr txBox="1"/>
          <p:nvPr/>
        </p:nvSpPr>
        <p:spPr>
          <a:xfrm>
            <a:off x="457200" y="3977640"/>
            <a:ext cx="4023360" cy="640080"/>
          </a:xfrm>
          <a:prstGeom prst="rect">
            <a:avLst/>
          </a:prstGeom>
          <a:noFill/>
          <a:ln/>
        </p:spPr>
        <p:txBody>
          <a:bodyPr wrap="square" lIns="0" tIns="0" rIns="0" bIns="0" rtlCol="0" anchor="t"/>
          <a:lstStyle/>
          <a:p>
            <a:pPr indent="0" marL="0">
              <a:buNone/>
            </a:pPr>
            <a:r>
              <a:rPr lang="en-US" sz="1100" dirty="0">
                <a:solidFill>
                  <a:schemeClr val="accent6"/>
                </a:solidFill>
              </a:rPr>
              <a:t>13 actions (goto, click, fill, select, check, press, expect_text, expect_count, expect_url…) × 7 ways to find an element (role, label, placeholder, text, test id, CSS).</a:t>
            </a:r>
            <a:endParaRPr lang="en-US" sz="1100" dirty="0"/>
          </a:p>
        </p:txBody>
      </p:sp>
      <p:sp>
        <p:nvSpPr>
          <p:cNvPr id="11" name="Text 9"/>
          <p:cNvSpPr txBox="1"/>
          <p:nvPr/>
        </p:nvSpPr>
        <p:spPr>
          <a:xfrm>
            <a:off x="4754880" y="1143000"/>
            <a:ext cx="3931920" cy="274320"/>
          </a:xfrm>
          <a:prstGeom prst="rect">
            <a:avLst/>
          </a:prstGeom>
          <a:noFill/>
          <a:ln/>
        </p:spPr>
        <p:txBody>
          <a:bodyPr wrap="square" lIns="0" tIns="0" rIns="0" bIns="0" rtlCol="0" anchor="t"/>
          <a:lstStyle/>
          <a:p>
            <a:pPr indent="0" marL="0">
              <a:buNone/>
            </a:pPr>
            <a:r>
              <a:rPr lang="en-US" sz="1200" b="1" dirty="0">
                <a:solidFill>
                  <a:schemeClr val="accent6"/>
                </a:solidFill>
              </a:rPr>
              <a:t>Why it’s safe to generate</a:t>
            </a:r>
            <a:endParaRPr lang="en-US" sz="1200" dirty="0"/>
          </a:p>
        </p:txBody>
      </p:sp>
      <p:sp>
        <p:nvSpPr>
          <p:cNvPr id="12" name="Action rule 1 circle"/>
          <p:cNvSpPr/>
          <p:nvPr/>
        </p:nvSpPr>
        <p:spPr>
          <a:xfrm>
            <a:off x="4754880" y="1609344"/>
            <a:ext cx="292608" cy="292608"/>
          </a:xfrm>
          <a:prstGeom prst="ellipse">
            <a:avLst/>
          </a:prstGeom>
          <a:solidFill>
            <a:schemeClr val="tx2"/>
          </a:solidFill>
          <a:ln/>
        </p:spPr>
      </p:sp>
      <p:pic>
        <p:nvPicPr>
          <p:cNvPr id="13" name="Action rule 1 icon" descr="preencoded.png">    </p:cNvPr>
          <p:cNvPicPr>
            <a:picLocks noChangeAspect="1"/>
          </p:cNvPicPr>
          <p:nvPr/>
        </p:nvPicPr>
        <p:blipFill>
          <a:blip r:embed="rId1"/>
          <a:stretch>
            <a:fillRect/>
          </a:stretch>
        </p:blipFill>
        <p:spPr>
          <a:xfrm>
            <a:off x="4828032" y="1682496"/>
            <a:ext cx="146304" cy="146304"/>
          </a:xfrm>
          <a:prstGeom prst="rect">
            <a:avLst/>
          </a:prstGeom>
        </p:spPr>
      </p:pic>
      <p:sp>
        <p:nvSpPr>
          <p:cNvPr id="14" name="Text 11"/>
          <p:cNvSpPr txBox="1"/>
          <p:nvPr/>
        </p:nvSpPr>
        <p:spPr>
          <a:xfrm>
            <a:off x="5166360" y="1463040"/>
            <a:ext cx="3520440" cy="621792"/>
          </a:xfrm>
          <a:prstGeom prst="rect">
            <a:avLst/>
          </a:prstGeom>
          <a:noFill/>
          <a:ln/>
        </p:spPr>
        <p:txBody>
          <a:bodyPr wrap="square" lIns="0" tIns="0" rIns="0" bIns="0" rtlCol="0" anchor="ctr"/>
          <a:lstStyle/>
          <a:p>
            <a:pPr indent="0" marL="0">
              <a:buNone/>
            </a:pPr>
            <a:r>
              <a:rPr lang="en-US" sz="1250" b="1" dirty="0">
                <a:solidFill>
                  <a:schemeClr val="tx2"/>
                </a:solidFill>
              </a:rPr>
              <a:t>Whitelist only: </a:t>
            </a:r>
            <a:pPr indent="0" marL="0">
              <a:buNone/>
            </a:pPr>
            <a:r>
              <a:rPr lang="en-US" sz="1250" dirty="0">
                <a:solidFill>
                  <a:schemeClr val="tx1"/>
                </a:solidFill>
              </a:rPr>
              <a:t>unknown actions or element types are rejected</a:t>
            </a:r>
            <a:endParaRPr lang="en-US" sz="1250" dirty="0"/>
          </a:p>
        </p:txBody>
      </p:sp>
      <p:sp>
        <p:nvSpPr>
          <p:cNvPr id="15" name="Action rule 2 circle"/>
          <p:cNvSpPr/>
          <p:nvPr/>
        </p:nvSpPr>
        <p:spPr>
          <a:xfrm>
            <a:off x="4754880" y="2231136"/>
            <a:ext cx="292608" cy="292608"/>
          </a:xfrm>
          <a:prstGeom prst="ellipse">
            <a:avLst/>
          </a:prstGeom>
          <a:solidFill>
            <a:schemeClr val="tx2"/>
          </a:solidFill>
          <a:ln/>
        </p:spPr>
      </p:sp>
      <p:pic>
        <p:nvPicPr>
          <p:cNvPr id="16" name="Action rule 2 icon" descr="preencoded.png">    </p:cNvPr>
          <p:cNvPicPr>
            <a:picLocks noChangeAspect="1"/>
          </p:cNvPicPr>
          <p:nvPr/>
        </p:nvPicPr>
        <p:blipFill>
          <a:blip r:embed="rId2"/>
          <a:stretch>
            <a:fillRect/>
          </a:stretch>
        </p:blipFill>
        <p:spPr>
          <a:xfrm>
            <a:off x="4828032" y="2304288"/>
            <a:ext cx="146304" cy="146304"/>
          </a:xfrm>
          <a:prstGeom prst="rect">
            <a:avLst/>
          </a:prstGeom>
        </p:spPr>
      </p:pic>
      <p:sp>
        <p:nvSpPr>
          <p:cNvPr id="17" name="Text 13"/>
          <p:cNvSpPr txBox="1"/>
          <p:nvPr/>
        </p:nvSpPr>
        <p:spPr>
          <a:xfrm>
            <a:off x="5166360" y="2084832"/>
            <a:ext cx="3520440" cy="621792"/>
          </a:xfrm>
          <a:prstGeom prst="rect">
            <a:avLst/>
          </a:prstGeom>
          <a:noFill/>
          <a:ln/>
        </p:spPr>
        <p:txBody>
          <a:bodyPr wrap="square" lIns="0" tIns="0" rIns="0" bIns="0" rtlCol="0" anchor="ctr"/>
          <a:lstStyle/>
          <a:p>
            <a:pPr indent="0" marL="0">
              <a:buNone/>
            </a:pPr>
            <a:r>
              <a:rPr lang="en-US" sz="1250" b="1" dirty="0">
                <a:solidFill>
                  <a:schemeClr val="tx2"/>
                </a:solidFill>
              </a:rPr>
              <a:t>User text </a:t>
            </a:r>
            <a:pPr indent="0" marL="0">
              <a:buNone/>
            </a:pPr>
            <a:r>
              <a:rPr lang="en-US" sz="1250" dirty="0">
                <a:solidFill>
                  <a:schemeClr val="tx1"/>
                </a:solidFill>
              </a:rPr>
              <a:t>goes in via repr(), always a string literal</a:t>
            </a:r>
            <a:endParaRPr lang="en-US" sz="1250" dirty="0"/>
          </a:p>
        </p:txBody>
      </p:sp>
      <p:sp>
        <p:nvSpPr>
          <p:cNvPr id="18" name="Action rule 3 circle"/>
          <p:cNvSpPr/>
          <p:nvPr/>
        </p:nvSpPr>
        <p:spPr>
          <a:xfrm>
            <a:off x="4754880" y="2852928"/>
            <a:ext cx="292608" cy="292608"/>
          </a:xfrm>
          <a:prstGeom prst="ellipse">
            <a:avLst/>
          </a:prstGeom>
          <a:solidFill>
            <a:schemeClr val="tx2"/>
          </a:solidFill>
          <a:ln/>
        </p:spPr>
      </p:sp>
      <p:pic>
        <p:nvPicPr>
          <p:cNvPr id="19" name="Action rule 3 icon" descr="preencoded.png">    </p:cNvPr>
          <p:cNvPicPr>
            <a:picLocks noChangeAspect="1"/>
          </p:cNvPicPr>
          <p:nvPr/>
        </p:nvPicPr>
        <p:blipFill>
          <a:blip r:embed="rId3"/>
          <a:stretch>
            <a:fillRect/>
          </a:stretch>
        </p:blipFill>
        <p:spPr>
          <a:xfrm>
            <a:off x="4828032" y="2926080"/>
            <a:ext cx="146304" cy="146304"/>
          </a:xfrm>
          <a:prstGeom prst="rect">
            <a:avLst/>
          </a:prstGeom>
        </p:spPr>
      </p:pic>
      <p:sp>
        <p:nvSpPr>
          <p:cNvPr id="20" name="Text 15"/>
          <p:cNvSpPr txBox="1"/>
          <p:nvPr/>
        </p:nvSpPr>
        <p:spPr>
          <a:xfrm>
            <a:off x="5166360" y="2706624"/>
            <a:ext cx="3520440" cy="621792"/>
          </a:xfrm>
          <a:prstGeom prst="rect">
            <a:avLst/>
          </a:prstGeom>
          <a:noFill/>
          <a:ln/>
        </p:spPr>
        <p:txBody>
          <a:bodyPr wrap="square" lIns="0" tIns="0" rIns="0" bIns="0" rtlCol="0" anchor="ctr"/>
          <a:lstStyle/>
          <a:p>
            <a:pPr indent="0" marL="0">
              <a:buNone/>
            </a:pPr>
            <a:r>
              <a:rPr lang="en-US" sz="1250" b="1" dirty="0">
                <a:solidFill>
                  <a:schemeClr val="tx2"/>
                </a:solidFill>
              </a:rPr>
              <a:t>Values </a:t>
            </a:r>
            <a:pPr indent="0" marL="0">
              <a:buNone/>
            </a:pPr>
            <a:r>
              <a:rPr lang="en-US" sz="1250" dirty="0">
                <a:solidFill>
                  <a:schemeClr val="tx1"/>
                </a:solidFill>
              </a:rPr>
              <a:t>can only be the step’s own parameters</a:t>
            </a:r>
            <a:endParaRPr lang="en-US" sz="1250" dirty="0"/>
          </a:p>
        </p:txBody>
      </p:sp>
      <p:sp>
        <p:nvSpPr>
          <p:cNvPr id="21" name="Action rule 4 circle"/>
          <p:cNvSpPr/>
          <p:nvPr/>
        </p:nvSpPr>
        <p:spPr>
          <a:xfrm>
            <a:off x="4754880" y="3474720"/>
            <a:ext cx="292608" cy="292608"/>
          </a:xfrm>
          <a:prstGeom prst="ellipse">
            <a:avLst/>
          </a:prstGeom>
          <a:solidFill>
            <a:schemeClr val="tx2"/>
          </a:solidFill>
          <a:ln/>
        </p:spPr>
      </p:sp>
      <p:pic>
        <p:nvPicPr>
          <p:cNvPr id="22" name="Action rule 4 icon" descr="preencoded.png">    </p:cNvPr>
          <p:cNvPicPr>
            <a:picLocks noChangeAspect="1"/>
          </p:cNvPicPr>
          <p:nvPr/>
        </p:nvPicPr>
        <p:blipFill>
          <a:blip r:embed="rId4"/>
          <a:stretch>
            <a:fillRect/>
          </a:stretch>
        </p:blipFill>
        <p:spPr>
          <a:xfrm>
            <a:off x="4828032" y="3547872"/>
            <a:ext cx="146304" cy="146304"/>
          </a:xfrm>
          <a:prstGeom prst="rect">
            <a:avLst/>
          </a:prstGeom>
        </p:spPr>
      </p:pic>
      <p:sp>
        <p:nvSpPr>
          <p:cNvPr id="23" name="Text 17"/>
          <p:cNvSpPr txBox="1"/>
          <p:nvPr/>
        </p:nvSpPr>
        <p:spPr>
          <a:xfrm>
            <a:off x="5166360" y="3328416"/>
            <a:ext cx="3520440" cy="621792"/>
          </a:xfrm>
          <a:prstGeom prst="rect">
            <a:avLst/>
          </a:prstGeom>
          <a:noFill/>
          <a:ln/>
        </p:spPr>
        <p:txBody>
          <a:bodyPr wrap="square" lIns="0" tIns="0" rIns="0" bIns="0" rtlCol="0" anchor="ctr"/>
          <a:lstStyle/>
          <a:p>
            <a:pPr indent="0" marL="0">
              <a:buNone/>
            </a:pPr>
            <a:r>
              <a:rPr lang="en-US" sz="1250" b="1" dirty="0">
                <a:solidFill>
                  <a:schemeClr val="tx2"/>
                </a:solidFill>
              </a:rPr>
              <a:t>Compiled </a:t>
            </a:r>
            <a:pPr indent="0" marL="0">
              <a:buNone/>
            </a:pPr>
            <a:r>
              <a:rPr lang="en-US" sz="1250" dirty="0">
                <a:solidFill>
                  <a:schemeClr val="tx1"/>
                </a:solidFill>
              </a:rPr>
              <a:t>and checked to bind to the scenario line before saving</a:t>
            </a:r>
            <a:endParaRPr lang="en-US" sz="1250" dirty="0"/>
          </a:p>
        </p:txBody>
      </p:sp>
      <p:sp>
        <p:nvSpPr>
          <p:cNvPr id="24" name="Action rule 5 circle"/>
          <p:cNvSpPr/>
          <p:nvPr/>
        </p:nvSpPr>
        <p:spPr>
          <a:xfrm>
            <a:off x="4754880" y="4096512"/>
            <a:ext cx="292608" cy="292608"/>
          </a:xfrm>
          <a:prstGeom prst="ellipse">
            <a:avLst/>
          </a:prstGeom>
          <a:solidFill>
            <a:schemeClr val="tx2"/>
          </a:solidFill>
          <a:ln/>
        </p:spPr>
      </p:sp>
      <p:pic>
        <p:nvPicPr>
          <p:cNvPr id="25" name="Action rule 5 icon" descr="preencoded.png">    </p:cNvPr>
          <p:cNvPicPr>
            <a:picLocks noChangeAspect="1"/>
          </p:cNvPicPr>
          <p:nvPr/>
        </p:nvPicPr>
        <p:blipFill>
          <a:blip r:embed="rId5"/>
          <a:stretch>
            <a:fillRect/>
          </a:stretch>
        </p:blipFill>
        <p:spPr>
          <a:xfrm>
            <a:off x="4828032" y="4169664"/>
            <a:ext cx="146304" cy="146304"/>
          </a:xfrm>
          <a:prstGeom prst="rect">
            <a:avLst/>
          </a:prstGeom>
        </p:spPr>
      </p:pic>
      <p:sp>
        <p:nvSpPr>
          <p:cNvPr id="26" name="Text 19"/>
          <p:cNvSpPr txBox="1"/>
          <p:nvPr/>
        </p:nvSpPr>
        <p:spPr>
          <a:xfrm>
            <a:off x="5166360" y="3950208"/>
            <a:ext cx="3520440" cy="621792"/>
          </a:xfrm>
          <a:prstGeom prst="rect">
            <a:avLst/>
          </a:prstGeom>
          <a:noFill/>
          <a:ln/>
        </p:spPr>
        <p:txBody>
          <a:bodyPr wrap="square" lIns="0" tIns="0" rIns="0" bIns="0" rtlCol="0" anchor="ctr"/>
          <a:lstStyle/>
          <a:p>
            <a:pPr indent="0" marL="0">
              <a:buNone/>
            </a:pPr>
            <a:r>
              <a:rPr lang="en-US" sz="1250" b="1" dirty="0">
                <a:solidFill>
                  <a:schemeClr val="tx2"/>
                </a:solidFill>
              </a:rPr>
              <a:t>Proven: </a:t>
            </a:r>
            <a:pPr indent="0" marL="0">
              <a:buNone/>
            </a:pPr>
            <a:r>
              <a:rPr lang="en-US" sz="1250" dirty="0">
                <a:solidFill>
                  <a:schemeClr val="tx1"/>
                </a:solidFill>
              </a:rPr>
              <a:t>a scenario with 2 new steps built this way, saved, run, passed</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Every write: plan, preview, hash-check, record</a:t>
            </a:r>
            <a:endParaRPr lang="en-US" sz="2800" dirty="0"/>
          </a:p>
        </p:txBody>
      </p:sp>
      <p:sp>
        <p:nvSpPr>
          <p:cNvPr id="3" name="Write step 1"/>
          <p:cNvSpPr/>
          <p:nvPr/>
        </p:nvSpPr>
        <p:spPr>
          <a:xfrm>
            <a:off x="457200" y="1188720"/>
            <a:ext cx="1828800" cy="1965960"/>
          </a:xfrm>
          <a:prstGeom prst="roundRect">
            <a:avLst>
              <a:gd name="adj" fmla="val 4000"/>
            </a:avLst>
          </a:prstGeom>
          <a:solidFill>
            <a:schemeClr val="bg2"/>
          </a:solidFill>
          <a:ln/>
        </p:spPr>
      </p:sp>
      <p:sp>
        <p:nvSpPr>
          <p:cNvPr id="4" name="Write step 1 circle"/>
          <p:cNvSpPr/>
          <p:nvPr/>
        </p:nvSpPr>
        <p:spPr>
          <a:xfrm>
            <a:off x="621792" y="1325880"/>
            <a:ext cx="457200" cy="457200"/>
          </a:xfrm>
          <a:prstGeom prst="ellipse">
            <a:avLst/>
          </a:prstGeom>
          <a:solidFill>
            <a:schemeClr val="accent1"/>
          </a:solidFill>
          <a:ln/>
        </p:spPr>
      </p:sp>
      <p:pic>
        <p:nvPicPr>
          <p:cNvPr id="5" name="Write step 1 icon" descr="preencoded.png">    </p:cNvPr>
          <p:cNvPicPr>
            <a:picLocks noChangeAspect="1"/>
          </p:cNvPicPr>
          <p:nvPr/>
        </p:nvPicPr>
        <p:blipFill>
          <a:blip r:embed="rId1"/>
          <a:stretch>
            <a:fillRect/>
          </a:stretch>
        </p:blipFill>
        <p:spPr>
          <a:xfrm>
            <a:off x="736092" y="1440180"/>
            <a:ext cx="228600" cy="228600"/>
          </a:xfrm>
          <a:prstGeom prst="rect">
            <a:avLst/>
          </a:prstGeom>
        </p:spPr>
      </p:pic>
      <p:sp>
        <p:nvSpPr>
          <p:cNvPr id="6" name="Text 3"/>
          <p:cNvSpPr txBox="1"/>
          <p:nvPr/>
        </p:nvSpPr>
        <p:spPr>
          <a:xfrm>
            <a:off x="1188720" y="1325880"/>
            <a:ext cx="1005840" cy="457200"/>
          </a:xfrm>
          <a:prstGeom prst="rect">
            <a:avLst/>
          </a:prstGeom>
          <a:noFill/>
          <a:ln/>
        </p:spPr>
        <p:txBody>
          <a:bodyPr wrap="square" lIns="0" tIns="0" rIns="0" bIns="0" rtlCol="0" anchor="ctr"/>
          <a:lstStyle/>
          <a:p>
            <a:pPr indent="0" marL="0">
              <a:buNone/>
            </a:pPr>
            <a:r>
              <a:rPr lang="en-US" sz="1500" b="1" dirty="0">
                <a:solidFill>
                  <a:schemeClr val="tx2"/>
                </a:solidFill>
              </a:rPr>
              <a:t>Plan</a:t>
            </a:r>
            <a:endParaRPr lang="en-US" sz="1500" dirty="0"/>
          </a:p>
        </p:txBody>
      </p:sp>
      <p:sp>
        <p:nvSpPr>
          <p:cNvPr id="7" name="Text 4"/>
          <p:cNvSpPr txBox="1"/>
          <p:nvPr/>
        </p:nvSpPr>
        <p:spPr>
          <a:xfrm>
            <a:off x="621792" y="1874520"/>
            <a:ext cx="1554480" cy="1463040"/>
          </a:xfrm>
          <a:prstGeom prst="rect">
            <a:avLst/>
          </a:prstGeom>
          <a:noFill/>
          <a:ln/>
        </p:spPr>
        <p:txBody>
          <a:bodyPr wrap="square" lIns="0" tIns="0" rIns="0" bIns="0" rtlCol="0" anchor="t"/>
          <a:lstStyle/>
          <a:p>
            <a:pPr indent="0" marL="0">
              <a:buNone/>
            </a:pPr>
            <a:r>
              <a:rPr lang="en-US" sz="1150" dirty="0">
                <a:solidFill>
                  <a:schemeClr val="tx1"/>
                </a:solidFill>
              </a:rPr>
              <a:t>The server builds the new file text itself from a spec. The browser never sends file contents.</a:t>
            </a:r>
            <a:endParaRPr lang="en-US" sz="1150" dirty="0"/>
          </a:p>
        </p:txBody>
      </p:sp>
      <p:sp>
        <p:nvSpPr>
          <p:cNvPr id="8" name="Write arrow 1"/>
          <p:cNvSpPr/>
          <p:nvPr/>
        </p:nvSpPr>
        <p:spPr>
          <a:xfrm>
            <a:off x="2313432" y="2103120"/>
            <a:ext cx="265176" cy="347472"/>
          </a:xfrm>
          <a:prstGeom prst="rightArrow">
            <a:avLst/>
          </a:prstGeom>
          <a:solidFill>
            <a:schemeClr val="accent2"/>
          </a:solidFill>
          <a:ln/>
        </p:spPr>
      </p:sp>
      <p:sp>
        <p:nvSpPr>
          <p:cNvPr id="9" name="Write step 2"/>
          <p:cNvSpPr/>
          <p:nvPr/>
        </p:nvSpPr>
        <p:spPr>
          <a:xfrm>
            <a:off x="2606040" y="1188720"/>
            <a:ext cx="1828800" cy="1965960"/>
          </a:xfrm>
          <a:prstGeom prst="roundRect">
            <a:avLst>
              <a:gd name="adj" fmla="val 4000"/>
            </a:avLst>
          </a:prstGeom>
          <a:solidFill>
            <a:schemeClr val="bg2"/>
          </a:solidFill>
          <a:ln/>
        </p:spPr>
      </p:sp>
      <p:sp>
        <p:nvSpPr>
          <p:cNvPr id="10" name="Write step 2 circle"/>
          <p:cNvSpPr/>
          <p:nvPr/>
        </p:nvSpPr>
        <p:spPr>
          <a:xfrm>
            <a:off x="2770632" y="1325880"/>
            <a:ext cx="457200" cy="457200"/>
          </a:xfrm>
          <a:prstGeom prst="ellipse">
            <a:avLst/>
          </a:prstGeom>
          <a:solidFill>
            <a:schemeClr val="accent1"/>
          </a:solidFill>
          <a:ln/>
        </p:spPr>
      </p:sp>
      <p:pic>
        <p:nvPicPr>
          <p:cNvPr id="11" name="Write step 2 icon" descr="preencoded.png">    </p:cNvPr>
          <p:cNvPicPr>
            <a:picLocks noChangeAspect="1"/>
          </p:cNvPicPr>
          <p:nvPr/>
        </p:nvPicPr>
        <p:blipFill>
          <a:blip r:embed="rId2"/>
          <a:stretch>
            <a:fillRect/>
          </a:stretch>
        </p:blipFill>
        <p:spPr>
          <a:xfrm>
            <a:off x="2884932" y="1440180"/>
            <a:ext cx="228600" cy="228600"/>
          </a:xfrm>
          <a:prstGeom prst="rect">
            <a:avLst/>
          </a:prstGeom>
        </p:spPr>
      </p:pic>
      <p:sp>
        <p:nvSpPr>
          <p:cNvPr id="12" name="Text 8"/>
          <p:cNvSpPr txBox="1"/>
          <p:nvPr/>
        </p:nvSpPr>
        <p:spPr>
          <a:xfrm>
            <a:off x="3337560" y="1325880"/>
            <a:ext cx="1005840" cy="457200"/>
          </a:xfrm>
          <a:prstGeom prst="rect">
            <a:avLst/>
          </a:prstGeom>
          <a:noFill/>
          <a:ln/>
        </p:spPr>
        <p:txBody>
          <a:bodyPr wrap="square" lIns="0" tIns="0" rIns="0" bIns="0" rtlCol="0" anchor="ctr"/>
          <a:lstStyle/>
          <a:p>
            <a:pPr indent="0" marL="0">
              <a:buNone/>
            </a:pPr>
            <a:r>
              <a:rPr lang="en-US" sz="1500" b="1" dirty="0">
                <a:solidFill>
                  <a:schemeClr val="tx2"/>
                </a:solidFill>
              </a:rPr>
              <a:t>Preview</a:t>
            </a:r>
            <a:endParaRPr lang="en-US" sz="1500" dirty="0"/>
          </a:p>
        </p:txBody>
      </p:sp>
      <p:sp>
        <p:nvSpPr>
          <p:cNvPr id="13" name="Text 9"/>
          <p:cNvSpPr txBox="1"/>
          <p:nvPr/>
        </p:nvSpPr>
        <p:spPr>
          <a:xfrm>
            <a:off x="2770632" y="1874520"/>
            <a:ext cx="1554480" cy="1463040"/>
          </a:xfrm>
          <a:prstGeom prst="rect">
            <a:avLst/>
          </a:prstGeom>
          <a:noFill/>
          <a:ln/>
        </p:spPr>
        <p:txBody>
          <a:bodyPr wrap="square" lIns="0" tIns="0" rIns="0" bIns="0" rtlCol="0" anchor="t"/>
          <a:lstStyle/>
          <a:p>
            <a:pPr indent="0" marL="0">
              <a:buNone/>
            </a:pPr>
            <a:r>
              <a:rPr lang="en-US" sz="1150" dirty="0">
                <a:solidFill>
                  <a:schemeClr val="tx1"/>
                </a:solidFill>
              </a:rPr>
              <a:t>A unified diff of every file touched, with a SHA-256 hash of what each file looked like.</a:t>
            </a:r>
            <a:endParaRPr lang="en-US" sz="1150" dirty="0"/>
          </a:p>
        </p:txBody>
      </p:sp>
      <p:sp>
        <p:nvSpPr>
          <p:cNvPr id="14" name="Write arrow 2"/>
          <p:cNvSpPr/>
          <p:nvPr/>
        </p:nvSpPr>
        <p:spPr>
          <a:xfrm>
            <a:off x="4462272" y="2103120"/>
            <a:ext cx="265176" cy="347472"/>
          </a:xfrm>
          <a:prstGeom prst="rightArrow">
            <a:avLst/>
          </a:prstGeom>
          <a:solidFill>
            <a:schemeClr val="accent2"/>
          </a:solidFill>
          <a:ln/>
        </p:spPr>
      </p:sp>
      <p:sp>
        <p:nvSpPr>
          <p:cNvPr id="15" name="Write step 3"/>
          <p:cNvSpPr/>
          <p:nvPr/>
        </p:nvSpPr>
        <p:spPr>
          <a:xfrm>
            <a:off x="4754880" y="1188720"/>
            <a:ext cx="1828800" cy="1965960"/>
          </a:xfrm>
          <a:prstGeom prst="roundRect">
            <a:avLst>
              <a:gd name="adj" fmla="val 4000"/>
            </a:avLst>
          </a:prstGeom>
          <a:solidFill>
            <a:schemeClr val="accent5"/>
          </a:solidFill>
          <a:ln/>
        </p:spPr>
      </p:sp>
      <p:sp>
        <p:nvSpPr>
          <p:cNvPr id="16" name="Write step 3 circle"/>
          <p:cNvSpPr/>
          <p:nvPr/>
        </p:nvSpPr>
        <p:spPr>
          <a:xfrm>
            <a:off x="4919472" y="1325880"/>
            <a:ext cx="457200" cy="457200"/>
          </a:xfrm>
          <a:prstGeom prst="ellipse">
            <a:avLst/>
          </a:prstGeom>
          <a:solidFill>
            <a:schemeClr val="accent1"/>
          </a:solidFill>
          <a:ln/>
        </p:spPr>
      </p:sp>
      <p:pic>
        <p:nvPicPr>
          <p:cNvPr id="17" name="Write step 3 icon" descr="preencoded.png">    </p:cNvPr>
          <p:cNvPicPr>
            <a:picLocks noChangeAspect="1"/>
          </p:cNvPicPr>
          <p:nvPr/>
        </p:nvPicPr>
        <p:blipFill>
          <a:blip r:embed="rId3"/>
          <a:stretch>
            <a:fillRect/>
          </a:stretch>
        </p:blipFill>
        <p:spPr>
          <a:xfrm>
            <a:off x="5033772" y="1440180"/>
            <a:ext cx="228600" cy="228600"/>
          </a:xfrm>
          <a:prstGeom prst="rect">
            <a:avLst/>
          </a:prstGeom>
        </p:spPr>
      </p:pic>
      <p:sp>
        <p:nvSpPr>
          <p:cNvPr id="18" name="Text 13"/>
          <p:cNvSpPr txBox="1"/>
          <p:nvPr/>
        </p:nvSpPr>
        <p:spPr>
          <a:xfrm>
            <a:off x="5486400" y="1325880"/>
            <a:ext cx="1005840" cy="457200"/>
          </a:xfrm>
          <a:prstGeom prst="rect">
            <a:avLst/>
          </a:prstGeom>
          <a:noFill/>
          <a:ln/>
        </p:spPr>
        <p:txBody>
          <a:bodyPr wrap="square" lIns="0" tIns="0" rIns="0" bIns="0" rtlCol="0" anchor="ctr"/>
          <a:lstStyle/>
          <a:p>
            <a:pPr indent="0" marL="0">
              <a:buNone/>
            </a:pPr>
            <a:r>
              <a:rPr lang="en-US" sz="1500" b="1" dirty="0">
                <a:solidFill>
                  <a:schemeClr val="tx2"/>
                </a:solidFill>
              </a:rPr>
              <a:t>Apply</a:t>
            </a:r>
            <a:endParaRPr lang="en-US" sz="1500" dirty="0"/>
          </a:p>
        </p:txBody>
      </p:sp>
      <p:sp>
        <p:nvSpPr>
          <p:cNvPr id="19" name="Text 14"/>
          <p:cNvSpPr txBox="1"/>
          <p:nvPr/>
        </p:nvSpPr>
        <p:spPr>
          <a:xfrm>
            <a:off x="4919472" y="1874520"/>
            <a:ext cx="1554480" cy="1463040"/>
          </a:xfrm>
          <a:prstGeom prst="rect">
            <a:avLst/>
          </a:prstGeom>
          <a:noFill/>
          <a:ln/>
        </p:spPr>
        <p:txBody>
          <a:bodyPr wrap="square" lIns="0" tIns="0" rIns="0" bIns="0" rtlCol="0" anchor="t"/>
          <a:lstStyle/>
          <a:p>
            <a:pPr indent="0" marL="0">
              <a:buNone/>
            </a:pPr>
            <a:r>
              <a:rPr lang="en-US" sz="1150" dirty="0">
                <a:solidFill>
                  <a:schemeClr val="tx1"/>
                </a:solidFill>
              </a:rPr>
              <a:t>Re-read each file; refuse if its hash changed since the preview. Only project folders, only .feature or step files.</a:t>
            </a:r>
            <a:endParaRPr lang="en-US" sz="1150" dirty="0"/>
          </a:p>
        </p:txBody>
      </p:sp>
      <p:sp>
        <p:nvSpPr>
          <p:cNvPr id="20" name="Write arrow 3"/>
          <p:cNvSpPr/>
          <p:nvPr/>
        </p:nvSpPr>
        <p:spPr>
          <a:xfrm>
            <a:off x="6611112" y="2103120"/>
            <a:ext cx="265176" cy="347472"/>
          </a:xfrm>
          <a:prstGeom prst="rightArrow">
            <a:avLst/>
          </a:prstGeom>
          <a:solidFill>
            <a:schemeClr val="accent2"/>
          </a:solidFill>
          <a:ln/>
        </p:spPr>
      </p:sp>
      <p:sp>
        <p:nvSpPr>
          <p:cNvPr id="21" name="Write step 4"/>
          <p:cNvSpPr/>
          <p:nvPr/>
        </p:nvSpPr>
        <p:spPr>
          <a:xfrm>
            <a:off x="6903720" y="1188720"/>
            <a:ext cx="1828800" cy="1965960"/>
          </a:xfrm>
          <a:prstGeom prst="roundRect">
            <a:avLst>
              <a:gd name="adj" fmla="val 4000"/>
            </a:avLst>
          </a:prstGeom>
          <a:solidFill>
            <a:schemeClr val="bg2"/>
          </a:solidFill>
          <a:ln/>
        </p:spPr>
      </p:sp>
      <p:sp>
        <p:nvSpPr>
          <p:cNvPr id="22" name="Write step 4 circle"/>
          <p:cNvSpPr/>
          <p:nvPr/>
        </p:nvSpPr>
        <p:spPr>
          <a:xfrm>
            <a:off x="7068312" y="1325880"/>
            <a:ext cx="457200" cy="457200"/>
          </a:xfrm>
          <a:prstGeom prst="ellipse">
            <a:avLst/>
          </a:prstGeom>
          <a:solidFill>
            <a:schemeClr val="accent1"/>
          </a:solidFill>
          <a:ln/>
        </p:spPr>
      </p:sp>
      <p:pic>
        <p:nvPicPr>
          <p:cNvPr id="23" name="Write step 4 icon" descr="preencoded.png">    </p:cNvPr>
          <p:cNvPicPr>
            <a:picLocks noChangeAspect="1"/>
          </p:cNvPicPr>
          <p:nvPr/>
        </p:nvPicPr>
        <p:blipFill>
          <a:blip r:embed="rId4"/>
          <a:stretch>
            <a:fillRect/>
          </a:stretch>
        </p:blipFill>
        <p:spPr>
          <a:xfrm>
            <a:off x="7182612" y="1440180"/>
            <a:ext cx="228600" cy="228600"/>
          </a:xfrm>
          <a:prstGeom prst="rect">
            <a:avLst/>
          </a:prstGeom>
        </p:spPr>
      </p:pic>
      <p:sp>
        <p:nvSpPr>
          <p:cNvPr id="24" name="Text 18"/>
          <p:cNvSpPr txBox="1"/>
          <p:nvPr/>
        </p:nvSpPr>
        <p:spPr>
          <a:xfrm>
            <a:off x="7635240" y="1325880"/>
            <a:ext cx="1005840" cy="457200"/>
          </a:xfrm>
          <a:prstGeom prst="rect">
            <a:avLst/>
          </a:prstGeom>
          <a:noFill/>
          <a:ln/>
        </p:spPr>
        <p:txBody>
          <a:bodyPr wrap="square" lIns="0" tIns="0" rIns="0" bIns="0" rtlCol="0" anchor="ctr"/>
          <a:lstStyle/>
          <a:p>
            <a:pPr indent="0" marL="0">
              <a:buNone/>
            </a:pPr>
            <a:r>
              <a:rPr lang="en-US" sz="1500" b="1" dirty="0">
                <a:solidFill>
                  <a:schemeClr val="tx2"/>
                </a:solidFill>
              </a:rPr>
              <a:t>Record</a:t>
            </a:r>
            <a:endParaRPr lang="en-US" sz="1500" dirty="0"/>
          </a:p>
        </p:txBody>
      </p:sp>
      <p:sp>
        <p:nvSpPr>
          <p:cNvPr id="25" name="Text 19"/>
          <p:cNvSpPr txBox="1"/>
          <p:nvPr/>
        </p:nvSpPr>
        <p:spPr>
          <a:xfrm>
            <a:off x="7068312" y="1874520"/>
            <a:ext cx="1554480" cy="1463040"/>
          </a:xfrm>
          <a:prstGeom prst="rect">
            <a:avLst/>
          </a:prstGeom>
          <a:noFill/>
          <a:ln/>
        </p:spPr>
        <p:txBody>
          <a:bodyPr wrap="square" lIns="0" tIns="0" rIns="0" bIns="0" rtlCol="0" anchor="t"/>
          <a:lstStyle/>
          <a:p>
            <a:pPr indent="0" marL="0">
              <a:buNone/>
            </a:pPr>
            <a:r>
              <a:rPr lang="en-US" sz="1150" dirty="0">
                <a:solidFill>
                  <a:schemeClr val="tx1"/>
                </a:solidFill>
              </a:rPr>
              <a:t>Append to .gherkin-copilot/history.jsonl: who, when, what, the diff, and the scenario before and after.</a:t>
            </a:r>
            <a:endParaRPr lang="en-US" sz="1150" dirty="0"/>
          </a:p>
        </p:txBody>
      </p:sp>
      <p:sp>
        <p:nvSpPr>
          <p:cNvPr id="26" name="History strip"/>
          <p:cNvSpPr/>
          <p:nvPr/>
        </p:nvSpPr>
        <p:spPr>
          <a:xfrm>
            <a:off x="457200" y="3429000"/>
            <a:ext cx="8229600" cy="914400"/>
          </a:xfrm>
          <a:prstGeom prst="roundRect">
            <a:avLst>
              <a:gd name="adj" fmla="val 8000"/>
            </a:avLst>
          </a:prstGeom>
          <a:solidFill>
            <a:schemeClr val="tx2"/>
          </a:solidFill>
          <a:ln/>
        </p:spPr>
      </p:sp>
      <p:sp>
        <p:nvSpPr>
          <p:cNvPr id="27" name="History text"/>
          <p:cNvSpPr txBox="1"/>
          <p:nvPr/>
        </p:nvSpPr>
        <p:spPr>
          <a:xfrm>
            <a:off x="685800" y="3429000"/>
            <a:ext cx="7772400" cy="914400"/>
          </a:xfrm>
          <a:prstGeom prst="rect">
            <a:avLst/>
          </a:prstGeom>
          <a:noFill/>
          <a:ln/>
        </p:spPr>
        <p:txBody>
          <a:bodyPr wrap="square" lIns="0" tIns="0" rIns="0" bIns="0" rtlCol="0" anchor="ctr"/>
          <a:lstStyle/>
          <a:p>
            <a:pPr indent="0" marL="0">
              <a:buNone/>
            </a:pPr>
            <a:r>
              <a:rPr lang="en-US" sz="1300" b="1" dirty="0">
                <a:solidFill>
                  <a:srgbClr val="F2C46D"/>
                </a:solidFill>
              </a:rPr>
              <a:t>history.jsonl lives inside the project, </a:t>
            </a:r>
            <a:pPr indent="0" marL="0">
              <a:buNone/>
            </a:pPr>
            <a:r>
              <a:rPr lang="en-US" sz="1300" dirty="0">
                <a:solidFill>
                  <a:schemeClr val="bg1"/>
                </a:solidFill>
              </a:rPr>
              <a:t>so it is committed and shared through git like any other file. Scenario changes can be restored from it. Merges cover every file they touch with one hash.</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Run: the only place the app starts a program</a:t>
            </a:r>
            <a:endParaRPr lang="en-US" sz="2800" dirty="0"/>
          </a:p>
        </p:txBody>
      </p:sp>
      <p:sp>
        <p:nvSpPr>
          <p:cNvPr id="3" name="Runner rule 1 circle"/>
          <p:cNvSpPr/>
          <p:nvPr/>
        </p:nvSpPr>
        <p:spPr>
          <a:xfrm>
            <a:off x="457200" y="1298448"/>
            <a:ext cx="292608" cy="292608"/>
          </a:xfrm>
          <a:prstGeom prst="ellipse">
            <a:avLst/>
          </a:prstGeom>
          <a:solidFill>
            <a:schemeClr val="tx2"/>
          </a:solidFill>
          <a:ln/>
        </p:spPr>
      </p:sp>
      <p:pic>
        <p:nvPicPr>
          <p:cNvPr id="4" name="Runner rule 1 icon" descr="preencoded.png">    </p:cNvPr>
          <p:cNvPicPr>
            <a:picLocks noChangeAspect="1"/>
          </p:cNvPicPr>
          <p:nvPr/>
        </p:nvPicPr>
        <p:blipFill>
          <a:blip r:embed="rId1"/>
          <a:stretch>
            <a:fillRect/>
          </a:stretch>
        </p:blipFill>
        <p:spPr>
          <a:xfrm>
            <a:off x="530352" y="1371600"/>
            <a:ext cx="146304" cy="146304"/>
          </a:xfrm>
          <a:prstGeom prst="rect">
            <a:avLst/>
          </a:prstGeom>
        </p:spPr>
      </p:pic>
      <p:sp>
        <p:nvSpPr>
          <p:cNvPr id="5" name="Text 2"/>
          <p:cNvSpPr txBox="1"/>
          <p:nvPr/>
        </p:nvSpPr>
        <p:spPr>
          <a:xfrm>
            <a:off x="868680" y="1188720"/>
            <a:ext cx="3794760" cy="548640"/>
          </a:xfrm>
          <a:prstGeom prst="rect">
            <a:avLst/>
          </a:prstGeom>
          <a:noFill/>
          <a:ln/>
        </p:spPr>
        <p:txBody>
          <a:bodyPr wrap="square" lIns="0" tIns="0" rIns="0" bIns="0" rtlCol="0" anchor="ctr"/>
          <a:lstStyle/>
          <a:p>
            <a:pPr indent="0" marL="0">
              <a:buNone/>
            </a:pPr>
            <a:r>
              <a:rPr lang="en-US" sz="1250" b="1" dirty="0">
                <a:solidFill>
                  <a:schemeClr val="tx2"/>
                </a:solidFill>
              </a:rPr>
              <a:t>Only the saved command, </a:t>
            </a:r>
            <a:pPr indent="0" marL="0">
              <a:buNone/>
            </a:pPr>
            <a:r>
              <a:rPr lang="en-US" sz="1250" dirty="0">
                <a:solidFill>
                  <a:schemeClr val="tx1"/>
                </a:solidFill>
              </a:rPr>
              <a:t>split with shlex into an argument list, never a shell</a:t>
            </a:r>
            <a:endParaRPr lang="en-US" sz="1250" dirty="0"/>
          </a:p>
        </p:txBody>
      </p:sp>
      <p:sp>
        <p:nvSpPr>
          <p:cNvPr id="6" name="Runner rule 2 circle"/>
          <p:cNvSpPr/>
          <p:nvPr/>
        </p:nvSpPr>
        <p:spPr>
          <a:xfrm>
            <a:off x="457200" y="1847088"/>
            <a:ext cx="292608" cy="292608"/>
          </a:xfrm>
          <a:prstGeom prst="ellipse">
            <a:avLst/>
          </a:prstGeom>
          <a:solidFill>
            <a:schemeClr val="tx2"/>
          </a:solidFill>
          <a:ln/>
        </p:spPr>
      </p:sp>
      <p:pic>
        <p:nvPicPr>
          <p:cNvPr id="7" name="Runner rule 2 icon" descr="preencoded.png">    </p:cNvPr>
          <p:cNvPicPr>
            <a:picLocks noChangeAspect="1"/>
          </p:cNvPicPr>
          <p:nvPr/>
        </p:nvPicPr>
        <p:blipFill>
          <a:blip r:embed="rId2"/>
          <a:stretch>
            <a:fillRect/>
          </a:stretch>
        </p:blipFill>
        <p:spPr>
          <a:xfrm>
            <a:off x="530352" y="1920240"/>
            <a:ext cx="146304" cy="146304"/>
          </a:xfrm>
          <a:prstGeom prst="rect">
            <a:avLst/>
          </a:prstGeom>
        </p:spPr>
      </p:pic>
      <p:sp>
        <p:nvSpPr>
          <p:cNvPr id="8" name="Text 4"/>
          <p:cNvSpPr txBox="1"/>
          <p:nvPr/>
        </p:nvSpPr>
        <p:spPr>
          <a:xfrm>
            <a:off x="868680" y="1737360"/>
            <a:ext cx="3794760" cy="548640"/>
          </a:xfrm>
          <a:prstGeom prst="rect">
            <a:avLst/>
          </a:prstGeom>
          <a:noFill/>
          <a:ln/>
        </p:spPr>
        <p:txBody>
          <a:bodyPr wrap="square" lIns="0" tIns="0" rIns="0" bIns="0" rtlCol="0" anchor="ctr"/>
          <a:lstStyle/>
          <a:p>
            <a:pPr indent="0" marL="0">
              <a:buNone/>
            </a:pPr>
            <a:r>
              <a:rPr lang="en-US" sz="1250" b="1" dirty="0">
                <a:solidFill>
                  <a:schemeClr val="tx2"/>
                </a:solidFill>
              </a:rPr>
              <a:t>Refuses </a:t>
            </a:r>
            <a:pPr indent="0" marL="0">
              <a:buNone/>
            </a:pPr>
            <a:r>
              <a:rPr lang="en-US" sz="1250" dirty="0">
                <a:solidFill>
                  <a:schemeClr val="tx1"/>
                </a:solidFill>
              </a:rPr>
              <a:t>cd, source, &amp;&amp;, |, ; and scripts that aren’t pytest</a:t>
            </a:r>
            <a:endParaRPr lang="en-US" sz="1250" dirty="0"/>
          </a:p>
        </p:txBody>
      </p:sp>
      <p:sp>
        <p:nvSpPr>
          <p:cNvPr id="9" name="Runner rule 3 circle"/>
          <p:cNvSpPr/>
          <p:nvPr/>
        </p:nvSpPr>
        <p:spPr>
          <a:xfrm>
            <a:off x="457200" y="2395728"/>
            <a:ext cx="292608" cy="292608"/>
          </a:xfrm>
          <a:prstGeom prst="ellipse">
            <a:avLst/>
          </a:prstGeom>
          <a:solidFill>
            <a:schemeClr val="tx2"/>
          </a:solidFill>
          <a:ln/>
        </p:spPr>
      </p:sp>
      <p:pic>
        <p:nvPicPr>
          <p:cNvPr id="10" name="Runner rule 3 icon" descr="preencoded.png">    </p:cNvPr>
          <p:cNvPicPr>
            <a:picLocks noChangeAspect="1"/>
          </p:cNvPicPr>
          <p:nvPr/>
        </p:nvPicPr>
        <p:blipFill>
          <a:blip r:embed="rId3"/>
          <a:stretch>
            <a:fillRect/>
          </a:stretch>
        </p:blipFill>
        <p:spPr>
          <a:xfrm>
            <a:off x="530352" y="2468880"/>
            <a:ext cx="146304" cy="146304"/>
          </a:xfrm>
          <a:prstGeom prst="rect">
            <a:avLst/>
          </a:prstGeom>
        </p:spPr>
      </p:pic>
      <p:sp>
        <p:nvSpPr>
          <p:cNvPr id="11" name="Text 6"/>
          <p:cNvSpPr txBox="1"/>
          <p:nvPr/>
        </p:nvSpPr>
        <p:spPr>
          <a:xfrm>
            <a:off x="868680" y="2286000"/>
            <a:ext cx="3794760" cy="548640"/>
          </a:xfrm>
          <a:prstGeom prst="rect">
            <a:avLst/>
          </a:prstGeom>
          <a:noFill/>
          <a:ln/>
        </p:spPr>
        <p:txBody>
          <a:bodyPr wrap="square" lIns="0" tIns="0" rIns="0" bIns="0" rtlCol="0" anchor="ctr"/>
          <a:lstStyle/>
          <a:p>
            <a:pPr indent="0" marL="0">
              <a:buNone/>
            </a:pPr>
            <a:r>
              <a:rPr lang="en-US" sz="1250" b="1" dirty="0">
                <a:solidFill>
                  <a:schemeClr val="tx2"/>
                </a:solidFill>
              </a:rPr>
              <a:t>python </a:t>
            </a:r>
            <a:pPr indent="0" marL="0">
              <a:buNone/>
            </a:pPr>
            <a:r>
              <a:rPr lang="en-US" sz="1250" dirty="0">
                <a:solidFill>
                  <a:schemeClr val="tx1"/>
                </a:solidFill>
              </a:rPr>
              <a:t>is replaced with the app’s own interpreter (the project venv)</a:t>
            </a:r>
            <a:endParaRPr lang="en-US" sz="1250" dirty="0"/>
          </a:p>
        </p:txBody>
      </p:sp>
      <p:sp>
        <p:nvSpPr>
          <p:cNvPr id="12" name="Runner rule 4 circle"/>
          <p:cNvSpPr/>
          <p:nvPr/>
        </p:nvSpPr>
        <p:spPr>
          <a:xfrm>
            <a:off x="457200" y="2944368"/>
            <a:ext cx="292608" cy="292608"/>
          </a:xfrm>
          <a:prstGeom prst="ellipse">
            <a:avLst/>
          </a:prstGeom>
          <a:solidFill>
            <a:schemeClr val="tx2"/>
          </a:solidFill>
          <a:ln/>
        </p:spPr>
      </p:sp>
      <p:pic>
        <p:nvPicPr>
          <p:cNvPr id="13" name="Runner rule 4 icon" descr="preencoded.png">    </p:cNvPr>
          <p:cNvPicPr>
            <a:picLocks noChangeAspect="1"/>
          </p:cNvPicPr>
          <p:nvPr/>
        </p:nvPicPr>
        <p:blipFill>
          <a:blip r:embed="rId4"/>
          <a:stretch>
            <a:fillRect/>
          </a:stretch>
        </p:blipFill>
        <p:spPr>
          <a:xfrm>
            <a:off x="530352" y="3017520"/>
            <a:ext cx="146304" cy="146304"/>
          </a:xfrm>
          <a:prstGeom prst="rect">
            <a:avLst/>
          </a:prstGeom>
        </p:spPr>
      </p:pic>
      <p:sp>
        <p:nvSpPr>
          <p:cNvPr id="14" name="Text 8"/>
          <p:cNvSpPr txBox="1"/>
          <p:nvPr/>
        </p:nvSpPr>
        <p:spPr>
          <a:xfrm>
            <a:off x="868680" y="2834640"/>
            <a:ext cx="3794760" cy="548640"/>
          </a:xfrm>
          <a:prstGeom prst="rect">
            <a:avLst/>
          </a:prstGeom>
          <a:noFill/>
          <a:ln/>
        </p:spPr>
        <p:txBody>
          <a:bodyPr wrap="square" lIns="0" tIns="0" rIns="0" bIns="0" rtlCol="0" anchor="ctr"/>
          <a:lstStyle/>
          <a:p>
            <a:pPr indent="0" marL="0">
              <a:buNone/>
            </a:pPr>
            <a:r>
              <a:rPr lang="en-US" sz="1250" b="1" dirty="0">
                <a:solidFill>
                  <a:schemeClr val="tx2"/>
                </a:solidFill>
              </a:rPr>
              <a:t>One scenario: </a:t>
            </a:r>
            <a:pPr indent="0" marL="0">
              <a:buNone/>
            </a:pPr>
            <a:r>
              <a:rPr lang="en-US" sz="1250" dirty="0">
                <a:solidFill>
                  <a:schemeClr val="tx1"/>
                </a:solidFill>
              </a:rPr>
              <a:t>collect, then -k test_&lt;scenario name&gt;</a:t>
            </a:r>
            <a:endParaRPr lang="en-US" sz="1250" dirty="0"/>
          </a:p>
        </p:txBody>
      </p:sp>
      <p:sp>
        <p:nvSpPr>
          <p:cNvPr id="15" name="Runner rule 5 circle"/>
          <p:cNvSpPr/>
          <p:nvPr/>
        </p:nvSpPr>
        <p:spPr>
          <a:xfrm>
            <a:off x="457200" y="3493008"/>
            <a:ext cx="292608" cy="292608"/>
          </a:xfrm>
          <a:prstGeom prst="ellipse">
            <a:avLst/>
          </a:prstGeom>
          <a:solidFill>
            <a:schemeClr val="tx2"/>
          </a:solidFill>
          <a:ln/>
        </p:spPr>
      </p:sp>
      <p:pic>
        <p:nvPicPr>
          <p:cNvPr id="16" name="Runner rule 5 icon" descr="preencoded.png">    </p:cNvPr>
          <p:cNvPicPr>
            <a:picLocks noChangeAspect="1"/>
          </p:cNvPicPr>
          <p:nvPr/>
        </p:nvPicPr>
        <p:blipFill>
          <a:blip r:embed="rId5"/>
          <a:stretch>
            <a:fillRect/>
          </a:stretch>
        </p:blipFill>
        <p:spPr>
          <a:xfrm>
            <a:off x="530352" y="3566160"/>
            <a:ext cx="146304" cy="146304"/>
          </a:xfrm>
          <a:prstGeom prst="rect">
            <a:avLst/>
          </a:prstGeom>
        </p:spPr>
      </p:pic>
      <p:sp>
        <p:nvSpPr>
          <p:cNvPr id="17" name="Text 10"/>
          <p:cNvSpPr txBox="1"/>
          <p:nvPr/>
        </p:nvSpPr>
        <p:spPr>
          <a:xfrm>
            <a:off x="868680" y="3383280"/>
            <a:ext cx="3794760" cy="548640"/>
          </a:xfrm>
          <a:prstGeom prst="rect">
            <a:avLst/>
          </a:prstGeom>
          <a:noFill/>
          <a:ln/>
        </p:spPr>
        <p:txBody>
          <a:bodyPr wrap="square" lIns="0" tIns="0" rIns="0" bIns="0" rtlCol="0" anchor="ctr"/>
          <a:lstStyle/>
          <a:p>
            <a:pPr indent="0" marL="0">
              <a:buNone/>
            </a:pPr>
            <a:r>
              <a:rPr lang="en-US" sz="1250" b="1" dirty="0">
                <a:solidFill>
                  <a:schemeClr val="tx2"/>
                </a:solidFill>
              </a:rPr>
              <a:t>One run per project, </a:t>
            </a:r>
            <a:pPr indent="0" marL="0">
              <a:buNone/>
            </a:pPr>
            <a:r>
              <a:rPr lang="en-US" sz="1250" dirty="0">
                <a:solidFill>
                  <a:schemeClr val="tx1"/>
                </a:solidFill>
              </a:rPr>
              <a:t>a stop button and a time limit</a:t>
            </a:r>
            <a:endParaRPr lang="en-US" sz="1250" dirty="0"/>
          </a:p>
        </p:txBody>
      </p:sp>
      <p:sp>
        <p:nvSpPr>
          <p:cNvPr id="18" name="Runner rule 6 circle"/>
          <p:cNvSpPr/>
          <p:nvPr/>
        </p:nvSpPr>
        <p:spPr>
          <a:xfrm>
            <a:off x="457200" y="4041648"/>
            <a:ext cx="292608" cy="292608"/>
          </a:xfrm>
          <a:prstGeom prst="ellipse">
            <a:avLst/>
          </a:prstGeom>
          <a:solidFill>
            <a:schemeClr val="tx2"/>
          </a:solidFill>
          <a:ln/>
        </p:spPr>
      </p:sp>
      <p:pic>
        <p:nvPicPr>
          <p:cNvPr id="19" name="Runner rule 6 icon" descr="preencoded.png">    </p:cNvPr>
          <p:cNvPicPr>
            <a:picLocks noChangeAspect="1"/>
          </p:cNvPicPr>
          <p:nvPr/>
        </p:nvPicPr>
        <p:blipFill>
          <a:blip r:embed="rId6"/>
          <a:stretch>
            <a:fillRect/>
          </a:stretch>
        </p:blipFill>
        <p:spPr>
          <a:xfrm>
            <a:off x="530352" y="4114800"/>
            <a:ext cx="146304" cy="146304"/>
          </a:xfrm>
          <a:prstGeom prst="rect">
            <a:avLst/>
          </a:prstGeom>
        </p:spPr>
      </p:pic>
      <p:sp>
        <p:nvSpPr>
          <p:cNvPr id="20" name="Text 12"/>
          <p:cNvSpPr txBox="1"/>
          <p:nvPr/>
        </p:nvSpPr>
        <p:spPr>
          <a:xfrm>
            <a:off x="868680" y="3931920"/>
            <a:ext cx="3794760" cy="548640"/>
          </a:xfrm>
          <a:prstGeom prst="rect">
            <a:avLst/>
          </a:prstGeom>
          <a:noFill/>
          <a:ln/>
        </p:spPr>
        <p:txBody>
          <a:bodyPr wrap="square" lIns="0" tIns="0" rIns="0" bIns="0" rtlCol="0" anchor="ctr"/>
          <a:lstStyle/>
          <a:p>
            <a:pPr indent="0" marL="0">
              <a:buNone/>
            </a:pPr>
            <a:r>
              <a:rPr lang="en-US" sz="1250" b="1" dirty="0">
                <a:solidFill>
                  <a:schemeClr val="tx2"/>
                </a:solidFill>
              </a:rPr>
              <a:t>Results </a:t>
            </a:r>
            <a:pPr indent="0" marL="0">
              <a:buNone/>
            </a:pPr>
            <a:r>
              <a:rPr lang="en-US" sz="1250" dirty="0">
                <a:solidFill>
                  <a:schemeClr val="tx1"/>
                </a:solidFill>
              </a:rPr>
              <a:t>go to .gherkin-copilot/results, which git ignores</a:t>
            </a:r>
            <a:endParaRPr lang="en-US" sz="1250" dirty="0"/>
          </a:p>
        </p:txBody>
      </p:sp>
      <p:sp>
        <p:nvSpPr>
          <p:cNvPr id="21" name="Bike light card"/>
          <p:cNvSpPr/>
          <p:nvPr/>
        </p:nvSpPr>
        <p:spPr>
          <a:xfrm>
            <a:off x="4937760" y="1188720"/>
            <a:ext cx="3749040" cy="3383280"/>
          </a:xfrm>
          <a:prstGeom prst="roundRect">
            <a:avLst>
              <a:gd name="adj" fmla="val 2162"/>
            </a:avLst>
          </a:prstGeom>
          <a:solidFill>
            <a:srgbClr val="FBE9E5"/>
          </a:solidFill>
          <a:ln/>
        </p:spPr>
      </p:sp>
      <p:sp>
        <p:nvSpPr>
          <p:cNvPr id="22" name="Text 14"/>
          <p:cNvSpPr txBox="1"/>
          <p:nvPr/>
        </p:nvSpPr>
        <p:spPr>
          <a:xfrm>
            <a:off x="5120640" y="1298448"/>
            <a:ext cx="3383280" cy="365760"/>
          </a:xfrm>
          <a:prstGeom prst="rect">
            <a:avLst/>
          </a:prstGeom>
          <a:noFill/>
          <a:ln/>
        </p:spPr>
        <p:txBody>
          <a:bodyPr wrap="square" lIns="0" tIns="0" rIns="0" bIns="0" rtlCol="0" anchor="t"/>
          <a:lstStyle/>
          <a:p>
            <a:pPr indent="0" marL="0">
              <a:buNone/>
            </a:pPr>
            <a:r>
              <a:rPr lang="en-US" sz="1500" b="1" dirty="0">
                <a:solidFill>
                  <a:schemeClr val="accent4"/>
                </a:solidFill>
              </a:rPr>
              <a:t>Why both ✓ and Run matter (simplified)</a:t>
            </a:r>
            <a:endParaRPr lang="en-US" sz="1500" dirty="0"/>
          </a:p>
        </p:txBody>
      </p:sp>
      <p:sp>
        <p:nvSpPr>
          <p:cNvPr id="23" name="Bike light code bg"/>
          <p:cNvSpPr/>
          <p:nvPr/>
        </p:nvSpPr>
        <p:spPr>
          <a:xfrm>
            <a:off x="5029200" y="1737360"/>
            <a:ext cx="3566160" cy="731520"/>
          </a:xfrm>
          <a:prstGeom prst="roundRect">
            <a:avLst>
              <a:gd name="adj" fmla="val 10000"/>
            </a:avLst>
          </a:prstGeom>
          <a:solidFill>
            <a:schemeClr val="tx1"/>
          </a:solidFill>
          <a:ln/>
        </p:spPr>
      </p:sp>
      <p:sp>
        <p:nvSpPr>
          <p:cNvPr id="24" name="Bike light code"/>
          <p:cNvSpPr txBox="1"/>
          <p:nvPr/>
        </p:nvSpPr>
        <p:spPr>
          <a:xfrm>
            <a:off x="5212080" y="1847088"/>
            <a:ext cx="3200400" cy="512064"/>
          </a:xfrm>
          <a:prstGeom prst="rect">
            <a:avLst/>
          </a:prstGeom>
          <a:noFill/>
          <a:ln/>
        </p:spPr>
        <p:txBody>
          <a:bodyPr wrap="square" lIns="0" tIns="0" rIns="0" bIns="0" rtlCol="0" anchor="ctr"/>
          <a:lstStyle/>
          <a:p>
            <a:pPr indent="0" marL="0">
              <a:buNone/>
            </a:pPr>
            <a:r>
              <a:rPr lang="en-US" sz="900" dirty="0">
                <a:solidFill>
                  <a:srgbClr val="E6EDE8"/>
                </a:solidFill>
                <a:latin typeface="Courier New" pitchFamily="34" charset="0"/>
                <a:ea typeface="Courier New" pitchFamily="34" charset="-122"/>
                <a:cs typeface="Courier New" pitchFamily="34" charset="-120"/>
              </a:rPr>
              <a:t>When I add </a:t>
            </a:r>
            <a:pPr indent="0" marL="0">
              <a:buNone/>
            </a:pPr>
            <a:r>
              <a:rPr lang="en-US" sz="900" dirty="0">
                <a:solidFill>
                  <a:srgbClr val="F2C46D"/>
                </a:solidFill>
                <a:latin typeface="Courier New" pitchFamily="34" charset="0"/>
                <a:ea typeface="Courier New" pitchFamily="34" charset="-122"/>
                <a:cs typeface="Courier New" pitchFamily="34" charset="-120"/>
              </a:rPr>
              <a:t>"Sauce Labs Bike Light"</a:t>
            </a:r>
            <a:pPr indent="0" marL="0">
              <a:buNone/>
            </a:pPr>
            <a:r>
              <a:rPr lang="en-US" sz="900" dirty="0">
                <a:solidFill>
                  <a:srgbClr val="E6EDE8"/>
                </a:solidFill>
                <a:latin typeface="Courier New" pitchFamily="34" charset="0"/>
                <a:ea typeface="Courier New" pitchFamily="34" charset="-122"/>
                <a:cs typeface="Courier New" pitchFamily="34" charset="-120"/>
              </a:rPr>
              <a:t> to the cart</a:t>
            </a:r>
            <a:endParaRPr lang="en-US" sz="900" dirty="0"/>
          </a:p>
          <a:p>
            <a:pPr indent="0" marL="0">
              <a:buNone/>
            </a:pPr>
            <a:r>
              <a:rPr lang="en-US" sz="900" dirty="0">
                <a:solidFill>
                  <a:srgbClr val="E6EDE8"/>
                </a:solidFill>
                <a:latin typeface="Courier New" pitchFamily="34" charset="0"/>
                <a:ea typeface="Courier New" pitchFamily="34" charset="-122"/>
                <a:cs typeface="Courier New" pitchFamily="34" charset="-120"/>
              </a:rPr>
              <a:t>When I add </a:t>
            </a:r>
            <a:pPr indent="0" marL="0">
              <a:buNone/>
            </a:pPr>
            <a:r>
              <a:rPr lang="en-US" sz="900" dirty="0">
                <a:solidFill>
                  <a:srgbClr val="F2C46D"/>
                </a:solidFill>
                <a:latin typeface="Courier New" pitchFamily="34" charset="0"/>
                <a:ea typeface="Courier New" pitchFamily="34" charset="-122"/>
                <a:cs typeface="Courier New" pitchFamily="34" charset="-120"/>
              </a:rPr>
              <a:t>"Sauce Labs Bike Light"</a:t>
            </a:r>
            <a:pPr indent="0" marL="0">
              <a:buNone/>
            </a:pPr>
            <a:r>
              <a:rPr lang="en-US" sz="900" dirty="0">
                <a:solidFill>
                  <a:srgbClr val="E6EDE8"/>
                </a:solidFill>
                <a:latin typeface="Courier New" pitchFamily="34" charset="0"/>
                <a:ea typeface="Courier New" pitchFamily="34" charset="-122"/>
                <a:cs typeface="Courier New" pitchFamily="34" charset="-120"/>
              </a:rPr>
              <a:t> to the cart</a:t>
            </a:r>
            <a:endParaRPr lang="en-US" sz="900" dirty="0"/>
          </a:p>
        </p:txBody>
      </p:sp>
      <p:sp>
        <p:nvSpPr>
          <p:cNvPr id="25" name="Text 17"/>
          <p:cNvSpPr txBox="1"/>
          <p:nvPr/>
        </p:nvSpPr>
        <p:spPr>
          <a:xfrm>
            <a:off x="5120640" y="2606040"/>
            <a:ext cx="3383280" cy="1097280"/>
          </a:xfrm>
          <a:prstGeom prst="rect">
            <a:avLst/>
          </a:prstGeom>
          <a:noFill/>
          <a:ln/>
        </p:spPr>
        <p:txBody>
          <a:bodyPr wrap="square" lIns="0" tIns="0" rIns="0" bIns="0" rtlCol="0" anchor="t"/>
          <a:lstStyle/>
          <a:p>
            <a:pPr indent="0" marL="0">
              <a:spcAft>
                <a:spcPts val="600"/>
              </a:spcAft>
              <a:buNone/>
            </a:pPr>
            <a:r>
              <a:rPr lang="en-US" sz="1250" dirty="0">
                <a:solidFill>
                  <a:schemeClr val="tx1"/>
                </a:solidFill>
              </a:rPr>
              <a:t>Both lines get ✓: the step exists.</a:t>
            </a:r>
            <a:endParaRPr lang="en-US" sz="1250" dirty="0"/>
          </a:p>
          <a:p>
            <a:pPr indent="0" marL="0">
              <a:spcAft>
                <a:spcPts val="600"/>
              </a:spcAft>
              <a:buNone/>
            </a:pPr>
            <a:r>
              <a:rPr lang="en-US" sz="1250" b="1" dirty="0">
                <a:solidFill>
                  <a:schemeClr val="accent4"/>
                </a:solidFill>
              </a:rPr>
              <a:t>Running it fails: the second click removes the item, so the cart shows 1, not 2.</a:t>
            </a:r>
            <a:endParaRPr lang="en-US" sz="1250" dirty="0"/>
          </a:p>
        </p:txBody>
      </p:sp>
      <p:sp>
        <p:nvSpPr>
          <p:cNvPr id="26" name="Text 18"/>
          <p:cNvSpPr txBox="1"/>
          <p:nvPr/>
        </p:nvSpPr>
        <p:spPr>
          <a:xfrm>
            <a:off x="5120640" y="3794760"/>
            <a:ext cx="3383280" cy="640080"/>
          </a:xfrm>
          <a:prstGeom prst="rect">
            <a:avLst/>
          </a:prstGeom>
          <a:noFill/>
          <a:ln/>
        </p:spPr>
        <p:txBody>
          <a:bodyPr wrap="square" lIns="0" tIns="0" rIns="0" bIns="0" rtlCol="0" anchor="t"/>
          <a:lstStyle/>
          <a:p>
            <a:pPr indent="0" marL="0">
              <a:buNone/>
            </a:pPr>
            <a:r>
              <a:rPr lang="en-US" sz="1250" i="1" dirty="0">
                <a:solidFill>
                  <a:schemeClr val="tx2"/>
                </a:solidFill>
              </a:rPr>
              <a:t>Static checks prove binding; only a run proves behaviour.</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report: Cucumber JSON in, static HTML out</a:t>
            </a:r>
            <a:endParaRPr lang="en-US" sz="2800" dirty="0"/>
          </a:p>
        </p:txBody>
      </p:sp>
      <p:sp>
        <p:nvSpPr>
          <p:cNvPr id="3" name="Report rule 1 circle"/>
          <p:cNvSpPr/>
          <p:nvPr/>
        </p:nvSpPr>
        <p:spPr>
          <a:xfrm>
            <a:off x="457200" y="1353312"/>
            <a:ext cx="292608" cy="292608"/>
          </a:xfrm>
          <a:prstGeom prst="ellipse">
            <a:avLst/>
          </a:prstGeom>
          <a:solidFill>
            <a:schemeClr val="accent1"/>
          </a:solidFill>
          <a:ln/>
        </p:spPr>
      </p:sp>
      <p:pic>
        <p:nvPicPr>
          <p:cNvPr id="4" name="Report rule 1 icon" descr="preencoded.png">    </p:cNvPr>
          <p:cNvPicPr>
            <a:picLocks noChangeAspect="1"/>
          </p:cNvPicPr>
          <p:nvPr/>
        </p:nvPicPr>
        <p:blipFill>
          <a:blip r:embed="rId1"/>
          <a:stretch>
            <a:fillRect/>
          </a:stretch>
        </p:blipFill>
        <p:spPr>
          <a:xfrm>
            <a:off x="530352" y="1426464"/>
            <a:ext cx="146304" cy="146304"/>
          </a:xfrm>
          <a:prstGeom prst="rect">
            <a:avLst/>
          </a:prstGeom>
        </p:spPr>
      </p:pic>
      <p:sp>
        <p:nvSpPr>
          <p:cNvPr id="5" name="Text 2"/>
          <p:cNvSpPr txBox="1"/>
          <p:nvPr/>
        </p:nvSpPr>
        <p:spPr>
          <a:xfrm>
            <a:off x="868680" y="1188720"/>
            <a:ext cx="3611880" cy="658368"/>
          </a:xfrm>
          <a:prstGeom prst="rect">
            <a:avLst/>
          </a:prstGeom>
          <a:noFill/>
          <a:ln/>
        </p:spPr>
        <p:txBody>
          <a:bodyPr wrap="square" lIns="0" tIns="0" rIns="0" bIns="0" rtlCol="0" anchor="ctr"/>
          <a:lstStyle/>
          <a:p>
            <a:pPr indent="0" marL="0">
              <a:buNone/>
            </a:pPr>
            <a:r>
              <a:rPr lang="en-US" sz="1250" b="1" dirty="0">
                <a:solidFill>
                  <a:schemeClr val="tx2"/>
                </a:solidFill>
              </a:rPr>
              <a:t>Reads </a:t>
            </a:r>
            <a:pPr indent="0" marL="0">
              <a:buNone/>
            </a:pPr>
            <a:r>
              <a:rPr lang="en-US" sz="1250" dirty="0">
                <a:solidFill>
                  <a:schemeClr val="tx1"/>
                </a:solidFill>
              </a:rPr>
              <a:t>JSON from pytest-bdd (--cucumberjson), behave or Cucumber</a:t>
            </a:r>
            <a:endParaRPr lang="en-US" sz="1250" dirty="0"/>
          </a:p>
        </p:txBody>
      </p:sp>
      <p:sp>
        <p:nvSpPr>
          <p:cNvPr id="6" name="Report rule 2 circle"/>
          <p:cNvSpPr/>
          <p:nvPr/>
        </p:nvSpPr>
        <p:spPr>
          <a:xfrm>
            <a:off x="457200" y="2011680"/>
            <a:ext cx="292608" cy="292608"/>
          </a:xfrm>
          <a:prstGeom prst="ellipse">
            <a:avLst/>
          </a:prstGeom>
          <a:solidFill>
            <a:schemeClr val="accent1"/>
          </a:solidFill>
          <a:ln/>
        </p:spPr>
      </p:sp>
      <p:pic>
        <p:nvPicPr>
          <p:cNvPr id="7" name="Report rule 2 icon" descr="preencoded.png">    </p:cNvPr>
          <p:cNvPicPr>
            <a:picLocks noChangeAspect="1"/>
          </p:cNvPicPr>
          <p:nvPr/>
        </p:nvPicPr>
        <p:blipFill>
          <a:blip r:embed="rId2"/>
          <a:stretch>
            <a:fillRect/>
          </a:stretch>
        </p:blipFill>
        <p:spPr>
          <a:xfrm>
            <a:off x="530352" y="2084832"/>
            <a:ext cx="146304" cy="146304"/>
          </a:xfrm>
          <a:prstGeom prst="rect">
            <a:avLst/>
          </a:prstGeom>
        </p:spPr>
      </p:pic>
      <p:sp>
        <p:nvSpPr>
          <p:cNvPr id="8" name="Text 4"/>
          <p:cNvSpPr txBox="1"/>
          <p:nvPr/>
        </p:nvSpPr>
        <p:spPr>
          <a:xfrm>
            <a:off x="868680" y="1847088"/>
            <a:ext cx="3611880" cy="658368"/>
          </a:xfrm>
          <a:prstGeom prst="rect">
            <a:avLst/>
          </a:prstGeom>
          <a:noFill/>
          <a:ln/>
        </p:spPr>
        <p:txBody>
          <a:bodyPr wrap="square" lIns="0" tIns="0" rIns="0" bIns="0" rtlCol="0" anchor="ctr"/>
          <a:lstStyle/>
          <a:p>
            <a:pPr indent="0" marL="0">
              <a:buNone/>
            </a:pPr>
            <a:r>
              <a:rPr lang="en-US" sz="1250" b="1" dirty="0">
                <a:solidFill>
                  <a:schemeClr val="tx2"/>
                </a:solidFill>
              </a:rPr>
              <a:t>Status per scenario: </a:t>
            </a:r>
            <a:pPr indent="0" marL="0">
              <a:buNone/>
            </a:pPr>
            <a:r>
              <a:rPr lang="en-US" sz="1250" dirty="0">
                <a:solidFill>
                  <a:schemeClr val="tx1"/>
                </a:solidFill>
              </a:rPr>
              <a:t>worst step wins (failed, undefined, pending, skipped, passed)</a:t>
            </a:r>
            <a:endParaRPr lang="en-US" sz="1250" dirty="0"/>
          </a:p>
        </p:txBody>
      </p:sp>
      <p:sp>
        <p:nvSpPr>
          <p:cNvPr id="9" name="Report rule 3 circle"/>
          <p:cNvSpPr/>
          <p:nvPr/>
        </p:nvSpPr>
        <p:spPr>
          <a:xfrm>
            <a:off x="457200" y="2670048"/>
            <a:ext cx="292608" cy="292608"/>
          </a:xfrm>
          <a:prstGeom prst="ellipse">
            <a:avLst/>
          </a:prstGeom>
          <a:solidFill>
            <a:schemeClr val="accent1"/>
          </a:solidFill>
          <a:ln/>
        </p:spPr>
      </p:sp>
      <p:pic>
        <p:nvPicPr>
          <p:cNvPr id="10" name="Report rule 3 icon" descr="preencoded.png">    </p:cNvPr>
          <p:cNvPicPr>
            <a:picLocks noChangeAspect="1"/>
          </p:cNvPicPr>
          <p:nvPr/>
        </p:nvPicPr>
        <p:blipFill>
          <a:blip r:embed="rId3"/>
          <a:stretch>
            <a:fillRect/>
          </a:stretch>
        </p:blipFill>
        <p:spPr>
          <a:xfrm>
            <a:off x="530352" y="2743200"/>
            <a:ext cx="146304" cy="146304"/>
          </a:xfrm>
          <a:prstGeom prst="rect">
            <a:avLst/>
          </a:prstGeom>
        </p:spPr>
      </p:pic>
      <p:sp>
        <p:nvSpPr>
          <p:cNvPr id="11" name="Text 6"/>
          <p:cNvSpPr txBox="1"/>
          <p:nvPr/>
        </p:nvSpPr>
        <p:spPr>
          <a:xfrm>
            <a:off x="868680" y="2505456"/>
            <a:ext cx="3611880" cy="658368"/>
          </a:xfrm>
          <a:prstGeom prst="rect">
            <a:avLst/>
          </a:prstGeom>
          <a:noFill/>
          <a:ln/>
        </p:spPr>
        <p:txBody>
          <a:bodyPr wrap="square" lIns="0" tIns="0" rIns="0" bIns="0" rtlCol="0" anchor="ctr"/>
          <a:lstStyle/>
          <a:p>
            <a:pPr indent="0" marL="0">
              <a:buNone/>
            </a:pPr>
            <a:r>
              <a:rPr lang="en-US" sz="1250" b="1" dirty="0">
                <a:solidFill>
                  <a:schemeClr val="tx2"/>
                </a:solidFill>
              </a:rPr>
              <a:t>Durations </a:t>
            </a:r>
            <a:pPr indent="0" marL="0">
              <a:buNone/>
            </a:pPr>
            <a:r>
              <a:rPr lang="en-US" sz="1250" dirty="0">
                <a:solidFill>
                  <a:schemeClr val="tx1"/>
                </a:solidFill>
              </a:rPr>
              <a:t>are converted from nanoseconds</a:t>
            </a:r>
            <a:endParaRPr lang="en-US" sz="1250" dirty="0"/>
          </a:p>
        </p:txBody>
      </p:sp>
      <p:sp>
        <p:nvSpPr>
          <p:cNvPr id="12" name="Report rule 4 circle"/>
          <p:cNvSpPr/>
          <p:nvPr/>
        </p:nvSpPr>
        <p:spPr>
          <a:xfrm>
            <a:off x="457200" y="3328416"/>
            <a:ext cx="292608" cy="292608"/>
          </a:xfrm>
          <a:prstGeom prst="ellipse">
            <a:avLst/>
          </a:prstGeom>
          <a:solidFill>
            <a:schemeClr val="accent1"/>
          </a:solidFill>
          <a:ln/>
        </p:spPr>
      </p:sp>
      <p:pic>
        <p:nvPicPr>
          <p:cNvPr id="13" name="Report rule 4 icon" descr="preencoded.png">    </p:cNvPr>
          <p:cNvPicPr>
            <a:picLocks noChangeAspect="1"/>
          </p:cNvPicPr>
          <p:nvPr/>
        </p:nvPicPr>
        <p:blipFill>
          <a:blip r:embed="rId4"/>
          <a:stretch>
            <a:fillRect/>
          </a:stretch>
        </p:blipFill>
        <p:spPr>
          <a:xfrm>
            <a:off x="530352" y="3401568"/>
            <a:ext cx="146304" cy="146304"/>
          </a:xfrm>
          <a:prstGeom prst="rect">
            <a:avLst/>
          </a:prstGeom>
        </p:spPr>
      </p:pic>
      <p:sp>
        <p:nvSpPr>
          <p:cNvPr id="14" name="Text 8"/>
          <p:cNvSpPr txBox="1"/>
          <p:nvPr/>
        </p:nvSpPr>
        <p:spPr>
          <a:xfrm>
            <a:off x="868680" y="3163824"/>
            <a:ext cx="3611880" cy="658368"/>
          </a:xfrm>
          <a:prstGeom prst="rect">
            <a:avLst/>
          </a:prstGeom>
          <a:noFill/>
          <a:ln/>
        </p:spPr>
        <p:txBody>
          <a:bodyPr wrap="square" lIns="0" tIns="0" rIns="0" bIns="0" rtlCol="0" anchor="ctr"/>
          <a:lstStyle/>
          <a:p>
            <a:pPr indent="0" marL="0">
              <a:buNone/>
            </a:pPr>
            <a:r>
              <a:rPr lang="en-US" sz="1250" b="1" dirty="0">
                <a:solidFill>
                  <a:schemeClr val="tx2"/>
                </a:solidFill>
              </a:rPr>
              <a:t>Screenshots, videos, traces </a:t>
            </a:r>
            <a:pPr indent="0" marL="0">
              <a:buNone/>
            </a:pPr>
            <a:r>
              <a:rPr lang="en-US" sz="1250" dirty="0">
                <a:solidFill>
                  <a:schemeClr val="tx1"/>
                </a:solidFill>
              </a:rPr>
              <a:t>matched to scenarios by pytest test id</a:t>
            </a:r>
            <a:endParaRPr lang="en-US" sz="1250" dirty="0"/>
          </a:p>
        </p:txBody>
      </p:sp>
      <p:sp>
        <p:nvSpPr>
          <p:cNvPr id="15" name="Report rule 5 circle"/>
          <p:cNvSpPr/>
          <p:nvPr/>
        </p:nvSpPr>
        <p:spPr>
          <a:xfrm>
            <a:off x="457200" y="3986784"/>
            <a:ext cx="292608" cy="292608"/>
          </a:xfrm>
          <a:prstGeom prst="ellipse">
            <a:avLst/>
          </a:prstGeom>
          <a:solidFill>
            <a:schemeClr val="accent1"/>
          </a:solidFill>
          <a:ln/>
        </p:spPr>
      </p:sp>
      <p:pic>
        <p:nvPicPr>
          <p:cNvPr id="16" name="Report rule 5 icon" descr="preencoded.png">    </p:cNvPr>
          <p:cNvPicPr>
            <a:picLocks noChangeAspect="1"/>
          </p:cNvPicPr>
          <p:nvPr/>
        </p:nvPicPr>
        <p:blipFill>
          <a:blip r:embed="rId5"/>
          <a:stretch>
            <a:fillRect/>
          </a:stretch>
        </p:blipFill>
        <p:spPr>
          <a:xfrm>
            <a:off x="530352" y="4059936"/>
            <a:ext cx="146304" cy="146304"/>
          </a:xfrm>
          <a:prstGeom prst="rect">
            <a:avLst/>
          </a:prstGeom>
        </p:spPr>
      </p:pic>
      <p:sp>
        <p:nvSpPr>
          <p:cNvPr id="17" name="Text 10"/>
          <p:cNvSpPr txBox="1"/>
          <p:nvPr/>
        </p:nvSpPr>
        <p:spPr>
          <a:xfrm>
            <a:off x="868680" y="3822192"/>
            <a:ext cx="3611880" cy="658368"/>
          </a:xfrm>
          <a:prstGeom prst="rect">
            <a:avLst/>
          </a:prstGeom>
          <a:noFill/>
          <a:ln/>
        </p:spPr>
        <p:txBody>
          <a:bodyPr wrap="square" lIns="0" tIns="0" rIns="0" bIns="0" rtlCol="0" anchor="ctr"/>
          <a:lstStyle/>
          <a:p>
            <a:pPr indent="0" marL="0">
              <a:buNone/>
            </a:pPr>
            <a:r>
              <a:rPr lang="en-US" sz="1250" b="1" dirty="0">
                <a:solidFill>
                  <a:schemeClr val="tx2"/>
                </a:solidFill>
              </a:rPr>
              <a:t>No JavaScript: </a:t>
            </a:r>
            <a:pPr indent="0" marL="0">
              <a:buNone/>
            </a:pPr>
            <a:r>
              <a:rPr lang="en-US" sz="1250" dirty="0">
                <a:solidFill>
                  <a:schemeClr val="tx1"/>
                </a:solidFill>
              </a:rPr>
              <a:t>CSP default-src 'none', every value HTML-escaped</a:t>
            </a:r>
            <a:endParaRPr lang="en-US" sz="1250" dirty="0"/>
          </a:p>
        </p:txBody>
      </p:sp>
      <p:sp>
        <p:nvSpPr>
          <p:cNvPr id="18" name="Report screenshot frame"/>
          <p:cNvSpPr/>
          <p:nvPr/>
        </p:nvSpPr>
        <p:spPr>
          <a:xfrm>
            <a:off x="4754880" y="1188720"/>
            <a:ext cx="3931920" cy="2743200"/>
          </a:xfrm>
          <a:prstGeom prst="rect">
            <a:avLst/>
          </a:prstGeom>
          <a:solidFill>
            <a:srgbClr val="FBF8F2"/>
          </a:solidFill>
          <a:ln w="19050">
            <a:solidFill>
              <a:srgbClr val="E39B2D"/>
            </a:solidFill>
            <a:prstDash val="dash"/>
          </a:ln>
        </p:spPr>
      </p:sp>
      <p:sp>
        <p:nvSpPr>
          <p:cNvPr id="19" name="Report screenshot"/>
          <p:cNvSpPr txBox="1"/>
          <p:nvPr/>
        </p:nvSpPr>
        <p:spPr>
          <a:xfrm>
            <a:off x="4937760" y="1188720"/>
            <a:ext cx="3566160" cy="2743200"/>
          </a:xfrm>
          <a:prstGeom prst="rect">
            <a:avLst/>
          </a:prstGeom>
          <a:noFill/>
          <a:ln/>
        </p:spPr>
        <p:txBody>
          <a:bodyPr wrap="square" lIns="0" tIns="0" rIns="0" bIns="0" rtlCol="0" anchor="ctr"/>
          <a:lstStyle/>
          <a:p>
            <a:pPr algn="ctr" indent="0" marL="0">
              <a:buNone/>
            </a:pPr>
            <a:r>
              <a:rPr lang="en-US" sz="1500" b="1" dirty="0">
                <a:solidFill>
                  <a:srgbClr val="8A5A0C"/>
                </a:solidFill>
              </a:rPr>
              <a:t>[SCREENSHOT: HTML report]</a:t>
            </a:r>
            <a:endParaRPr lang="en-US" sz="1400" dirty="0"/>
          </a:p>
          <a:p>
            <a:pPr algn="ctr" indent="0" marL="0">
              <a:buNone/>
            </a:pPr>
            <a:r>
              <a:rPr lang="en-US" sz="1100" dirty="0">
                <a:solidFill>
                  <a:schemeClr val="accent6"/>
                </a:solidFill>
              </a:rPr>
              <a:t>Paste a screenshot from the live demo here</a:t>
            </a:r>
            <a:endParaRPr lang="en-US" sz="1400" dirty="0"/>
          </a:p>
        </p:txBody>
      </p:sp>
      <p:sp>
        <p:nvSpPr>
          <p:cNvPr id="20" name="Trace note"/>
          <p:cNvSpPr/>
          <p:nvPr/>
        </p:nvSpPr>
        <p:spPr>
          <a:xfrm>
            <a:off x="4754880" y="4069080"/>
            <a:ext cx="3931920" cy="548640"/>
          </a:xfrm>
          <a:prstGeom prst="roundRect">
            <a:avLst>
              <a:gd name="adj" fmla="val 13333"/>
            </a:avLst>
          </a:prstGeom>
          <a:solidFill>
            <a:schemeClr val="bg2"/>
          </a:solidFill>
          <a:ln/>
        </p:spPr>
      </p:sp>
      <p:sp>
        <p:nvSpPr>
          <p:cNvPr id="21" name="Text 14"/>
          <p:cNvSpPr txBox="1"/>
          <p:nvPr/>
        </p:nvSpPr>
        <p:spPr>
          <a:xfrm>
            <a:off x="4892040" y="4069080"/>
            <a:ext cx="3703320" cy="548640"/>
          </a:xfrm>
          <a:prstGeom prst="rect">
            <a:avLst/>
          </a:prstGeom>
          <a:noFill/>
          <a:ln/>
        </p:spPr>
        <p:txBody>
          <a:bodyPr wrap="square" lIns="0" tIns="0" rIns="0" bIns="0" rtlCol="0" anchor="ctr"/>
          <a:lstStyle/>
          <a:p>
            <a:pPr indent="0" marL="0">
              <a:buNone/>
            </a:pPr>
            <a:r>
              <a:rPr lang="en-US" sz="1250" dirty="0">
                <a:solidFill>
                  <a:schemeClr val="tx1"/>
                </a:solidFill>
              </a:rPr>
              <a:t>Replay: playwright show-trace on 127.0.0.1</a:t>
            </a:r>
            <a:endParaRPr lang="en-US" sz="125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demo: a real suite against a local practice shop</a:t>
            </a:r>
            <a:endParaRPr lang="en-US" sz="2800" dirty="0"/>
          </a:p>
        </p:txBody>
      </p:sp>
      <p:sp>
        <p:nvSpPr>
          <p:cNvPr id="3" name="Demo 1"/>
          <p:cNvSpPr/>
          <p:nvPr/>
        </p:nvSpPr>
        <p:spPr>
          <a:xfrm>
            <a:off x="457200" y="1188720"/>
            <a:ext cx="1828800" cy="1783080"/>
          </a:xfrm>
          <a:prstGeom prst="roundRect">
            <a:avLst>
              <a:gd name="adj" fmla="val 4103"/>
            </a:avLst>
          </a:prstGeom>
          <a:solidFill>
            <a:schemeClr val="bg2"/>
          </a:solidFill>
          <a:ln/>
        </p:spPr>
      </p:sp>
      <p:sp>
        <p:nvSpPr>
          <p:cNvPr id="4" name="Demo 1 circle"/>
          <p:cNvSpPr/>
          <p:nvPr/>
        </p:nvSpPr>
        <p:spPr>
          <a:xfrm>
            <a:off x="640080" y="1353312"/>
            <a:ext cx="457200" cy="457200"/>
          </a:xfrm>
          <a:prstGeom prst="ellipse">
            <a:avLst/>
          </a:prstGeom>
          <a:solidFill>
            <a:schemeClr val="accent1"/>
          </a:solidFill>
          <a:ln/>
        </p:spPr>
      </p:sp>
      <p:pic>
        <p:nvPicPr>
          <p:cNvPr id="5" name="Demo 1 icon" descr="preencoded.png">    </p:cNvPr>
          <p:cNvPicPr>
            <a:picLocks noChangeAspect="1"/>
          </p:cNvPicPr>
          <p:nvPr/>
        </p:nvPicPr>
        <p:blipFill>
          <a:blip r:embed="rId1"/>
          <a:stretch>
            <a:fillRect/>
          </a:stretch>
        </p:blipFill>
        <p:spPr>
          <a:xfrm>
            <a:off x="754380" y="1467612"/>
            <a:ext cx="228600" cy="228600"/>
          </a:xfrm>
          <a:prstGeom prst="rect">
            <a:avLst/>
          </a:prstGeom>
        </p:spPr>
      </p:pic>
      <p:sp>
        <p:nvSpPr>
          <p:cNvPr id="6" name="Text 3"/>
          <p:cNvSpPr txBox="1"/>
          <p:nvPr/>
        </p:nvSpPr>
        <p:spPr>
          <a:xfrm>
            <a:off x="640080" y="1874520"/>
            <a:ext cx="1554480" cy="457200"/>
          </a:xfrm>
          <a:prstGeom prst="rect">
            <a:avLst/>
          </a:prstGeom>
          <a:noFill/>
          <a:ln/>
        </p:spPr>
        <p:txBody>
          <a:bodyPr wrap="square" lIns="0" tIns="0" rIns="0" bIns="0" rtlCol="0" anchor="t"/>
          <a:lstStyle/>
          <a:p>
            <a:pPr indent="0" marL="0">
              <a:buNone/>
            </a:pPr>
            <a:r>
              <a:rPr lang="en-US" sz="1300" b="1" dirty="0">
                <a:solidFill>
                  <a:schemeClr val="tx2"/>
                </a:solidFill>
              </a:rPr>
              <a:t>run_demo.py</a:t>
            </a:r>
            <a:endParaRPr lang="en-US" sz="1300" dirty="0"/>
          </a:p>
        </p:txBody>
      </p:sp>
      <p:sp>
        <p:nvSpPr>
          <p:cNvPr id="7" name="Text 4"/>
          <p:cNvSpPr txBox="1"/>
          <p:nvPr/>
        </p:nvSpPr>
        <p:spPr>
          <a:xfrm>
            <a:off x="640080" y="2331720"/>
            <a:ext cx="1508760" cy="594360"/>
          </a:xfrm>
          <a:prstGeom prst="rect">
            <a:avLst/>
          </a:prstGeom>
          <a:noFill/>
          <a:ln/>
        </p:spPr>
        <p:txBody>
          <a:bodyPr wrap="square" lIns="0" tIns="0" rIns="0" bIns="0" rtlCol="0" anchor="t"/>
          <a:lstStyle/>
          <a:p>
            <a:pPr indent="0" marL="0">
              <a:buNone/>
            </a:pPr>
            <a:r>
              <a:rPr lang="en-US" sz="1200" dirty="0">
                <a:solidFill>
                  <a:schemeClr val="tx1"/>
                </a:solidFill>
              </a:rPr>
              <a:t>Runs each tool command, then the suite</a:t>
            </a:r>
            <a:endParaRPr lang="en-US" sz="1200" dirty="0"/>
          </a:p>
        </p:txBody>
      </p:sp>
      <p:sp>
        <p:nvSpPr>
          <p:cNvPr id="8" name="Demo arrow 1"/>
          <p:cNvSpPr/>
          <p:nvPr/>
        </p:nvSpPr>
        <p:spPr>
          <a:xfrm>
            <a:off x="2313432" y="1920240"/>
            <a:ext cx="265176" cy="347472"/>
          </a:xfrm>
          <a:prstGeom prst="rightArrow">
            <a:avLst/>
          </a:prstGeom>
          <a:solidFill>
            <a:schemeClr val="accent2"/>
          </a:solidFill>
          <a:ln/>
        </p:spPr>
      </p:sp>
      <p:sp>
        <p:nvSpPr>
          <p:cNvPr id="9" name="Demo 2"/>
          <p:cNvSpPr/>
          <p:nvPr/>
        </p:nvSpPr>
        <p:spPr>
          <a:xfrm>
            <a:off x="2606040" y="1188720"/>
            <a:ext cx="1828800" cy="1783080"/>
          </a:xfrm>
          <a:prstGeom prst="roundRect">
            <a:avLst>
              <a:gd name="adj" fmla="val 4103"/>
            </a:avLst>
          </a:prstGeom>
          <a:solidFill>
            <a:schemeClr val="bg2"/>
          </a:solidFill>
          <a:ln/>
        </p:spPr>
      </p:sp>
      <p:sp>
        <p:nvSpPr>
          <p:cNvPr id="10" name="Demo 2 circle"/>
          <p:cNvSpPr/>
          <p:nvPr/>
        </p:nvSpPr>
        <p:spPr>
          <a:xfrm>
            <a:off x="2788920" y="1353312"/>
            <a:ext cx="457200" cy="457200"/>
          </a:xfrm>
          <a:prstGeom prst="ellipse">
            <a:avLst/>
          </a:prstGeom>
          <a:solidFill>
            <a:schemeClr val="accent1"/>
          </a:solidFill>
          <a:ln/>
        </p:spPr>
      </p:sp>
      <p:pic>
        <p:nvPicPr>
          <p:cNvPr id="11" name="Demo 2 icon" descr="preencoded.png">    </p:cNvPr>
          <p:cNvPicPr>
            <a:picLocks noChangeAspect="1"/>
          </p:cNvPicPr>
          <p:nvPr/>
        </p:nvPicPr>
        <p:blipFill>
          <a:blip r:embed="rId2"/>
          <a:stretch>
            <a:fillRect/>
          </a:stretch>
        </p:blipFill>
        <p:spPr>
          <a:xfrm>
            <a:off x="2903220" y="1467612"/>
            <a:ext cx="228600" cy="228600"/>
          </a:xfrm>
          <a:prstGeom prst="rect">
            <a:avLst/>
          </a:prstGeom>
        </p:spPr>
      </p:pic>
      <p:sp>
        <p:nvSpPr>
          <p:cNvPr id="12" name="Text 8"/>
          <p:cNvSpPr txBox="1"/>
          <p:nvPr/>
        </p:nvSpPr>
        <p:spPr>
          <a:xfrm>
            <a:off x="2788920" y="1874520"/>
            <a:ext cx="1554480" cy="457200"/>
          </a:xfrm>
          <a:prstGeom prst="rect">
            <a:avLst/>
          </a:prstGeom>
          <a:noFill/>
          <a:ln/>
        </p:spPr>
        <p:txBody>
          <a:bodyPr wrap="square" lIns="0" tIns="0" rIns="0" bIns="0" rtlCol="0" anchor="t"/>
          <a:lstStyle/>
          <a:p>
            <a:pPr indent="0" marL="0">
              <a:buNone/>
            </a:pPr>
            <a:r>
              <a:rPr lang="en-US" sz="1300" b="1" dirty="0">
                <a:solidFill>
                  <a:schemeClr val="tx2"/>
                </a:solidFill>
              </a:rPr>
              <a:t>pytest-bdd + Playwright</a:t>
            </a:r>
            <a:endParaRPr lang="en-US" sz="1300" dirty="0"/>
          </a:p>
        </p:txBody>
      </p:sp>
      <p:sp>
        <p:nvSpPr>
          <p:cNvPr id="13" name="Text 9"/>
          <p:cNvSpPr txBox="1"/>
          <p:nvPr/>
        </p:nvSpPr>
        <p:spPr>
          <a:xfrm>
            <a:off x="2788920" y="2331720"/>
            <a:ext cx="1508760" cy="594360"/>
          </a:xfrm>
          <a:prstGeom prst="rect">
            <a:avLst/>
          </a:prstGeom>
          <a:noFill/>
          <a:ln/>
        </p:spPr>
        <p:txBody>
          <a:bodyPr wrap="square" lIns="0" tIns="0" rIns="0" bIns="0" rtlCol="0" anchor="t"/>
          <a:lstStyle/>
          <a:p>
            <a:pPr indent="0" marL="0">
              <a:buNone/>
            </a:pPr>
            <a:r>
              <a:rPr lang="en-US" sz="1200" dirty="0">
                <a:solidFill>
                  <a:schemeClr val="tx1"/>
                </a:solidFill>
              </a:rPr>
              <a:t>5 scenarios, 12 steps, a real browser</a:t>
            </a:r>
            <a:endParaRPr lang="en-US" sz="1200" dirty="0"/>
          </a:p>
        </p:txBody>
      </p:sp>
      <p:sp>
        <p:nvSpPr>
          <p:cNvPr id="14" name="Demo arrow 2"/>
          <p:cNvSpPr/>
          <p:nvPr/>
        </p:nvSpPr>
        <p:spPr>
          <a:xfrm>
            <a:off x="4462272" y="1920240"/>
            <a:ext cx="265176" cy="347472"/>
          </a:xfrm>
          <a:prstGeom prst="rightArrow">
            <a:avLst/>
          </a:prstGeom>
          <a:solidFill>
            <a:schemeClr val="accent2"/>
          </a:solidFill>
          <a:ln/>
        </p:spPr>
      </p:sp>
      <p:sp>
        <p:nvSpPr>
          <p:cNvPr id="15" name="Demo 3"/>
          <p:cNvSpPr/>
          <p:nvPr/>
        </p:nvSpPr>
        <p:spPr>
          <a:xfrm>
            <a:off x="4754880" y="1188720"/>
            <a:ext cx="1828800" cy="1783080"/>
          </a:xfrm>
          <a:prstGeom prst="roundRect">
            <a:avLst>
              <a:gd name="adj" fmla="val 4103"/>
            </a:avLst>
          </a:prstGeom>
          <a:solidFill>
            <a:schemeClr val="bg2"/>
          </a:solidFill>
          <a:ln/>
        </p:spPr>
      </p:sp>
      <p:sp>
        <p:nvSpPr>
          <p:cNvPr id="16" name="Demo 3 circle"/>
          <p:cNvSpPr/>
          <p:nvPr/>
        </p:nvSpPr>
        <p:spPr>
          <a:xfrm>
            <a:off x="4937760" y="1353312"/>
            <a:ext cx="457200" cy="457200"/>
          </a:xfrm>
          <a:prstGeom prst="ellipse">
            <a:avLst/>
          </a:prstGeom>
          <a:solidFill>
            <a:schemeClr val="accent1"/>
          </a:solidFill>
          <a:ln/>
        </p:spPr>
      </p:sp>
      <p:pic>
        <p:nvPicPr>
          <p:cNvPr id="17" name="Demo 3 icon" descr="preencoded.png">    </p:cNvPr>
          <p:cNvPicPr>
            <a:picLocks noChangeAspect="1"/>
          </p:cNvPicPr>
          <p:nvPr/>
        </p:nvPicPr>
        <p:blipFill>
          <a:blip r:embed="rId3"/>
          <a:stretch>
            <a:fillRect/>
          </a:stretch>
        </p:blipFill>
        <p:spPr>
          <a:xfrm>
            <a:off x="5052060" y="1467612"/>
            <a:ext cx="228600" cy="228600"/>
          </a:xfrm>
          <a:prstGeom prst="rect">
            <a:avLst/>
          </a:prstGeom>
        </p:spPr>
      </p:pic>
      <p:sp>
        <p:nvSpPr>
          <p:cNvPr id="18" name="Text 13"/>
          <p:cNvSpPr txBox="1"/>
          <p:nvPr/>
        </p:nvSpPr>
        <p:spPr>
          <a:xfrm>
            <a:off x="4937760" y="1874520"/>
            <a:ext cx="1554480" cy="457200"/>
          </a:xfrm>
          <a:prstGeom prst="rect">
            <a:avLst/>
          </a:prstGeom>
          <a:noFill/>
          <a:ln/>
        </p:spPr>
        <p:txBody>
          <a:bodyPr wrap="square" lIns="0" tIns="0" rIns="0" bIns="0" rtlCol="0" anchor="t"/>
          <a:lstStyle/>
          <a:p>
            <a:pPr indent="0" marL="0">
              <a:buNone/>
            </a:pPr>
            <a:r>
              <a:rPr lang="en-US" sz="1300" b="1" dirty="0">
                <a:solidFill>
                  <a:schemeClr val="tx2"/>
                </a:solidFill>
              </a:rPr>
              <a:t>Practice shop</a:t>
            </a:r>
            <a:endParaRPr lang="en-US" sz="1300" dirty="0"/>
          </a:p>
        </p:txBody>
      </p:sp>
      <p:sp>
        <p:nvSpPr>
          <p:cNvPr id="19" name="Text 14"/>
          <p:cNvSpPr txBox="1"/>
          <p:nvPr/>
        </p:nvSpPr>
        <p:spPr>
          <a:xfrm>
            <a:off x="4937760" y="2331720"/>
            <a:ext cx="1508760" cy="594360"/>
          </a:xfrm>
          <a:prstGeom prst="rect">
            <a:avLst/>
          </a:prstGeom>
          <a:noFill/>
          <a:ln/>
        </p:spPr>
        <p:txBody>
          <a:bodyPr wrap="square" lIns="0" tIns="0" rIns="0" bIns="0" rtlCol="0" anchor="t"/>
          <a:lstStyle/>
          <a:p>
            <a:pPr indent="0" marL="0">
              <a:buNone/>
            </a:pPr>
            <a:r>
              <a:rPr lang="en-US" sz="1200" dirty="0">
                <a:solidFill>
                  <a:schemeClr val="tx1"/>
                </a:solidFill>
              </a:rPr>
              <a:t>Static, served on 127.0.0.1 only</a:t>
            </a:r>
            <a:endParaRPr lang="en-US" sz="1200" dirty="0"/>
          </a:p>
        </p:txBody>
      </p:sp>
      <p:sp>
        <p:nvSpPr>
          <p:cNvPr id="20" name="Demo arrow 3"/>
          <p:cNvSpPr/>
          <p:nvPr/>
        </p:nvSpPr>
        <p:spPr>
          <a:xfrm>
            <a:off x="6611112" y="1920240"/>
            <a:ext cx="265176" cy="347472"/>
          </a:xfrm>
          <a:prstGeom prst="rightArrow">
            <a:avLst/>
          </a:prstGeom>
          <a:solidFill>
            <a:schemeClr val="accent2"/>
          </a:solidFill>
          <a:ln/>
        </p:spPr>
      </p:sp>
      <p:sp>
        <p:nvSpPr>
          <p:cNvPr id="21" name="Demo 4"/>
          <p:cNvSpPr/>
          <p:nvPr/>
        </p:nvSpPr>
        <p:spPr>
          <a:xfrm>
            <a:off x="6903720" y="1188720"/>
            <a:ext cx="1828800" cy="1783080"/>
          </a:xfrm>
          <a:prstGeom prst="roundRect">
            <a:avLst>
              <a:gd name="adj" fmla="val 4103"/>
            </a:avLst>
          </a:prstGeom>
          <a:solidFill>
            <a:schemeClr val="bg2"/>
          </a:solidFill>
          <a:ln/>
        </p:spPr>
      </p:sp>
      <p:sp>
        <p:nvSpPr>
          <p:cNvPr id="22" name="Demo 4 circle"/>
          <p:cNvSpPr/>
          <p:nvPr/>
        </p:nvSpPr>
        <p:spPr>
          <a:xfrm>
            <a:off x="7086600" y="1353312"/>
            <a:ext cx="457200" cy="457200"/>
          </a:xfrm>
          <a:prstGeom prst="ellipse">
            <a:avLst/>
          </a:prstGeom>
          <a:solidFill>
            <a:schemeClr val="accent1"/>
          </a:solidFill>
          <a:ln/>
        </p:spPr>
      </p:sp>
      <p:pic>
        <p:nvPicPr>
          <p:cNvPr id="23" name="Demo 4 icon" descr="preencoded.png">    </p:cNvPr>
          <p:cNvPicPr>
            <a:picLocks noChangeAspect="1"/>
          </p:cNvPicPr>
          <p:nvPr/>
        </p:nvPicPr>
        <p:blipFill>
          <a:blip r:embed="rId4"/>
          <a:stretch>
            <a:fillRect/>
          </a:stretch>
        </p:blipFill>
        <p:spPr>
          <a:xfrm>
            <a:off x="7200900" y="1467612"/>
            <a:ext cx="228600" cy="228600"/>
          </a:xfrm>
          <a:prstGeom prst="rect">
            <a:avLst/>
          </a:prstGeom>
        </p:spPr>
      </p:pic>
      <p:sp>
        <p:nvSpPr>
          <p:cNvPr id="24" name="Text 18"/>
          <p:cNvSpPr txBox="1"/>
          <p:nvPr/>
        </p:nvSpPr>
        <p:spPr>
          <a:xfrm>
            <a:off x="7086600" y="1874520"/>
            <a:ext cx="1554480" cy="457200"/>
          </a:xfrm>
          <a:prstGeom prst="rect">
            <a:avLst/>
          </a:prstGeom>
          <a:noFill/>
          <a:ln/>
        </p:spPr>
        <p:txBody>
          <a:bodyPr wrap="square" lIns="0" tIns="0" rIns="0" bIns="0" rtlCol="0" anchor="t"/>
          <a:lstStyle/>
          <a:p>
            <a:pPr indent="0" marL="0">
              <a:buNone/>
            </a:pPr>
            <a:r>
              <a:rPr lang="en-US" sz="1300" b="1" dirty="0">
                <a:solidFill>
                  <a:schemeClr val="tx2"/>
                </a:solidFill>
              </a:rPr>
              <a:t>report.html</a:t>
            </a:r>
            <a:endParaRPr lang="en-US" sz="1300" dirty="0"/>
          </a:p>
        </p:txBody>
      </p:sp>
      <p:sp>
        <p:nvSpPr>
          <p:cNvPr id="25" name="Text 19"/>
          <p:cNvSpPr txBox="1"/>
          <p:nvPr/>
        </p:nvSpPr>
        <p:spPr>
          <a:xfrm>
            <a:off x="7086600" y="2331720"/>
            <a:ext cx="1508760" cy="594360"/>
          </a:xfrm>
          <a:prstGeom prst="rect">
            <a:avLst/>
          </a:prstGeom>
          <a:noFill/>
          <a:ln/>
        </p:spPr>
        <p:txBody>
          <a:bodyPr wrap="square" lIns="0" tIns="0" rIns="0" bIns="0" rtlCol="0" anchor="t"/>
          <a:lstStyle/>
          <a:p>
            <a:pPr indent="0" marL="0">
              <a:buNone/>
            </a:pPr>
            <a:r>
              <a:rPr lang="en-US" sz="1200" dirty="0">
                <a:solidFill>
                  <a:schemeClr val="tx1"/>
                </a:solidFill>
              </a:rPr>
              <a:t>Built from cucumber.json</a:t>
            </a:r>
            <a:endParaRPr lang="en-US" sz="1200" dirty="0"/>
          </a:p>
        </p:txBody>
      </p:sp>
      <p:sp>
        <p:nvSpPr>
          <p:cNvPr id="26" name="Demo commands bg"/>
          <p:cNvSpPr/>
          <p:nvPr/>
        </p:nvSpPr>
        <p:spPr>
          <a:xfrm>
            <a:off x="457200" y="3154680"/>
            <a:ext cx="8229600" cy="960120"/>
          </a:xfrm>
          <a:prstGeom prst="roundRect">
            <a:avLst>
              <a:gd name="adj" fmla="val 7619"/>
            </a:avLst>
          </a:prstGeom>
          <a:solidFill>
            <a:schemeClr val="tx1"/>
          </a:solidFill>
          <a:ln/>
        </p:spPr>
      </p:sp>
      <p:sp>
        <p:nvSpPr>
          <p:cNvPr id="27" name="Demo commands"/>
          <p:cNvSpPr txBox="1"/>
          <p:nvPr/>
        </p:nvSpPr>
        <p:spPr>
          <a:xfrm>
            <a:off x="640080" y="3264408"/>
            <a:ext cx="7863840" cy="740664"/>
          </a:xfrm>
          <a:prstGeom prst="rect">
            <a:avLst/>
          </a:prstGeom>
          <a:noFill/>
          <a:ln/>
        </p:spPr>
        <p:txBody>
          <a:bodyPr wrap="square" lIns="0" tIns="0" rIns="0" bIns="0" rtlCol="0" anchor="ctr"/>
          <a:lstStyle/>
          <a:p>
            <a:pPr indent="0" marL="0">
              <a:buNone/>
            </a:pPr>
            <a:r>
              <a:rPr lang="en-US" sz="1100" dirty="0">
                <a:solidFill>
                  <a:srgbClr val="8A9A90"/>
                </a:solidFill>
                <a:latin typeface="Courier New" pitchFamily="34" charset="0"/>
                <a:ea typeface="Courier New" pitchFamily="34" charset="-122"/>
                <a:cs typeface="Courier New" pitchFamily="34" charset="-120"/>
              </a:rPr>
              <a:t>$ </a:t>
            </a:r>
            <a:pPr indent="0" marL="0">
              <a:buNone/>
            </a:pPr>
            <a:r>
              <a:rPr lang="en-US" sz="1100" b="1" dirty="0">
                <a:solidFill>
                  <a:srgbClr val="E6EDE8"/>
                </a:solidFill>
                <a:latin typeface="Courier New" pitchFamily="34" charset="0"/>
                <a:ea typeface="Courier New" pitchFamily="34" charset="-122"/>
                <a:cs typeface="Courier New" pitchFamily="34" charset="-120"/>
              </a:rPr>
              <a:t>python run_demo.py --brave</a:t>
            </a:r>
            <a:pPr indent="0" marL="0">
              <a:buNone/>
            </a:pPr>
            <a:r>
              <a:rPr lang="en-US" sz="1100" dirty="0">
                <a:solidFill>
                  <a:srgbClr val="8A9A90"/>
                </a:solidFill>
                <a:latin typeface="Courier New" pitchFamily="34" charset="0"/>
                <a:ea typeface="Courier New" pitchFamily="34" charset="-122"/>
                <a:cs typeface="Courier New" pitchFamily="34" charset="-120"/>
              </a:rPr>
              <a:t>            # Brave on macOS</a:t>
            </a:r>
            <a:endParaRPr lang="en-US" sz="1100" dirty="0"/>
          </a:p>
          <a:p>
            <a:pPr indent="0" marL="0">
              <a:buNone/>
            </a:pPr>
            <a:r>
              <a:rPr lang="en-US" sz="1100" dirty="0">
                <a:solidFill>
                  <a:srgbClr val="8A9A90"/>
                </a:solidFill>
                <a:latin typeface="Courier New" pitchFamily="34" charset="0"/>
                <a:ea typeface="Courier New" pitchFamily="34" charset="-122"/>
                <a:cs typeface="Courier New" pitchFamily="34" charset="-120"/>
              </a:rPr>
              <a:t>$ </a:t>
            </a:r>
            <a:pPr indent="0" marL="0">
              <a:buNone/>
            </a:pPr>
            <a:r>
              <a:rPr lang="en-US" sz="1100" b="1" dirty="0">
                <a:solidFill>
                  <a:srgbClr val="E6EDE8"/>
                </a:solidFill>
                <a:latin typeface="Courier New" pitchFamily="34" charset="0"/>
                <a:ea typeface="Courier New" pitchFamily="34" charset="-122"/>
                <a:cs typeface="Courier New" pitchFamily="34" charset="-120"/>
              </a:rPr>
              <a:t>python run_demo.py --browser-channel msedge</a:t>
            </a:r>
            <a:pPr indent="0" marL="0">
              <a:buNone/>
            </a:pPr>
            <a:r>
              <a:rPr lang="en-US" sz="1100" dirty="0">
                <a:solidFill>
                  <a:srgbClr val="8A9A90"/>
                </a:solidFill>
                <a:latin typeface="Courier New" pitchFamily="34" charset="0"/>
                <a:ea typeface="Courier New" pitchFamily="34" charset="-122"/>
                <a:cs typeface="Courier New" pitchFamily="34" charset="-120"/>
              </a:rPr>
              <a:t>  # Edge on Windows</a:t>
            </a:r>
            <a:endParaRPr lang="en-US" sz="1100" dirty="0"/>
          </a:p>
          <a:p>
            <a:pPr indent="0" marL="0">
              <a:buNone/>
            </a:pPr>
            <a:r>
              <a:rPr lang="en-US" sz="1100" dirty="0">
                <a:solidFill>
                  <a:srgbClr val="8A9A90"/>
                </a:solidFill>
                <a:latin typeface="Courier New" pitchFamily="34" charset="0"/>
                <a:ea typeface="Courier New" pitchFamily="34" charset="-122"/>
                <a:cs typeface="Courier New" pitchFamily="34" charset="-120"/>
              </a:rPr>
              <a:t>$ </a:t>
            </a:r>
            <a:pPr indent="0" marL="0">
              <a:buNone/>
            </a:pPr>
            <a:r>
              <a:rPr lang="en-US" sz="1100" b="1" dirty="0">
                <a:solidFill>
                  <a:srgbClr val="E6EDE8"/>
                </a:solidFill>
                <a:latin typeface="Courier New" pitchFamily="34" charset="0"/>
                <a:ea typeface="Courier New" pitchFamily="34" charset="-122"/>
                <a:cs typeface="Courier New" pitchFamily="34" charset="-120"/>
              </a:rPr>
              <a:t>DEMO_BASE_URL=https://www.saucedemo.com python run_demo.py</a:t>
            </a:r>
            <a:endParaRPr lang="en-US" sz="1100" dirty="0"/>
          </a:p>
        </p:txBody>
      </p:sp>
      <p:sp>
        <p:nvSpPr>
          <p:cNvPr id="28" name="Text 22"/>
          <p:cNvSpPr txBox="1"/>
          <p:nvPr/>
        </p:nvSpPr>
        <p:spPr>
          <a:xfrm>
            <a:off x="457200" y="4224528"/>
            <a:ext cx="8229600" cy="365760"/>
          </a:xfrm>
          <a:prstGeom prst="rect">
            <a:avLst/>
          </a:prstGeom>
          <a:noFill/>
          <a:ln/>
        </p:spPr>
        <p:txBody>
          <a:bodyPr wrap="square" lIns="0" tIns="0" rIns="0" bIns="0" rtlCol="0" anchor="t"/>
          <a:lstStyle/>
          <a:p>
            <a:pPr indent="0" marL="0">
              <a:buNone/>
            </a:pPr>
            <a:r>
              <a:rPr lang="en-US" sz="1300" dirty="0">
                <a:solidFill>
                  <a:schemeClr val="accent6"/>
                </a:solidFill>
              </a:rPr>
              <a:t>All 5 scenarios pass in about 4 seconds. Dependencies are pinned with SHA-256 hashes in requirements.lock.</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Known limits, and where it goes next</a:t>
            </a:r>
            <a:endParaRPr lang="en-US" sz="2800" dirty="0"/>
          </a:p>
        </p:txBody>
      </p:sp>
      <p:sp>
        <p:nvSpPr>
          <p:cNvPr id="3" name="Limits card"/>
          <p:cNvSpPr/>
          <p:nvPr/>
        </p:nvSpPr>
        <p:spPr>
          <a:xfrm>
            <a:off x="457200" y="1188720"/>
            <a:ext cx="3977640" cy="3383280"/>
          </a:xfrm>
          <a:prstGeom prst="roundRect">
            <a:avLst>
              <a:gd name="adj" fmla="val 2162"/>
            </a:avLst>
          </a:prstGeom>
          <a:solidFill>
            <a:srgbClr val="2A5E48"/>
          </a:solidFill>
          <a:ln/>
        </p:spPr>
      </p:sp>
      <p:sp>
        <p:nvSpPr>
          <p:cNvPr id="4" name="Text 2"/>
          <p:cNvSpPr txBox="1"/>
          <p:nvPr/>
        </p:nvSpPr>
        <p:spPr>
          <a:xfrm>
            <a:off x="685800" y="1298448"/>
            <a:ext cx="3566160" cy="365760"/>
          </a:xfrm>
          <a:prstGeom prst="rect">
            <a:avLst/>
          </a:prstGeom>
          <a:noFill/>
          <a:ln/>
        </p:spPr>
        <p:txBody>
          <a:bodyPr wrap="square" lIns="0" tIns="0" rIns="0" bIns="0" rtlCol="0" anchor="t"/>
          <a:lstStyle/>
          <a:p>
            <a:pPr indent="0" marL="0">
              <a:buNone/>
            </a:pPr>
            <a:r>
              <a:rPr lang="en-US" sz="1700" b="1" dirty="0">
                <a:solidFill>
                  <a:srgbClr val="F2C46D"/>
                </a:solidFill>
              </a:rPr>
              <a:t>Known limits</a:t>
            </a:r>
            <a:endParaRPr lang="en-US" sz="1700" dirty="0"/>
          </a:p>
        </p:txBody>
      </p:sp>
      <p:sp>
        <p:nvSpPr>
          <p:cNvPr id="5" name="Text 3"/>
          <p:cNvSpPr txBox="1"/>
          <p:nvPr/>
        </p:nvSpPr>
        <p:spPr>
          <a:xfrm>
            <a:off x="685800" y="1737360"/>
            <a:ext cx="356616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rPr>
              <a:t>Matching is lexical: no synonyms (“visit” vs “open”)</a:t>
            </a:r>
            <a:endParaRPr lang="en-US" sz="1300" dirty="0"/>
          </a:p>
          <a:p>
            <a:pPr marL="342900" indent="-342900">
              <a:spcAft>
                <a:spcPts val="600"/>
              </a:spcAft>
              <a:buSzPct val="100000"/>
              <a:buChar char="•"/>
            </a:pPr>
            <a:r>
              <a:rPr lang="en-US" sz="1300" dirty="0">
                <a:solidFill>
                  <a:schemeClr val="bg1"/>
                </a:solidFill>
              </a:rPr>
              <a:t>Outlines are checked with the first Examples row</a:t>
            </a:r>
            <a:endParaRPr lang="en-US" sz="1300" dirty="0"/>
          </a:p>
          <a:p>
            <a:pPr marL="342900" indent="-342900">
              <a:spcAft>
                <a:spcPts val="600"/>
              </a:spcAft>
              <a:buSzPct val="100000"/>
              <a:buChar char="•"/>
            </a:pPr>
            <a:r>
              <a:rPr lang="en-US" sz="1300" dirty="0">
                <a:solidFill>
                  <a:schemeClr val="bg1"/>
                </a:solidFill>
              </a:rPr>
              <a:t>Python step definitions only (pytest-bdd, behave)</a:t>
            </a:r>
            <a:endParaRPr lang="en-US" sz="1300" dirty="0"/>
          </a:p>
          <a:p>
            <a:pPr marL="342900" indent="-342900">
              <a:spcAft>
                <a:spcPts val="600"/>
              </a:spcAft>
              <a:buSzPct val="100000"/>
              <a:buChar char="•"/>
            </a:pPr>
            <a:r>
              <a:rPr lang="en-US" sz="1300" dirty="0">
                <a:solidFill>
                  <a:schemeClr val="bg1"/>
                </a:solidFill>
              </a:rPr>
              <a:t>dupes compares all pairs, so cost grows with n²</a:t>
            </a:r>
            <a:endParaRPr lang="en-US" sz="1300" dirty="0"/>
          </a:p>
        </p:txBody>
      </p:sp>
      <p:sp>
        <p:nvSpPr>
          <p:cNvPr id="6" name="Text 4"/>
          <p:cNvSpPr txBox="1"/>
          <p:nvPr/>
        </p:nvSpPr>
        <p:spPr>
          <a:xfrm>
            <a:off x="685800" y="3566160"/>
            <a:ext cx="3566160" cy="914400"/>
          </a:xfrm>
          <a:prstGeom prst="rect">
            <a:avLst/>
          </a:prstGeom>
          <a:noFill/>
          <a:ln/>
        </p:spPr>
        <p:txBody>
          <a:bodyPr wrap="square" lIns="0" tIns="0" rIns="0" bIns="0" rtlCol="0" anchor="ctr"/>
          <a:lstStyle/>
          <a:p>
            <a:pPr indent="0" marL="0">
              <a:buNone/>
            </a:pPr>
            <a:r>
              <a:rPr lang="en-US" sz="1200" b="1" dirty="0">
                <a:solidFill>
                  <a:srgbClr val="F2C46D"/>
                </a:solidFill>
              </a:rPr>
              <a:t>Quality: </a:t>
            </a:r>
            <a:pPr indent="0" marL="0">
              <a:buNone/>
            </a:pPr>
            <a:r>
              <a:rPr lang="en-US" sz="1200" dirty="0">
                <a:solidFill>
                  <a:schemeClr val="bg1"/>
                </a:solidFill>
              </a:rPr>
              <a:t>153 automated tests for the tool. 152 pass; the one failure is a test-environment quirk on the developer’s Mac, not a product issue.</a:t>
            </a:r>
            <a:endParaRPr lang="en-US" sz="1200" dirty="0"/>
          </a:p>
        </p:txBody>
      </p:sp>
      <p:sp>
        <p:nvSpPr>
          <p:cNvPr id="7" name="Next 1 circle"/>
          <p:cNvSpPr/>
          <p:nvPr/>
        </p:nvSpPr>
        <p:spPr>
          <a:xfrm>
            <a:off x="4709160" y="1261872"/>
            <a:ext cx="411480" cy="411480"/>
          </a:xfrm>
          <a:prstGeom prst="ellipse">
            <a:avLst/>
          </a:prstGeom>
          <a:solidFill>
            <a:schemeClr val="accent3"/>
          </a:solidFill>
          <a:ln/>
        </p:spPr>
      </p:sp>
      <p:pic>
        <p:nvPicPr>
          <p:cNvPr id="8" name="Next 1 icon" descr="preencoded.png">    </p:cNvPr>
          <p:cNvPicPr>
            <a:picLocks noChangeAspect="1"/>
          </p:cNvPicPr>
          <p:nvPr/>
        </p:nvPicPr>
        <p:blipFill>
          <a:blip r:embed="rId1"/>
          <a:stretch>
            <a:fillRect/>
          </a:stretch>
        </p:blipFill>
        <p:spPr>
          <a:xfrm>
            <a:off x="4812030" y="1364742"/>
            <a:ext cx="205740" cy="205740"/>
          </a:xfrm>
          <a:prstGeom prst="rect">
            <a:avLst/>
          </a:prstGeom>
        </p:spPr>
      </p:pic>
      <p:sp>
        <p:nvSpPr>
          <p:cNvPr id="9" name="Text 6"/>
          <p:cNvSpPr txBox="1"/>
          <p:nvPr/>
        </p:nvSpPr>
        <p:spPr>
          <a:xfrm>
            <a:off x="5257800" y="1188720"/>
            <a:ext cx="3429000" cy="777240"/>
          </a:xfrm>
          <a:prstGeom prst="rect">
            <a:avLst/>
          </a:prstGeom>
          <a:noFill/>
          <a:ln/>
        </p:spPr>
        <p:txBody>
          <a:bodyPr wrap="square" lIns="0" tIns="0" rIns="0" bIns="0" rtlCol="0" anchor="t"/>
          <a:lstStyle/>
          <a:p>
            <a:pPr indent="0" marL="0">
              <a:spcAft>
                <a:spcPts val="200"/>
              </a:spcAft>
              <a:buNone/>
            </a:pPr>
            <a:r>
              <a:rPr lang="en-US" sz="1300" b="1" dirty="0">
                <a:solidFill>
                  <a:srgbClr val="F2C46D"/>
                </a:solidFill>
              </a:rPr>
              <a:t>Next</a:t>
            </a:r>
            <a:endParaRPr lang="en-US" sz="1400" dirty="0"/>
          </a:p>
          <a:p>
            <a:pPr indent="0" marL="0">
              <a:spcAft>
                <a:spcPts val="200"/>
              </a:spcAft>
              <a:buNone/>
            </a:pPr>
            <a:r>
              <a:rPr lang="en-US" sz="1200" dirty="0">
                <a:solidFill>
                  <a:schemeClr val="bg1"/>
                </a:solidFill>
              </a:rPr>
              <a:t>Warn on the Scenarios tab when a feature file isn’t loaded by any test module</a:t>
            </a:r>
            <a:endParaRPr lang="en-US" sz="1400" dirty="0"/>
          </a:p>
        </p:txBody>
      </p:sp>
      <p:sp>
        <p:nvSpPr>
          <p:cNvPr id="10" name="Next 2 circle"/>
          <p:cNvSpPr/>
          <p:nvPr/>
        </p:nvSpPr>
        <p:spPr>
          <a:xfrm>
            <a:off x="4709160" y="2112264"/>
            <a:ext cx="411480" cy="411480"/>
          </a:xfrm>
          <a:prstGeom prst="ellipse">
            <a:avLst/>
          </a:prstGeom>
          <a:solidFill>
            <a:schemeClr val="accent3"/>
          </a:solidFill>
          <a:ln/>
        </p:spPr>
      </p:sp>
      <p:pic>
        <p:nvPicPr>
          <p:cNvPr id="11" name="Next 2 icon" descr="preencoded.png">    </p:cNvPr>
          <p:cNvPicPr>
            <a:picLocks noChangeAspect="1"/>
          </p:cNvPicPr>
          <p:nvPr/>
        </p:nvPicPr>
        <p:blipFill>
          <a:blip r:embed="rId2"/>
          <a:stretch>
            <a:fillRect/>
          </a:stretch>
        </p:blipFill>
        <p:spPr>
          <a:xfrm>
            <a:off x="4812030" y="2215134"/>
            <a:ext cx="205740" cy="205740"/>
          </a:xfrm>
          <a:prstGeom prst="rect">
            <a:avLst/>
          </a:prstGeom>
        </p:spPr>
      </p:pic>
      <p:sp>
        <p:nvSpPr>
          <p:cNvPr id="12" name="Text 8"/>
          <p:cNvSpPr txBox="1"/>
          <p:nvPr/>
        </p:nvSpPr>
        <p:spPr>
          <a:xfrm>
            <a:off x="5257800" y="2039112"/>
            <a:ext cx="3429000" cy="777240"/>
          </a:xfrm>
          <a:prstGeom prst="rect">
            <a:avLst/>
          </a:prstGeom>
          <a:noFill/>
          <a:ln/>
        </p:spPr>
        <p:txBody>
          <a:bodyPr wrap="square" lIns="0" tIns="0" rIns="0" bIns="0" rtlCol="0" anchor="t"/>
          <a:lstStyle/>
          <a:p>
            <a:pPr indent="0" marL="0">
              <a:spcAft>
                <a:spcPts val="200"/>
              </a:spcAft>
              <a:buNone/>
            </a:pPr>
            <a:r>
              <a:rPr lang="en-US" sz="1300" b="1" dirty="0">
                <a:solidFill>
                  <a:srgbClr val="F2C46D"/>
                </a:solidFill>
              </a:rPr>
              <a:t>Then</a:t>
            </a:r>
            <a:endParaRPr lang="en-US" sz="1400" dirty="0"/>
          </a:p>
          <a:p>
            <a:pPr indent="0" marL="0">
              <a:spcAft>
                <a:spcPts val="200"/>
              </a:spcAft>
              <a:buNone/>
            </a:pPr>
            <a:r>
              <a:rPr lang="en-US" sz="1200" dirty="0">
                <a:solidFill>
                  <a:schemeClr val="bg1"/>
                </a:solidFill>
              </a:rPr>
              <a:t>A shared library of common steps across projects, once there are 2–3 real projects</a:t>
            </a:r>
            <a:endParaRPr lang="en-US" sz="1400" dirty="0"/>
          </a:p>
        </p:txBody>
      </p:sp>
      <p:sp>
        <p:nvSpPr>
          <p:cNvPr id="13" name="Next 3 circle"/>
          <p:cNvSpPr/>
          <p:nvPr/>
        </p:nvSpPr>
        <p:spPr>
          <a:xfrm>
            <a:off x="4709160" y="2962656"/>
            <a:ext cx="411480" cy="411480"/>
          </a:xfrm>
          <a:prstGeom prst="ellipse">
            <a:avLst/>
          </a:prstGeom>
          <a:solidFill>
            <a:schemeClr val="accent3"/>
          </a:solidFill>
          <a:ln/>
        </p:spPr>
      </p:sp>
      <p:pic>
        <p:nvPicPr>
          <p:cNvPr id="14" name="Next 3 icon" descr="preencoded.png">    </p:cNvPr>
          <p:cNvPicPr>
            <a:picLocks noChangeAspect="1"/>
          </p:cNvPicPr>
          <p:nvPr/>
        </p:nvPicPr>
        <p:blipFill>
          <a:blip r:embed="rId3"/>
          <a:stretch>
            <a:fillRect/>
          </a:stretch>
        </p:blipFill>
        <p:spPr>
          <a:xfrm>
            <a:off x="4812030" y="3065526"/>
            <a:ext cx="205740" cy="205740"/>
          </a:xfrm>
          <a:prstGeom prst="rect">
            <a:avLst/>
          </a:prstGeom>
        </p:spPr>
      </p:pic>
      <p:sp>
        <p:nvSpPr>
          <p:cNvPr id="15" name="Text 10"/>
          <p:cNvSpPr txBox="1"/>
          <p:nvPr/>
        </p:nvSpPr>
        <p:spPr>
          <a:xfrm>
            <a:off x="5257800" y="2889504"/>
            <a:ext cx="3429000" cy="777240"/>
          </a:xfrm>
          <a:prstGeom prst="rect">
            <a:avLst/>
          </a:prstGeom>
          <a:noFill/>
          <a:ln/>
        </p:spPr>
        <p:txBody>
          <a:bodyPr wrap="square" lIns="0" tIns="0" rIns="0" bIns="0" rtlCol="0" anchor="t"/>
          <a:lstStyle/>
          <a:p>
            <a:pPr indent="0" marL="0">
              <a:spcAft>
                <a:spcPts val="200"/>
              </a:spcAft>
              <a:buNone/>
            </a:pPr>
            <a:r>
              <a:rPr lang="en-US" sz="1300" b="1" dirty="0">
                <a:solidFill>
                  <a:srgbClr val="F2C46D"/>
                </a:solidFill>
              </a:rPr>
              <a:t>Later</a:t>
            </a:r>
            <a:endParaRPr lang="en-US" sz="1400" dirty="0"/>
          </a:p>
          <a:p>
            <a:pPr indent="0" marL="0">
              <a:spcAft>
                <a:spcPts val="200"/>
              </a:spcAft>
              <a:buNone/>
            </a:pPr>
            <a:r>
              <a:rPr lang="en-US" sz="1200" dirty="0">
                <a:solidFill>
                  <a:schemeClr val="bg1"/>
                </a:solidFill>
              </a:rPr>
              <a:t>Optional AI drafting of scenarios and step code; network use kept separate from the offline core</a:t>
            </a:r>
            <a:endParaRPr lang="en-US" sz="1400" dirty="0"/>
          </a:p>
        </p:txBody>
      </p:sp>
      <p:sp>
        <p:nvSpPr>
          <p:cNvPr id="16" name="Next 4 circle"/>
          <p:cNvSpPr/>
          <p:nvPr/>
        </p:nvSpPr>
        <p:spPr>
          <a:xfrm>
            <a:off x="4709160" y="3813048"/>
            <a:ext cx="411480" cy="411480"/>
          </a:xfrm>
          <a:prstGeom prst="ellipse">
            <a:avLst/>
          </a:prstGeom>
          <a:solidFill>
            <a:schemeClr val="accent3"/>
          </a:solidFill>
          <a:ln/>
        </p:spPr>
      </p:sp>
      <p:pic>
        <p:nvPicPr>
          <p:cNvPr id="17" name="Next 4 icon" descr="preencoded.png">    </p:cNvPr>
          <p:cNvPicPr>
            <a:picLocks noChangeAspect="1"/>
          </p:cNvPicPr>
          <p:nvPr/>
        </p:nvPicPr>
        <p:blipFill>
          <a:blip r:embed="rId4"/>
          <a:stretch>
            <a:fillRect/>
          </a:stretch>
        </p:blipFill>
        <p:spPr>
          <a:xfrm>
            <a:off x="4812030" y="3915918"/>
            <a:ext cx="205740" cy="205740"/>
          </a:xfrm>
          <a:prstGeom prst="rect">
            <a:avLst/>
          </a:prstGeom>
        </p:spPr>
      </p:pic>
      <p:sp>
        <p:nvSpPr>
          <p:cNvPr id="18" name="Text 12"/>
          <p:cNvSpPr txBox="1"/>
          <p:nvPr/>
        </p:nvSpPr>
        <p:spPr>
          <a:xfrm>
            <a:off x="5257800" y="3739896"/>
            <a:ext cx="3429000" cy="777240"/>
          </a:xfrm>
          <a:prstGeom prst="rect">
            <a:avLst/>
          </a:prstGeom>
          <a:noFill/>
          <a:ln/>
        </p:spPr>
        <p:txBody>
          <a:bodyPr wrap="square" lIns="0" tIns="0" rIns="0" bIns="0" rtlCol="0" anchor="t"/>
          <a:lstStyle/>
          <a:p>
            <a:pPr indent="0" marL="0">
              <a:spcAft>
                <a:spcPts val="200"/>
              </a:spcAft>
              <a:buNone/>
            </a:pPr>
            <a:r>
              <a:rPr lang="en-US" sz="1300" b="1" dirty="0">
                <a:solidFill>
                  <a:srgbClr val="F2C46D"/>
                </a:solidFill>
              </a:rPr>
              <a:t>CI</a:t>
            </a:r>
            <a:endParaRPr lang="en-US" sz="1400" dirty="0"/>
          </a:p>
          <a:p>
            <a:pPr indent="0" marL="0">
              <a:spcAft>
                <a:spcPts val="200"/>
              </a:spcAft>
              <a:buNone/>
            </a:pPr>
            <a:r>
              <a:rPr lang="en-US" sz="1200" dirty="0">
                <a:solidFill>
                  <a:schemeClr val="bg1"/>
                </a:solidFill>
              </a:rPr>
              <a:t>Run check and dupes (--json) automatically on every code change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Appendix</a:t>
            </a:r>
            <a:endParaRPr lang="en-US" sz="4000" dirty="0"/>
          </a:p>
        </p:txBody>
      </p:sp>
      <p:sp>
        <p:nvSpPr>
          <p:cNvPr id="3" name="Text 0"/>
          <p:cNvSpPr/>
          <p:nvPr>
            <p:ph idx="101" type="body" hasCustomPrompt="1"/>
          </p:nvPr>
        </p:nvSpPr>
        <p:spPr>
          <a:xfrm>
            <a:off x="548640" y="2560320"/>
            <a:ext cx="8046720" cy="914400"/>
          </a:xfrm>
          <a:prstGeom prst="rect">
            <a:avLst/>
          </a:prstGeom>
          <a:noFill/>
          <a:ln/>
        </p:spPr>
        <p:txBody>
          <a:bodyPr wrap="square" lIns="0" tIns="0" rIns="0" bIns="0" rtlCol="0" anchor="t"/>
          <a:lstStyle/>
          <a:p>
            <a:pPr indent="0" marL="0">
              <a:buNone/>
            </a:pPr>
            <a:r>
              <a:rPr lang="en-US" sz="2000" dirty="0">
                <a:solidFill>
                  <a:schemeClr val="accent5"/>
                </a:solidFill>
              </a:rPr>
              <a:t>CLI reference and code map</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CLI reference</a:t>
            </a:r>
            <a:endParaRPr lang="en-US" sz="2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37360"/>
                <a:gridCol w="3474720"/>
                <a:gridCol w="301752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Command</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Key options</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Default behaviour</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r>
              <a:tr h="384048">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index [PATH]</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ourier New" pitchFamily="34" charset="0"/>
                          <a:ea typeface="Courier New" pitchFamily="34" charset="-122"/>
                          <a:cs typeface="Courier New" pitchFamily="34" charset="-120"/>
                        </a:rPr>
                        <a:t>--no-save  --index FILE  --json</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Scans PATH (default .) and writes .gherkin-index.json</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find TEXT</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ourier New" pitchFamily="34" charset="0"/>
                          <a:ea typeface="Courier New" pitchFamily="34" charset="-122"/>
                          <a:cs typeface="Courier New" pitchFamily="34" charset="-120"/>
                        </a:rPr>
                        <a:t>--path DIR  --limit 5  --min-score 0.4</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Exact matches, then fuzzy suggestions</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dupes</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ourier New" pitchFamily="34" charset="0"/>
                          <a:ea typeface="Courier New" pitchFamily="34" charset="-122"/>
                          <a:cs typeface="Courier New" pitchFamily="34" charset="-120"/>
                        </a:rPr>
                        <a:t>--path DIR  --threshold 0.6</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Lists near-duplicate pairs, highest score first</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merge [PATH]</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ourier New" pitchFamily="34" charset="0"/>
                          <a:ea typeface="Courier New" pitchFamily="34" charset="-122"/>
                          <a:cs typeface="Courier New" pitchFamily="34" charset="-120"/>
                        </a:rPr>
                        <a:t>--keep FUNCTION  --threshold 0.6  --apply</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Preview diff only; --apply writes</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check [FEATURES]</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ourier New" pitchFamily="34" charset="0"/>
                          <a:ea typeface="Courier New" pitchFamily="34" charset="-122"/>
                          <a:cs typeface="Courier New" pitchFamily="34" charset="-120"/>
                        </a:rPr>
                        <a:t>--path DIR  --stubs  --json</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ok / missing / ambiguous for every line</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report [JSON]</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ourier New" pitchFamily="34" charset="0"/>
                          <a:ea typeface="Courier New" pitchFamily="34" charset="-122"/>
                          <a:cs typeface="Courier New" pitchFamily="34" charset="-120"/>
                        </a:rPr>
                        <a:t>-o FILE  --artifacts DIR  --open</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reports/cucumber.json to reports/report.html</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F4D3A"/>
                          </a:solidFill>
                          <a:latin typeface="Courier New" pitchFamily="34" charset="0"/>
                          <a:ea typeface="Courier New" pitchFamily="34" charset="-122"/>
                          <a:cs typeface="Courier New" pitchFamily="34" charset="-120"/>
                        </a:rPr>
                        <a:t>ui</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ourier New" pitchFamily="34" charset="0"/>
                          <a:ea typeface="Courier New" pitchFamily="34" charset="-122"/>
                          <a:cs typeface="Courier New" pitchFamily="34" charset="-120"/>
                        </a:rPr>
                        <a:t>--port 8765  --no-open  --projects FILE</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100" dirty="0">
                          <a:solidFill>
                            <a:srgbClr val="1B2B22"/>
                          </a:solidFill>
                          <a:latin typeface="Calibri" pitchFamily="34" charset="0"/>
                          <a:ea typeface="Calibri" pitchFamily="34" charset="-122"/>
                          <a:cs typeface="Calibri" pitchFamily="34" charset="-120"/>
                        </a:rPr>
                        <a:t>Starts the app on 127.0.0.1 and opens the browser</a:t>
                      </a:r>
                      <a:endParaRPr lang="en-US" sz="110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Code map</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3977640" cy="914400"/>
        </p:xfrm>
        <a:graphic>
          <a:graphicData uri="http://schemas.openxmlformats.org/drawingml/2006/table">
            <a:tbl>
              <a:tblPr/>
              <a:tblGrid>
                <a:gridCol w="1143000"/>
                <a:gridCol w="502920"/>
                <a:gridCol w="2331720"/>
              </a:tblGrid>
              <a:tr h="31089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Lines</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Does</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indexer.py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134</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ast scan of step decorators; index file</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matcher.py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141</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Pattern to regex; similarity; find; dupes</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checker.py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165</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Gherkin parser; binding; stubs</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merger.py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273</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Keeper choice; safety checks; diff; apply</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report.py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288</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Cucumber JSON to static HTML</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cli.py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287</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argparse commands, --json output</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4572000" y="1188720"/>
          <a:ext cx="4114800" cy="914400"/>
        </p:xfrm>
        <a:graphic>
          <a:graphicData uri="http://schemas.openxmlformats.org/drawingml/2006/table">
            <a:tbl>
              <a:tblPr/>
              <a:tblGrid>
                <a:gridCol w="1143000"/>
                <a:gridCol w="502920"/>
                <a:gridCol w="2468880"/>
              </a:tblGrid>
              <a:tr h="31089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App: ui/</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Lines</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Does</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server.py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294</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127.0.0.1 server, Host/Origin/token</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projects.py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121</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Project list (~/.gherkin-copilot)</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catalog.py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Steps as blocks with slots</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builder.py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170</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Live checks; hash-checked writes</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stepcode.py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218</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Action blocks to Playwright code</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editor.py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298</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Open / edit / delete scenarios</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gherkin.py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212</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Scenario spans; render back</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dupes.py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113</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Duplicates tab over merger</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history.py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history.jsonl; restore</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10896">
                <a:tc>
                  <a:txBody>
                    <a:bodyPr/>
                    <a:lstStyle/>
                    <a:p>
                      <a:pPr indent="0" marL="0">
                        <a:buNone/>
                      </a:pPr>
                      <a:r>
                        <a:rPr lang="en-US" sz="950" b="1" dirty="0">
                          <a:solidFill>
                            <a:srgbClr val="1F4D3A"/>
                          </a:solidFill>
                          <a:latin typeface="Courier New" pitchFamily="34" charset="0"/>
                          <a:ea typeface="Courier New" pitchFamily="34" charset="-122"/>
                          <a:cs typeface="Courier New" pitchFamily="34" charset="-120"/>
                        </a:rPr>
                        <a:t>runner.py</a:t>
                      </a:r>
                      <a:endParaRPr lang="en-US" sz="950" dirty="0">
                        <a:latin typeface="Courier New" charset="0"/>
                        <a:ea typeface="Courier New" charset="0"/>
                        <a:cs typeface="Courier New"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265</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00" dirty="0">
                          <a:solidFill>
                            <a:srgbClr val="1B2B22"/>
                          </a:solidFill>
                          <a:latin typeface="Calibri" pitchFamily="34" charset="0"/>
                          <a:ea typeface="Calibri" pitchFamily="34" charset="-122"/>
                          <a:cs typeface="Calibri" pitchFamily="34" charset="-120"/>
                        </a:rPr>
                        <a:t>Run pytest; read results</a:t>
                      </a:r>
                      <a:endParaRPr lang="en-US" sz="1000" dirty="0">
                        <a:latin typeface="Calibri" charset="0"/>
                        <a:ea typeface="Calibri" charset="0"/>
                        <a:cs typeface="Calibri" charset="0"/>
                      </a:endParaRPr>
                    </a:p>
                  </a:txBody>
                  <a:tcPr marL="45720" marR="45720" marT="45720" marB="45720"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Cucumber">
  <a:themeElements>
    <a:clrScheme name="Cucumber">
      <a:dk1>
        <a:srgbClr val="1B2B22"/>
      </a:dk1>
      <a:lt1>
        <a:srgbClr val="FFFFFF"/>
      </a:lt1>
      <a:dk2>
        <a:srgbClr val="1F4D3A"/>
      </a:dk2>
      <a:lt2>
        <a:srgbClr val="EEF5EF"/>
      </a:lt2>
      <a:accent1>
        <a:srgbClr val="3E8E4F"/>
      </a:accent1>
      <a:accent2>
        <a:srgbClr val="E39B2D"/>
      </a:accent2>
      <a:accent3>
        <a:srgbClr val="2C6E8F"/>
      </a:accent3>
      <a:accent4>
        <a:srgbClr val="C0503A"/>
      </a:accent4>
      <a:accent5>
        <a:srgbClr val="D7E9D9"/>
      </a:accent5>
      <a:accent6>
        <a:srgbClr val="5F6F66"/>
      </a:accent6>
      <a:hlink>
        <a:srgbClr val="2C6E8F"/>
      </a:hlink>
      <a:folHlink>
        <a:srgbClr val="5F6F66"/>
      </a:folHlink>
    </a:clrScheme>
    <a:fontScheme name="Cucu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gherkin-copilot: how it works</dc:title>
  <dc:subject>PptxGenJS Presentation</dc:subject>
  <dc:creator>Gabe Olsen</dc:creator>
  <cp:lastModifiedBy>Gabe Olsen</cp:lastModifiedBy>
  <cp:revision>1</cp:revision>
  <dcterms:created xsi:type="dcterms:W3CDTF">2026-10-10T09:46:38Z</dcterms:created>
  <dcterms:modified xsi:type="dcterms:W3CDTF">2026-10-10T09:46:38Z</dcterms:modified>
</cp:coreProperties>
</file>