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006e3458-9351-4d60-641b-02164bcb2c55}">
          <p14:sldIdLst>
            <p14:sldId id="256"/>
            <p14:sldId id="257"/>
            <p14:sldId id="258"/>
            <p14:sldId id="259"/>
            <p14:sldId id="260"/>
            <p14:sldId id="261"/>
            <p14:sldId id="262"/>
            <p14:sldId id="263"/>
            <p14:sldId id="264"/>
            <p14:sldId id="265"/>
            <p14:sldId id="266"/>
            <p14:sldId id="267"/>
            <p14:sldId id="268"/>
            <p14:sldId id="269"/>
            <p14:sldId id="270"/>
            <p14:sldId id="271"/>
            <p14:sldId id="272"/>
          </p14:sldIdLst>
        </p14:section>
        <p14:section name="Appendix" id="{f685c2bf-986b-c6d0-9d2a-21e3ca1ccf6e}">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time. I want to show you a small tool I built on my own initiative, explain the problem it solves in plain terms, and ask for your support to try it on a real project.
Quick plan: first a two-minute primer on how we test software automatically, then the problem I kept running into, then what the tool does with a few real results, why it's safe on a work laptop, and finally what I'm asking for.
It's called gherkin-copilot. It started as a command-line tool and is now a small app that runs on your own computer. The name will make sense in a couple of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from the ground up. Every time our developers change the software, someone has to check that it still works. Traditionally that's a person clicking through the website: log in, add something to the basket, check the total, and so on.
Automated testing means a program does those same clicks and checks for us. It's like having a robot tester that never gets tired and never skips a step.
Three benefits: it's much faster than a person, it does exactly the same thing every time, and it catches problems before our customers do. That's the world I've been working in on [ADD: project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one of these automated tests actually looks like. You don't need to be technical to read it. It says: given I'm logged in, when I add two products to the cart, then the little counter on the cart shows 2.
Every test has the same shape: Given is where we start, When is what the user does, Then is what we expect to see.
This style is called BDD, Behaviour-Driven Development. The idea is simple: describe how the software should behave in words that business people, testers and developers can all read and agree on. Cucumber is the popular tool that runs these tests, and Gherkin is just the name of this plain-English format. That's where the name of my tool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an English sentence turn into clicks on a website? Behind each line is a small piece of code called a step definition. When the test says 'When I add Sauce Labs Backpack to the cart', the matching step definition knows how to find that product and click Add to cart in a real browser.
The analogy I find helpful is a kitchen. The English test is the recipe. Each step definition is a skill the robot chef already knows, like chopping onions. Once the robot knows how to chop onions, every recipe that says 'chop the onions' can reuse that skill. Nobody needs to teach it again.
That reuse is the whole point, and it's exactly where things start to go wrong as teams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works beautifully with a few dozen steps. But real projects end up with hundreds. Across our real suites we have [ADD: number of steps / scenarios in our real test suites]. Nobody can remember them all, so three things happen.
First, duplication. Someone writes 'the user is on the login page' when 'I am on the login page' already exists. Now there are two pieces of code doing the same job, and when the login page changes, someone has to fix it in several places. [ADD: a real example from our suite, if you have one.]
Second, guessing. People write a new test using a step they assume exists. It doesn't, and they only find out when the test fails.
Third, rewriting. Every new step needs the same setup code typed out by hand. It's boring and easy to get wrong.
Put together: test writing gets slower, the test code gets messier, and maintenance costs creep up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I first built the tool, it has grown from a command-line tool into a small app that opens in your web browser. It runs entirely on your own computer: nothing is hosted anywhere.
It has eight areas. Projects lets you set up one project per website and switch between them. Build is where you put together a new test from blocks. Action blocks let you create a brand-new step without writing any code. Scenarios lets you open any existing test and edit it as blocks. Steps is the catalogue of everything our tests already know how to do. Duplicates finds and merges steps that say the same thing. Test results is where you run tests and see what happened. And History records every change, so test changes can be undone.
Still no AI: it uses simple, predictable rules, so it gives the same answer every time. The original command-line version is still there for automated checks and for power users.
Here's how those pieces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workflow on one slide.
One: set up once. You tell the app where a project's steps and tests live and how to run them.
Two: find. Before writing anything, search the catalogue and reuse what's there.
Three: build. Snap blocks into a new test. If you type a line instead, it's checked as you type: a tick if the step exists, a cross with 'did you mean' suggestions if not.
Four: fill gaps. If a step genuinely doesn't exist yet, you build it from action blocks, with no code.
Five: save. You always see a preview of exactly what will change before anything is written, and every change is recorded in the history.
Six: run the test and see whether it passes, with screenshots and a replay.
Seven: maintain. Edit existing tests as blocks, merge duplicates, and undo from the history if needed.
One important point at the bottom: there's no lock-in. What the app produces are ordinary test files. They run with the standard test runner on any machine or in our automated pipelines, even where the app isn't installed.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Build tab. Every step we already have appears as a block, a bit like the Scratch programming tool for children. You drag blocks into a test and fill in the blanks, such as the product name. Because the blocks come from steps that already exist, a test built this way is ready to run by construction.
You can also just type a line. Each line is checked as you type. A tick means the step exists. A cross comes with 'did you mean' suggestions: if someone types 'Given I open the login page', it suggests the existing 'I am on the login page', which is 73% similar, and one click swaps it in. That's the duplicate prevented before it's ever written.
It also warns if a value doesn't fit, for example text where a number is expected.
When you save, to a new or an existing test file, you see a preview of exactly what will change, and nothing is written until you confirm.
[Point to the block editor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writing a brand-new test. Here's a 'checkout' test someone has just written, six lines of English.
Before anyone runs it, the 'check' command goes through it line by line. The first 2 lines, logging in and adding a product, already have steps behind them, so they're ready to go. The other 4, like opening the cart and entering delivery details, are new.
Instead of a person typing out the setup code for those 4 by hand, the tool drafts a skeleton for each one: a template with the right shape, which a person then fills in with the actual clicks. That removes the boring, error-prone part.
So it works as a readiness checklist: you know exactly what's ready and what's left before you run anything, instead of discovering it when the test fails.
In the app this check happens live as you type. The command line can also draft a code skeleton for each missing step, and for people who'd rather not write code at all, there's a better option, coming up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a step genuinely doesn't exist yet. Before, that meant someone writing Python code by hand. Now there's a second kind of block: action blocks.
You describe the new step as a short sequence of actions, the same things a person does in a browser: go to a page, click, type into a field, choose an option, tick a box, press a key, or check that some text is shown, that something is visible or hidden, how many there are, or what the page address is. For each one you say how to find the element on the page, for example by its button text or its field label.
Here's a real one: 'When I press the cart icon' is just one action, click the link with the text 'cart'.
The app then writes the real browser code itself, adds it to a step file, and the test can run straight away.
[Point to the action blocks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wanted to prove the whole thing works end to end, not just in pieces.
In the demo, I built a new test entirely in the app. It needed two steps that didn't exist yet, so I created both with action blocks: one was added to an existing step file and the other went into a brand-new file. I saved the test, after checking the preview, then ran it from the app. It passed.
No hand-written Python at any point.
For comparison, [ADD: how long a new test like this normally takes our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test is built, the Test results tab runs it. You can run everything, one test file, or just the test you're editing.
For every test and every step you see pass or fail, the error message when something fails, how long it took, a screenshot, and a step-by-step replay you can click through to see exactly what the browser did.
The demo suite runs 5 tests in a real web browser, and they all pass in about 4 seconds.
The command line can still produce the same results as a single web page to share after a run. [Point to the screenshot of a failed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example from testing the app, because it shows why both halves matter.
Someone added the step 'add Bike Light to the cart' a second time to an existing test. The editor showed a tick, correctly: that step exists.
But when they ran the test in the app, it failed. On this website, clicking the button a second time removes the item again, so the cart showed 1 instead of 2.
The point: a tick means the step exists. Only running the test tells you it actually passes. Before, those were two different tools and usually two different people. Now both are one click away in the same place, so mistakes like this get caught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about duplicates that are already in a suite? The Duplicates tab scans every step and finds pairs that say the same thing in different words, like 'I am on the login page' and 'the user is on the login page'.
For each pair it shows which one would be kept and how often each is used in our tests. Merging rewrites every test line to the one wording and deletes the extra code.
In the demo it found 2 duplicate pairs. Merging both kept all 5 tests passing.
It's deliberately cautious: it only merges when the two steps do exactly the same thing, and when it won't, it explains why. Like every change in the app, you see a preview and confirm first, and it goes into the history.
[Point to the duplicates screenshot.] On our real suites this could [ADD: estimated duplicates or clean-up time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a tester's time goes on changing tests that already exist, not writing new ones. The Scenarios tab lists every test with its latest result. Edit opens any existing test as blocks, with its values filled in, including the shared opening steps, tags, description and tables of example data. You can also duplicate or delete a test in one click.
Every change the app makes is recorded in the History tab: who made it, when, what changed, and what it looked like before and after. That record is saved inside the project, so it's shared with the whole team through our normal code repository, git. And changes to tests can be undone.
[Point to the history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 expect for anything new on a work laptop: is it safe? Six points.
One: it only runs on your own computer, at a local address that nothing else on the network can reach, and it's protected so that other websites open in the same browser can't use it.
Two: no network access, no telemetry, and no third-party software in the tool itself: it's built only from standard Python.
Three: it only changes files after you've seen a preview and confirmed it, and it refuses if the file was changed by someone else in the meantime.
Four: the browser never writes into files directly. The app builds every change itself, including the generated code from action blocks, and checks that code before saving.
Five: it only starts a program when you press Run, and then only the test command you set up for the project. One run at a time, with a stop button and a time limit. Test results go to a folder that's kept out of our shared code.
Six: the tool has 153 automated tests of its own. 152 pass; the one failure is a quirk of the test setup on my Mac, not a problem in the product.
And there's a written security document for IT and security reviewers.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goes next. Everything you've seen today is done and working.
Next, a small one: warn when a test file exists but isn't being picked up by the test run, so a test can't silently be skipped.
Then, once we have two or three real projects using it, a shared library of common steps that works across projects and websites.
Later, optional AI help to draft tests and step code. It would be clearly marked, and anything that uses the network would be kept separate from the offline core, so the safe version stays exactly as it is.
And finally, run these checks automatically on every code change, so duplicates and missing steps are caught before they're merged.
Which brings me to my ask: [ADD: what I'm asking for]. On a pilot I'd expect [ADD: expected time saved on a pilot].
Thank you. Happy to show it live or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material for questions or for anyone reading the deck afterwards. I won't present these slides unless they come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Plain-English definitions of every technical term used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command-line version, still used for automated checks and power users. Every command, what it does, and why it matters. Commands are typed in a terminal window, for example: gherkin-copilot find "Given I open the login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4.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gherkin-copilot</a:t>
            </a: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lIns="0" tIns="0" rIns="0" bIns="0" rtlCol="0" anchor="t"/>
          <a:lstStyle/>
          <a:p>
            <a:pPr indent="0" marL="0">
              <a:buNone/>
            </a:pPr>
            <a:r>
              <a:rPr lang="en-US" sz="2000" dirty="0">
                <a:solidFill>
                  <a:schemeClr val="accent5"/>
                </a:solidFill>
              </a:rPr>
              <a:t>Build, run and tidy automated tests by reusing what we already have</a:t>
            </a:r>
            <a:endParaRPr lang="en-US" sz="2000" dirty="0"/>
          </a:p>
        </p:txBody>
      </p:sp>
      <p:sp>
        <p:nvSpPr>
          <p:cNvPr id="4" name="Title circle"/>
          <p:cNvSpPr/>
          <p:nvPr/>
        </p:nvSpPr>
        <p:spPr>
          <a:xfrm>
            <a:off x="548640" y="502920"/>
            <a:ext cx="640080" cy="640080"/>
          </a:xfrm>
          <a:prstGeom prst="ellipse">
            <a:avLst/>
          </a:prstGeom>
          <a:solidFill>
            <a:schemeClr val="accent1"/>
          </a:solidFill>
          <a:ln/>
        </p:spPr>
      </p:sp>
      <p:pic>
        <p:nvPicPr>
          <p:cNvPr id="5" name="Title icon" descr="preencoded.png">    </p:cNvPr>
          <p:cNvPicPr>
            <a:picLocks noChangeAspect="1"/>
          </p:cNvPicPr>
          <p:nvPr/>
        </p:nvPicPr>
        <p:blipFill>
          <a:blip r:embed="rId1"/>
          <a:stretch>
            <a:fillRect/>
          </a:stretch>
        </p:blipFill>
        <p:spPr>
          <a:xfrm>
            <a:off x="708660" y="662940"/>
            <a:ext cx="320040" cy="320040"/>
          </a:xfrm>
          <a:prstGeom prst="rect">
            <a:avLst/>
          </a:prstGeom>
        </p:spPr>
      </p:pic>
      <p:sp>
        <p:nvSpPr>
          <p:cNvPr id="6" name="Presenter"/>
          <p:cNvSpPr txBox="1"/>
          <p:nvPr/>
        </p:nvSpPr>
        <p:spPr>
          <a:xfrm>
            <a:off x="548640" y="3977640"/>
            <a:ext cx="4572000" cy="320040"/>
          </a:xfrm>
          <a:prstGeom prst="rect">
            <a:avLst/>
          </a:prstGeom>
          <a:noFill/>
          <a:ln/>
        </p:spPr>
        <p:txBody>
          <a:bodyPr wrap="square" lIns="0" tIns="0" rIns="0" bIns="0" rtlCol="0" anchor="t"/>
          <a:lstStyle/>
          <a:p>
            <a:pPr indent="0" marL="0">
              <a:buNone/>
            </a:pPr>
            <a:r>
              <a:rPr lang="en-US" sz="1600" b="1" dirty="0">
                <a:solidFill>
                  <a:schemeClr val="bg1"/>
                </a:solidFill>
              </a:rPr>
              <a:t>Gabe Olsen</a:t>
            </a:r>
            <a:endParaRPr lang="en-US" sz="1600" dirty="0"/>
          </a:p>
        </p:txBody>
      </p:sp>
      <p:sp>
        <p:nvSpPr>
          <p:cNvPr id="7" name="Team placeholder box"/>
          <p:cNvSpPr/>
          <p:nvPr/>
        </p:nvSpPr>
        <p:spPr>
          <a:xfrm>
            <a:off x="548640" y="4343400"/>
            <a:ext cx="2377440" cy="365760"/>
          </a:xfrm>
          <a:prstGeom prst="roundRect">
            <a:avLst>
              <a:gd name="adj" fmla="val 15000"/>
            </a:avLst>
          </a:prstGeom>
          <a:solidFill>
            <a:srgbClr val="FDF0D9"/>
          </a:solidFill>
          <a:ln w="15875">
            <a:solidFill>
              <a:srgbClr val="E39B2D"/>
            </a:solidFill>
            <a:prstDash val="solid"/>
          </a:ln>
        </p:spPr>
      </p:sp>
      <p:sp>
        <p:nvSpPr>
          <p:cNvPr id="8" name="Team placeholder"/>
          <p:cNvSpPr txBox="1"/>
          <p:nvPr/>
        </p:nvSpPr>
        <p:spPr>
          <a:xfrm>
            <a:off x="658368" y="4343400"/>
            <a:ext cx="2157984" cy="365760"/>
          </a:xfrm>
          <a:prstGeom prst="rect">
            <a:avLst/>
          </a:prstGeom>
          <a:noFill/>
          <a:ln/>
        </p:spPr>
        <p:txBody>
          <a:bodyPr wrap="square" lIns="0" tIns="0" rIns="0" bIns="0" rtlCol="0" anchor="ctr"/>
          <a:lstStyle/>
          <a:p>
            <a:pPr indent="0" marL="0">
              <a:buNone/>
            </a:pPr>
            <a:r>
              <a:rPr lang="en-US" sz="1200" b="1" dirty="0">
                <a:solidFill>
                  <a:srgbClr val="8A5A0C"/>
                </a:solidFill>
              </a:rPr>
              <a:t>[ADD: team and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 program can check every change we make</a:t>
            </a:r>
            <a:endParaRPr lang="en-US" sz="2800" dirty="0"/>
          </a:p>
        </p:txBody>
      </p:sp>
      <p:sp>
        <p:nvSpPr>
          <p:cNvPr id="3" name="Manual card"/>
          <p:cNvSpPr/>
          <p:nvPr/>
        </p:nvSpPr>
        <p:spPr>
          <a:xfrm>
            <a:off x="457200" y="1234440"/>
            <a:ext cx="3657600" cy="2331720"/>
          </a:xfrm>
          <a:prstGeom prst="roundRect">
            <a:avLst>
              <a:gd name="adj" fmla="val 3137"/>
            </a:avLst>
          </a:prstGeom>
          <a:solidFill>
            <a:schemeClr val="bg2"/>
          </a:solidFill>
          <a:ln/>
        </p:spPr>
      </p:sp>
      <p:sp>
        <p:nvSpPr>
          <p:cNvPr id="4" name="Manual circle"/>
          <p:cNvSpPr/>
          <p:nvPr/>
        </p:nvSpPr>
        <p:spPr>
          <a:xfrm>
            <a:off x="685800" y="1463040"/>
            <a:ext cx="640080" cy="640080"/>
          </a:xfrm>
          <a:prstGeom prst="ellipse">
            <a:avLst/>
          </a:prstGeom>
          <a:solidFill>
            <a:schemeClr val="accent6"/>
          </a:solidFill>
          <a:ln/>
        </p:spPr>
      </p:sp>
      <p:pic>
        <p:nvPicPr>
          <p:cNvPr id="5" name="Manual icon" descr="preencoded.png">    </p:cNvPr>
          <p:cNvPicPr>
            <a:picLocks noChangeAspect="1"/>
          </p:cNvPicPr>
          <p:nvPr/>
        </p:nvPicPr>
        <p:blipFill>
          <a:blip r:embed="rId1"/>
          <a:stretch>
            <a:fillRect/>
          </a:stretch>
        </p:blipFill>
        <p:spPr>
          <a:xfrm>
            <a:off x="845820" y="1623060"/>
            <a:ext cx="320040" cy="320040"/>
          </a:xfrm>
          <a:prstGeom prst="rect">
            <a:avLst/>
          </a:prstGeom>
        </p:spPr>
      </p:pic>
      <p:sp>
        <p:nvSpPr>
          <p:cNvPr id="6" name="Text 3"/>
          <p:cNvSpPr txBox="1"/>
          <p:nvPr/>
        </p:nvSpPr>
        <p:spPr>
          <a:xfrm>
            <a:off x="1463040" y="1572768"/>
            <a:ext cx="2560320" cy="411480"/>
          </a:xfrm>
          <a:prstGeom prst="rect">
            <a:avLst/>
          </a:prstGeom>
          <a:noFill/>
          <a:ln/>
        </p:spPr>
        <p:txBody>
          <a:bodyPr wrap="square" lIns="0" tIns="0" rIns="0" bIns="0" rtlCol="0" anchor="t"/>
          <a:lstStyle/>
          <a:p>
            <a:pPr indent="0" marL="0">
              <a:buNone/>
            </a:pPr>
            <a:r>
              <a:rPr lang="en-US" sz="1800" b="1" dirty="0">
                <a:solidFill>
                  <a:schemeClr val="tx2"/>
                </a:solidFill>
              </a:rPr>
              <a:t>Checking by hand</a:t>
            </a:r>
            <a:endParaRPr lang="en-US" sz="1800" dirty="0"/>
          </a:p>
        </p:txBody>
      </p:sp>
      <p:sp>
        <p:nvSpPr>
          <p:cNvPr id="7" name="Text 4"/>
          <p:cNvSpPr txBox="1"/>
          <p:nvPr/>
        </p:nvSpPr>
        <p:spPr>
          <a:xfrm>
            <a:off x="685800" y="2331720"/>
            <a:ext cx="3200400" cy="1097280"/>
          </a:xfrm>
          <a:prstGeom prst="rect">
            <a:avLst/>
          </a:prstGeom>
          <a:noFill/>
          <a:ln/>
        </p:spPr>
        <p:txBody>
          <a:bodyPr wrap="square" lIns="0" tIns="0" rIns="0" bIns="0" rtlCol="0" anchor="t"/>
          <a:lstStyle/>
          <a:p>
            <a:pPr indent="0" marL="0">
              <a:buNone/>
            </a:pPr>
            <a:r>
              <a:rPr lang="en-US" sz="1500" dirty="0">
                <a:solidFill>
                  <a:schemeClr val="tx1"/>
                </a:solidFill>
              </a:rPr>
              <a:t>A person clicks through the website to check it still works. Slow, tiring, and easy to miss something.</a:t>
            </a:r>
            <a:endParaRPr lang="en-US" sz="1500" dirty="0"/>
          </a:p>
        </p:txBody>
      </p:sp>
      <p:sp>
        <p:nvSpPr>
          <p:cNvPr id="8" name="Arrow manual to automated"/>
          <p:cNvSpPr/>
          <p:nvPr/>
        </p:nvSpPr>
        <p:spPr>
          <a:xfrm>
            <a:off x="4251960" y="2240280"/>
            <a:ext cx="548640" cy="347472"/>
          </a:xfrm>
          <a:prstGeom prst="rightArrow">
            <a:avLst/>
          </a:prstGeom>
          <a:solidFill>
            <a:schemeClr val="accent2"/>
          </a:solidFill>
          <a:ln/>
        </p:spPr>
      </p:sp>
      <p:sp>
        <p:nvSpPr>
          <p:cNvPr id="9" name="Automated card"/>
          <p:cNvSpPr/>
          <p:nvPr/>
        </p:nvSpPr>
        <p:spPr>
          <a:xfrm>
            <a:off x="4937760" y="1234440"/>
            <a:ext cx="3749040" cy="2331720"/>
          </a:xfrm>
          <a:prstGeom prst="roundRect">
            <a:avLst>
              <a:gd name="adj" fmla="val 3137"/>
            </a:avLst>
          </a:prstGeom>
          <a:solidFill>
            <a:schemeClr val="accent5"/>
          </a:solidFill>
          <a:ln/>
        </p:spPr>
      </p:sp>
      <p:sp>
        <p:nvSpPr>
          <p:cNvPr id="10" name="Automated circle"/>
          <p:cNvSpPr/>
          <p:nvPr/>
        </p:nvSpPr>
        <p:spPr>
          <a:xfrm>
            <a:off x="5166360" y="1463040"/>
            <a:ext cx="640080" cy="640080"/>
          </a:xfrm>
          <a:prstGeom prst="ellipse">
            <a:avLst/>
          </a:prstGeom>
          <a:solidFill>
            <a:schemeClr val="accent1"/>
          </a:solidFill>
          <a:ln/>
        </p:spPr>
      </p:sp>
      <p:pic>
        <p:nvPicPr>
          <p:cNvPr id="11" name="Automated icon" descr="preencoded.png">    </p:cNvPr>
          <p:cNvPicPr>
            <a:picLocks noChangeAspect="1"/>
          </p:cNvPicPr>
          <p:nvPr/>
        </p:nvPicPr>
        <p:blipFill>
          <a:blip r:embed="rId2"/>
          <a:stretch>
            <a:fillRect/>
          </a:stretch>
        </p:blipFill>
        <p:spPr>
          <a:xfrm>
            <a:off x="5326380" y="1623060"/>
            <a:ext cx="320040" cy="320040"/>
          </a:xfrm>
          <a:prstGeom prst="rect">
            <a:avLst/>
          </a:prstGeom>
        </p:spPr>
      </p:pic>
      <p:sp>
        <p:nvSpPr>
          <p:cNvPr id="12" name="Text 8"/>
          <p:cNvSpPr txBox="1"/>
          <p:nvPr/>
        </p:nvSpPr>
        <p:spPr>
          <a:xfrm>
            <a:off x="5943600" y="1572768"/>
            <a:ext cx="2651760" cy="411480"/>
          </a:xfrm>
          <a:prstGeom prst="rect">
            <a:avLst/>
          </a:prstGeom>
          <a:noFill/>
          <a:ln/>
        </p:spPr>
        <p:txBody>
          <a:bodyPr wrap="square" lIns="0" tIns="0" rIns="0" bIns="0" rtlCol="0" anchor="t"/>
          <a:lstStyle/>
          <a:p>
            <a:pPr indent="0" marL="0">
              <a:buNone/>
            </a:pPr>
            <a:r>
              <a:rPr lang="en-US" sz="1800" b="1" dirty="0">
                <a:solidFill>
                  <a:schemeClr val="tx2"/>
                </a:solidFill>
              </a:rPr>
              <a:t>Automated testing</a:t>
            </a:r>
            <a:endParaRPr lang="en-US" sz="1800" dirty="0"/>
          </a:p>
        </p:txBody>
      </p:sp>
      <p:sp>
        <p:nvSpPr>
          <p:cNvPr id="13" name="Text 9"/>
          <p:cNvSpPr txBox="1"/>
          <p:nvPr/>
        </p:nvSpPr>
        <p:spPr>
          <a:xfrm>
            <a:off x="5166360" y="2331720"/>
            <a:ext cx="3291840" cy="1097280"/>
          </a:xfrm>
          <a:prstGeom prst="rect">
            <a:avLst/>
          </a:prstGeom>
          <a:noFill/>
          <a:ln/>
        </p:spPr>
        <p:txBody>
          <a:bodyPr wrap="square" lIns="0" tIns="0" rIns="0" bIns="0" rtlCol="0" anchor="t"/>
          <a:lstStyle/>
          <a:p>
            <a:pPr indent="0" marL="0">
              <a:buNone/>
            </a:pPr>
            <a:r>
              <a:rPr lang="en-US" sz="1500" dirty="0">
                <a:solidFill>
                  <a:schemeClr val="tx1"/>
                </a:solidFill>
              </a:rPr>
              <a:t>A program does the same clicks and checks for us, every time the software changes.</a:t>
            </a:r>
            <a:endParaRPr lang="en-US" sz="1500" dirty="0"/>
          </a:p>
        </p:txBody>
      </p:sp>
      <p:sp>
        <p:nvSpPr>
          <p:cNvPr id="14" name="Benefit 1 circle"/>
          <p:cNvSpPr/>
          <p:nvPr/>
        </p:nvSpPr>
        <p:spPr>
          <a:xfrm>
            <a:off x="457200" y="3931920"/>
            <a:ext cx="411480" cy="411480"/>
          </a:xfrm>
          <a:prstGeom prst="ellipse">
            <a:avLst/>
          </a:prstGeom>
          <a:solidFill>
            <a:schemeClr val="accent1"/>
          </a:solidFill>
          <a:ln/>
        </p:spPr>
      </p:sp>
      <p:pic>
        <p:nvPicPr>
          <p:cNvPr id="15" name="Benefit 1 icon" descr="preencoded.png">    </p:cNvPr>
          <p:cNvPicPr>
            <a:picLocks noChangeAspect="1"/>
          </p:cNvPicPr>
          <p:nvPr/>
        </p:nvPicPr>
        <p:blipFill>
          <a:blip r:embed="rId3"/>
          <a:stretch>
            <a:fillRect/>
          </a:stretch>
        </p:blipFill>
        <p:spPr>
          <a:xfrm>
            <a:off x="560070" y="4034790"/>
            <a:ext cx="205740" cy="205740"/>
          </a:xfrm>
          <a:prstGeom prst="rect">
            <a:avLst/>
          </a:prstGeom>
        </p:spPr>
      </p:pic>
      <p:sp>
        <p:nvSpPr>
          <p:cNvPr id="16" name="Text 11"/>
          <p:cNvSpPr txBox="1"/>
          <p:nvPr/>
        </p:nvSpPr>
        <p:spPr>
          <a:xfrm>
            <a:off x="987552" y="3931920"/>
            <a:ext cx="1051560" cy="411480"/>
          </a:xfrm>
          <a:prstGeom prst="rect">
            <a:avLst/>
          </a:prstGeom>
          <a:noFill/>
          <a:ln/>
        </p:spPr>
        <p:txBody>
          <a:bodyPr wrap="square" lIns="0" tIns="0" rIns="0" bIns="0" rtlCol="0" anchor="ctr"/>
          <a:lstStyle/>
          <a:p>
            <a:pPr indent="0" marL="0">
              <a:buNone/>
            </a:pPr>
            <a:r>
              <a:rPr lang="en-US" sz="1600" b="1" dirty="0">
                <a:solidFill>
                  <a:schemeClr val="tx2"/>
                </a:solidFill>
              </a:rPr>
              <a:t>Faster</a:t>
            </a:r>
            <a:endParaRPr lang="en-US" sz="1600" dirty="0"/>
          </a:p>
        </p:txBody>
      </p:sp>
      <p:sp>
        <p:nvSpPr>
          <p:cNvPr id="17" name="Benefit 2 circle"/>
          <p:cNvSpPr/>
          <p:nvPr/>
        </p:nvSpPr>
        <p:spPr>
          <a:xfrm>
            <a:off x="2286000" y="3931920"/>
            <a:ext cx="411480" cy="411480"/>
          </a:xfrm>
          <a:prstGeom prst="ellipse">
            <a:avLst/>
          </a:prstGeom>
          <a:solidFill>
            <a:schemeClr val="accent1"/>
          </a:solidFill>
          <a:ln/>
        </p:spPr>
      </p:sp>
      <p:pic>
        <p:nvPicPr>
          <p:cNvPr id="18" name="Benefit 2 icon" descr="preencoded.png">    </p:cNvPr>
          <p:cNvPicPr>
            <a:picLocks noChangeAspect="1"/>
          </p:cNvPicPr>
          <p:nvPr/>
        </p:nvPicPr>
        <p:blipFill>
          <a:blip r:embed="rId4"/>
          <a:stretch>
            <a:fillRect/>
          </a:stretch>
        </p:blipFill>
        <p:spPr>
          <a:xfrm>
            <a:off x="2388870" y="4034790"/>
            <a:ext cx="205740" cy="205740"/>
          </a:xfrm>
          <a:prstGeom prst="rect">
            <a:avLst/>
          </a:prstGeom>
        </p:spPr>
      </p:pic>
      <p:sp>
        <p:nvSpPr>
          <p:cNvPr id="19" name="Text 13"/>
          <p:cNvSpPr txBox="1"/>
          <p:nvPr/>
        </p:nvSpPr>
        <p:spPr>
          <a:xfrm>
            <a:off x="2816352" y="3931920"/>
            <a:ext cx="1325880" cy="411480"/>
          </a:xfrm>
          <a:prstGeom prst="rect">
            <a:avLst/>
          </a:prstGeom>
          <a:noFill/>
          <a:ln/>
        </p:spPr>
        <p:txBody>
          <a:bodyPr wrap="square" lIns="0" tIns="0" rIns="0" bIns="0" rtlCol="0" anchor="ctr"/>
          <a:lstStyle/>
          <a:p>
            <a:pPr indent="0" marL="0">
              <a:buNone/>
            </a:pPr>
            <a:r>
              <a:rPr lang="en-US" sz="1600" b="1" dirty="0">
                <a:solidFill>
                  <a:schemeClr val="tx2"/>
                </a:solidFill>
              </a:rPr>
              <a:t>Repeatable</a:t>
            </a:r>
            <a:endParaRPr lang="en-US" sz="1600" dirty="0"/>
          </a:p>
        </p:txBody>
      </p:sp>
      <p:sp>
        <p:nvSpPr>
          <p:cNvPr id="20" name="Benefit 3 circle"/>
          <p:cNvSpPr/>
          <p:nvPr/>
        </p:nvSpPr>
        <p:spPr>
          <a:xfrm>
            <a:off x="4389120" y="3931920"/>
            <a:ext cx="411480" cy="411480"/>
          </a:xfrm>
          <a:prstGeom prst="ellipse">
            <a:avLst/>
          </a:prstGeom>
          <a:solidFill>
            <a:schemeClr val="accent1"/>
          </a:solidFill>
          <a:ln/>
        </p:spPr>
      </p:sp>
      <p:pic>
        <p:nvPicPr>
          <p:cNvPr id="21" name="Benefit 3 icon" descr="preencoded.png">    </p:cNvPr>
          <p:cNvPicPr>
            <a:picLocks noChangeAspect="1"/>
          </p:cNvPicPr>
          <p:nvPr/>
        </p:nvPicPr>
        <p:blipFill>
          <a:blip r:embed="rId5"/>
          <a:stretch>
            <a:fillRect/>
          </a:stretch>
        </p:blipFill>
        <p:spPr>
          <a:xfrm>
            <a:off x="4491990" y="4034790"/>
            <a:ext cx="205740" cy="205740"/>
          </a:xfrm>
          <a:prstGeom prst="rect">
            <a:avLst/>
          </a:prstGeom>
        </p:spPr>
      </p:pic>
      <p:sp>
        <p:nvSpPr>
          <p:cNvPr id="22" name="Text 15"/>
          <p:cNvSpPr txBox="1"/>
          <p:nvPr/>
        </p:nvSpPr>
        <p:spPr>
          <a:xfrm>
            <a:off x="4919472" y="3931920"/>
            <a:ext cx="3611880" cy="411480"/>
          </a:xfrm>
          <a:prstGeom prst="rect">
            <a:avLst/>
          </a:prstGeom>
          <a:noFill/>
          <a:ln/>
        </p:spPr>
        <p:txBody>
          <a:bodyPr wrap="square" lIns="0" tIns="0" rIns="0" bIns="0" rtlCol="0" anchor="ctr"/>
          <a:lstStyle/>
          <a:p>
            <a:pPr indent="0" marL="0">
              <a:buNone/>
            </a:pPr>
            <a:r>
              <a:rPr lang="en-US" sz="1600" b="1" dirty="0">
                <a:solidFill>
                  <a:schemeClr val="tx2"/>
                </a:solidFill>
              </a:rPr>
              <a:t>Finds problems before customers do</a:t>
            </a:r>
            <a:endParaRPr lang="en-US" sz="16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Our tests can be written in plain English</a:t>
            </a:r>
            <a:endParaRPr lang="en-US" sz="2800" dirty="0"/>
          </a:p>
        </p:txBody>
      </p:sp>
      <p:sp>
        <p:nvSpPr>
          <p:cNvPr id="3" name="Example test"/>
          <p:cNvSpPr/>
          <p:nvPr/>
        </p:nvSpPr>
        <p:spPr>
          <a:xfrm>
            <a:off x="457200" y="1234440"/>
            <a:ext cx="4846320" cy="2148840"/>
          </a:xfrm>
          <a:prstGeom prst="roundRect">
            <a:avLst>
              <a:gd name="adj" fmla="val 3404"/>
            </a:avLst>
          </a:prstGeom>
          <a:solidFill>
            <a:schemeClr val="tx1"/>
          </a:solidFill>
          <a:ln/>
        </p:spPr>
      </p:sp>
      <p:sp>
        <p:nvSpPr>
          <p:cNvPr id="4" name="Gherkin example"/>
          <p:cNvSpPr txBox="1"/>
          <p:nvPr/>
        </p:nvSpPr>
        <p:spPr>
          <a:xfrm>
            <a:off x="685800" y="1234440"/>
            <a:ext cx="4480560" cy="2148840"/>
          </a:xfrm>
          <a:prstGeom prst="rect">
            <a:avLst/>
          </a:prstGeom>
          <a:noFill/>
          <a:ln/>
        </p:spPr>
        <p:txBody>
          <a:bodyPr wrap="square" lIns="0" tIns="0" rIns="0" bIns="0" rtlCol="0" anchor="ctr"/>
          <a:lstStyle/>
          <a:p>
            <a:pPr indent="0" marL="0">
              <a:spcAft>
                <a:spcPts val="400"/>
              </a:spcAft>
              <a:buNone/>
            </a:pPr>
            <a:r>
              <a:rPr lang="en-US" sz="1250" b="1" dirty="0">
                <a:solidFill>
                  <a:srgbClr val="F2C46D"/>
                </a:solidFill>
                <a:latin typeface="Courier New" pitchFamily="34" charset="0"/>
                <a:ea typeface="Courier New" pitchFamily="34" charset="-122"/>
                <a:cs typeface="Courier New" pitchFamily="34" charset="-120"/>
              </a:rPr>
              <a:t>Scenario: </a:t>
            </a:r>
            <a:pPr indent="0" marL="0">
              <a:spcAft>
                <a:spcPts val="400"/>
              </a:spcAft>
              <a:buNone/>
            </a:pPr>
            <a:r>
              <a:rPr lang="en-US" sz="1250" dirty="0">
                <a:solidFill>
                  <a:srgbClr val="FFFFFF"/>
                </a:solidFill>
                <a:latin typeface="Courier New" pitchFamily="34" charset="0"/>
                <a:ea typeface="Courier New" pitchFamily="34" charset="-122"/>
                <a:cs typeface="Courier New" pitchFamily="34" charset="-120"/>
              </a:rPr>
              <a:t>Add two products</a:t>
            </a:r>
            <a:endParaRPr lang="en-US" sz="1250" dirty="0"/>
          </a:p>
          <a:p>
            <a:pPr indent="0" marL="0">
              <a:spcAft>
                <a:spcPts val="400"/>
              </a:spcAft>
              <a:buNone/>
            </a:pPr>
            <a:r>
              <a:rPr lang="en-US" sz="1250" b="1" dirty="0">
                <a:solidFill>
                  <a:srgbClr val="8FD19E"/>
                </a:solidFill>
                <a:latin typeface="Courier New" pitchFamily="34" charset="0"/>
                <a:ea typeface="Courier New" pitchFamily="34" charset="-122"/>
                <a:cs typeface="Courier New" pitchFamily="34" charset="-120"/>
              </a:rPr>
              <a:t>  Given </a:t>
            </a:r>
            <a:pPr indent="0" marL="0">
              <a:spcAft>
                <a:spcPts val="400"/>
              </a:spcAft>
              <a:buNone/>
            </a:pPr>
            <a:r>
              <a:rPr lang="en-US" sz="1250" dirty="0">
                <a:solidFill>
                  <a:srgbClr val="FFFFFF"/>
                </a:solidFill>
                <a:latin typeface="Courier New" pitchFamily="34" charset="0"/>
                <a:ea typeface="Courier New" pitchFamily="34" charset="-122"/>
                <a:cs typeface="Courier New" pitchFamily="34" charset="-120"/>
              </a:rPr>
              <a:t>I am logged in as "standard_user"</a:t>
            </a:r>
            <a:endParaRPr lang="en-US" sz="1250" dirty="0"/>
          </a:p>
          <a:p>
            <a:pPr indent="0" marL="0">
              <a:spcAft>
                <a:spcPts val="400"/>
              </a:spcAft>
              <a:buNone/>
            </a:pPr>
            <a:r>
              <a:rPr lang="en-US" sz="1250" b="1" dirty="0">
                <a:solidFill>
                  <a:srgbClr val="8FD19E"/>
                </a:solidFill>
                <a:latin typeface="Courier New" pitchFamily="34" charset="0"/>
                <a:ea typeface="Courier New" pitchFamily="34" charset="-122"/>
                <a:cs typeface="Courier New" pitchFamily="34" charset="-120"/>
              </a:rPr>
              <a:t>  When </a:t>
            </a:r>
            <a:pPr indent="0" marL="0">
              <a:spcAft>
                <a:spcPts val="400"/>
              </a:spcAft>
              <a:buNone/>
            </a:pPr>
            <a:r>
              <a:rPr lang="en-US" sz="1250" dirty="0">
                <a:solidFill>
                  <a:srgbClr val="FFFFFF"/>
                </a:solidFill>
                <a:latin typeface="Courier New" pitchFamily="34" charset="0"/>
                <a:ea typeface="Courier New" pitchFamily="34" charset="-122"/>
                <a:cs typeface="Courier New" pitchFamily="34" charset="-120"/>
              </a:rPr>
              <a:t>I add "Sauce Labs Backpack" to the cart</a:t>
            </a:r>
            <a:endParaRPr lang="en-US" sz="1250" dirty="0"/>
          </a:p>
          <a:p>
            <a:pPr indent="0" marL="0">
              <a:spcAft>
                <a:spcPts val="400"/>
              </a:spcAft>
              <a:buNone/>
            </a:pPr>
            <a:r>
              <a:rPr lang="en-US" sz="1250" b="1" dirty="0">
                <a:solidFill>
                  <a:srgbClr val="8FD19E"/>
                </a:solidFill>
                <a:latin typeface="Courier New" pitchFamily="34" charset="0"/>
                <a:ea typeface="Courier New" pitchFamily="34" charset="-122"/>
                <a:cs typeface="Courier New" pitchFamily="34" charset="-120"/>
              </a:rPr>
              <a:t>  And </a:t>
            </a:r>
            <a:pPr indent="0" marL="0">
              <a:spcAft>
                <a:spcPts val="400"/>
              </a:spcAft>
              <a:buNone/>
            </a:pPr>
            <a:r>
              <a:rPr lang="en-US" sz="1250" dirty="0">
                <a:solidFill>
                  <a:srgbClr val="FFFFFF"/>
                </a:solidFill>
                <a:latin typeface="Courier New" pitchFamily="34" charset="0"/>
                <a:ea typeface="Courier New" pitchFamily="34" charset="-122"/>
                <a:cs typeface="Courier New" pitchFamily="34" charset="-120"/>
              </a:rPr>
              <a:t>I add "Sauce Labs Bike Light" to the cart</a:t>
            </a:r>
            <a:endParaRPr lang="en-US" sz="1250" dirty="0"/>
          </a:p>
          <a:p>
            <a:pPr indent="0" marL="0">
              <a:spcAft>
                <a:spcPts val="400"/>
              </a:spcAft>
              <a:buNone/>
            </a:pPr>
            <a:r>
              <a:rPr lang="en-US" sz="1250" b="1" dirty="0">
                <a:solidFill>
                  <a:srgbClr val="8FD19E"/>
                </a:solidFill>
                <a:latin typeface="Courier New" pitchFamily="34" charset="0"/>
                <a:ea typeface="Courier New" pitchFamily="34" charset="-122"/>
                <a:cs typeface="Courier New" pitchFamily="34" charset="-120"/>
              </a:rPr>
              <a:t>  Then </a:t>
            </a:r>
            <a:pPr indent="0" marL="0">
              <a:spcAft>
                <a:spcPts val="400"/>
              </a:spcAft>
              <a:buNone/>
            </a:pPr>
            <a:r>
              <a:rPr lang="en-US" sz="1250" dirty="0">
                <a:solidFill>
                  <a:srgbClr val="FFFFFF"/>
                </a:solidFill>
                <a:latin typeface="Courier New" pitchFamily="34" charset="0"/>
                <a:ea typeface="Courier New" pitchFamily="34" charset="-122"/>
                <a:cs typeface="Courier New" pitchFamily="34" charset="-120"/>
              </a:rPr>
              <a:t>the cart badge shows 2</a:t>
            </a:r>
            <a:endParaRPr lang="en-US" sz="1250" dirty="0"/>
          </a:p>
        </p:txBody>
      </p:sp>
      <p:sp>
        <p:nvSpPr>
          <p:cNvPr id="5" name="GWT Given"/>
          <p:cNvSpPr/>
          <p:nvPr/>
        </p:nvSpPr>
        <p:spPr>
          <a:xfrm>
            <a:off x="5577840" y="1280160"/>
            <a:ext cx="3108960" cy="566928"/>
          </a:xfrm>
          <a:prstGeom prst="roundRect">
            <a:avLst>
              <a:gd name="adj" fmla="val 12903"/>
            </a:avLst>
          </a:prstGeom>
          <a:solidFill>
            <a:schemeClr val="bg2"/>
          </a:solidFill>
          <a:ln/>
        </p:spPr>
      </p:sp>
      <p:sp>
        <p:nvSpPr>
          <p:cNvPr id="6" name="Text 4"/>
          <p:cNvSpPr txBox="1"/>
          <p:nvPr/>
        </p:nvSpPr>
        <p:spPr>
          <a:xfrm>
            <a:off x="5760720" y="1280160"/>
            <a:ext cx="2834640" cy="566928"/>
          </a:xfrm>
          <a:prstGeom prst="rect">
            <a:avLst/>
          </a:prstGeom>
          <a:noFill/>
          <a:ln/>
        </p:spPr>
        <p:txBody>
          <a:bodyPr wrap="square" lIns="0" tIns="0" rIns="0" bIns="0" rtlCol="0" anchor="ctr"/>
          <a:lstStyle/>
          <a:p>
            <a:pPr indent="0" marL="0">
              <a:buNone/>
            </a:pPr>
            <a:r>
              <a:rPr lang="en-US" sz="1500" b="1" dirty="0">
                <a:solidFill>
                  <a:schemeClr val="accent1"/>
                </a:solidFill>
              </a:rPr>
              <a:t>Given  </a:t>
            </a:r>
            <a:pPr indent="0" marL="0">
              <a:buNone/>
            </a:pPr>
            <a:r>
              <a:rPr lang="en-US" sz="1500" dirty="0">
                <a:solidFill>
                  <a:schemeClr val="tx1"/>
                </a:solidFill>
              </a:rPr>
              <a:t>where we start</a:t>
            </a:r>
            <a:endParaRPr lang="en-US" sz="1500" dirty="0"/>
          </a:p>
        </p:txBody>
      </p:sp>
      <p:sp>
        <p:nvSpPr>
          <p:cNvPr id="7" name="GWT When"/>
          <p:cNvSpPr/>
          <p:nvPr/>
        </p:nvSpPr>
        <p:spPr>
          <a:xfrm>
            <a:off x="5577840" y="1993392"/>
            <a:ext cx="3108960" cy="566928"/>
          </a:xfrm>
          <a:prstGeom prst="roundRect">
            <a:avLst>
              <a:gd name="adj" fmla="val 12903"/>
            </a:avLst>
          </a:prstGeom>
          <a:solidFill>
            <a:schemeClr val="bg2"/>
          </a:solidFill>
          <a:ln/>
        </p:spPr>
      </p:sp>
      <p:sp>
        <p:nvSpPr>
          <p:cNvPr id="8" name="Text 6"/>
          <p:cNvSpPr txBox="1"/>
          <p:nvPr/>
        </p:nvSpPr>
        <p:spPr>
          <a:xfrm>
            <a:off x="5760720" y="1993392"/>
            <a:ext cx="2834640" cy="566928"/>
          </a:xfrm>
          <a:prstGeom prst="rect">
            <a:avLst/>
          </a:prstGeom>
          <a:noFill/>
          <a:ln/>
        </p:spPr>
        <p:txBody>
          <a:bodyPr wrap="square" lIns="0" tIns="0" rIns="0" bIns="0" rtlCol="0" anchor="ctr"/>
          <a:lstStyle/>
          <a:p>
            <a:pPr indent="0" marL="0">
              <a:buNone/>
            </a:pPr>
            <a:r>
              <a:rPr lang="en-US" sz="1500" b="1" dirty="0">
                <a:solidFill>
                  <a:schemeClr val="accent1"/>
                </a:solidFill>
              </a:rPr>
              <a:t>When  </a:t>
            </a:r>
            <a:pPr indent="0" marL="0">
              <a:buNone/>
            </a:pPr>
            <a:r>
              <a:rPr lang="en-US" sz="1500" dirty="0">
                <a:solidFill>
                  <a:schemeClr val="tx1"/>
                </a:solidFill>
              </a:rPr>
              <a:t>what the user does</a:t>
            </a:r>
            <a:endParaRPr lang="en-US" sz="1500" dirty="0"/>
          </a:p>
        </p:txBody>
      </p:sp>
      <p:sp>
        <p:nvSpPr>
          <p:cNvPr id="9" name="GWT Then"/>
          <p:cNvSpPr/>
          <p:nvPr/>
        </p:nvSpPr>
        <p:spPr>
          <a:xfrm>
            <a:off x="5577840" y="2706624"/>
            <a:ext cx="3108960" cy="566928"/>
          </a:xfrm>
          <a:prstGeom prst="roundRect">
            <a:avLst>
              <a:gd name="adj" fmla="val 12903"/>
            </a:avLst>
          </a:prstGeom>
          <a:solidFill>
            <a:schemeClr val="bg2"/>
          </a:solidFill>
          <a:ln/>
        </p:spPr>
      </p:sp>
      <p:sp>
        <p:nvSpPr>
          <p:cNvPr id="10" name="Text 8"/>
          <p:cNvSpPr txBox="1"/>
          <p:nvPr/>
        </p:nvSpPr>
        <p:spPr>
          <a:xfrm>
            <a:off x="5760720" y="2706624"/>
            <a:ext cx="2834640" cy="566928"/>
          </a:xfrm>
          <a:prstGeom prst="rect">
            <a:avLst/>
          </a:prstGeom>
          <a:noFill/>
          <a:ln/>
        </p:spPr>
        <p:txBody>
          <a:bodyPr wrap="square" lIns="0" tIns="0" rIns="0" bIns="0" rtlCol="0" anchor="ctr"/>
          <a:lstStyle/>
          <a:p>
            <a:pPr indent="0" marL="0">
              <a:buNone/>
            </a:pPr>
            <a:r>
              <a:rPr lang="en-US" sz="1500" b="1" dirty="0">
                <a:solidFill>
                  <a:schemeClr val="accent1"/>
                </a:solidFill>
              </a:rPr>
              <a:t>Then  </a:t>
            </a:r>
            <a:pPr indent="0" marL="0">
              <a:buNone/>
            </a:pPr>
            <a:r>
              <a:rPr lang="en-US" sz="1500" dirty="0">
                <a:solidFill>
                  <a:schemeClr val="tx1"/>
                </a:solidFill>
              </a:rPr>
              <a:t>what we expect to see</a:t>
            </a:r>
            <a:endParaRPr lang="en-US" sz="1500" dirty="0"/>
          </a:p>
        </p:txBody>
      </p:sp>
      <p:sp>
        <p:nvSpPr>
          <p:cNvPr id="11" name="Definitions"/>
          <p:cNvSpPr txBox="1"/>
          <p:nvPr/>
        </p:nvSpPr>
        <p:spPr>
          <a:xfrm>
            <a:off x="457200" y="3611880"/>
            <a:ext cx="8229600" cy="1051560"/>
          </a:xfrm>
          <a:prstGeom prst="rect">
            <a:avLst/>
          </a:prstGeom>
          <a:noFill/>
          <a:ln/>
        </p:spPr>
        <p:txBody>
          <a:bodyPr wrap="square" lIns="0" tIns="0" rIns="0" bIns="0" rtlCol="0" anchor="t"/>
          <a:lstStyle/>
          <a:p>
            <a:pPr indent="0" marL="0">
              <a:spcAft>
                <a:spcPts val="400"/>
              </a:spcAft>
              <a:buNone/>
            </a:pPr>
            <a:r>
              <a:rPr lang="en-US" sz="1400" b="1" dirty="0">
                <a:solidFill>
                  <a:schemeClr val="tx2"/>
                </a:solidFill>
              </a:rPr>
              <a:t>Cucumber </a:t>
            </a:r>
            <a:pPr indent="0" marL="0">
              <a:spcAft>
                <a:spcPts val="400"/>
              </a:spcAft>
              <a:buNone/>
            </a:pPr>
            <a:r>
              <a:rPr lang="en-US" sz="1400" dirty="0">
                <a:solidFill>
                  <a:schemeClr val="tx1"/>
                </a:solidFill>
              </a:rPr>
              <a:t>is a widely used tool that runs tests written like this.</a:t>
            </a:r>
            <a:endParaRPr lang="en-US" sz="1400" dirty="0"/>
          </a:p>
          <a:p>
            <a:pPr indent="0" marL="0">
              <a:spcAft>
                <a:spcPts val="400"/>
              </a:spcAft>
              <a:buNone/>
            </a:pPr>
            <a:r>
              <a:rPr lang="en-US" sz="1400" b="1" dirty="0">
                <a:solidFill>
                  <a:schemeClr val="tx2"/>
                </a:solidFill>
              </a:rPr>
              <a:t>BDD </a:t>
            </a:r>
            <a:pPr indent="0" marL="0">
              <a:spcAft>
                <a:spcPts val="400"/>
              </a:spcAft>
              <a:buNone/>
            </a:pPr>
            <a:r>
              <a:rPr lang="en-US" sz="1400" dirty="0">
                <a:solidFill>
                  <a:schemeClr val="tx1"/>
                </a:solidFill>
              </a:rPr>
              <a:t>(Behaviour-Driven Development) means describing how software should behave, in words everyone can read.</a:t>
            </a:r>
            <a:endParaRPr lang="en-US" sz="1400" dirty="0"/>
          </a:p>
          <a:p>
            <a:pPr indent="0" marL="0">
              <a:spcAft>
                <a:spcPts val="400"/>
              </a:spcAft>
              <a:buNone/>
            </a:pPr>
            <a:r>
              <a:rPr lang="en-US" sz="1400" b="1" dirty="0">
                <a:solidFill>
                  <a:schemeClr val="tx2"/>
                </a:solidFill>
              </a:rPr>
              <a:t>Gherkin </a:t>
            </a:r>
            <a:pPr indent="0" marL="0">
              <a:spcAft>
                <a:spcPts val="400"/>
              </a:spcAft>
              <a:buNone/>
            </a:pPr>
            <a:r>
              <a:rPr lang="en-US" sz="1400" dirty="0">
                <a:solidFill>
                  <a:schemeClr val="tx1"/>
                </a:solidFill>
              </a:rPr>
              <a:t>is the name of this simple English format.</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Behind every English line is a reusable skill</a:t>
            </a:r>
            <a:endParaRPr lang="en-US" sz="2800" dirty="0"/>
          </a:p>
        </p:txBody>
      </p:sp>
      <p:sp>
        <p:nvSpPr>
          <p:cNvPr id="3" name="Flow English line"/>
          <p:cNvSpPr/>
          <p:nvPr/>
        </p:nvSpPr>
        <p:spPr>
          <a:xfrm>
            <a:off x="457200" y="1234440"/>
            <a:ext cx="2377440" cy="1828800"/>
          </a:xfrm>
          <a:prstGeom prst="roundRect">
            <a:avLst>
              <a:gd name="adj" fmla="val 4000"/>
            </a:avLst>
          </a:prstGeom>
          <a:solidFill>
            <a:schemeClr val="bg2"/>
          </a:solidFill>
          <a:ln/>
        </p:spPr>
      </p:sp>
      <p:sp>
        <p:nvSpPr>
          <p:cNvPr id="4" name="Flow 1 circle"/>
          <p:cNvSpPr/>
          <p:nvPr/>
        </p:nvSpPr>
        <p:spPr>
          <a:xfrm>
            <a:off x="640080" y="1417320"/>
            <a:ext cx="502920" cy="502920"/>
          </a:xfrm>
          <a:prstGeom prst="ellipse">
            <a:avLst/>
          </a:prstGeom>
          <a:solidFill>
            <a:schemeClr val="accent1"/>
          </a:solidFill>
          <a:ln/>
        </p:spPr>
      </p:sp>
      <p:pic>
        <p:nvPicPr>
          <p:cNvPr id="5" name="Flow 1 icon" descr="preencoded.png">    </p:cNvPr>
          <p:cNvPicPr>
            <a:picLocks noChangeAspect="1"/>
          </p:cNvPicPr>
          <p:nvPr/>
        </p:nvPicPr>
        <p:blipFill>
          <a:blip r:embed="rId1"/>
          <a:stretch>
            <a:fillRect/>
          </a:stretch>
        </p:blipFill>
        <p:spPr>
          <a:xfrm>
            <a:off x="765810" y="1543050"/>
            <a:ext cx="251460" cy="251460"/>
          </a:xfrm>
          <a:prstGeom prst="rect">
            <a:avLst/>
          </a:prstGeom>
        </p:spPr>
      </p:pic>
      <p:sp>
        <p:nvSpPr>
          <p:cNvPr id="6" name="Text 3"/>
          <p:cNvSpPr txBox="1"/>
          <p:nvPr/>
        </p:nvSpPr>
        <p:spPr>
          <a:xfrm>
            <a:off x="1280160" y="1417320"/>
            <a:ext cx="1463040" cy="502920"/>
          </a:xfrm>
          <a:prstGeom prst="rect">
            <a:avLst/>
          </a:prstGeom>
          <a:noFill/>
          <a:ln/>
        </p:spPr>
        <p:txBody>
          <a:bodyPr wrap="square" lIns="0" tIns="0" rIns="0" bIns="0" rtlCol="0" anchor="ctr"/>
          <a:lstStyle/>
          <a:p>
            <a:pPr indent="0" marL="0">
              <a:buNone/>
            </a:pPr>
            <a:r>
              <a:rPr lang="en-US" sz="1600" b="1" dirty="0">
                <a:solidFill>
                  <a:schemeClr val="tx2"/>
                </a:solidFill>
              </a:rPr>
              <a:t>English line</a:t>
            </a:r>
            <a:endParaRPr lang="en-US" sz="1600" dirty="0"/>
          </a:p>
        </p:txBody>
      </p:sp>
      <p:sp>
        <p:nvSpPr>
          <p:cNvPr id="7" name="Text 4"/>
          <p:cNvSpPr txBox="1"/>
          <p:nvPr/>
        </p:nvSpPr>
        <p:spPr>
          <a:xfrm>
            <a:off x="640080" y="2057400"/>
            <a:ext cx="2057400" cy="914400"/>
          </a:xfrm>
          <a:prstGeom prst="rect">
            <a:avLst/>
          </a:prstGeom>
          <a:noFill/>
          <a:ln/>
        </p:spPr>
        <p:txBody>
          <a:bodyPr wrap="square" lIns="0" tIns="0" rIns="0" bIns="0" rtlCol="0" anchor="t"/>
          <a:lstStyle/>
          <a:p>
            <a:pPr indent="0" marL="0">
              <a:buNone/>
            </a:pPr>
            <a:r>
              <a:rPr lang="en-US" sz="1400" dirty="0">
                <a:solidFill>
                  <a:schemeClr val="tx1"/>
                </a:solidFill>
              </a:rPr>
              <a:t>“When I add ‘Sauce Labs Backpack’ to the cart”</a:t>
            </a:r>
            <a:endParaRPr lang="en-US" sz="1400" dirty="0"/>
          </a:p>
        </p:txBody>
      </p:sp>
      <p:sp>
        <p:nvSpPr>
          <p:cNvPr id="8" name="Flow arrow 1"/>
          <p:cNvSpPr/>
          <p:nvPr/>
        </p:nvSpPr>
        <p:spPr>
          <a:xfrm>
            <a:off x="2907792" y="1965960"/>
            <a:ext cx="402336" cy="347472"/>
          </a:xfrm>
          <a:prstGeom prst="rightArrow">
            <a:avLst/>
          </a:prstGeom>
          <a:solidFill>
            <a:schemeClr val="accent2"/>
          </a:solidFill>
          <a:ln/>
        </p:spPr>
      </p:sp>
      <p:sp>
        <p:nvSpPr>
          <p:cNvPr id="9" name="Flow Step definition"/>
          <p:cNvSpPr/>
          <p:nvPr/>
        </p:nvSpPr>
        <p:spPr>
          <a:xfrm>
            <a:off x="3383280" y="1234440"/>
            <a:ext cx="2377440" cy="1828800"/>
          </a:xfrm>
          <a:prstGeom prst="roundRect">
            <a:avLst>
              <a:gd name="adj" fmla="val 4000"/>
            </a:avLst>
          </a:prstGeom>
          <a:solidFill>
            <a:schemeClr val="accent5"/>
          </a:solidFill>
          <a:ln/>
        </p:spPr>
      </p:sp>
      <p:sp>
        <p:nvSpPr>
          <p:cNvPr id="10" name="Flow 2 circle"/>
          <p:cNvSpPr/>
          <p:nvPr/>
        </p:nvSpPr>
        <p:spPr>
          <a:xfrm>
            <a:off x="3566160" y="1417320"/>
            <a:ext cx="502920" cy="502920"/>
          </a:xfrm>
          <a:prstGeom prst="ellipse">
            <a:avLst/>
          </a:prstGeom>
          <a:solidFill>
            <a:schemeClr val="accent1"/>
          </a:solidFill>
          <a:ln/>
        </p:spPr>
      </p:sp>
      <p:pic>
        <p:nvPicPr>
          <p:cNvPr id="11" name="Flow 2 icon" descr="preencoded.png">    </p:cNvPr>
          <p:cNvPicPr>
            <a:picLocks noChangeAspect="1"/>
          </p:cNvPicPr>
          <p:nvPr/>
        </p:nvPicPr>
        <p:blipFill>
          <a:blip r:embed="rId2"/>
          <a:stretch>
            <a:fillRect/>
          </a:stretch>
        </p:blipFill>
        <p:spPr>
          <a:xfrm>
            <a:off x="3691890" y="1543050"/>
            <a:ext cx="251460" cy="251460"/>
          </a:xfrm>
          <a:prstGeom prst="rect">
            <a:avLst/>
          </a:prstGeom>
        </p:spPr>
      </p:pic>
      <p:sp>
        <p:nvSpPr>
          <p:cNvPr id="12" name="Text 8"/>
          <p:cNvSpPr txBox="1"/>
          <p:nvPr/>
        </p:nvSpPr>
        <p:spPr>
          <a:xfrm>
            <a:off x="4206240" y="1417320"/>
            <a:ext cx="1463040" cy="502920"/>
          </a:xfrm>
          <a:prstGeom prst="rect">
            <a:avLst/>
          </a:prstGeom>
          <a:noFill/>
          <a:ln/>
        </p:spPr>
        <p:txBody>
          <a:bodyPr wrap="square" lIns="0" tIns="0" rIns="0" bIns="0" rtlCol="0" anchor="ctr"/>
          <a:lstStyle/>
          <a:p>
            <a:pPr indent="0" marL="0">
              <a:buNone/>
            </a:pPr>
            <a:r>
              <a:rPr lang="en-US" sz="1600" b="1" dirty="0">
                <a:solidFill>
                  <a:schemeClr val="tx2"/>
                </a:solidFill>
              </a:rPr>
              <a:t>Step definition</a:t>
            </a:r>
            <a:endParaRPr lang="en-US" sz="1600" dirty="0"/>
          </a:p>
        </p:txBody>
      </p:sp>
      <p:sp>
        <p:nvSpPr>
          <p:cNvPr id="13" name="Text 9"/>
          <p:cNvSpPr txBox="1"/>
          <p:nvPr/>
        </p:nvSpPr>
        <p:spPr>
          <a:xfrm>
            <a:off x="3566160" y="2057400"/>
            <a:ext cx="2057400" cy="914400"/>
          </a:xfrm>
          <a:prstGeom prst="rect">
            <a:avLst/>
          </a:prstGeom>
          <a:noFill/>
          <a:ln/>
        </p:spPr>
        <p:txBody>
          <a:bodyPr wrap="square" lIns="0" tIns="0" rIns="0" bIns="0" rtlCol="0" anchor="t"/>
          <a:lstStyle/>
          <a:p>
            <a:pPr indent="0" marL="0">
              <a:buNone/>
            </a:pPr>
            <a:r>
              <a:rPr lang="en-US" sz="1400" dirty="0">
                <a:solidFill>
                  <a:schemeClr val="tx1"/>
                </a:solidFill>
              </a:rPr>
              <a:t>A small piece of code that knows how to do it</a:t>
            </a:r>
            <a:endParaRPr lang="en-US" sz="1400" dirty="0"/>
          </a:p>
        </p:txBody>
      </p:sp>
      <p:sp>
        <p:nvSpPr>
          <p:cNvPr id="14" name="Flow arrow 2"/>
          <p:cNvSpPr/>
          <p:nvPr/>
        </p:nvSpPr>
        <p:spPr>
          <a:xfrm>
            <a:off x="5833872" y="1965960"/>
            <a:ext cx="402336" cy="347472"/>
          </a:xfrm>
          <a:prstGeom prst="rightArrow">
            <a:avLst/>
          </a:prstGeom>
          <a:solidFill>
            <a:schemeClr val="accent2"/>
          </a:solidFill>
          <a:ln/>
        </p:spPr>
      </p:sp>
      <p:sp>
        <p:nvSpPr>
          <p:cNvPr id="15" name="Flow Browser action"/>
          <p:cNvSpPr/>
          <p:nvPr/>
        </p:nvSpPr>
        <p:spPr>
          <a:xfrm>
            <a:off x="6309360" y="1234440"/>
            <a:ext cx="2377440" cy="1828800"/>
          </a:xfrm>
          <a:prstGeom prst="roundRect">
            <a:avLst>
              <a:gd name="adj" fmla="val 4000"/>
            </a:avLst>
          </a:prstGeom>
          <a:solidFill>
            <a:schemeClr val="bg2"/>
          </a:solidFill>
          <a:ln/>
        </p:spPr>
      </p:sp>
      <p:sp>
        <p:nvSpPr>
          <p:cNvPr id="16" name="Flow 3 circle"/>
          <p:cNvSpPr/>
          <p:nvPr/>
        </p:nvSpPr>
        <p:spPr>
          <a:xfrm>
            <a:off x="6492240" y="1417320"/>
            <a:ext cx="502920" cy="502920"/>
          </a:xfrm>
          <a:prstGeom prst="ellipse">
            <a:avLst/>
          </a:prstGeom>
          <a:solidFill>
            <a:schemeClr val="accent1"/>
          </a:solidFill>
          <a:ln/>
        </p:spPr>
      </p:sp>
      <p:pic>
        <p:nvPicPr>
          <p:cNvPr id="17" name="Flow 3 icon" descr="preencoded.png">    </p:cNvPr>
          <p:cNvPicPr>
            <a:picLocks noChangeAspect="1"/>
          </p:cNvPicPr>
          <p:nvPr/>
        </p:nvPicPr>
        <p:blipFill>
          <a:blip r:embed="rId3"/>
          <a:stretch>
            <a:fillRect/>
          </a:stretch>
        </p:blipFill>
        <p:spPr>
          <a:xfrm>
            <a:off x="6617970" y="1543050"/>
            <a:ext cx="251460" cy="251460"/>
          </a:xfrm>
          <a:prstGeom prst="rect">
            <a:avLst/>
          </a:prstGeom>
        </p:spPr>
      </p:pic>
      <p:sp>
        <p:nvSpPr>
          <p:cNvPr id="18" name="Text 13"/>
          <p:cNvSpPr txBox="1"/>
          <p:nvPr/>
        </p:nvSpPr>
        <p:spPr>
          <a:xfrm>
            <a:off x="7132320" y="1417320"/>
            <a:ext cx="1463040" cy="502920"/>
          </a:xfrm>
          <a:prstGeom prst="rect">
            <a:avLst/>
          </a:prstGeom>
          <a:noFill/>
          <a:ln/>
        </p:spPr>
        <p:txBody>
          <a:bodyPr wrap="square" lIns="0" tIns="0" rIns="0" bIns="0" rtlCol="0" anchor="ctr"/>
          <a:lstStyle/>
          <a:p>
            <a:pPr indent="0" marL="0">
              <a:buNone/>
            </a:pPr>
            <a:r>
              <a:rPr lang="en-US" sz="1600" b="1" dirty="0">
                <a:solidFill>
                  <a:schemeClr val="tx2"/>
                </a:solidFill>
              </a:rPr>
              <a:t>Browser action</a:t>
            </a:r>
            <a:endParaRPr lang="en-US" sz="1600" dirty="0"/>
          </a:p>
        </p:txBody>
      </p:sp>
      <p:sp>
        <p:nvSpPr>
          <p:cNvPr id="19" name="Text 14"/>
          <p:cNvSpPr txBox="1"/>
          <p:nvPr/>
        </p:nvSpPr>
        <p:spPr>
          <a:xfrm>
            <a:off x="6492240" y="2057400"/>
            <a:ext cx="2057400" cy="914400"/>
          </a:xfrm>
          <a:prstGeom prst="rect">
            <a:avLst/>
          </a:prstGeom>
          <a:noFill/>
          <a:ln/>
        </p:spPr>
        <p:txBody>
          <a:bodyPr wrap="square" lIns="0" tIns="0" rIns="0" bIns="0" rtlCol="0" anchor="t"/>
          <a:lstStyle/>
          <a:p>
            <a:pPr indent="0" marL="0">
              <a:buNone/>
            </a:pPr>
            <a:r>
              <a:rPr lang="en-US" sz="1400" dirty="0">
                <a:solidFill>
                  <a:schemeClr val="tx1"/>
                </a:solidFill>
              </a:rPr>
              <a:t>Clicks “Add to cart” on the real website</a:t>
            </a:r>
            <a:endParaRPr lang="en-US" sz="1400" dirty="0"/>
          </a:p>
        </p:txBody>
      </p:sp>
      <p:sp>
        <p:nvSpPr>
          <p:cNvPr id="20" name="Analogy"/>
          <p:cNvSpPr/>
          <p:nvPr/>
        </p:nvSpPr>
        <p:spPr>
          <a:xfrm>
            <a:off x="457200" y="3337560"/>
            <a:ext cx="8229600" cy="1188720"/>
          </a:xfrm>
          <a:prstGeom prst="roundRect">
            <a:avLst>
              <a:gd name="adj" fmla="val 6154"/>
            </a:avLst>
          </a:prstGeom>
          <a:solidFill>
            <a:schemeClr val="tx2"/>
          </a:solidFill>
          <a:ln/>
        </p:spPr>
      </p:sp>
      <p:sp>
        <p:nvSpPr>
          <p:cNvPr id="21" name="Analogy circle"/>
          <p:cNvSpPr/>
          <p:nvPr/>
        </p:nvSpPr>
        <p:spPr>
          <a:xfrm>
            <a:off x="685800" y="3611880"/>
            <a:ext cx="640080" cy="640080"/>
          </a:xfrm>
          <a:prstGeom prst="ellipse">
            <a:avLst/>
          </a:prstGeom>
          <a:solidFill>
            <a:schemeClr val="accent2"/>
          </a:solidFill>
          <a:ln/>
        </p:spPr>
      </p:sp>
      <p:pic>
        <p:nvPicPr>
          <p:cNvPr id="22" name="Analogy icon" descr="preencoded.png">    </p:cNvPr>
          <p:cNvPicPr>
            <a:picLocks noChangeAspect="1"/>
          </p:cNvPicPr>
          <p:nvPr/>
        </p:nvPicPr>
        <p:blipFill>
          <a:blip r:embed="rId4"/>
          <a:stretch>
            <a:fillRect/>
          </a:stretch>
        </p:blipFill>
        <p:spPr>
          <a:xfrm>
            <a:off x="845820" y="3771900"/>
            <a:ext cx="320040" cy="320040"/>
          </a:xfrm>
          <a:prstGeom prst="rect">
            <a:avLst/>
          </a:prstGeom>
        </p:spPr>
      </p:pic>
      <p:sp>
        <p:nvSpPr>
          <p:cNvPr id="23" name="Text 17"/>
          <p:cNvSpPr txBox="1"/>
          <p:nvPr/>
        </p:nvSpPr>
        <p:spPr>
          <a:xfrm>
            <a:off x="1554480" y="3337560"/>
            <a:ext cx="6949440" cy="1188720"/>
          </a:xfrm>
          <a:prstGeom prst="rect">
            <a:avLst/>
          </a:prstGeom>
          <a:noFill/>
          <a:ln/>
        </p:spPr>
        <p:txBody>
          <a:bodyPr wrap="square" lIns="0" tIns="0" rIns="0" bIns="0" rtlCol="0" anchor="ctr"/>
          <a:lstStyle/>
          <a:p>
            <a:pPr indent="0" marL="0">
              <a:buNone/>
            </a:pPr>
            <a:r>
              <a:rPr lang="en-US" sz="1500" b="1" dirty="0">
                <a:solidFill>
                  <a:srgbClr val="F2C46D"/>
                </a:solidFill>
              </a:rPr>
              <a:t>Think of a recipe. </a:t>
            </a:r>
            <a:pPr indent="0" marL="0">
              <a:buNone/>
            </a:pPr>
            <a:r>
              <a:rPr lang="en-US" sz="1500" dirty="0">
                <a:solidFill>
                  <a:schemeClr val="bg1"/>
                </a:solidFill>
              </a:rPr>
              <a:t>The English lines are the recipe; each step definition is a kitchen skill the robot already knows. Once a skill exists, any recipe can reuse it.</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As suites grow, people duplicate, guess and rewrite</a:t>
            </a:r>
            <a:endParaRPr lang="en-US" sz="2800" dirty="0"/>
          </a:p>
        </p:txBody>
      </p:sp>
      <p:sp>
        <p:nvSpPr>
          <p:cNvPr id="3" name="Problem Duplicate"/>
          <p:cNvSpPr/>
          <p:nvPr/>
        </p:nvSpPr>
        <p:spPr>
          <a:xfrm>
            <a:off x="457200" y="1234440"/>
            <a:ext cx="2606040" cy="2240280"/>
          </a:xfrm>
          <a:prstGeom prst="roundRect">
            <a:avLst>
              <a:gd name="adj" fmla="val 3265"/>
            </a:avLst>
          </a:prstGeom>
          <a:solidFill>
            <a:schemeClr val="bg1"/>
          </a:solidFill>
          <a:ln/>
          <a:effectLst>
            <a:outerShdw sx="100000" sy="100000" kx="0" ky="0" algn="bl" rotWithShape="0" blurRad="76200" dist="25400" dir="5400000">
              <a:srgbClr val="000000">
                <a:alpha val="12000"/>
              </a:srgbClr>
            </a:outerShdw>
          </a:effectLst>
        </p:spPr>
      </p:sp>
      <p:sp>
        <p:nvSpPr>
          <p:cNvPr id="4" name="Problem 1 circle"/>
          <p:cNvSpPr/>
          <p:nvPr/>
        </p:nvSpPr>
        <p:spPr>
          <a:xfrm>
            <a:off x="685800" y="1463040"/>
            <a:ext cx="548640" cy="548640"/>
          </a:xfrm>
          <a:prstGeom prst="ellipse">
            <a:avLst/>
          </a:prstGeom>
          <a:solidFill>
            <a:schemeClr val="accent4"/>
          </a:solidFill>
          <a:ln/>
        </p:spPr>
      </p:sp>
      <p:pic>
        <p:nvPicPr>
          <p:cNvPr id="5" name="Problem 1 icon" descr="preencoded.png">    </p:cNvPr>
          <p:cNvPicPr>
            <a:picLocks noChangeAspect="1"/>
          </p:cNvPicPr>
          <p:nvPr/>
        </p:nvPicPr>
        <p:blipFill>
          <a:blip r:embed="rId1"/>
          <a:stretch>
            <a:fillRect/>
          </a:stretch>
        </p:blipFill>
        <p:spPr>
          <a:xfrm>
            <a:off x="822960" y="1600200"/>
            <a:ext cx="274320" cy="274320"/>
          </a:xfrm>
          <a:prstGeom prst="rect">
            <a:avLst/>
          </a:prstGeom>
        </p:spPr>
      </p:pic>
      <p:sp>
        <p:nvSpPr>
          <p:cNvPr id="6" name="Text 3"/>
          <p:cNvSpPr txBox="1"/>
          <p:nvPr/>
        </p:nvSpPr>
        <p:spPr>
          <a:xfrm>
            <a:off x="1371600" y="1463040"/>
            <a:ext cx="1554480" cy="548640"/>
          </a:xfrm>
          <a:prstGeom prst="rect">
            <a:avLst/>
          </a:prstGeom>
          <a:noFill/>
          <a:ln/>
        </p:spPr>
        <p:txBody>
          <a:bodyPr wrap="square" lIns="0" tIns="0" rIns="0" bIns="0" rtlCol="0" anchor="ctr"/>
          <a:lstStyle/>
          <a:p>
            <a:pPr indent="0" marL="0">
              <a:buNone/>
            </a:pPr>
            <a:r>
              <a:rPr lang="en-US" sz="1800" b="1" dirty="0">
                <a:solidFill>
                  <a:schemeClr val="tx2"/>
                </a:solidFill>
              </a:rPr>
              <a:t>Duplicate</a:t>
            </a:r>
            <a:endParaRPr lang="en-US" sz="1800" dirty="0"/>
          </a:p>
        </p:txBody>
      </p:sp>
      <p:sp>
        <p:nvSpPr>
          <p:cNvPr id="7" name="Text 4"/>
          <p:cNvSpPr txBox="1"/>
          <p:nvPr/>
        </p:nvSpPr>
        <p:spPr>
          <a:xfrm>
            <a:off x="685800" y="2194560"/>
            <a:ext cx="2194560" cy="1188720"/>
          </a:xfrm>
          <a:prstGeom prst="rect">
            <a:avLst/>
          </a:prstGeom>
          <a:noFill/>
          <a:ln/>
        </p:spPr>
        <p:txBody>
          <a:bodyPr wrap="square" lIns="0" tIns="0" rIns="0" bIns="0" rtlCol="0" anchor="t"/>
          <a:lstStyle/>
          <a:p>
            <a:pPr indent="0" marL="0">
              <a:buNone/>
            </a:pPr>
            <a:r>
              <a:rPr lang="en-US" sz="1400" dirty="0">
                <a:solidFill>
                  <a:schemeClr val="tx1"/>
                </a:solidFill>
              </a:rPr>
              <a:t>The same step gets written twice in different words, so one change must be fixed in several places.</a:t>
            </a:r>
            <a:endParaRPr lang="en-US" sz="1400" dirty="0"/>
          </a:p>
        </p:txBody>
      </p:sp>
      <p:sp>
        <p:nvSpPr>
          <p:cNvPr id="8" name="Problem Guess"/>
          <p:cNvSpPr/>
          <p:nvPr/>
        </p:nvSpPr>
        <p:spPr>
          <a:xfrm>
            <a:off x="3268980" y="1234440"/>
            <a:ext cx="2606040" cy="2240280"/>
          </a:xfrm>
          <a:prstGeom prst="roundRect">
            <a:avLst>
              <a:gd name="adj" fmla="val 3265"/>
            </a:avLst>
          </a:prstGeom>
          <a:solidFill>
            <a:schemeClr val="bg1"/>
          </a:solidFill>
          <a:ln/>
          <a:effectLst>
            <a:outerShdw sx="100000" sy="100000" kx="0" ky="0" algn="bl" rotWithShape="0" blurRad="76200" dist="25400" dir="5400000">
              <a:srgbClr val="000000">
                <a:alpha val="12000"/>
              </a:srgbClr>
            </a:outerShdw>
          </a:effectLst>
        </p:spPr>
      </p:sp>
      <p:sp>
        <p:nvSpPr>
          <p:cNvPr id="9" name="Problem 2 circle"/>
          <p:cNvSpPr/>
          <p:nvPr/>
        </p:nvSpPr>
        <p:spPr>
          <a:xfrm>
            <a:off x="3497580" y="1463040"/>
            <a:ext cx="548640" cy="548640"/>
          </a:xfrm>
          <a:prstGeom prst="ellipse">
            <a:avLst/>
          </a:prstGeom>
          <a:solidFill>
            <a:schemeClr val="accent4"/>
          </a:solidFill>
          <a:ln/>
        </p:spPr>
      </p:sp>
      <p:pic>
        <p:nvPicPr>
          <p:cNvPr id="10" name="Problem 2 icon" descr="preencoded.png">    </p:cNvPr>
          <p:cNvPicPr>
            <a:picLocks noChangeAspect="1"/>
          </p:cNvPicPr>
          <p:nvPr/>
        </p:nvPicPr>
        <p:blipFill>
          <a:blip r:embed="rId2"/>
          <a:stretch>
            <a:fillRect/>
          </a:stretch>
        </p:blipFill>
        <p:spPr>
          <a:xfrm>
            <a:off x="3634740" y="1600200"/>
            <a:ext cx="274320" cy="274320"/>
          </a:xfrm>
          <a:prstGeom prst="rect">
            <a:avLst/>
          </a:prstGeom>
        </p:spPr>
      </p:pic>
      <p:sp>
        <p:nvSpPr>
          <p:cNvPr id="11" name="Text 7"/>
          <p:cNvSpPr txBox="1"/>
          <p:nvPr/>
        </p:nvSpPr>
        <p:spPr>
          <a:xfrm>
            <a:off x="4183380" y="1463040"/>
            <a:ext cx="1554480" cy="548640"/>
          </a:xfrm>
          <a:prstGeom prst="rect">
            <a:avLst/>
          </a:prstGeom>
          <a:noFill/>
          <a:ln/>
        </p:spPr>
        <p:txBody>
          <a:bodyPr wrap="square" lIns="0" tIns="0" rIns="0" bIns="0" rtlCol="0" anchor="ctr"/>
          <a:lstStyle/>
          <a:p>
            <a:pPr indent="0" marL="0">
              <a:buNone/>
            </a:pPr>
            <a:r>
              <a:rPr lang="en-US" sz="1800" b="1" dirty="0">
                <a:solidFill>
                  <a:schemeClr val="tx2"/>
                </a:solidFill>
              </a:rPr>
              <a:t>Guess</a:t>
            </a:r>
            <a:endParaRPr lang="en-US" sz="1800" dirty="0"/>
          </a:p>
        </p:txBody>
      </p:sp>
      <p:sp>
        <p:nvSpPr>
          <p:cNvPr id="12" name="Text 8"/>
          <p:cNvSpPr txBox="1"/>
          <p:nvPr/>
        </p:nvSpPr>
        <p:spPr>
          <a:xfrm>
            <a:off x="3497580" y="2194560"/>
            <a:ext cx="2194560" cy="1188720"/>
          </a:xfrm>
          <a:prstGeom prst="rect">
            <a:avLst/>
          </a:prstGeom>
          <a:noFill/>
          <a:ln/>
        </p:spPr>
        <p:txBody>
          <a:bodyPr wrap="square" lIns="0" tIns="0" rIns="0" bIns="0" rtlCol="0" anchor="t"/>
          <a:lstStyle/>
          <a:p>
            <a:pPr indent="0" marL="0">
              <a:buNone/>
            </a:pPr>
            <a:r>
              <a:rPr lang="en-US" sz="1400" dirty="0">
                <a:solidFill>
                  <a:schemeClr val="tx1"/>
                </a:solidFill>
              </a:rPr>
              <a:t>New tests use steps nobody has built yet. We only find out when the test fails.</a:t>
            </a:r>
            <a:endParaRPr lang="en-US" sz="1400" dirty="0"/>
          </a:p>
        </p:txBody>
      </p:sp>
      <p:sp>
        <p:nvSpPr>
          <p:cNvPr id="13" name="Problem Rewrite"/>
          <p:cNvSpPr/>
          <p:nvPr/>
        </p:nvSpPr>
        <p:spPr>
          <a:xfrm>
            <a:off x="6080760" y="1234440"/>
            <a:ext cx="2606040" cy="2240280"/>
          </a:xfrm>
          <a:prstGeom prst="roundRect">
            <a:avLst>
              <a:gd name="adj" fmla="val 3265"/>
            </a:avLst>
          </a:prstGeom>
          <a:solidFill>
            <a:schemeClr val="bg1"/>
          </a:solidFill>
          <a:ln/>
          <a:effectLst>
            <a:outerShdw sx="100000" sy="100000" kx="0" ky="0" algn="bl" rotWithShape="0" blurRad="76200" dist="25400" dir="5400000">
              <a:srgbClr val="000000">
                <a:alpha val="12000"/>
              </a:srgbClr>
            </a:outerShdw>
          </a:effectLst>
        </p:spPr>
      </p:sp>
      <p:sp>
        <p:nvSpPr>
          <p:cNvPr id="14" name="Problem 3 circle"/>
          <p:cNvSpPr/>
          <p:nvPr/>
        </p:nvSpPr>
        <p:spPr>
          <a:xfrm>
            <a:off x="6309360" y="1463040"/>
            <a:ext cx="548640" cy="548640"/>
          </a:xfrm>
          <a:prstGeom prst="ellipse">
            <a:avLst/>
          </a:prstGeom>
          <a:solidFill>
            <a:schemeClr val="accent4"/>
          </a:solidFill>
          <a:ln/>
        </p:spPr>
      </p:sp>
      <p:pic>
        <p:nvPicPr>
          <p:cNvPr id="15" name="Problem 3 icon" descr="preencoded.png">    </p:cNvPr>
          <p:cNvPicPr>
            <a:picLocks noChangeAspect="1"/>
          </p:cNvPicPr>
          <p:nvPr/>
        </p:nvPicPr>
        <p:blipFill>
          <a:blip r:embed="rId3"/>
          <a:stretch>
            <a:fillRect/>
          </a:stretch>
        </p:blipFill>
        <p:spPr>
          <a:xfrm>
            <a:off x="6446520" y="1600200"/>
            <a:ext cx="274320" cy="274320"/>
          </a:xfrm>
          <a:prstGeom prst="rect">
            <a:avLst/>
          </a:prstGeom>
        </p:spPr>
      </p:pic>
      <p:sp>
        <p:nvSpPr>
          <p:cNvPr id="16" name="Text 11"/>
          <p:cNvSpPr txBox="1"/>
          <p:nvPr/>
        </p:nvSpPr>
        <p:spPr>
          <a:xfrm>
            <a:off x="6995160" y="1463040"/>
            <a:ext cx="1554480" cy="548640"/>
          </a:xfrm>
          <a:prstGeom prst="rect">
            <a:avLst/>
          </a:prstGeom>
          <a:noFill/>
          <a:ln/>
        </p:spPr>
        <p:txBody>
          <a:bodyPr wrap="square" lIns="0" tIns="0" rIns="0" bIns="0" rtlCol="0" anchor="ctr"/>
          <a:lstStyle/>
          <a:p>
            <a:pPr indent="0" marL="0">
              <a:buNone/>
            </a:pPr>
            <a:r>
              <a:rPr lang="en-US" sz="1800" b="1" dirty="0">
                <a:solidFill>
                  <a:schemeClr val="tx2"/>
                </a:solidFill>
              </a:rPr>
              <a:t>Rewrite</a:t>
            </a:r>
            <a:endParaRPr lang="en-US" sz="1800" dirty="0"/>
          </a:p>
        </p:txBody>
      </p:sp>
      <p:sp>
        <p:nvSpPr>
          <p:cNvPr id="17" name="Text 12"/>
          <p:cNvSpPr txBox="1"/>
          <p:nvPr/>
        </p:nvSpPr>
        <p:spPr>
          <a:xfrm>
            <a:off x="6309360" y="2194560"/>
            <a:ext cx="2194560" cy="1188720"/>
          </a:xfrm>
          <a:prstGeom prst="rect">
            <a:avLst/>
          </a:prstGeom>
          <a:noFill/>
          <a:ln/>
        </p:spPr>
        <p:txBody>
          <a:bodyPr wrap="square" lIns="0" tIns="0" rIns="0" bIns="0" rtlCol="0" anchor="t"/>
          <a:lstStyle/>
          <a:p>
            <a:pPr indent="0" marL="0">
              <a:buNone/>
            </a:pPr>
            <a:r>
              <a:rPr lang="en-US" sz="1400" dirty="0">
                <a:solidFill>
                  <a:schemeClr val="tx1"/>
                </a:solidFill>
              </a:rPr>
              <a:t>Every new step needs the same setup code typed out by hand.</a:t>
            </a:r>
            <a:endParaRPr lang="en-US" sz="1400" dirty="0"/>
          </a:p>
        </p:txBody>
      </p:sp>
      <p:sp>
        <p:nvSpPr>
          <p:cNvPr id="18" name="Result"/>
          <p:cNvSpPr txBox="1"/>
          <p:nvPr/>
        </p:nvSpPr>
        <p:spPr>
          <a:xfrm>
            <a:off x="457200" y="3657600"/>
            <a:ext cx="8229600" cy="365760"/>
          </a:xfrm>
          <a:prstGeom prst="rect">
            <a:avLst/>
          </a:prstGeom>
          <a:noFill/>
          <a:ln/>
        </p:spPr>
        <p:txBody>
          <a:bodyPr wrap="square" lIns="0" tIns="0" rIns="0" bIns="0" rtlCol="0" anchor="ctr"/>
          <a:lstStyle/>
          <a:p>
            <a:pPr indent="0" marL="0">
              <a:buNone/>
            </a:pPr>
            <a:r>
              <a:rPr lang="en-US" sz="1500" b="1" dirty="0">
                <a:solidFill>
                  <a:schemeClr val="accent4"/>
                </a:solidFill>
              </a:rPr>
              <a:t>The result: </a:t>
            </a:r>
            <a:pPr indent="0" marL="0">
              <a:buNone/>
            </a:pPr>
            <a:r>
              <a:rPr lang="en-US" sz="1500" dirty="0">
                <a:solidFill>
                  <a:schemeClr val="tx2"/>
                </a:solidFill>
              </a:rPr>
              <a:t>slower test writing, messier test code, and more maintenance cost over time.</a:t>
            </a:r>
            <a:endParaRPr lang="en-US" sz="1500" dirty="0"/>
          </a:p>
        </p:txBody>
      </p:sp>
      <p:sp>
        <p:nvSpPr>
          <p:cNvPr id="19" name="Steps placeholder box"/>
          <p:cNvSpPr/>
          <p:nvPr/>
        </p:nvSpPr>
        <p:spPr>
          <a:xfrm>
            <a:off x="457200" y="4160520"/>
            <a:ext cx="4937760" cy="384048"/>
          </a:xfrm>
          <a:prstGeom prst="roundRect">
            <a:avLst>
              <a:gd name="adj" fmla="val 14286"/>
            </a:avLst>
          </a:prstGeom>
          <a:solidFill>
            <a:srgbClr val="FDF0D9"/>
          </a:solidFill>
          <a:ln w="15875">
            <a:solidFill>
              <a:srgbClr val="E39B2D"/>
            </a:solidFill>
            <a:prstDash val="solid"/>
          </a:ln>
        </p:spPr>
      </p:sp>
      <p:sp>
        <p:nvSpPr>
          <p:cNvPr id="20" name="Steps placeholder"/>
          <p:cNvSpPr txBox="1"/>
          <p:nvPr/>
        </p:nvSpPr>
        <p:spPr>
          <a:xfrm>
            <a:off x="566928" y="4160520"/>
            <a:ext cx="4718304" cy="384048"/>
          </a:xfrm>
          <a:prstGeom prst="rect">
            <a:avLst/>
          </a:prstGeom>
          <a:noFill/>
          <a:ln/>
        </p:spPr>
        <p:txBody>
          <a:bodyPr wrap="square" lIns="0" tIns="0" rIns="0" bIns="0" rtlCol="0" anchor="ctr"/>
          <a:lstStyle/>
          <a:p>
            <a:pPr indent="0" marL="0">
              <a:buNone/>
            </a:pPr>
            <a:r>
              <a:rPr lang="en-US" sz="1200" b="1" dirty="0">
                <a:solidFill>
                  <a:srgbClr val="8A5A0C"/>
                </a:solidFill>
              </a:rPr>
              <a:t>[ADD: number of steps / scenarios in our real test suites]</a:t>
            </a:r>
            <a:endParaRPr lang="en-US" sz="1200" dirty="0"/>
          </a:p>
        </p:txBody>
      </p:sp>
      <p:sp>
        <p:nvSpPr>
          <p:cNvPr id="21" name="Duplicate example placeholder box"/>
          <p:cNvSpPr/>
          <p:nvPr/>
        </p:nvSpPr>
        <p:spPr>
          <a:xfrm>
            <a:off x="5577840" y="4160520"/>
            <a:ext cx="3108960" cy="384048"/>
          </a:xfrm>
          <a:prstGeom prst="roundRect">
            <a:avLst>
              <a:gd name="adj" fmla="val 14286"/>
            </a:avLst>
          </a:prstGeom>
          <a:solidFill>
            <a:srgbClr val="FDF0D9"/>
          </a:solidFill>
          <a:ln w="15875">
            <a:solidFill>
              <a:srgbClr val="E39B2D"/>
            </a:solidFill>
            <a:prstDash val="solid"/>
          </a:ln>
        </p:spPr>
      </p:sp>
      <p:sp>
        <p:nvSpPr>
          <p:cNvPr id="22" name="Duplicate example placeholder"/>
          <p:cNvSpPr txBox="1"/>
          <p:nvPr/>
        </p:nvSpPr>
        <p:spPr>
          <a:xfrm>
            <a:off x="5687568" y="4160520"/>
            <a:ext cx="2889504" cy="384048"/>
          </a:xfrm>
          <a:prstGeom prst="rect">
            <a:avLst/>
          </a:prstGeom>
          <a:noFill/>
          <a:ln/>
        </p:spPr>
        <p:txBody>
          <a:bodyPr wrap="square" lIns="0" tIns="0" rIns="0" bIns="0" rtlCol="0" anchor="ctr"/>
          <a:lstStyle/>
          <a:p>
            <a:pPr indent="0" marL="0">
              <a:buNone/>
            </a:pPr>
            <a:r>
              <a:rPr lang="en-US" sz="1200" b="1" dirty="0">
                <a:solidFill>
                  <a:srgbClr val="8A5A0C"/>
                </a:solidFill>
              </a:rPr>
              <a:t>[ADD: a real duplicate example]</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One app to build, run and tidy our tests</a:t>
            </a:r>
            <a:endParaRPr lang="en-US" sz="2800" dirty="0"/>
          </a:p>
        </p:txBody>
      </p:sp>
      <p:sp>
        <p:nvSpPr>
          <p:cNvPr id="3" name="Tab Projects"/>
          <p:cNvSpPr/>
          <p:nvPr/>
        </p:nvSpPr>
        <p:spPr>
          <a:xfrm>
            <a:off x="457200" y="1188720"/>
            <a:ext cx="1920240" cy="1207008"/>
          </a:xfrm>
          <a:prstGeom prst="roundRect">
            <a:avLst>
              <a:gd name="adj" fmla="val 6061"/>
            </a:avLst>
          </a:prstGeom>
          <a:solidFill>
            <a:schemeClr val="bg1"/>
          </a:solidFill>
          <a:ln/>
          <a:effectLst>
            <a:outerShdw sx="100000" sy="100000" kx="0" ky="0" algn="bl" rotWithShape="0" blurRad="76200" dist="25400" dir="5400000">
              <a:srgbClr val="000000">
                <a:alpha val="12000"/>
              </a:srgbClr>
            </a:outerShdw>
          </a:effectLst>
        </p:spPr>
      </p:sp>
      <p:sp>
        <p:nvSpPr>
          <p:cNvPr id="4" name="Tab 1 circle"/>
          <p:cNvSpPr/>
          <p:nvPr/>
        </p:nvSpPr>
        <p:spPr>
          <a:xfrm>
            <a:off x="594360" y="1325880"/>
            <a:ext cx="411480" cy="411480"/>
          </a:xfrm>
          <a:prstGeom prst="ellipse">
            <a:avLst/>
          </a:prstGeom>
          <a:solidFill>
            <a:schemeClr val="accent1"/>
          </a:solidFill>
          <a:ln/>
        </p:spPr>
      </p:sp>
      <p:pic>
        <p:nvPicPr>
          <p:cNvPr id="5" name="Tab 1 icon" descr="preencoded.png">    </p:cNvPr>
          <p:cNvPicPr>
            <a:picLocks noChangeAspect="1"/>
          </p:cNvPicPr>
          <p:nvPr/>
        </p:nvPicPr>
        <p:blipFill>
          <a:blip r:embed="rId1"/>
          <a:stretch>
            <a:fillRect/>
          </a:stretch>
        </p:blipFill>
        <p:spPr>
          <a:xfrm>
            <a:off x="697230" y="1428750"/>
            <a:ext cx="205740" cy="205740"/>
          </a:xfrm>
          <a:prstGeom prst="rect">
            <a:avLst/>
          </a:prstGeom>
        </p:spPr>
      </p:pic>
      <p:sp>
        <p:nvSpPr>
          <p:cNvPr id="6" name="Text 3"/>
          <p:cNvSpPr txBox="1"/>
          <p:nvPr/>
        </p:nvSpPr>
        <p:spPr>
          <a:xfrm>
            <a:off x="1097280" y="1325880"/>
            <a:ext cx="1234440" cy="411480"/>
          </a:xfrm>
          <a:prstGeom prst="rect">
            <a:avLst/>
          </a:prstGeom>
          <a:noFill/>
          <a:ln/>
        </p:spPr>
        <p:txBody>
          <a:bodyPr wrap="square" lIns="0" tIns="0" rIns="0" bIns="0" rtlCol="0" anchor="ctr"/>
          <a:lstStyle/>
          <a:p>
            <a:pPr indent="0" marL="0">
              <a:buNone/>
            </a:pPr>
            <a:r>
              <a:rPr lang="en-US" sz="1400" b="1" dirty="0">
                <a:solidFill>
                  <a:schemeClr val="tx2"/>
                </a:solidFill>
              </a:rPr>
              <a:t>Projects</a:t>
            </a:r>
            <a:endParaRPr lang="en-US" sz="1400" dirty="0"/>
          </a:p>
        </p:txBody>
      </p:sp>
      <p:sp>
        <p:nvSpPr>
          <p:cNvPr id="7" name="Text 4"/>
          <p:cNvSpPr txBox="1"/>
          <p:nvPr/>
        </p:nvSpPr>
        <p:spPr>
          <a:xfrm>
            <a:off x="594360" y="1828800"/>
            <a:ext cx="1691640" cy="502920"/>
          </a:xfrm>
          <a:prstGeom prst="rect">
            <a:avLst/>
          </a:prstGeom>
          <a:noFill/>
          <a:ln/>
        </p:spPr>
        <p:txBody>
          <a:bodyPr wrap="square" lIns="0" tIns="0" rIns="0" bIns="0" rtlCol="0" anchor="t"/>
          <a:lstStyle/>
          <a:p>
            <a:pPr indent="0" marL="0">
              <a:buNone/>
            </a:pPr>
            <a:r>
              <a:rPr lang="en-US" sz="1200" dirty="0">
                <a:solidFill>
                  <a:schemeClr val="tx1"/>
                </a:solidFill>
              </a:rPr>
              <a:t>One per website. Switch between them in a click</a:t>
            </a:r>
            <a:endParaRPr lang="en-US" sz="1200" dirty="0"/>
          </a:p>
        </p:txBody>
      </p:sp>
      <p:sp>
        <p:nvSpPr>
          <p:cNvPr id="8" name="Tab Build"/>
          <p:cNvSpPr/>
          <p:nvPr/>
        </p:nvSpPr>
        <p:spPr>
          <a:xfrm>
            <a:off x="2560320" y="1188720"/>
            <a:ext cx="1920240" cy="1207008"/>
          </a:xfrm>
          <a:prstGeom prst="roundRect">
            <a:avLst>
              <a:gd name="adj" fmla="val 6061"/>
            </a:avLst>
          </a:prstGeom>
          <a:solidFill>
            <a:schemeClr val="bg1"/>
          </a:solidFill>
          <a:ln/>
          <a:effectLst>
            <a:outerShdw sx="100000" sy="100000" kx="0" ky="0" algn="bl" rotWithShape="0" blurRad="76200" dist="25400" dir="5400000">
              <a:srgbClr val="000000">
                <a:alpha val="12000"/>
              </a:srgbClr>
            </a:outerShdw>
          </a:effectLst>
        </p:spPr>
      </p:sp>
      <p:sp>
        <p:nvSpPr>
          <p:cNvPr id="9" name="Tab 2 circle"/>
          <p:cNvSpPr/>
          <p:nvPr/>
        </p:nvSpPr>
        <p:spPr>
          <a:xfrm>
            <a:off x="2697480" y="1325880"/>
            <a:ext cx="411480" cy="411480"/>
          </a:xfrm>
          <a:prstGeom prst="ellipse">
            <a:avLst/>
          </a:prstGeom>
          <a:solidFill>
            <a:schemeClr val="accent1"/>
          </a:solidFill>
          <a:ln/>
        </p:spPr>
      </p:sp>
      <p:pic>
        <p:nvPicPr>
          <p:cNvPr id="10" name="Tab 2 icon" descr="preencoded.png">    </p:cNvPr>
          <p:cNvPicPr>
            <a:picLocks noChangeAspect="1"/>
          </p:cNvPicPr>
          <p:nvPr/>
        </p:nvPicPr>
        <p:blipFill>
          <a:blip r:embed="rId2"/>
          <a:stretch>
            <a:fillRect/>
          </a:stretch>
        </p:blipFill>
        <p:spPr>
          <a:xfrm>
            <a:off x="2800350" y="1428750"/>
            <a:ext cx="205740" cy="205740"/>
          </a:xfrm>
          <a:prstGeom prst="rect">
            <a:avLst/>
          </a:prstGeom>
        </p:spPr>
      </p:pic>
      <p:sp>
        <p:nvSpPr>
          <p:cNvPr id="11" name="Text 7"/>
          <p:cNvSpPr txBox="1"/>
          <p:nvPr/>
        </p:nvSpPr>
        <p:spPr>
          <a:xfrm>
            <a:off x="3200400" y="1325880"/>
            <a:ext cx="1234440" cy="411480"/>
          </a:xfrm>
          <a:prstGeom prst="rect">
            <a:avLst/>
          </a:prstGeom>
          <a:noFill/>
          <a:ln/>
        </p:spPr>
        <p:txBody>
          <a:bodyPr wrap="square" lIns="0" tIns="0" rIns="0" bIns="0" rtlCol="0" anchor="ctr"/>
          <a:lstStyle/>
          <a:p>
            <a:pPr indent="0" marL="0">
              <a:buNone/>
            </a:pPr>
            <a:r>
              <a:rPr lang="en-US" sz="1400" b="1" dirty="0">
                <a:solidFill>
                  <a:schemeClr val="tx2"/>
                </a:solidFill>
              </a:rPr>
              <a:t>Build</a:t>
            </a:r>
            <a:endParaRPr lang="en-US" sz="1400" dirty="0"/>
          </a:p>
        </p:txBody>
      </p:sp>
      <p:sp>
        <p:nvSpPr>
          <p:cNvPr id="12" name="Text 8"/>
          <p:cNvSpPr txBox="1"/>
          <p:nvPr/>
        </p:nvSpPr>
        <p:spPr>
          <a:xfrm>
            <a:off x="2697480" y="1828800"/>
            <a:ext cx="1691640" cy="502920"/>
          </a:xfrm>
          <a:prstGeom prst="rect">
            <a:avLst/>
          </a:prstGeom>
          <a:noFill/>
          <a:ln/>
        </p:spPr>
        <p:txBody>
          <a:bodyPr wrap="square" lIns="0" tIns="0" rIns="0" bIns="0" rtlCol="0" anchor="t"/>
          <a:lstStyle/>
          <a:p>
            <a:pPr indent="0" marL="0">
              <a:buNone/>
            </a:pPr>
            <a:r>
              <a:rPr lang="en-US" sz="1200" dirty="0">
                <a:solidFill>
                  <a:schemeClr val="tx1"/>
                </a:solidFill>
              </a:rPr>
              <a:t>Drag existing steps into a test as blocks</a:t>
            </a:r>
            <a:endParaRPr lang="en-US" sz="1200" dirty="0"/>
          </a:p>
        </p:txBody>
      </p:sp>
      <p:sp>
        <p:nvSpPr>
          <p:cNvPr id="13" name="Tab Action blocks"/>
          <p:cNvSpPr/>
          <p:nvPr/>
        </p:nvSpPr>
        <p:spPr>
          <a:xfrm>
            <a:off x="4663440" y="1188720"/>
            <a:ext cx="1920240" cy="1207008"/>
          </a:xfrm>
          <a:prstGeom prst="roundRect">
            <a:avLst>
              <a:gd name="adj" fmla="val 6061"/>
            </a:avLst>
          </a:prstGeom>
          <a:solidFill>
            <a:schemeClr val="bg1"/>
          </a:solidFill>
          <a:ln/>
          <a:effectLst>
            <a:outerShdw sx="100000" sy="100000" kx="0" ky="0" algn="bl" rotWithShape="0" blurRad="76200" dist="25400" dir="5400000">
              <a:srgbClr val="000000">
                <a:alpha val="12000"/>
              </a:srgbClr>
            </a:outerShdw>
          </a:effectLst>
        </p:spPr>
      </p:sp>
      <p:sp>
        <p:nvSpPr>
          <p:cNvPr id="14" name="Tab 3 circle"/>
          <p:cNvSpPr/>
          <p:nvPr/>
        </p:nvSpPr>
        <p:spPr>
          <a:xfrm>
            <a:off x="4800600" y="1325880"/>
            <a:ext cx="411480" cy="411480"/>
          </a:xfrm>
          <a:prstGeom prst="ellipse">
            <a:avLst/>
          </a:prstGeom>
          <a:solidFill>
            <a:schemeClr val="accent1"/>
          </a:solidFill>
          <a:ln/>
        </p:spPr>
      </p:sp>
      <p:pic>
        <p:nvPicPr>
          <p:cNvPr id="15" name="Tab 3 icon" descr="preencoded.png">    </p:cNvPr>
          <p:cNvPicPr>
            <a:picLocks noChangeAspect="1"/>
          </p:cNvPicPr>
          <p:nvPr/>
        </p:nvPicPr>
        <p:blipFill>
          <a:blip r:embed="rId3"/>
          <a:stretch>
            <a:fillRect/>
          </a:stretch>
        </p:blipFill>
        <p:spPr>
          <a:xfrm>
            <a:off x="4903470" y="1428750"/>
            <a:ext cx="205740" cy="205740"/>
          </a:xfrm>
          <a:prstGeom prst="rect">
            <a:avLst/>
          </a:prstGeom>
        </p:spPr>
      </p:pic>
      <p:sp>
        <p:nvSpPr>
          <p:cNvPr id="16" name="Text 11"/>
          <p:cNvSpPr txBox="1"/>
          <p:nvPr/>
        </p:nvSpPr>
        <p:spPr>
          <a:xfrm>
            <a:off x="5303520" y="1325880"/>
            <a:ext cx="1234440" cy="411480"/>
          </a:xfrm>
          <a:prstGeom prst="rect">
            <a:avLst/>
          </a:prstGeom>
          <a:noFill/>
          <a:ln/>
        </p:spPr>
        <p:txBody>
          <a:bodyPr wrap="square" lIns="0" tIns="0" rIns="0" bIns="0" rtlCol="0" anchor="ctr"/>
          <a:lstStyle/>
          <a:p>
            <a:pPr indent="0" marL="0">
              <a:buNone/>
            </a:pPr>
            <a:r>
              <a:rPr lang="en-US" sz="1400" b="1" dirty="0">
                <a:solidFill>
                  <a:schemeClr val="tx2"/>
                </a:solidFill>
              </a:rPr>
              <a:t>Action blocks</a:t>
            </a:r>
            <a:endParaRPr lang="en-US" sz="1400" dirty="0"/>
          </a:p>
        </p:txBody>
      </p:sp>
      <p:sp>
        <p:nvSpPr>
          <p:cNvPr id="17" name="Text 12"/>
          <p:cNvSpPr txBox="1"/>
          <p:nvPr/>
        </p:nvSpPr>
        <p:spPr>
          <a:xfrm>
            <a:off x="4800600" y="1828800"/>
            <a:ext cx="1691640" cy="502920"/>
          </a:xfrm>
          <a:prstGeom prst="rect">
            <a:avLst/>
          </a:prstGeom>
          <a:noFill/>
          <a:ln/>
        </p:spPr>
        <p:txBody>
          <a:bodyPr wrap="square" lIns="0" tIns="0" rIns="0" bIns="0" rtlCol="0" anchor="t"/>
          <a:lstStyle/>
          <a:p>
            <a:pPr indent="0" marL="0">
              <a:buNone/>
            </a:pPr>
            <a:r>
              <a:rPr lang="en-US" sz="1200" dirty="0">
                <a:solidFill>
                  <a:schemeClr val="tx1"/>
                </a:solidFill>
              </a:rPr>
              <a:t>Create new steps without writing code</a:t>
            </a:r>
            <a:endParaRPr lang="en-US" sz="1200" dirty="0"/>
          </a:p>
        </p:txBody>
      </p:sp>
      <p:sp>
        <p:nvSpPr>
          <p:cNvPr id="18" name="Tab Scenarios"/>
          <p:cNvSpPr/>
          <p:nvPr/>
        </p:nvSpPr>
        <p:spPr>
          <a:xfrm>
            <a:off x="6766560" y="1188720"/>
            <a:ext cx="1920240" cy="1207008"/>
          </a:xfrm>
          <a:prstGeom prst="roundRect">
            <a:avLst>
              <a:gd name="adj" fmla="val 6061"/>
            </a:avLst>
          </a:prstGeom>
          <a:solidFill>
            <a:schemeClr val="bg1"/>
          </a:solidFill>
          <a:ln/>
          <a:effectLst>
            <a:outerShdw sx="100000" sy="100000" kx="0" ky="0" algn="bl" rotWithShape="0" blurRad="76200" dist="25400" dir="5400000">
              <a:srgbClr val="000000">
                <a:alpha val="12000"/>
              </a:srgbClr>
            </a:outerShdw>
          </a:effectLst>
        </p:spPr>
      </p:sp>
      <p:sp>
        <p:nvSpPr>
          <p:cNvPr id="19" name="Tab 4 circle"/>
          <p:cNvSpPr/>
          <p:nvPr/>
        </p:nvSpPr>
        <p:spPr>
          <a:xfrm>
            <a:off x="6903720" y="1325880"/>
            <a:ext cx="411480" cy="411480"/>
          </a:xfrm>
          <a:prstGeom prst="ellipse">
            <a:avLst/>
          </a:prstGeom>
          <a:solidFill>
            <a:schemeClr val="accent1"/>
          </a:solidFill>
          <a:ln/>
        </p:spPr>
      </p:sp>
      <p:pic>
        <p:nvPicPr>
          <p:cNvPr id="20" name="Tab 4 icon" descr="preencoded.png">    </p:cNvPr>
          <p:cNvPicPr>
            <a:picLocks noChangeAspect="1"/>
          </p:cNvPicPr>
          <p:nvPr/>
        </p:nvPicPr>
        <p:blipFill>
          <a:blip r:embed="rId4"/>
          <a:stretch>
            <a:fillRect/>
          </a:stretch>
        </p:blipFill>
        <p:spPr>
          <a:xfrm>
            <a:off x="7006590" y="1428750"/>
            <a:ext cx="205740" cy="205740"/>
          </a:xfrm>
          <a:prstGeom prst="rect">
            <a:avLst/>
          </a:prstGeom>
        </p:spPr>
      </p:pic>
      <p:sp>
        <p:nvSpPr>
          <p:cNvPr id="21" name="Text 15"/>
          <p:cNvSpPr txBox="1"/>
          <p:nvPr/>
        </p:nvSpPr>
        <p:spPr>
          <a:xfrm>
            <a:off x="7406640" y="1325880"/>
            <a:ext cx="1234440" cy="411480"/>
          </a:xfrm>
          <a:prstGeom prst="rect">
            <a:avLst/>
          </a:prstGeom>
          <a:noFill/>
          <a:ln/>
        </p:spPr>
        <p:txBody>
          <a:bodyPr wrap="square" lIns="0" tIns="0" rIns="0" bIns="0" rtlCol="0" anchor="ctr"/>
          <a:lstStyle/>
          <a:p>
            <a:pPr indent="0" marL="0">
              <a:buNone/>
            </a:pPr>
            <a:r>
              <a:rPr lang="en-US" sz="1400" b="1" dirty="0">
                <a:solidFill>
                  <a:schemeClr val="tx2"/>
                </a:solidFill>
              </a:rPr>
              <a:t>Scenarios</a:t>
            </a:r>
            <a:endParaRPr lang="en-US" sz="1400" dirty="0"/>
          </a:p>
        </p:txBody>
      </p:sp>
      <p:sp>
        <p:nvSpPr>
          <p:cNvPr id="22" name="Text 16"/>
          <p:cNvSpPr txBox="1"/>
          <p:nvPr/>
        </p:nvSpPr>
        <p:spPr>
          <a:xfrm>
            <a:off x="6903720" y="1828800"/>
            <a:ext cx="1691640" cy="502920"/>
          </a:xfrm>
          <a:prstGeom prst="rect">
            <a:avLst/>
          </a:prstGeom>
          <a:noFill/>
          <a:ln/>
        </p:spPr>
        <p:txBody>
          <a:bodyPr wrap="square" lIns="0" tIns="0" rIns="0" bIns="0" rtlCol="0" anchor="t"/>
          <a:lstStyle/>
          <a:p>
            <a:pPr indent="0" marL="0">
              <a:buNone/>
            </a:pPr>
            <a:r>
              <a:rPr lang="en-US" sz="1200" dirty="0">
                <a:solidFill>
                  <a:schemeClr val="tx1"/>
                </a:solidFill>
              </a:rPr>
              <a:t>Open any existing test as blocks to edit it</a:t>
            </a:r>
            <a:endParaRPr lang="en-US" sz="1200" dirty="0"/>
          </a:p>
        </p:txBody>
      </p:sp>
      <p:sp>
        <p:nvSpPr>
          <p:cNvPr id="23" name="Tab Steps"/>
          <p:cNvSpPr/>
          <p:nvPr/>
        </p:nvSpPr>
        <p:spPr>
          <a:xfrm>
            <a:off x="457200" y="2560320"/>
            <a:ext cx="1920240" cy="1207008"/>
          </a:xfrm>
          <a:prstGeom prst="roundRect">
            <a:avLst>
              <a:gd name="adj" fmla="val 6061"/>
            </a:avLst>
          </a:prstGeom>
          <a:solidFill>
            <a:schemeClr val="bg1"/>
          </a:solidFill>
          <a:ln/>
          <a:effectLst>
            <a:outerShdw sx="100000" sy="100000" kx="0" ky="0" algn="bl" rotWithShape="0" blurRad="76200" dist="25400" dir="5400000">
              <a:srgbClr val="000000">
                <a:alpha val="12000"/>
              </a:srgbClr>
            </a:outerShdw>
          </a:effectLst>
        </p:spPr>
      </p:sp>
      <p:sp>
        <p:nvSpPr>
          <p:cNvPr id="24" name="Tab 5 circle"/>
          <p:cNvSpPr/>
          <p:nvPr/>
        </p:nvSpPr>
        <p:spPr>
          <a:xfrm>
            <a:off x="594360" y="2697480"/>
            <a:ext cx="411480" cy="411480"/>
          </a:xfrm>
          <a:prstGeom prst="ellipse">
            <a:avLst/>
          </a:prstGeom>
          <a:solidFill>
            <a:schemeClr val="accent1"/>
          </a:solidFill>
          <a:ln/>
        </p:spPr>
      </p:sp>
      <p:pic>
        <p:nvPicPr>
          <p:cNvPr id="25" name="Tab 5 icon" descr="preencoded.png">    </p:cNvPr>
          <p:cNvPicPr>
            <a:picLocks noChangeAspect="1"/>
          </p:cNvPicPr>
          <p:nvPr/>
        </p:nvPicPr>
        <p:blipFill>
          <a:blip r:embed="rId5"/>
          <a:stretch>
            <a:fillRect/>
          </a:stretch>
        </p:blipFill>
        <p:spPr>
          <a:xfrm>
            <a:off x="697230" y="2800350"/>
            <a:ext cx="205740" cy="205740"/>
          </a:xfrm>
          <a:prstGeom prst="rect">
            <a:avLst/>
          </a:prstGeom>
        </p:spPr>
      </p:pic>
      <p:sp>
        <p:nvSpPr>
          <p:cNvPr id="26" name="Text 19"/>
          <p:cNvSpPr txBox="1"/>
          <p:nvPr/>
        </p:nvSpPr>
        <p:spPr>
          <a:xfrm>
            <a:off x="1097280" y="2697480"/>
            <a:ext cx="1234440" cy="411480"/>
          </a:xfrm>
          <a:prstGeom prst="rect">
            <a:avLst/>
          </a:prstGeom>
          <a:noFill/>
          <a:ln/>
        </p:spPr>
        <p:txBody>
          <a:bodyPr wrap="square" lIns="0" tIns="0" rIns="0" bIns="0" rtlCol="0" anchor="ctr"/>
          <a:lstStyle/>
          <a:p>
            <a:pPr indent="0" marL="0">
              <a:buNone/>
            </a:pPr>
            <a:r>
              <a:rPr lang="en-US" sz="1400" b="1" dirty="0">
                <a:solidFill>
                  <a:schemeClr val="tx2"/>
                </a:solidFill>
              </a:rPr>
              <a:t>Steps</a:t>
            </a:r>
            <a:endParaRPr lang="en-US" sz="1400" dirty="0"/>
          </a:p>
        </p:txBody>
      </p:sp>
      <p:sp>
        <p:nvSpPr>
          <p:cNvPr id="27" name="Text 20"/>
          <p:cNvSpPr txBox="1"/>
          <p:nvPr/>
        </p:nvSpPr>
        <p:spPr>
          <a:xfrm>
            <a:off x="594360" y="3200400"/>
            <a:ext cx="1691640" cy="502920"/>
          </a:xfrm>
          <a:prstGeom prst="rect">
            <a:avLst/>
          </a:prstGeom>
          <a:noFill/>
          <a:ln/>
        </p:spPr>
        <p:txBody>
          <a:bodyPr wrap="square" lIns="0" tIns="0" rIns="0" bIns="0" rtlCol="0" anchor="t"/>
          <a:lstStyle/>
          <a:p>
            <a:pPr indent="0" marL="0">
              <a:buNone/>
            </a:pPr>
            <a:r>
              <a:rPr lang="en-US" sz="1200" dirty="0">
                <a:solidFill>
                  <a:schemeClr val="tx1"/>
                </a:solidFill>
              </a:rPr>
              <a:t>A searchable catalogue of every step</a:t>
            </a:r>
            <a:endParaRPr lang="en-US" sz="1200" dirty="0"/>
          </a:p>
        </p:txBody>
      </p:sp>
      <p:sp>
        <p:nvSpPr>
          <p:cNvPr id="28" name="Tab Duplicates"/>
          <p:cNvSpPr/>
          <p:nvPr/>
        </p:nvSpPr>
        <p:spPr>
          <a:xfrm>
            <a:off x="2560320" y="2560320"/>
            <a:ext cx="1920240" cy="1207008"/>
          </a:xfrm>
          <a:prstGeom prst="roundRect">
            <a:avLst>
              <a:gd name="adj" fmla="val 6061"/>
            </a:avLst>
          </a:prstGeom>
          <a:solidFill>
            <a:schemeClr val="bg1"/>
          </a:solidFill>
          <a:ln/>
          <a:effectLst>
            <a:outerShdw sx="100000" sy="100000" kx="0" ky="0" algn="bl" rotWithShape="0" blurRad="76200" dist="25400" dir="5400000">
              <a:srgbClr val="000000">
                <a:alpha val="12000"/>
              </a:srgbClr>
            </a:outerShdw>
          </a:effectLst>
        </p:spPr>
      </p:sp>
      <p:sp>
        <p:nvSpPr>
          <p:cNvPr id="29" name="Tab 6 circle"/>
          <p:cNvSpPr/>
          <p:nvPr/>
        </p:nvSpPr>
        <p:spPr>
          <a:xfrm>
            <a:off x="2697480" y="2697480"/>
            <a:ext cx="411480" cy="411480"/>
          </a:xfrm>
          <a:prstGeom prst="ellipse">
            <a:avLst/>
          </a:prstGeom>
          <a:solidFill>
            <a:schemeClr val="accent1"/>
          </a:solidFill>
          <a:ln/>
        </p:spPr>
      </p:sp>
      <p:pic>
        <p:nvPicPr>
          <p:cNvPr id="30" name="Tab 6 icon" descr="preencoded.png">    </p:cNvPr>
          <p:cNvPicPr>
            <a:picLocks noChangeAspect="1"/>
          </p:cNvPicPr>
          <p:nvPr/>
        </p:nvPicPr>
        <p:blipFill>
          <a:blip r:embed="rId6"/>
          <a:stretch>
            <a:fillRect/>
          </a:stretch>
        </p:blipFill>
        <p:spPr>
          <a:xfrm>
            <a:off x="2800350" y="2800350"/>
            <a:ext cx="205740" cy="205740"/>
          </a:xfrm>
          <a:prstGeom prst="rect">
            <a:avLst/>
          </a:prstGeom>
        </p:spPr>
      </p:pic>
      <p:sp>
        <p:nvSpPr>
          <p:cNvPr id="31" name="Text 23"/>
          <p:cNvSpPr txBox="1"/>
          <p:nvPr/>
        </p:nvSpPr>
        <p:spPr>
          <a:xfrm>
            <a:off x="3200400" y="2697480"/>
            <a:ext cx="1234440" cy="411480"/>
          </a:xfrm>
          <a:prstGeom prst="rect">
            <a:avLst/>
          </a:prstGeom>
          <a:noFill/>
          <a:ln/>
        </p:spPr>
        <p:txBody>
          <a:bodyPr wrap="square" lIns="0" tIns="0" rIns="0" bIns="0" rtlCol="0" anchor="ctr"/>
          <a:lstStyle/>
          <a:p>
            <a:pPr indent="0" marL="0">
              <a:buNone/>
            </a:pPr>
            <a:r>
              <a:rPr lang="en-US" sz="1400" b="1" dirty="0">
                <a:solidFill>
                  <a:schemeClr val="tx2"/>
                </a:solidFill>
              </a:rPr>
              <a:t>Duplicates</a:t>
            </a:r>
            <a:endParaRPr lang="en-US" sz="1400" dirty="0"/>
          </a:p>
        </p:txBody>
      </p:sp>
      <p:sp>
        <p:nvSpPr>
          <p:cNvPr id="32" name="Text 24"/>
          <p:cNvSpPr txBox="1"/>
          <p:nvPr/>
        </p:nvSpPr>
        <p:spPr>
          <a:xfrm>
            <a:off x="2697480" y="3200400"/>
            <a:ext cx="1691640" cy="502920"/>
          </a:xfrm>
          <a:prstGeom prst="rect">
            <a:avLst/>
          </a:prstGeom>
          <a:noFill/>
          <a:ln/>
        </p:spPr>
        <p:txBody>
          <a:bodyPr wrap="square" lIns="0" tIns="0" rIns="0" bIns="0" rtlCol="0" anchor="t"/>
          <a:lstStyle/>
          <a:p>
            <a:pPr indent="0" marL="0">
              <a:buNone/>
            </a:pPr>
            <a:r>
              <a:rPr lang="en-US" sz="1200" dirty="0">
                <a:solidFill>
                  <a:schemeClr val="tx1"/>
                </a:solidFill>
              </a:rPr>
              <a:t>Find and merge steps that say the same thing</a:t>
            </a:r>
            <a:endParaRPr lang="en-US" sz="1200" dirty="0"/>
          </a:p>
        </p:txBody>
      </p:sp>
      <p:sp>
        <p:nvSpPr>
          <p:cNvPr id="33" name="Tab Test results"/>
          <p:cNvSpPr/>
          <p:nvPr/>
        </p:nvSpPr>
        <p:spPr>
          <a:xfrm>
            <a:off x="4663440" y="2560320"/>
            <a:ext cx="1920240" cy="1207008"/>
          </a:xfrm>
          <a:prstGeom prst="roundRect">
            <a:avLst>
              <a:gd name="adj" fmla="val 6061"/>
            </a:avLst>
          </a:prstGeom>
          <a:solidFill>
            <a:schemeClr val="bg1"/>
          </a:solidFill>
          <a:ln/>
          <a:effectLst>
            <a:outerShdw sx="100000" sy="100000" kx="0" ky="0" algn="bl" rotWithShape="0" blurRad="76200" dist="25400" dir="5400000">
              <a:srgbClr val="000000">
                <a:alpha val="12000"/>
              </a:srgbClr>
            </a:outerShdw>
          </a:effectLst>
        </p:spPr>
      </p:sp>
      <p:sp>
        <p:nvSpPr>
          <p:cNvPr id="34" name="Tab 7 circle"/>
          <p:cNvSpPr/>
          <p:nvPr/>
        </p:nvSpPr>
        <p:spPr>
          <a:xfrm>
            <a:off x="4800600" y="2697480"/>
            <a:ext cx="411480" cy="411480"/>
          </a:xfrm>
          <a:prstGeom prst="ellipse">
            <a:avLst/>
          </a:prstGeom>
          <a:solidFill>
            <a:schemeClr val="accent1"/>
          </a:solidFill>
          <a:ln/>
        </p:spPr>
      </p:sp>
      <p:pic>
        <p:nvPicPr>
          <p:cNvPr id="35" name="Tab 7 icon" descr="preencoded.png">    </p:cNvPr>
          <p:cNvPicPr>
            <a:picLocks noChangeAspect="1"/>
          </p:cNvPicPr>
          <p:nvPr/>
        </p:nvPicPr>
        <p:blipFill>
          <a:blip r:embed="rId7"/>
          <a:stretch>
            <a:fillRect/>
          </a:stretch>
        </p:blipFill>
        <p:spPr>
          <a:xfrm>
            <a:off x="4903470" y="2800350"/>
            <a:ext cx="205740" cy="205740"/>
          </a:xfrm>
          <a:prstGeom prst="rect">
            <a:avLst/>
          </a:prstGeom>
        </p:spPr>
      </p:pic>
      <p:sp>
        <p:nvSpPr>
          <p:cNvPr id="36" name="Text 27"/>
          <p:cNvSpPr txBox="1"/>
          <p:nvPr/>
        </p:nvSpPr>
        <p:spPr>
          <a:xfrm>
            <a:off x="5303520" y="2697480"/>
            <a:ext cx="1234440" cy="411480"/>
          </a:xfrm>
          <a:prstGeom prst="rect">
            <a:avLst/>
          </a:prstGeom>
          <a:noFill/>
          <a:ln/>
        </p:spPr>
        <p:txBody>
          <a:bodyPr wrap="square" lIns="0" tIns="0" rIns="0" bIns="0" rtlCol="0" anchor="ctr"/>
          <a:lstStyle/>
          <a:p>
            <a:pPr indent="0" marL="0">
              <a:buNone/>
            </a:pPr>
            <a:r>
              <a:rPr lang="en-US" sz="1400" b="1" dirty="0">
                <a:solidFill>
                  <a:schemeClr val="tx2"/>
                </a:solidFill>
              </a:rPr>
              <a:t>Test results</a:t>
            </a:r>
            <a:endParaRPr lang="en-US" sz="1400" dirty="0"/>
          </a:p>
        </p:txBody>
      </p:sp>
      <p:sp>
        <p:nvSpPr>
          <p:cNvPr id="37" name="Text 28"/>
          <p:cNvSpPr txBox="1"/>
          <p:nvPr/>
        </p:nvSpPr>
        <p:spPr>
          <a:xfrm>
            <a:off x="4800600" y="3200400"/>
            <a:ext cx="1691640" cy="502920"/>
          </a:xfrm>
          <a:prstGeom prst="rect">
            <a:avLst/>
          </a:prstGeom>
          <a:noFill/>
          <a:ln/>
        </p:spPr>
        <p:txBody>
          <a:bodyPr wrap="square" lIns="0" tIns="0" rIns="0" bIns="0" rtlCol="0" anchor="t"/>
          <a:lstStyle/>
          <a:p>
            <a:pPr indent="0" marL="0">
              <a:buNone/>
            </a:pPr>
            <a:r>
              <a:rPr lang="en-US" sz="1200" dirty="0">
                <a:solidFill>
                  <a:schemeClr val="tx1"/>
                </a:solidFill>
              </a:rPr>
              <a:t>Run tests and see screenshots and replays</a:t>
            </a:r>
            <a:endParaRPr lang="en-US" sz="1200" dirty="0"/>
          </a:p>
        </p:txBody>
      </p:sp>
      <p:sp>
        <p:nvSpPr>
          <p:cNvPr id="38" name="Tab History"/>
          <p:cNvSpPr/>
          <p:nvPr/>
        </p:nvSpPr>
        <p:spPr>
          <a:xfrm>
            <a:off x="6766560" y="2560320"/>
            <a:ext cx="1920240" cy="1207008"/>
          </a:xfrm>
          <a:prstGeom prst="roundRect">
            <a:avLst>
              <a:gd name="adj" fmla="val 6061"/>
            </a:avLst>
          </a:prstGeom>
          <a:solidFill>
            <a:schemeClr val="bg1"/>
          </a:solidFill>
          <a:ln/>
          <a:effectLst>
            <a:outerShdw sx="100000" sy="100000" kx="0" ky="0" algn="bl" rotWithShape="0" blurRad="76200" dist="25400" dir="5400000">
              <a:srgbClr val="000000">
                <a:alpha val="12000"/>
              </a:srgbClr>
            </a:outerShdw>
          </a:effectLst>
        </p:spPr>
      </p:sp>
      <p:sp>
        <p:nvSpPr>
          <p:cNvPr id="39" name="Tab 8 circle"/>
          <p:cNvSpPr/>
          <p:nvPr/>
        </p:nvSpPr>
        <p:spPr>
          <a:xfrm>
            <a:off x="6903720" y="2697480"/>
            <a:ext cx="411480" cy="411480"/>
          </a:xfrm>
          <a:prstGeom prst="ellipse">
            <a:avLst/>
          </a:prstGeom>
          <a:solidFill>
            <a:schemeClr val="accent1"/>
          </a:solidFill>
          <a:ln/>
        </p:spPr>
      </p:sp>
      <p:pic>
        <p:nvPicPr>
          <p:cNvPr id="40" name="Tab 8 icon" descr="preencoded.png">    </p:cNvPr>
          <p:cNvPicPr>
            <a:picLocks noChangeAspect="1"/>
          </p:cNvPicPr>
          <p:nvPr/>
        </p:nvPicPr>
        <p:blipFill>
          <a:blip r:embed="rId8"/>
          <a:stretch>
            <a:fillRect/>
          </a:stretch>
        </p:blipFill>
        <p:spPr>
          <a:xfrm>
            <a:off x="7006590" y="2800350"/>
            <a:ext cx="205740" cy="205740"/>
          </a:xfrm>
          <a:prstGeom prst="rect">
            <a:avLst/>
          </a:prstGeom>
        </p:spPr>
      </p:pic>
      <p:sp>
        <p:nvSpPr>
          <p:cNvPr id="41" name="Text 31"/>
          <p:cNvSpPr txBox="1"/>
          <p:nvPr/>
        </p:nvSpPr>
        <p:spPr>
          <a:xfrm>
            <a:off x="7406640" y="2697480"/>
            <a:ext cx="1234440" cy="411480"/>
          </a:xfrm>
          <a:prstGeom prst="rect">
            <a:avLst/>
          </a:prstGeom>
          <a:noFill/>
          <a:ln/>
        </p:spPr>
        <p:txBody>
          <a:bodyPr wrap="square" lIns="0" tIns="0" rIns="0" bIns="0" rtlCol="0" anchor="ctr"/>
          <a:lstStyle/>
          <a:p>
            <a:pPr indent="0" marL="0">
              <a:buNone/>
            </a:pPr>
            <a:r>
              <a:rPr lang="en-US" sz="1400" b="1" dirty="0">
                <a:solidFill>
                  <a:schemeClr val="tx2"/>
                </a:solidFill>
              </a:rPr>
              <a:t>History</a:t>
            </a:r>
            <a:endParaRPr lang="en-US" sz="1400" dirty="0"/>
          </a:p>
        </p:txBody>
      </p:sp>
      <p:sp>
        <p:nvSpPr>
          <p:cNvPr id="42" name="Text 32"/>
          <p:cNvSpPr txBox="1"/>
          <p:nvPr/>
        </p:nvSpPr>
        <p:spPr>
          <a:xfrm>
            <a:off x="6903720" y="3200400"/>
            <a:ext cx="1691640" cy="502920"/>
          </a:xfrm>
          <a:prstGeom prst="rect">
            <a:avLst/>
          </a:prstGeom>
          <a:noFill/>
          <a:ln/>
        </p:spPr>
        <p:txBody>
          <a:bodyPr wrap="square" lIns="0" tIns="0" rIns="0" bIns="0" rtlCol="0" anchor="t"/>
          <a:lstStyle/>
          <a:p>
            <a:pPr indent="0" marL="0">
              <a:buNone/>
            </a:pPr>
            <a:r>
              <a:rPr lang="en-US" sz="1200" dirty="0">
                <a:solidFill>
                  <a:schemeClr val="tx1"/>
                </a:solidFill>
              </a:rPr>
              <a:t>Every change recorded. Test changes can be undone</a:t>
            </a:r>
            <a:endParaRPr lang="en-US" sz="1200" dirty="0"/>
          </a:p>
        </p:txBody>
      </p:sp>
      <p:sp>
        <p:nvSpPr>
          <p:cNvPr id="43" name="App strip"/>
          <p:cNvSpPr/>
          <p:nvPr/>
        </p:nvSpPr>
        <p:spPr>
          <a:xfrm>
            <a:off x="457200" y="3977640"/>
            <a:ext cx="8229600" cy="640080"/>
          </a:xfrm>
          <a:prstGeom prst="roundRect">
            <a:avLst>
              <a:gd name="adj" fmla="val 11429"/>
            </a:avLst>
          </a:prstGeom>
          <a:solidFill>
            <a:schemeClr val="bg2"/>
          </a:solidFill>
          <a:ln/>
        </p:spPr>
      </p:sp>
      <p:sp>
        <p:nvSpPr>
          <p:cNvPr id="44" name="App strip text"/>
          <p:cNvSpPr txBox="1"/>
          <p:nvPr/>
        </p:nvSpPr>
        <p:spPr>
          <a:xfrm>
            <a:off x="640080" y="3977640"/>
            <a:ext cx="7863840" cy="640080"/>
          </a:xfrm>
          <a:prstGeom prst="rect">
            <a:avLst/>
          </a:prstGeom>
          <a:noFill/>
          <a:ln/>
        </p:spPr>
        <p:txBody>
          <a:bodyPr wrap="square" lIns="0" tIns="0" rIns="0" bIns="0" rtlCol="0" anchor="ctr"/>
          <a:lstStyle/>
          <a:p>
            <a:pPr indent="0" marL="0">
              <a:buNone/>
            </a:pPr>
            <a:r>
              <a:rPr lang="en-US" sz="1300" b="1" dirty="0">
                <a:solidFill>
                  <a:schemeClr val="accent1"/>
                </a:solidFill>
              </a:rPr>
              <a:t>Runs in the browser, on your own computer only. </a:t>
            </a:r>
            <a:pPr indent="0" marL="0">
              <a:buNone/>
            </a:pPr>
            <a:r>
              <a:rPr lang="en-US" sz="1300" dirty="0">
                <a:solidFill>
                  <a:schemeClr val="tx1"/>
                </a:solidFill>
              </a:rPr>
              <a:t>No AI: simple, predictable rules. The original command-line version is still there for automated checks and power users.</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How it fits together: from idea to passing test</a:t>
            </a:r>
            <a:endParaRPr lang="en-US" sz="2800" dirty="0"/>
          </a:p>
        </p:txBody>
      </p:sp>
      <p:sp>
        <p:nvSpPr>
          <p:cNvPr id="3" name="Workflow line"/>
          <p:cNvSpPr/>
          <p:nvPr/>
        </p:nvSpPr>
        <p:spPr>
          <a:xfrm>
            <a:off x="1005840" y="1572768"/>
            <a:ext cx="7132320" cy="0"/>
          </a:xfrm>
          <a:prstGeom prst="line">
            <a:avLst/>
          </a:prstGeom>
          <a:noFill/>
          <a:ln w="38100">
            <a:solidFill>
              <a:srgbClr val="D7E9D9"/>
            </a:solidFill>
            <a:prstDash val="solid"/>
          </a:ln>
        </p:spPr>
      </p:sp>
      <p:sp>
        <p:nvSpPr>
          <p:cNvPr id="4" name="Workflow 1 circle"/>
          <p:cNvSpPr/>
          <p:nvPr/>
        </p:nvSpPr>
        <p:spPr>
          <a:xfrm>
            <a:off x="731520" y="1298448"/>
            <a:ext cx="548640" cy="548640"/>
          </a:xfrm>
          <a:prstGeom prst="ellipse">
            <a:avLst/>
          </a:prstGeom>
          <a:solidFill>
            <a:schemeClr val="tx2"/>
          </a:solidFill>
          <a:ln/>
        </p:spPr>
      </p:sp>
      <p:pic>
        <p:nvPicPr>
          <p:cNvPr id="5" name="Workflow 1 icon" descr="preencoded.png">    </p:cNvPr>
          <p:cNvPicPr>
            <a:picLocks noChangeAspect="1"/>
          </p:cNvPicPr>
          <p:nvPr/>
        </p:nvPicPr>
        <p:blipFill>
          <a:blip r:embed="rId1"/>
          <a:stretch>
            <a:fillRect/>
          </a:stretch>
        </p:blipFill>
        <p:spPr>
          <a:xfrm>
            <a:off x="868680" y="1435608"/>
            <a:ext cx="274320" cy="274320"/>
          </a:xfrm>
          <a:prstGeom prst="rect">
            <a:avLst/>
          </a:prstGeom>
        </p:spPr>
      </p:pic>
      <p:sp>
        <p:nvSpPr>
          <p:cNvPr id="6" name="Text 3"/>
          <p:cNvSpPr txBox="1"/>
          <p:nvPr/>
        </p:nvSpPr>
        <p:spPr>
          <a:xfrm>
            <a:off x="457200" y="1938528"/>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1. Set up once</a:t>
            </a:r>
            <a:endParaRPr lang="en-US" sz="1300" dirty="0"/>
          </a:p>
        </p:txBody>
      </p:sp>
      <p:sp>
        <p:nvSpPr>
          <p:cNvPr id="7" name="Text 4"/>
          <p:cNvSpPr txBox="1"/>
          <p:nvPr/>
        </p:nvSpPr>
        <p:spPr>
          <a:xfrm>
            <a:off x="475488" y="2286000"/>
            <a:ext cx="1060704" cy="1188720"/>
          </a:xfrm>
          <a:prstGeom prst="rect">
            <a:avLst/>
          </a:prstGeom>
          <a:noFill/>
          <a:ln/>
        </p:spPr>
        <p:txBody>
          <a:bodyPr wrap="square" lIns="0" tIns="0" rIns="0" bIns="0" rtlCol="0" anchor="t"/>
          <a:lstStyle/>
          <a:p>
            <a:pPr algn="ctr" indent="0" marL="0">
              <a:buNone/>
            </a:pPr>
            <a:r>
              <a:rPr lang="en-US" sz="1100" dirty="0">
                <a:solidFill>
                  <a:schemeClr val="tx1"/>
                </a:solidFill>
              </a:rPr>
              <a:t>Add the project: where the steps and tests live, and how to run them</a:t>
            </a:r>
            <a:endParaRPr lang="en-US" sz="1100" dirty="0"/>
          </a:p>
        </p:txBody>
      </p:sp>
      <p:sp>
        <p:nvSpPr>
          <p:cNvPr id="8" name="Workflow 2 circle"/>
          <p:cNvSpPr/>
          <p:nvPr/>
        </p:nvSpPr>
        <p:spPr>
          <a:xfrm>
            <a:off x="1920240" y="1298448"/>
            <a:ext cx="548640" cy="548640"/>
          </a:xfrm>
          <a:prstGeom prst="ellipse">
            <a:avLst/>
          </a:prstGeom>
          <a:solidFill>
            <a:schemeClr val="accent1"/>
          </a:solidFill>
          <a:ln/>
        </p:spPr>
      </p:sp>
      <p:pic>
        <p:nvPicPr>
          <p:cNvPr id="9" name="Workflow 2 icon" descr="preencoded.png">    </p:cNvPr>
          <p:cNvPicPr>
            <a:picLocks noChangeAspect="1"/>
          </p:cNvPicPr>
          <p:nvPr/>
        </p:nvPicPr>
        <p:blipFill>
          <a:blip r:embed="rId2"/>
          <a:stretch>
            <a:fillRect/>
          </a:stretch>
        </p:blipFill>
        <p:spPr>
          <a:xfrm>
            <a:off x="2057400" y="1435608"/>
            <a:ext cx="274320" cy="274320"/>
          </a:xfrm>
          <a:prstGeom prst="rect">
            <a:avLst/>
          </a:prstGeom>
        </p:spPr>
      </p:pic>
      <p:sp>
        <p:nvSpPr>
          <p:cNvPr id="10" name="Text 6"/>
          <p:cNvSpPr txBox="1"/>
          <p:nvPr/>
        </p:nvSpPr>
        <p:spPr>
          <a:xfrm>
            <a:off x="1645920" y="1938528"/>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2. Find</a:t>
            </a:r>
            <a:endParaRPr lang="en-US" sz="1300" dirty="0"/>
          </a:p>
        </p:txBody>
      </p:sp>
      <p:sp>
        <p:nvSpPr>
          <p:cNvPr id="11" name="Text 7"/>
          <p:cNvSpPr txBox="1"/>
          <p:nvPr/>
        </p:nvSpPr>
        <p:spPr>
          <a:xfrm>
            <a:off x="1664208" y="2286000"/>
            <a:ext cx="1060704" cy="1188720"/>
          </a:xfrm>
          <a:prstGeom prst="rect">
            <a:avLst/>
          </a:prstGeom>
          <a:noFill/>
          <a:ln/>
        </p:spPr>
        <p:txBody>
          <a:bodyPr wrap="square" lIns="0" tIns="0" rIns="0" bIns="0" rtlCol="0" anchor="t"/>
          <a:lstStyle/>
          <a:p>
            <a:pPr algn="ctr" indent="0" marL="0">
              <a:buNone/>
            </a:pPr>
            <a:r>
              <a:rPr lang="en-US" sz="1100" dirty="0">
                <a:solidFill>
                  <a:schemeClr val="tx1"/>
                </a:solidFill>
              </a:rPr>
              <a:t>Search the step catalogue and reuse what already exists</a:t>
            </a:r>
            <a:endParaRPr lang="en-US" sz="1100" dirty="0"/>
          </a:p>
        </p:txBody>
      </p:sp>
      <p:sp>
        <p:nvSpPr>
          <p:cNvPr id="12" name="Workflow 3 circle"/>
          <p:cNvSpPr/>
          <p:nvPr/>
        </p:nvSpPr>
        <p:spPr>
          <a:xfrm>
            <a:off x="3108960" y="1298448"/>
            <a:ext cx="548640" cy="548640"/>
          </a:xfrm>
          <a:prstGeom prst="ellipse">
            <a:avLst/>
          </a:prstGeom>
          <a:solidFill>
            <a:schemeClr val="accent1"/>
          </a:solidFill>
          <a:ln/>
        </p:spPr>
      </p:sp>
      <p:pic>
        <p:nvPicPr>
          <p:cNvPr id="13" name="Workflow 3 icon" descr="preencoded.png">    </p:cNvPr>
          <p:cNvPicPr>
            <a:picLocks noChangeAspect="1"/>
          </p:cNvPicPr>
          <p:nvPr/>
        </p:nvPicPr>
        <p:blipFill>
          <a:blip r:embed="rId3"/>
          <a:stretch>
            <a:fillRect/>
          </a:stretch>
        </p:blipFill>
        <p:spPr>
          <a:xfrm>
            <a:off x="3246120" y="1435608"/>
            <a:ext cx="274320" cy="274320"/>
          </a:xfrm>
          <a:prstGeom prst="rect">
            <a:avLst/>
          </a:prstGeom>
        </p:spPr>
      </p:pic>
      <p:sp>
        <p:nvSpPr>
          <p:cNvPr id="14" name="Text 9"/>
          <p:cNvSpPr txBox="1"/>
          <p:nvPr/>
        </p:nvSpPr>
        <p:spPr>
          <a:xfrm>
            <a:off x="2834640" y="1938528"/>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3. Build</a:t>
            </a:r>
            <a:endParaRPr lang="en-US" sz="1300" dirty="0"/>
          </a:p>
        </p:txBody>
      </p:sp>
      <p:sp>
        <p:nvSpPr>
          <p:cNvPr id="15" name="Text 10"/>
          <p:cNvSpPr txBox="1"/>
          <p:nvPr/>
        </p:nvSpPr>
        <p:spPr>
          <a:xfrm>
            <a:off x="2852928" y="2286000"/>
            <a:ext cx="1060704" cy="1188720"/>
          </a:xfrm>
          <a:prstGeom prst="rect">
            <a:avLst/>
          </a:prstGeom>
          <a:noFill/>
          <a:ln/>
        </p:spPr>
        <p:txBody>
          <a:bodyPr wrap="square" lIns="0" tIns="0" rIns="0" bIns="0" rtlCol="0" anchor="t"/>
          <a:lstStyle/>
          <a:p>
            <a:pPr algn="ctr" indent="0" marL="0">
              <a:buNone/>
            </a:pPr>
            <a:r>
              <a:rPr lang="en-US" sz="1100" dirty="0">
                <a:solidFill>
                  <a:schemeClr val="tx1"/>
                </a:solidFill>
              </a:rPr>
              <a:t>Snap blocks into a test. Typed lines get ✓ or ✗ with suggestions</a:t>
            </a:r>
            <a:endParaRPr lang="en-US" sz="1100" dirty="0"/>
          </a:p>
        </p:txBody>
      </p:sp>
      <p:sp>
        <p:nvSpPr>
          <p:cNvPr id="16" name="Workflow 4 circle"/>
          <p:cNvSpPr/>
          <p:nvPr/>
        </p:nvSpPr>
        <p:spPr>
          <a:xfrm>
            <a:off x="4297680" y="1298448"/>
            <a:ext cx="548640" cy="548640"/>
          </a:xfrm>
          <a:prstGeom prst="ellipse">
            <a:avLst/>
          </a:prstGeom>
          <a:solidFill>
            <a:schemeClr val="accent1"/>
          </a:solidFill>
          <a:ln/>
        </p:spPr>
      </p:sp>
      <p:pic>
        <p:nvPicPr>
          <p:cNvPr id="17" name="Workflow 4 icon" descr="preencoded.png">    </p:cNvPr>
          <p:cNvPicPr>
            <a:picLocks noChangeAspect="1"/>
          </p:cNvPicPr>
          <p:nvPr/>
        </p:nvPicPr>
        <p:blipFill>
          <a:blip r:embed="rId4"/>
          <a:stretch>
            <a:fillRect/>
          </a:stretch>
        </p:blipFill>
        <p:spPr>
          <a:xfrm>
            <a:off x="4434840" y="1435608"/>
            <a:ext cx="274320" cy="274320"/>
          </a:xfrm>
          <a:prstGeom prst="rect">
            <a:avLst/>
          </a:prstGeom>
        </p:spPr>
      </p:pic>
      <p:sp>
        <p:nvSpPr>
          <p:cNvPr id="18" name="Text 12"/>
          <p:cNvSpPr txBox="1"/>
          <p:nvPr/>
        </p:nvSpPr>
        <p:spPr>
          <a:xfrm>
            <a:off x="4023360" y="1938528"/>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4. Fill gaps</a:t>
            </a:r>
            <a:endParaRPr lang="en-US" sz="1300" dirty="0"/>
          </a:p>
        </p:txBody>
      </p:sp>
      <p:sp>
        <p:nvSpPr>
          <p:cNvPr id="19" name="Text 13"/>
          <p:cNvSpPr txBox="1"/>
          <p:nvPr/>
        </p:nvSpPr>
        <p:spPr>
          <a:xfrm>
            <a:off x="4041648" y="2286000"/>
            <a:ext cx="1060704" cy="1188720"/>
          </a:xfrm>
          <a:prstGeom prst="rect">
            <a:avLst/>
          </a:prstGeom>
          <a:noFill/>
          <a:ln/>
        </p:spPr>
        <p:txBody>
          <a:bodyPr wrap="square" lIns="0" tIns="0" rIns="0" bIns="0" rtlCol="0" anchor="t"/>
          <a:lstStyle/>
          <a:p>
            <a:pPr algn="ctr" indent="0" marL="0">
              <a:buNone/>
            </a:pPr>
            <a:r>
              <a:rPr lang="en-US" sz="1100" dirty="0">
                <a:solidFill>
                  <a:schemeClr val="tx1"/>
                </a:solidFill>
              </a:rPr>
              <a:t>Missing a step? Build it with action blocks</a:t>
            </a:r>
            <a:endParaRPr lang="en-US" sz="1100" dirty="0"/>
          </a:p>
        </p:txBody>
      </p:sp>
      <p:sp>
        <p:nvSpPr>
          <p:cNvPr id="20" name="Workflow 5 circle"/>
          <p:cNvSpPr/>
          <p:nvPr/>
        </p:nvSpPr>
        <p:spPr>
          <a:xfrm>
            <a:off x="5486400" y="1298448"/>
            <a:ext cx="548640" cy="548640"/>
          </a:xfrm>
          <a:prstGeom prst="ellipse">
            <a:avLst/>
          </a:prstGeom>
          <a:solidFill>
            <a:schemeClr val="accent1"/>
          </a:solidFill>
          <a:ln/>
        </p:spPr>
      </p:sp>
      <p:pic>
        <p:nvPicPr>
          <p:cNvPr id="21" name="Workflow 5 icon" descr="preencoded.png">    </p:cNvPr>
          <p:cNvPicPr>
            <a:picLocks noChangeAspect="1"/>
          </p:cNvPicPr>
          <p:nvPr/>
        </p:nvPicPr>
        <p:blipFill>
          <a:blip r:embed="rId5"/>
          <a:stretch>
            <a:fillRect/>
          </a:stretch>
        </p:blipFill>
        <p:spPr>
          <a:xfrm>
            <a:off x="5623560" y="1435608"/>
            <a:ext cx="274320" cy="274320"/>
          </a:xfrm>
          <a:prstGeom prst="rect">
            <a:avLst/>
          </a:prstGeom>
        </p:spPr>
      </p:pic>
      <p:sp>
        <p:nvSpPr>
          <p:cNvPr id="22" name="Text 15"/>
          <p:cNvSpPr txBox="1"/>
          <p:nvPr/>
        </p:nvSpPr>
        <p:spPr>
          <a:xfrm>
            <a:off x="5212080" y="1938528"/>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5. Save</a:t>
            </a:r>
            <a:endParaRPr lang="en-US" sz="1300" dirty="0"/>
          </a:p>
        </p:txBody>
      </p:sp>
      <p:sp>
        <p:nvSpPr>
          <p:cNvPr id="23" name="Text 16"/>
          <p:cNvSpPr txBox="1"/>
          <p:nvPr/>
        </p:nvSpPr>
        <p:spPr>
          <a:xfrm>
            <a:off x="5230368" y="2286000"/>
            <a:ext cx="1060704" cy="1188720"/>
          </a:xfrm>
          <a:prstGeom prst="rect">
            <a:avLst/>
          </a:prstGeom>
          <a:noFill/>
          <a:ln/>
        </p:spPr>
        <p:txBody>
          <a:bodyPr wrap="square" lIns="0" tIns="0" rIns="0" bIns="0" rtlCol="0" anchor="t"/>
          <a:lstStyle/>
          <a:p>
            <a:pPr algn="ctr" indent="0" marL="0">
              <a:buNone/>
            </a:pPr>
            <a:r>
              <a:rPr lang="en-US" sz="1100" dirty="0">
                <a:solidFill>
                  <a:schemeClr val="tx1"/>
                </a:solidFill>
              </a:rPr>
              <a:t>Preview the change, then confirm. It goes into the history</a:t>
            </a:r>
            <a:endParaRPr lang="en-US" sz="1100" dirty="0"/>
          </a:p>
        </p:txBody>
      </p:sp>
      <p:sp>
        <p:nvSpPr>
          <p:cNvPr id="24" name="Workflow 6 circle"/>
          <p:cNvSpPr/>
          <p:nvPr/>
        </p:nvSpPr>
        <p:spPr>
          <a:xfrm>
            <a:off x="6675120" y="1298448"/>
            <a:ext cx="548640" cy="548640"/>
          </a:xfrm>
          <a:prstGeom prst="ellipse">
            <a:avLst/>
          </a:prstGeom>
          <a:solidFill>
            <a:schemeClr val="accent1"/>
          </a:solidFill>
          <a:ln/>
        </p:spPr>
      </p:sp>
      <p:pic>
        <p:nvPicPr>
          <p:cNvPr id="25" name="Workflow 6 icon" descr="preencoded.png">    </p:cNvPr>
          <p:cNvPicPr>
            <a:picLocks noChangeAspect="1"/>
          </p:cNvPicPr>
          <p:nvPr/>
        </p:nvPicPr>
        <p:blipFill>
          <a:blip r:embed="rId6"/>
          <a:stretch>
            <a:fillRect/>
          </a:stretch>
        </p:blipFill>
        <p:spPr>
          <a:xfrm>
            <a:off x="6812280" y="1435608"/>
            <a:ext cx="274320" cy="274320"/>
          </a:xfrm>
          <a:prstGeom prst="rect">
            <a:avLst/>
          </a:prstGeom>
        </p:spPr>
      </p:pic>
      <p:sp>
        <p:nvSpPr>
          <p:cNvPr id="26" name="Text 18"/>
          <p:cNvSpPr txBox="1"/>
          <p:nvPr/>
        </p:nvSpPr>
        <p:spPr>
          <a:xfrm>
            <a:off x="6400800" y="1938528"/>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6. Run</a:t>
            </a:r>
            <a:endParaRPr lang="en-US" sz="1300" dirty="0"/>
          </a:p>
        </p:txBody>
      </p:sp>
      <p:sp>
        <p:nvSpPr>
          <p:cNvPr id="27" name="Text 19"/>
          <p:cNvSpPr txBox="1"/>
          <p:nvPr/>
        </p:nvSpPr>
        <p:spPr>
          <a:xfrm>
            <a:off x="6419088" y="2286000"/>
            <a:ext cx="1060704" cy="1188720"/>
          </a:xfrm>
          <a:prstGeom prst="rect">
            <a:avLst/>
          </a:prstGeom>
          <a:noFill/>
          <a:ln/>
        </p:spPr>
        <p:txBody>
          <a:bodyPr wrap="square" lIns="0" tIns="0" rIns="0" bIns="0" rtlCol="0" anchor="t"/>
          <a:lstStyle/>
          <a:p>
            <a:pPr algn="ctr" indent="0" marL="0">
              <a:buNone/>
            </a:pPr>
            <a:r>
              <a:rPr lang="en-US" sz="1100" dirty="0">
                <a:solidFill>
                  <a:schemeClr val="tx1"/>
                </a:solidFill>
              </a:rPr>
              <a:t>See pass or fail, screenshots and replays</a:t>
            </a:r>
            <a:endParaRPr lang="en-US" sz="1100" dirty="0"/>
          </a:p>
        </p:txBody>
      </p:sp>
      <p:sp>
        <p:nvSpPr>
          <p:cNvPr id="28" name="Workflow 7 circle"/>
          <p:cNvSpPr/>
          <p:nvPr/>
        </p:nvSpPr>
        <p:spPr>
          <a:xfrm>
            <a:off x="7863840" y="1298448"/>
            <a:ext cx="548640" cy="548640"/>
          </a:xfrm>
          <a:prstGeom prst="ellipse">
            <a:avLst/>
          </a:prstGeom>
          <a:solidFill>
            <a:schemeClr val="accent1"/>
          </a:solidFill>
          <a:ln/>
        </p:spPr>
      </p:sp>
      <p:pic>
        <p:nvPicPr>
          <p:cNvPr id="29" name="Workflow 7 icon" descr="preencoded.png">    </p:cNvPr>
          <p:cNvPicPr>
            <a:picLocks noChangeAspect="1"/>
          </p:cNvPicPr>
          <p:nvPr/>
        </p:nvPicPr>
        <p:blipFill>
          <a:blip r:embed="rId7"/>
          <a:stretch>
            <a:fillRect/>
          </a:stretch>
        </p:blipFill>
        <p:spPr>
          <a:xfrm>
            <a:off x="8001000" y="1435608"/>
            <a:ext cx="274320" cy="274320"/>
          </a:xfrm>
          <a:prstGeom prst="rect">
            <a:avLst/>
          </a:prstGeom>
        </p:spPr>
      </p:pic>
      <p:sp>
        <p:nvSpPr>
          <p:cNvPr id="30" name="Text 21"/>
          <p:cNvSpPr txBox="1"/>
          <p:nvPr/>
        </p:nvSpPr>
        <p:spPr>
          <a:xfrm>
            <a:off x="7589520" y="1938528"/>
            <a:ext cx="1097280" cy="320040"/>
          </a:xfrm>
          <a:prstGeom prst="rect">
            <a:avLst/>
          </a:prstGeom>
          <a:noFill/>
          <a:ln/>
        </p:spPr>
        <p:txBody>
          <a:bodyPr wrap="square" lIns="0" tIns="0" rIns="0" bIns="0" rtlCol="0" anchor="t"/>
          <a:lstStyle/>
          <a:p>
            <a:pPr algn="ctr" indent="0" marL="0">
              <a:buNone/>
            </a:pPr>
            <a:r>
              <a:rPr lang="en-US" sz="1300" b="1" dirty="0">
                <a:solidFill>
                  <a:schemeClr val="tx2"/>
                </a:solidFill>
              </a:rPr>
              <a:t>7. Maintain</a:t>
            </a:r>
            <a:endParaRPr lang="en-US" sz="1300" dirty="0"/>
          </a:p>
        </p:txBody>
      </p:sp>
      <p:sp>
        <p:nvSpPr>
          <p:cNvPr id="31" name="Text 22"/>
          <p:cNvSpPr txBox="1"/>
          <p:nvPr/>
        </p:nvSpPr>
        <p:spPr>
          <a:xfrm>
            <a:off x="7607808" y="2286000"/>
            <a:ext cx="1060704" cy="1188720"/>
          </a:xfrm>
          <a:prstGeom prst="rect">
            <a:avLst/>
          </a:prstGeom>
          <a:noFill/>
          <a:ln/>
        </p:spPr>
        <p:txBody>
          <a:bodyPr wrap="square" lIns="0" tIns="0" rIns="0" bIns="0" rtlCol="0" anchor="t"/>
          <a:lstStyle/>
          <a:p>
            <a:pPr algn="ctr" indent="0" marL="0">
              <a:buNone/>
            </a:pPr>
            <a:r>
              <a:rPr lang="en-US" sz="1100" dirty="0">
                <a:solidFill>
                  <a:schemeClr val="tx1"/>
                </a:solidFill>
              </a:rPr>
              <a:t>Edit tests as blocks, merge duplicates, undo from history</a:t>
            </a:r>
            <a:endParaRPr lang="en-US" sz="1100" dirty="0"/>
          </a:p>
        </p:txBody>
      </p:sp>
      <p:sp>
        <p:nvSpPr>
          <p:cNvPr id="32" name="Text 23"/>
          <p:cNvSpPr txBox="1"/>
          <p:nvPr/>
        </p:nvSpPr>
        <p:spPr>
          <a:xfrm>
            <a:off x="457200" y="3456432"/>
            <a:ext cx="8229600" cy="274320"/>
          </a:xfrm>
          <a:prstGeom prst="rect">
            <a:avLst/>
          </a:prstGeom>
          <a:noFill/>
          <a:ln/>
        </p:spPr>
        <p:txBody>
          <a:bodyPr wrap="square" lIns="0" tIns="0" rIns="0" bIns="0" rtlCol="0" anchor="t"/>
          <a:lstStyle/>
          <a:p>
            <a:pPr algn="ctr" indent="0" marL="0">
              <a:buNone/>
            </a:pPr>
            <a:r>
              <a:rPr lang="en-US" sz="1100" i="1" dirty="0">
                <a:solidFill>
                  <a:schemeClr val="accent6"/>
                </a:solidFill>
              </a:rPr>
              <a:t>Steps 2 to 7 repeat for every new test. Step 1 happens once per project.</a:t>
            </a:r>
            <a:endParaRPr lang="en-US" sz="1100" dirty="0"/>
          </a:p>
        </p:txBody>
      </p:sp>
      <p:sp>
        <p:nvSpPr>
          <p:cNvPr id="33" name="Ordinary files strip"/>
          <p:cNvSpPr/>
          <p:nvPr/>
        </p:nvSpPr>
        <p:spPr>
          <a:xfrm>
            <a:off x="457200" y="3840480"/>
            <a:ext cx="8229600" cy="749808"/>
          </a:xfrm>
          <a:prstGeom prst="roundRect">
            <a:avLst>
              <a:gd name="adj" fmla="val 9756"/>
            </a:avLst>
          </a:prstGeom>
          <a:solidFill>
            <a:schemeClr val="tx2"/>
          </a:solidFill>
          <a:ln/>
        </p:spPr>
      </p:sp>
      <p:sp>
        <p:nvSpPr>
          <p:cNvPr id="34" name="Ordinary files circle"/>
          <p:cNvSpPr/>
          <p:nvPr/>
        </p:nvSpPr>
        <p:spPr>
          <a:xfrm>
            <a:off x="640080" y="3986784"/>
            <a:ext cx="457200" cy="457200"/>
          </a:xfrm>
          <a:prstGeom prst="ellipse">
            <a:avLst/>
          </a:prstGeom>
          <a:solidFill>
            <a:schemeClr val="accent2"/>
          </a:solidFill>
          <a:ln/>
        </p:spPr>
      </p:sp>
      <p:pic>
        <p:nvPicPr>
          <p:cNvPr id="35" name="Ordinary files icon" descr="preencoded.png">    </p:cNvPr>
          <p:cNvPicPr>
            <a:picLocks noChangeAspect="1"/>
          </p:cNvPicPr>
          <p:nvPr/>
        </p:nvPicPr>
        <p:blipFill>
          <a:blip r:embed="rId8"/>
          <a:stretch>
            <a:fillRect/>
          </a:stretch>
        </p:blipFill>
        <p:spPr>
          <a:xfrm>
            <a:off x="754380" y="4101084"/>
            <a:ext cx="228600" cy="228600"/>
          </a:xfrm>
          <a:prstGeom prst="rect">
            <a:avLst/>
          </a:prstGeom>
        </p:spPr>
      </p:pic>
      <p:sp>
        <p:nvSpPr>
          <p:cNvPr id="36" name="Ordinary files text"/>
          <p:cNvSpPr txBox="1"/>
          <p:nvPr/>
        </p:nvSpPr>
        <p:spPr>
          <a:xfrm>
            <a:off x="1280160" y="3840480"/>
            <a:ext cx="7223760" cy="749808"/>
          </a:xfrm>
          <a:prstGeom prst="rect">
            <a:avLst/>
          </a:prstGeom>
          <a:noFill/>
          <a:ln/>
        </p:spPr>
        <p:txBody>
          <a:bodyPr wrap="square" lIns="0" tIns="0" rIns="0" bIns="0" rtlCol="0" anchor="ctr"/>
          <a:lstStyle/>
          <a:p>
            <a:pPr indent="0" marL="0">
              <a:buNone/>
            </a:pPr>
            <a:r>
              <a:rPr lang="en-US" sz="1300" b="1" dirty="0">
                <a:solidFill>
                  <a:srgbClr val="F2C46D"/>
                </a:solidFill>
              </a:rPr>
              <a:t>No lock-in. </a:t>
            </a:r>
            <a:pPr indent="0" marL="0">
              <a:buNone/>
            </a:pPr>
            <a:r>
              <a:rPr lang="en-US" sz="1300" dirty="0">
                <a:solidFill>
                  <a:schemeClr val="bg1"/>
                </a:solidFill>
              </a:rPr>
              <a:t>The app writes ordinary test files. They run with the standard test runner (pytest) on any machine or in automated checks, without the app installed.</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Build tests from blocks, checked as you type</a:t>
            </a:r>
            <a:endParaRPr lang="en-US" sz="2800" dirty="0"/>
          </a:p>
        </p:txBody>
      </p:sp>
      <p:sp>
        <p:nvSpPr>
          <p:cNvPr id="3" name="Block editor screenshot frame"/>
          <p:cNvSpPr/>
          <p:nvPr/>
        </p:nvSpPr>
        <p:spPr>
          <a:xfrm>
            <a:off x="457200" y="1188720"/>
            <a:ext cx="4206240" cy="3383280"/>
          </a:xfrm>
          <a:prstGeom prst="rect">
            <a:avLst/>
          </a:prstGeom>
          <a:solidFill>
            <a:srgbClr val="FBF8F2"/>
          </a:solidFill>
          <a:ln w="19050">
            <a:solidFill>
              <a:srgbClr val="E39B2D"/>
            </a:solidFill>
            <a:prstDash val="dash"/>
          </a:ln>
        </p:spPr>
      </p:sp>
      <p:sp>
        <p:nvSpPr>
          <p:cNvPr id="4" name="Block editor screenshot"/>
          <p:cNvSpPr txBox="1"/>
          <p:nvPr/>
        </p:nvSpPr>
        <p:spPr>
          <a:xfrm>
            <a:off x="640080" y="1188720"/>
            <a:ext cx="3840480" cy="3383280"/>
          </a:xfrm>
          <a:prstGeom prst="rect">
            <a:avLst/>
          </a:prstGeom>
          <a:noFill/>
          <a:ln/>
        </p:spPr>
        <p:txBody>
          <a:bodyPr wrap="square" lIns="0" tIns="0" rIns="0" bIns="0" rtlCol="0" anchor="ctr"/>
          <a:lstStyle/>
          <a:p>
            <a:pPr algn="ctr" indent="0" marL="0">
              <a:buNone/>
            </a:pPr>
            <a:r>
              <a:rPr lang="en-US" sz="1500" b="1" dirty="0">
                <a:solidFill>
                  <a:srgbClr val="8A5A0C"/>
                </a:solidFill>
              </a:rPr>
              <a:t>[SCREENSHOT: block editor]</a:t>
            </a:r>
            <a:endParaRPr lang="en-US" sz="1400" dirty="0"/>
          </a:p>
          <a:p>
            <a:pPr algn="ctr" indent="0" marL="0">
              <a:buNone/>
            </a:pPr>
            <a:r>
              <a:rPr lang="en-US" sz="1100" dirty="0">
                <a:solidFill>
                  <a:schemeClr val="accent6"/>
                </a:solidFill>
              </a:rPr>
              <a:t>Paste a screenshot from the live demo here</a:t>
            </a:r>
            <a:endParaRPr lang="en-US" sz="1400" dirty="0"/>
          </a:p>
        </p:txBody>
      </p:sp>
      <p:sp>
        <p:nvSpPr>
          <p:cNvPr id="5" name="State 1"/>
          <p:cNvSpPr/>
          <p:nvPr/>
        </p:nvSpPr>
        <p:spPr>
          <a:xfrm>
            <a:off x="4937760" y="1188720"/>
            <a:ext cx="3749040" cy="1024128"/>
          </a:xfrm>
          <a:prstGeom prst="roundRect">
            <a:avLst>
              <a:gd name="adj" fmla="val 7143"/>
            </a:avLst>
          </a:prstGeom>
          <a:solidFill>
            <a:schemeClr val="accent5"/>
          </a:solidFill>
          <a:ln/>
        </p:spPr>
      </p:sp>
      <p:sp>
        <p:nvSpPr>
          <p:cNvPr id="6" name="State 1 circle"/>
          <p:cNvSpPr/>
          <p:nvPr/>
        </p:nvSpPr>
        <p:spPr>
          <a:xfrm>
            <a:off x="5074920" y="1325880"/>
            <a:ext cx="411480" cy="411480"/>
          </a:xfrm>
          <a:prstGeom prst="ellipse">
            <a:avLst/>
          </a:prstGeom>
          <a:solidFill>
            <a:schemeClr val="accent1"/>
          </a:solidFill>
          <a:ln/>
        </p:spPr>
      </p:sp>
      <p:pic>
        <p:nvPicPr>
          <p:cNvPr id="7" name="State 1 icon" descr="preencoded.png">    </p:cNvPr>
          <p:cNvPicPr>
            <a:picLocks noChangeAspect="1"/>
          </p:cNvPicPr>
          <p:nvPr/>
        </p:nvPicPr>
        <p:blipFill>
          <a:blip r:embed="rId1"/>
          <a:stretch>
            <a:fillRect/>
          </a:stretch>
        </p:blipFill>
        <p:spPr>
          <a:xfrm>
            <a:off x="5177790" y="1428750"/>
            <a:ext cx="205740" cy="205740"/>
          </a:xfrm>
          <a:prstGeom prst="rect">
            <a:avLst/>
          </a:prstGeom>
        </p:spPr>
      </p:pic>
      <p:sp>
        <p:nvSpPr>
          <p:cNvPr id="8" name="Text 5"/>
          <p:cNvSpPr txBox="1"/>
          <p:nvPr/>
        </p:nvSpPr>
        <p:spPr>
          <a:xfrm>
            <a:off x="5623560" y="1325880"/>
            <a:ext cx="2926080" cy="411480"/>
          </a:xfrm>
          <a:prstGeom prst="rect">
            <a:avLst/>
          </a:prstGeom>
          <a:noFill/>
          <a:ln/>
        </p:spPr>
        <p:txBody>
          <a:bodyPr wrap="square" lIns="0" tIns="0" rIns="0" bIns="0" rtlCol="0" anchor="ctr"/>
          <a:lstStyle/>
          <a:p>
            <a:pPr indent="0" marL="0">
              <a:buNone/>
            </a:pPr>
            <a:r>
              <a:rPr lang="en-US" sz="1400" b="1" dirty="0">
                <a:solidFill>
                  <a:schemeClr val="tx2"/>
                </a:solidFill>
              </a:rPr>
              <a:t>Step exists</a:t>
            </a:r>
            <a:endParaRPr lang="en-US" sz="1400" dirty="0"/>
          </a:p>
        </p:txBody>
      </p:sp>
      <p:sp>
        <p:nvSpPr>
          <p:cNvPr id="9" name="Text 6"/>
          <p:cNvSpPr txBox="1"/>
          <p:nvPr/>
        </p:nvSpPr>
        <p:spPr>
          <a:xfrm>
            <a:off x="5623560" y="1691640"/>
            <a:ext cx="2971800" cy="475488"/>
          </a:xfrm>
          <a:prstGeom prst="rect">
            <a:avLst/>
          </a:prstGeom>
          <a:noFill/>
          <a:ln/>
        </p:spPr>
        <p:txBody>
          <a:bodyPr wrap="square" lIns="0" tIns="0" rIns="0" bIns="0" rtlCol="0" anchor="t"/>
          <a:lstStyle/>
          <a:p>
            <a:pPr indent="0" marL="0">
              <a:buNone/>
            </a:pPr>
            <a:r>
              <a:rPr lang="en-US" sz="1100" dirty="0">
                <a:solidFill>
                  <a:schemeClr val="tx1"/>
                </a:solidFill>
              </a:rPr>
              <a:t>Ready to run. Blocks dragged from the catalogue are ready by construction.</a:t>
            </a:r>
            <a:endParaRPr lang="en-US" sz="1100" dirty="0"/>
          </a:p>
        </p:txBody>
      </p:sp>
      <p:sp>
        <p:nvSpPr>
          <p:cNvPr id="10" name="State 2"/>
          <p:cNvSpPr/>
          <p:nvPr/>
        </p:nvSpPr>
        <p:spPr>
          <a:xfrm>
            <a:off x="4937760" y="2350008"/>
            <a:ext cx="3749040" cy="1024128"/>
          </a:xfrm>
          <a:prstGeom prst="roundRect">
            <a:avLst>
              <a:gd name="adj" fmla="val 7143"/>
            </a:avLst>
          </a:prstGeom>
          <a:solidFill>
            <a:srgbClr val="FDF0D9"/>
          </a:solidFill>
          <a:ln/>
        </p:spPr>
      </p:sp>
      <p:sp>
        <p:nvSpPr>
          <p:cNvPr id="11" name="State 2 circle"/>
          <p:cNvSpPr/>
          <p:nvPr/>
        </p:nvSpPr>
        <p:spPr>
          <a:xfrm>
            <a:off x="5074920" y="2487168"/>
            <a:ext cx="411480" cy="411480"/>
          </a:xfrm>
          <a:prstGeom prst="ellipse">
            <a:avLst/>
          </a:prstGeom>
          <a:solidFill>
            <a:schemeClr val="accent2"/>
          </a:solidFill>
          <a:ln/>
        </p:spPr>
      </p:sp>
      <p:pic>
        <p:nvPicPr>
          <p:cNvPr id="12" name="State 2 icon" descr="preencoded.png">    </p:cNvPr>
          <p:cNvPicPr>
            <a:picLocks noChangeAspect="1"/>
          </p:cNvPicPr>
          <p:nvPr/>
        </p:nvPicPr>
        <p:blipFill>
          <a:blip r:embed="rId2"/>
          <a:stretch>
            <a:fillRect/>
          </a:stretch>
        </p:blipFill>
        <p:spPr>
          <a:xfrm>
            <a:off x="5177790" y="2590038"/>
            <a:ext cx="205740" cy="205740"/>
          </a:xfrm>
          <a:prstGeom prst="rect">
            <a:avLst/>
          </a:prstGeom>
        </p:spPr>
      </p:pic>
      <p:sp>
        <p:nvSpPr>
          <p:cNvPr id="13" name="Text 9"/>
          <p:cNvSpPr txBox="1"/>
          <p:nvPr/>
        </p:nvSpPr>
        <p:spPr>
          <a:xfrm>
            <a:off x="5623560" y="2487168"/>
            <a:ext cx="2926080" cy="411480"/>
          </a:xfrm>
          <a:prstGeom prst="rect">
            <a:avLst/>
          </a:prstGeom>
          <a:noFill/>
          <a:ln/>
        </p:spPr>
        <p:txBody>
          <a:bodyPr wrap="square" lIns="0" tIns="0" rIns="0" bIns="0" rtlCol="0" anchor="ctr"/>
          <a:lstStyle/>
          <a:p>
            <a:pPr indent="0" marL="0">
              <a:buNone/>
            </a:pPr>
            <a:r>
              <a:rPr lang="en-US" sz="1400" b="1" dirty="0">
                <a:solidFill>
                  <a:schemeClr val="tx2"/>
                </a:solidFill>
              </a:rPr>
              <a:t>Did you mean…?</a:t>
            </a:r>
            <a:endParaRPr lang="en-US" sz="1400" dirty="0"/>
          </a:p>
        </p:txBody>
      </p:sp>
      <p:sp>
        <p:nvSpPr>
          <p:cNvPr id="14" name="Text 10"/>
          <p:cNvSpPr txBox="1"/>
          <p:nvPr/>
        </p:nvSpPr>
        <p:spPr>
          <a:xfrm>
            <a:off x="5623560" y="2852928"/>
            <a:ext cx="2971800" cy="475488"/>
          </a:xfrm>
          <a:prstGeom prst="rect">
            <a:avLst/>
          </a:prstGeom>
          <a:noFill/>
          <a:ln/>
        </p:spPr>
        <p:txBody>
          <a:bodyPr wrap="square" lIns="0" tIns="0" rIns="0" bIns="0" rtlCol="0" anchor="t"/>
          <a:lstStyle/>
          <a:p>
            <a:pPr indent="0" marL="0">
              <a:buNone/>
            </a:pPr>
            <a:r>
              <a:rPr lang="en-US" sz="1100" dirty="0">
                <a:solidFill>
                  <a:schemeClr val="tx1"/>
                </a:solidFill>
              </a:rPr>
              <a:t>“I open the login page” → “I am on the login page” (73% similar). One click swaps it in.</a:t>
            </a:r>
            <a:endParaRPr lang="en-US" sz="1100" dirty="0"/>
          </a:p>
        </p:txBody>
      </p:sp>
      <p:sp>
        <p:nvSpPr>
          <p:cNvPr id="15" name="State 3"/>
          <p:cNvSpPr/>
          <p:nvPr/>
        </p:nvSpPr>
        <p:spPr>
          <a:xfrm>
            <a:off x="4937760" y="3511296"/>
            <a:ext cx="3749040" cy="1024128"/>
          </a:xfrm>
          <a:prstGeom prst="roundRect">
            <a:avLst>
              <a:gd name="adj" fmla="val 7143"/>
            </a:avLst>
          </a:prstGeom>
          <a:solidFill>
            <a:srgbClr val="FBE9E5"/>
          </a:solidFill>
          <a:ln/>
        </p:spPr>
      </p:sp>
      <p:sp>
        <p:nvSpPr>
          <p:cNvPr id="16" name="State 3 circle"/>
          <p:cNvSpPr/>
          <p:nvPr/>
        </p:nvSpPr>
        <p:spPr>
          <a:xfrm>
            <a:off x="5074920" y="3648456"/>
            <a:ext cx="411480" cy="411480"/>
          </a:xfrm>
          <a:prstGeom prst="ellipse">
            <a:avLst/>
          </a:prstGeom>
          <a:solidFill>
            <a:schemeClr val="accent4"/>
          </a:solidFill>
          <a:ln/>
        </p:spPr>
      </p:sp>
      <p:pic>
        <p:nvPicPr>
          <p:cNvPr id="17" name="State 3 icon" descr="preencoded.png">    </p:cNvPr>
          <p:cNvPicPr>
            <a:picLocks noChangeAspect="1"/>
          </p:cNvPicPr>
          <p:nvPr/>
        </p:nvPicPr>
        <p:blipFill>
          <a:blip r:embed="rId3"/>
          <a:stretch>
            <a:fillRect/>
          </a:stretch>
        </p:blipFill>
        <p:spPr>
          <a:xfrm>
            <a:off x="5177790" y="3751326"/>
            <a:ext cx="205740" cy="205740"/>
          </a:xfrm>
          <a:prstGeom prst="rect">
            <a:avLst/>
          </a:prstGeom>
        </p:spPr>
      </p:pic>
      <p:sp>
        <p:nvSpPr>
          <p:cNvPr id="18" name="Text 13"/>
          <p:cNvSpPr txBox="1"/>
          <p:nvPr/>
        </p:nvSpPr>
        <p:spPr>
          <a:xfrm>
            <a:off x="5623560" y="3648456"/>
            <a:ext cx="2926080" cy="411480"/>
          </a:xfrm>
          <a:prstGeom prst="rect">
            <a:avLst/>
          </a:prstGeom>
          <a:noFill/>
          <a:ln/>
        </p:spPr>
        <p:txBody>
          <a:bodyPr wrap="square" lIns="0" tIns="0" rIns="0" bIns="0" rtlCol="0" anchor="ctr"/>
          <a:lstStyle/>
          <a:p>
            <a:pPr indent="0" marL="0">
              <a:buNone/>
            </a:pPr>
            <a:r>
              <a:rPr lang="en-US" sz="1400" b="1" dirty="0">
                <a:solidFill>
                  <a:schemeClr val="tx2"/>
                </a:solidFill>
              </a:rPr>
              <a:t>Value doesn’t fit</a:t>
            </a:r>
            <a:endParaRPr lang="en-US" sz="1400" dirty="0"/>
          </a:p>
        </p:txBody>
      </p:sp>
      <p:sp>
        <p:nvSpPr>
          <p:cNvPr id="19" name="Text 14"/>
          <p:cNvSpPr txBox="1"/>
          <p:nvPr/>
        </p:nvSpPr>
        <p:spPr>
          <a:xfrm>
            <a:off x="5623560" y="4014216"/>
            <a:ext cx="2971800" cy="475488"/>
          </a:xfrm>
          <a:prstGeom prst="rect">
            <a:avLst/>
          </a:prstGeom>
          <a:noFill/>
          <a:ln/>
        </p:spPr>
        <p:txBody>
          <a:bodyPr wrap="square" lIns="0" tIns="0" rIns="0" bIns="0" rtlCol="0" anchor="t"/>
          <a:lstStyle/>
          <a:p>
            <a:pPr indent="0" marL="0">
              <a:buNone/>
            </a:pPr>
            <a:r>
              <a:rPr lang="en-US" sz="1100" dirty="0">
                <a:solidFill>
                  <a:schemeClr val="tx1"/>
                </a:solidFill>
              </a:rPr>
              <a:t>A warning if, for example, there’s text where a number is needed.</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 new test: 2 lines reused, 4 drafted automatically</a:t>
            </a:r>
            <a:endParaRPr lang="en-US" sz="2800" dirty="0"/>
          </a:p>
        </p:txBody>
      </p:sp>
      <p:sp>
        <p:nvSpPr>
          <p:cNvPr id="3" name="Text 1"/>
          <p:cNvSpPr txBox="1"/>
          <p:nvPr/>
        </p:nvSpPr>
        <p:spPr>
          <a:xfrm>
            <a:off x="457200" y="1188720"/>
            <a:ext cx="5120640" cy="274320"/>
          </a:xfrm>
          <a:prstGeom prst="rect">
            <a:avLst/>
          </a:prstGeom>
          <a:noFill/>
          <a:ln/>
        </p:spPr>
        <p:txBody>
          <a:bodyPr wrap="square" lIns="0" tIns="0" rIns="0" bIns="0" rtlCol="0" anchor="t"/>
          <a:lstStyle/>
          <a:p>
            <a:pPr indent="0" marL="0">
              <a:buNone/>
            </a:pPr>
            <a:r>
              <a:rPr lang="en-US" sz="1300" dirty="0">
                <a:solidFill>
                  <a:schemeClr val="accent6"/>
                </a:solidFill>
              </a:rPr>
              <a:t>New “checkout” test, as written</a:t>
            </a:r>
            <a:endParaRPr lang="en-US" sz="1300" dirty="0"/>
          </a:p>
        </p:txBody>
      </p:sp>
      <p:sp>
        <p:nvSpPr>
          <p:cNvPr id="4" name="Line 1"/>
          <p:cNvSpPr/>
          <p:nvPr/>
        </p:nvSpPr>
        <p:spPr>
          <a:xfrm>
            <a:off x="457200" y="1536192"/>
            <a:ext cx="5120640" cy="402336"/>
          </a:xfrm>
          <a:prstGeom prst="roundRect">
            <a:avLst>
              <a:gd name="adj" fmla="val 18182"/>
            </a:avLst>
          </a:prstGeom>
          <a:solidFill>
            <a:schemeClr val="accent5"/>
          </a:solidFill>
          <a:ln/>
        </p:spPr>
      </p:sp>
      <p:pic>
        <p:nvPicPr>
          <p:cNvPr id="5" name="Line icon 1" descr="preencoded.png">    </p:cNvPr>
          <p:cNvPicPr>
            <a:picLocks noChangeAspect="1"/>
          </p:cNvPicPr>
          <p:nvPr/>
        </p:nvPicPr>
        <p:blipFill>
          <a:blip r:embed="rId1"/>
          <a:stretch>
            <a:fillRect/>
          </a:stretch>
        </p:blipFill>
        <p:spPr>
          <a:xfrm>
            <a:off x="566928" y="1618488"/>
            <a:ext cx="237744" cy="237744"/>
          </a:xfrm>
          <a:prstGeom prst="rect">
            <a:avLst/>
          </a:prstGeom>
        </p:spPr>
      </p:pic>
      <p:sp>
        <p:nvSpPr>
          <p:cNvPr id="6" name="Text 3"/>
          <p:cNvSpPr txBox="1"/>
          <p:nvPr/>
        </p:nvSpPr>
        <p:spPr>
          <a:xfrm>
            <a:off x="914400" y="1536192"/>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Given I am logged in as "standard_user"</a:t>
            </a:r>
            <a:endParaRPr lang="en-US" sz="1100" dirty="0"/>
          </a:p>
        </p:txBody>
      </p:sp>
      <p:sp>
        <p:nvSpPr>
          <p:cNvPr id="7" name="Line 2"/>
          <p:cNvSpPr/>
          <p:nvPr/>
        </p:nvSpPr>
        <p:spPr>
          <a:xfrm>
            <a:off x="457200" y="2011680"/>
            <a:ext cx="5120640" cy="402336"/>
          </a:xfrm>
          <a:prstGeom prst="roundRect">
            <a:avLst>
              <a:gd name="adj" fmla="val 18182"/>
            </a:avLst>
          </a:prstGeom>
          <a:solidFill>
            <a:schemeClr val="accent5"/>
          </a:solidFill>
          <a:ln/>
        </p:spPr>
      </p:sp>
      <p:pic>
        <p:nvPicPr>
          <p:cNvPr id="8" name="Line icon 2" descr="preencoded.png">    </p:cNvPr>
          <p:cNvPicPr>
            <a:picLocks noChangeAspect="1"/>
          </p:cNvPicPr>
          <p:nvPr/>
        </p:nvPicPr>
        <p:blipFill>
          <a:blip r:embed="rId2"/>
          <a:stretch>
            <a:fillRect/>
          </a:stretch>
        </p:blipFill>
        <p:spPr>
          <a:xfrm>
            <a:off x="566928" y="2093976"/>
            <a:ext cx="237744" cy="237744"/>
          </a:xfrm>
          <a:prstGeom prst="rect">
            <a:avLst/>
          </a:prstGeom>
        </p:spPr>
      </p:pic>
      <p:sp>
        <p:nvSpPr>
          <p:cNvPr id="9" name="Text 5"/>
          <p:cNvSpPr txBox="1"/>
          <p:nvPr/>
        </p:nvSpPr>
        <p:spPr>
          <a:xfrm>
            <a:off x="914400" y="2011680"/>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When I add "Sauce Labs Backpack" to the cart</a:t>
            </a:r>
            <a:endParaRPr lang="en-US" sz="1100" dirty="0"/>
          </a:p>
        </p:txBody>
      </p:sp>
      <p:sp>
        <p:nvSpPr>
          <p:cNvPr id="10" name="Line 3"/>
          <p:cNvSpPr/>
          <p:nvPr/>
        </p:nvSpPr>
        <p:spPr>
          <a:xfrm>
            <a:off x="457200" y="2487168"/>
            <a:ext cx="5120640" cy="402336"/>
          </a:xfrm>
          <a:prstGeom prst="roundRect">
            <a:avLst>
              <a:gd name="adj" fmla="val 18182"/>
            </a:avLst>
          </a:prstGeom>
          <a:solidFill>
            <a:srgbClr val="FDF0D9"/>
          </a:solidFill>
          <a:ln/>
        </p:spPr>
      </p:sp>
      <p:pic>
        <p:nvPicPr>
          <p:cNvPr id="11" name="Line icon 3" descr="preencoded.png">    </p:cNvPr>
          <p:cNvPicPr>
            <a:picLocks noChangeAspect="1"/>
          </p:cNvPicPr>
          <p:nvPr/>
        </p:nvPicPr>
        <p:blipFill>
          <a:blip r:embed="rId3"/>
          <a:stretch>
            <a:fillRect/>
          </a:stretch>
        </p:blipFill>
        <p:spPr>
          <a:xfrm>
            <a:off x="566928" y="2569464"/>
            <a:ext cx="237744" cy="237744"/>
          </a:xfrm>
          <a:prstGeom prst="rect">
            <a:avLst/>
          </a:prstGeom>
        </p:spPr>
      </p:pic>
      <p:sp>
        <p:nvSpPr>
          <p:cNvPr id="12" name="Text 7"/>
          <p:cNvSpPr txBox="1"/>
          <p:nvPr/>
        </p:nvSpPr>
        <p:spPr>
          <a:xfrm>
            <a:off x="914400" y="2487168"/>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And I open the cart page</a:t>
            </a:r>
            <a:endParaRPr lang="en-US" sz="1100" dirty="0"/>
          </a:p>
        </p:txBody>
      </p:sp>
      <p:sp>
        <p:nvSpPr>
          <p:cNvPr id="13" name="Line 4"/>
          <p:cNvSpPr/>
          <p:nvPr/>
        </p:nvSpPr>
        <p:spPr>
          <a:xfrm>
            <a:off x="457200" y="2962656"/>
            <a:ext cx="5120640" cy="402336"/>
          </a:xfrm>
          <a:prstGeom prst="roundRect">
            <a:avLst>
              <a:gd name="adj" fmla="val 18182"/>
            </a:avLst>
          </a:prstGeom>
          <a:solidFill>
            <a:srgbClr val="FDF0D9"/>
          </a:solidFill>
          <a:ln/>
        </p:spPr>
      </p:sp>
      <p:pic>
        <p:nvPicPr>
          <p:cNvPr id="14" name="Line icon 4" descr="preencoded.png">    </p:cNvPr>
          <p:cNvPicPr>
            <a:picLocks noChangeAspect="1"/>
          </p:cNvPicPr>
          <p:nvPr/>
        </p:nvPicPr>
        <p:blipFill>
          <a:blip r:embed="rId4"/>
          <a:stretch>
            <a:fillRect/>
          </a:stretch>
        </p:blipFill>
        <p:spPr>
          <a:xfrm>
            <a:off x="566928" y="3044952"/>
            <a:ext cx="237744" cy="237744"/>
          </a:xfrm>
          <a:prstGeom prst="rect">
            <a:avLst/>
          </a:prstGeom>
        </p:spPr>
      </p:pic>
      <p:sp>
        <p:nvSpPr>
          <p:cNvPr id="15" name="Text 9"/>
          <p:cNvSpPr txBox="1"/>
          <p:nvPr/>
        </p:nvSpPr>
        <p:spPr>
          <a:xfrm>
            <a:off x="914400" y="2962656"/>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And I go to checkout</a:t>
            </a:r>
            <a:endParaRPr lang="en-US" sz="1100" dirty="0"/>
          </a:p>
        </p:txBody>
      </p:sp>
      <p:sp>
        <p:nvSpPr>
          <p:cNvPr id="16" name="Line 5"/>
          <p:cNvSpPr/>
          <p:nvPr/>
        </p:nvSpPr>
        <p:spPr>
          <a:xfrm>
            <a:off x="457200" y="3438144"/>
            <a:ext cx="5120640" cy="402336"/>
          </a:xfrm>
          <a:prstGeom prst="roundRect">
            <a:avLst>
              <a:gd name="adj" fmla="val 18182"/>
            </a:avLst>
          </a:prstGeom>
          <a:solidFill>
            <a:srgbClr val="FDF0D9"/>
          </a:solidFill>
          <a:ln/>
        </p:spPr>
      </p:sp>
      <p:pic>
        <p:nvPicPr>
          <p:cNvPr id="17" name="Line icon 5" descr="preencoded.png">    </p:cNvPr>
          <p:cNvPicPr>
            <a:picLocks noChangeAspect="1"/>
          </p:cNvPicPr>
          <p:nvPr/>
        </p:nvPicPr>
        <p:blipFill>
          <a:blip r:embed="rId5"/>
          <a:stretch>
            <a:fillRect/>
          </a:stretch>
        </p:blipFill>
        <p:spPr>
          <a:xfrm>
            <a:off x="566928" y="3520440"/>
            <a:ext cx="237744" cy="237744"/>
          </a:xfrm>
          <a:prstGeom prst="rect">
            <a:avLst/>
          </a:prstGeom>
        </p:spPr>
      </p:pic>
      <p:sp>
        <p:nvSpPr>
          <p:cNvPr id="18" name="Text 11"/>
          <p:cNvSpPr txBox="1"/>
          <p:nvPr/>
        </p:nvSpPr>
        <p:spPr>
          <a:xfrm>
            <a:off x="914400" y="3438144"/>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And I enter my details "Ada" "Lovelace" "90210"</a:t>
            </a:r>
            <a:endParaRPr lang="en-US" sz="1100" dirty="0"/>
          </a:p>
        </p:txBody>
      </p:sp>
      <p:sp>
        <p:nvSpPr>
          <p:cNvPr id="19" name="Line 6"/>
          <p:cNvSpPr/>
          <p:nvPr/>
        </p:nvSpPr>
        <p:spPr>
          <a:xfrm>
            <a:off x="457200" y="3913632"/>
            <a:ext cx="5120640" cy="402336"/>
          </a:xfrm>
          <a:prstGeom prst="roundRect">
            <a:avLst>
              <a:gd name="adj" fmla="val 18182"/>
            </a:avLst>
          </a:prstGeom>
          <a:solidFill>
            <a:srgbClr val="FDF0D9"/>
          </a:solidFill>
          <a:ln/>
        </p:spPr>
      </p:sp>
      <p:pic>
        <p:nvPicPr>
          <p:cNvPr id="20" name="Line icon 6" descr="preencoded.png">    </p:cNvPr>
          <p:cNvPicPr>
            <a:picLocks noChangeAspect="1"/>
          </p:cNvPicPr>
          <p:nvPr/>
        </p:nvPicPr>
        <p:blipFill>
          <a:blip r:embed="rId6"/>
          <a:stretch>
            <a:fillRect/>
          </a:stretch>
        </p:blipFill>
        <p:spPr>
          <a:xfrm>
            <a:off x="566928" y="3995928"/>
            <a:ext cx="237744" cy="237744"/>
          </a:xfrm>
          <a:prstGeom prst="rect">
            <a:avLst/>
          </a:prstGeom>
        </p:spPr>
      </p:pic>
      <p:sp>
        <p:nvSpPr>
          <p:cNvPr id="21" name="Text 13"/>
          <p:cNvSpPr txBox="1"/>
          <p:nvPr/>
        </p:nvSpPr>
        <p:spPr>
          <a:xfrm>
            <a:off x="914400" y="3913632"/>
            <a:ext cx="4572000" cy="402336"/>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Then the order total is "$29.99"</a:t>
            </a:r>
            <a:endParaRPr lang="en-US" sz="1100" dirty="0"/>
          </a:p>
        </p:txBody>
      </p:sp>
      <p:sp>
        <p:nvSpPr>
          <p:cNvPr id="22" name="Stat reused"/>
          <p:cNvSpPr/>
          <p:nvPr/>
        </p:nvSpPr>
        <p:spPr>
          <a:xfrm>
            <a:off x="5943600" y="1188720"/>
            <a:ext cx="2743200" cy="1508760"/>
          </a:xfrm>
          <a:prstGeom prst="roundRect">
            <a:avLst>
              <a:gd name="adj" fmla="val 4848"/>
            </a:avLst>
          </a:prstGeom>
          <a:solidFill>
            <a:schemeClr val="bg2"/>
          </a:solidFill>
          <a:ln/>
        </p:spPr>
      </p:sp>
      <p:sp>
        <p:nvSpPr>
          <p:cNvPr id="23" name="Text 15"/>
          <p:cNvSpPr txBox="1"/>
          <p:nvPr/>
        </p:nvSpPr>
        <p:spPr>
          <a:xfrm>
            <a:off x="6126480" y="1280160"/>
            <a:ext cx="2377440"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 of 6</a:t>
            </a:r>
            <a:endParaRPr lang="en-US" sz="3200" dirty="0"/>
          </a:p>
        </p:txBody>
      </p:sp>
      <p:sp>
        <p:nvSpPr>
          <p:cNvPr id="24" name="Text 16"/>
          <p:cNvSpPr txBox="1"/>
          <p:nvPr/>
        </p:nvSpPr>
        <p:spPr>
          <a:xfrm>
            <a:off x="6126480" y="1920240"/>
            <a:ext cx="2377440" cy="685800"/>
          </a:xfrm>
          <a:prstGeom prst="rect">
            <a:avLst/>
          </a:prstGeom>
          <a:noFill/>
          <a:ln/>
        </p:spPr>
        <p:txBody>
          <a:bodyPr wrap="square" lIns="0" tIns="0" rIns="0" bIns="0" rtlCol="0" anchor="t"/>
          <a:lstStyle/>
          <a:p>
            <a:pPr indent="0" marL="0">
              <a:buNone/>
            </a:pPr>
            <a:r>
              <a:rPr lang="en-US" sz="1300" dirty="0">
                <a:solidFill>
                  <a:schemeClr val="tx1"/>
                </a:solidFill>
              </a:rPr>
              <a:t>lines reuse steps we already have. No new code needed.</a:t>
            </a:r>
            <a:endParaRPr lang="en-US" sz="1300" dirty="0"/>
          </a:p>
        </p:txBody>
      </p:sp>
      <p:sp>
        <p:nvSpPr>
          <p:cNvPr id="25" name="Stat drafted"/>
          <p:cNvSpPr/>
          <p:nvPr/>
        </p:nvSpPr>
        <p:spPr>
          <a:xfrm>
            <a:off x="5943600" y="2926080"/>
            <a:ext cx="2743200" cy="1508760"/>
          </a:xfrm>
          <a:prstGeom prst="roundRect">
            <a:avLst>
              <a:gd name="adj" fmla="val 4848"/>
            </a:avLst>
          </a:prstGeom>
          <a:solidFill>
            <a:srgbClr val="FDF0D9"/>
          </a:solidFill>
          <a:ln/>
        </p:spPr>
      </p:sp>
      <p:sp>
        <p:nvSpPr>
          <p:cNvPr id="26" name="Text 18"/>
          <p:cNvSpPr txBox="1"/>
          <p:nvPr/>
        </p:nvSpPr>
        <p:spPr>
          <a:xfrm>
            <a:off x="6126480" y="3017520"/>
            <a:ext cx="2377440" cy="640080"/>
          </a:xfrm>
          <a:prstGeom prst="rect">
            <a:avLst/>
          </a:prstGeom>
          <a:noFill/>
          <a:ln/>
        </p:spPr>
        <p:txBody>
          <a:bodyPr wrap="square" lIns="0" tIns="0" rIns="0" bIns="0" rtlCol="0" anchor="ctr"/>
          <a:lstStyle/>
          <a:p>
            <a:pPr indent="0" marL="0">
              <a:buNone/>
            </a:pPr>
            <a:r>
              <a:rPr lang="en-US" sz="3200" b="1" dirty="0">
                <a:solidFill>
                  <a:srgbClr val="B5761A"/>
                </a:solidFill>
                <a:latin typeface="Cambria" pitchFamily="34" charset="0"/>
                <a:ea typeface="Cambria" pitchFamily="34" charset="-122"/>
                <a:cs typeface="Cambria" pitchFamily="34" charset="-120"/>
              </a:rPr>
              <a:t>4</a:t>
            </a:r>
            <a:endParaRPr lang="en-US" sz="3200" dirty="0"/>
          </a:p>
        </p:txBody>
      </p:sp>
      <p:sp>
        <p:nvSpPr>
          <p:cNvPr id="27" name="Text 19"/>
          <p:cNvSpPr txBox="1"/>
          <p:nvPr/>
        </p:nvSpPr>
        <p:spPr>
          <a:xfrm>
            <a:off x="6126480" y="3657600"/>
            <a:ext cx="2377440" cy="685800"/>
          </a:xfrm>
          <a:prstGeom prst="rect">
            <a:avLst/>
          </a:prstGeom>
          <a:noFill/>
          <a:ln/>
        </p:spPr>
        <p:txBody>
          <a:bodyPr wrap="square" lIns="0" tIns="0" rIns="0" bIns="0" rtlCol="0" anchor="t"/>
          <a:lstStyle/>
          <a:p>
            <a:pPr indent="0" marL="0">
              <a:buNone/>
            </a:pPr>
            <a:r>
              <a:rPr lang="en-US" sz="1300" dirty="0">
                <a:solidFill>
                  <a:schemeClr val="tx1"/>
                </a:solidFill>
              </a:rPr>
              <a:t>code skeletons drafted automatically, ready for a person to fill in.</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New steps without writing code</a:t>
            </a:r>
            <a:endParaRPr lang="en-US" sz="2800" dirty="0"/>
          </a:p>
        </p:txBody>
      </p:sp>
      <p:sp>
        <p:nvSpPr>
          <p:cNvPr id="3" name="Text 1"/>
          <p:cNvSpPr txBox="1"/>
          <p:nvPr/>
        </p:nvSpPr>
        <p:spPr>
          <a:xfrm>
            <a:off x="457200" y="1188720"/>
            <a:ext cx="4297680" cy="274320"/>
          </a:xfrm>
          <a:prstGeom prst="rect">
            <a:avLst/>
          </a:prstGeom>
          <a:noFill/>
          <a:ln/>
        </p:spPr>
        <p:txBody>
          <a:bodyPr wrap="square" lIns="0" tIns="0" rIns="0" bIns="0" rtlCol="0" anchor="t"/>
          <a:lstStyle/>
          <a:p>
            <a:pPr indent="0" marL="0">
              <a:buNone/>
            </a:pPr>
            <a:r>
              <a:rPr lang="en-US" sz="1200" b="1" dirty="0">
                <a:solidFill>
                  <a:schemeClr val="accent6"/>
                </a:solidFill>
              </a:rPr>
              <a:t>A new line nobody has built yet: “When I press the cart icon”</a:t>
            </a:r>
            <a:endParaRPr lang="en-US" sz="1200" dirty="0"/>
          </a:p>
        </p:txBody>
      </p:sp>
      <p:sp>
        <p:nvSpPr>
          <p:cNvPr id="4" name="Chip Click"/>
          <p:cNvSpPr/>
          <p:nvPr/>
        </p:nvSpPr>
        <p:spPr>
          <a:xfrm>
            <a:off x="457200" y="1554480"/>
            <a:ext cx="914400" cy="502920"/>
          </a:xfrm>
          <a:prstGeom prst="roundRect">
            <a:avLst>
              <a:gd name="adj" fmla="val 14545"/>
            </a:avLst>
          </a:prstGeom>
          <a:solidFill>
            <a:schemeClr val="accent1"/>
          </a:solidFill>
          <a:ln/>
        </p:spPr>
      </p:sp>
      <p:sp>
        <p:nvSpPr>
          <p:cNvPr id="5" name="Text 3"/>
          <p:cNvSpPr txBox="1"/>
          <p:nvPr/>
        </p:nvSpPr>
        <p:spPr>
          <a:xfrm>
            <a:off x="457200" y="1554480"/>
            <a:ext cx="914400" cy="502920"/>
          </a:xfrm>
          <a:prstGeom prst="rect">
            <a:avLst/>
          </a:prstGeom>
          <a:noFill/>
          <a:ln/>
        </p:spPr>
        <p:txBody>
          <a:bodyPr wrap="square" lIns="0" tIns="0" rIns="0" bIns="0" rtlCol="0" anchor="ctr"/>
          <a:lstStyle/>
          <a:p>
            <a:pPr algn="ctr" indent="0" marL="0">
              <a:buNone/>
            </a:pPr>
            <a:r>
              <a:rPr lang="en-US" sz="1300" b="1" dirty="0">
                <a:solidFill>
                  <a:schemeClr val="bg1"/>
                </a:solidFill>
              </a:rPr>
              <a:t>Click</a:t>
            </a:r>
            <a:endParaRPr lang="en-US" sz="1300" dirty="0"/>
          </a:p>
        </p:txBody>
      </p:sp>
      <p:sp>
        <p:nvSpPr>
          <p:cNvPr id="6" name="Chip Link with text"/>
          <p:cNvSpPr/>
          <p:nvPr/>
        </p:nvSpPr>
        <p:spPr>
          <a:xfrm>
            <a:off x="1463040" y="1554480"/>
            <a:ext cx="1645920" cy="502920"/>
          </a:xfrm>
          <a:prstGeom prst="roundRect">
            <a:avLst>
              <a:gd name="adj" fmla="val 14545"/>
            </a:avLst>
          </a:prstGeom>
          <a:solidFill>
            <a:schemeClr val="bg2"/>
          </a:solidFill>
          <a:ln/>
        </p:spPr>
      </p:sp>
      <p:sp>
        <p:nvSpPr>
          <p:cNvPr id="7" name="Text 5"/>
          <p:cNvSpPr txBox="1"/>
          <p:nvPr/>
        </p:nvSpPr>
        <p:spPr>
          <a:xfrm>
            <a:off x="1463040" y="1554480"/>
            <a:ext cx="1645920" cy="502920"/>
          </a:xfrm>
          <a:prstGeom prst="rect">
            <a:avLst/>
          </a:prstGeom>
          <a:noFill/>
          <a:ln/>
        </p:spPr>
        <p:txBody>
          <a:bodyPr wrap="square" lIns="0" tIns="0" rIns="0" bIns="0" rtlCol="0" anchor="ctr"/>
          <a:lstStyle/>
          <a:p>
            <a:pPr algn="ctr" indent="0" marL="0">
              <a:buNone/>
            </a:pPr>
            <a:r>
              <a:rPr lang="en-US" sz="1300" dirty="0">
                <a:solidFill>
                  <a:schemeClr val="tx2"/>
                </a:solidFill>
              </a:rPr>
              <a:t>Link with text</a:t>
            </a:r>
            <a:endParaRPr lang="en-US" sz="1300" dirty="0"/>
          </a:p>
        </p:txBody>
      </p:sp>
      <p:sp>
        <p:nvSpPr>
          <p:cNvPr id="8" name="Chip “cart”"/>
          <p:cNvSpPr/>
          <p:nvPr/>
        </p:nvSpPr>
        <p:spPr>
          <a:xfrm>
            <a:off x="3200400" y="1554480"/>
            <a:ext cx="1097280" cy="502920"/>
          </a:xfrm>
          <a:prstGeom prst="roundRect">
            <a:avLst>
              <a:gd name="adj" fmla="val 14545"/>
            </a:avLst>
          </a:prstGeom>
          <a:solidFill>
            <a:srgbClr val="FDF0D9"/>
          </a:solidFill>
          <a:ln/>
        </p:spPr>
      </p:sp>
      <p:sp>
        <p:nvSpPr>
          <p:cNvPr id="9" name="Text 7"/>
          <p:cNvSpPr txBox="1"/>
          <p:nvPr/>
        </p:nvSpPr>
        <p:spPr>
          <a:xfrm>
            <a:off x="3200400" y="1554480"/>
            <a:ext cx="1097280" cy="502920"/>
          </a:xfrm>
          <a:prstGeom prst="rect">
            <a:avLst/>
          </a:prstGeom>
          <a:noFill/>
          <a:ln/>
        </p:spPr>
        <p:txBody>
          <a:bodyPr wrap="square" lIns="0" tIns="0" rIns="0" bIns="0" rtlCol="0" anchor="ctr"/>
          <a:lstStyle/>
          <a:p>
            <a:pPr algn="ctr" indent="0" marL="0">
              <a:buNone/>
            </a:pPr>
            <a:r>
              <a:rPr lang="en-US" sz="1300" b="1" dirty="0">
                <a:solidFill>
                  <a:srgbClr val="8A5A0C"/>
                </a:solidFill>
              </a:rPr>
              <a:t>“cart”</a:t>
            </a:r>
            <a:endParaRPr lang="en-US" sz="1300" dirty="0"/>
          </a:p>
        </p:txBody>
      </p:sp>
      <p:sp>
        <p:nvSpPr>
          <p:cNvPr id="10" name="Text 8"/>
          <p:cNvSpPr txBox="1"/>
          <p:nvPr/>
        </p:nvSpPr>
        <p:spPr>
          <a:xfrm>
            <a:off x="457200" y="2148840"/>
            <a:ext cx="4297680" cy="365760"/>
          </a:xfrm>
          <a:prstGeom prst="rect">
            <a:avLst/>
          </a:prstGeom>
          <a:noFill/>
          <a:ln/>
        </p:spPr>
        <p:txBody>
          <a:bodyPr wrap="square" lIns="0" tIns="0" rIns="0" bIns="0" rtlCol="0" anchor="t"/>
          <a:lstStyle/>
          <a:p>
            <a:pPr indent="0" marL="0">
              <a:buNone/>
            </a:pPr>
            <a:r>
              <a:rPr lang="en-US" sz="1200" dirty="0">
                <a:solidFill>
                  <a:schemeClr val="accent6"/>
                </a:solidFill>
              </a:rPr>
              <a:t>Find the element by its button text, field label, CSS selector and more.</a:t>
            </a:r>
            <a:endParaRPr lang="en-US" sz="1200" dirty="0"/>
          </a:p>
        </p:txBody>
      </p:sp>
      <p:sp>
        <p:nvSpPr>
          <p:cNvPr id="11" name="Action arrow"/>
          <p:cNvSpPr/>
          <p:nvPr/>
        </p:nvSpPr>
        <p:spPr>
          <a:xfrm>
            <a:off x="2377440" y="2560320"/>
            <a:ext cx="365760" cy="292608"/>
          </a:xfrm>
          <a:prstGeom prst="downArrow">
            <a:avLst/>
          </a:prstGeom>
          <a:solidFill>
            <a:schemeClr val="accent2"/>
          </a:solidFill>
          <a:ln/>
        </p:spPr>
      </p:sp>
      <p:sp>
        <p:nvSpPr>
          <p:cNvPr id="12" name="Action result"/>
          <p:cNvSpPr/>
          <p:nvPr/>
        </p:nvSpPr>
        <p:spPr>
          <a:xfrm>
            <a:off x="457200" y="2926080"/>
            <a:ext cx="4297680" cy="731520"/>
          </a:xfrm>
          <a:prstGeom prst="roundRect">
            <a:avLst>
              <a:gd name="adj" fmla="val 10000"/>
            </a:avLst>
          </a:prstGeom>
          <a:solidFill>
            <a:schemeClr val="tx2"/>
          </a:solidFill>
          <a:ln/>
        </p:spPr>
      </p:sp>
      <p:sp>
        <p:nvSpPr>
          <p:cNvPr id="13" name="Text 11"/>
          <p:cNvSpPr txBox="1"/>
          <p:nvPr/>
        </p:nvSpPr>
        <p:spPr>
          <a:xfrm>
            <a:off x="640080" y="2926080"/>
            <a:ext cx="3931920" cy="731520"/>
          </a:xfrm>
          <a:prstGeom prst="rect">
            <a:avLst/>
          </a:prstGeom>
          <a:noFill/>
          <a:ln/>
        </p:spPr>
        <p:txBody>
          <a:bodyPr wrap="square" lIns="0" tIns="0" rIns="0" bIns="0" rtlCol="0" anchor="ctr"/>
          <a:lstStyle/>
          <a:p>
            <a:pPr indent="0" marL="0">
              <a:buNone/>
            </a:pPr>
            <a:r>
              <a:rPr lang="en-US" sz="1300" dirty="0">
                <a:solidFill>
                  <a:schemeClr val="bg1"/>
                </a:solidFill>
              </a:rPr>
              <a:t>The app writes the real browser code, adds it to a step file, and the test runs straight away.</a:t>
            </a:r>
            <a:endParaRPr lang="en-US" sz="1300" dirty="0"/>
          </a:p>
        </p:txBody>
      </p:sp>
      <p:sp>
        <p:nvSpPr>
          <p:cNvPr id="14" name="Text 12"/>
          <p:cNvSpPr txBox="1"/>
          <p:nvPr/>
        </p:nvSpPr>
        <p:spPr>
          <a:xfrm>
            <a:off x="457200" y="3794760"/>
            <a:ext cx="4297680" cy="777240"/>
          </a:xfrm>
          <a:prstGeom prst="rect">
            <a:avLst/>
          </a:prstGeom>
          <a:noFill/>
          <a:ln/>
        </p:spPr>
        <p:txBody>
          <a:bodyPr wrap="square" lIns="0" tIns="0" rIns="0" bIns="0" rtlCol="0" anchor="t"/>
          <a:lstStyle/>
          <a:p>
            <a:pPr indent="0" marL="0">
              <a:buNone/>
            </a:pPr>
            <a:r>
              <a:rPr lang="en-US" sz="1200" b="1" dirty="0">
                <a:solidFill>
                  <a:schemeClr val="tx2"/>
                </a:solidFill>
              </a:rPr>
              <a:t>Actions: </a:t>
            </a:r>
            <a:pPr indent="0" marL="0">
              <a:buNone/>
            </a:pPr>
            <a:r>
              <a:rPr lang="en-US" sz="1200" dirty="0">
                <a:solidFill>
                  <a:schemeClr val="tx1"/>
                </a:solidFill>
              </a:rPr>
              <a:t>go to page · click · type into · choose option · tick box · press key · check text, visible, hidden, how many, page address</a:t>
            </a:r>
            <a:endParaRPr lang="en-US" sz="1200" dirty="0"/>
          </a:p>
        </p:txBody>
      </p:sp>
      <p:sp>
        <p:nvSpPr>
          <p:cNvPr id="15" name="Action blocks screenshot frame"/>
          <p:cNvSpPr/>
          <p:nvPr/>
        </p:nvSpPr>
        <p:spPr>
          <a:xfrm>
            <a:off x="5029200" y="1188720"/>
            <a:ext cx="3657600" cy="3383280"/>
          </a:xfrm>
          <a:prstGeom prst="rect">
            <a:avLst/>
          </a:prstGeom>
          <a:solidFill>
            <a:srgbClr val="FBF8F2"/>
          </a:solidFill>
          <a:ln w="19050">
            <a:solidFill>
              <a:srgbClr val="E39B2D"/>
            </a:solidFill>
            <a:prstDash val="dash"/>
          </a:ln>
        </p:spPr>
      </p:sp>
      <p:sp>
        <p:nvSpPr>
          <p:cNvPr id="16" name="Action blocks screenshot"/>
          <p:cNvSpPr txBox="1"/>
          <p:nvPr/>
        </p:nvSpPr>
        <p:spPr>
          <a:xfrm>
            <a:off x="5212080" y="1188720"/>
            <a:ext cx="3291840" cy="3383280"/>
          </a:xfrm>
          <a:prstGeom prst="rect">
            <a:avLst/>
          </a:prstGeom>
          <a:noFill/>
          <a:ln/>
        </p:spPr>
        <p:txBody>
          <a:bodyPr wrap="square" lIns="0" tIns="0" rIns="0" bIns="0" rtlCol="0" anchor="ctr"/>
          <a:lstStyle/>
          <a:p>
            <a:pPr algn="ctr" indent="0" marL="0">
              <a:buNone/>
            </a:pPr>
            <a:r>
              <a:rPr lang="en-US" sz="1500" b="1" dirty="0">
                <a:solidFill>
                  <a:srgbClr val="8A5A0C"/>
                </a:solidFill>
              </a:rPr>
              <a:t>[SCREENSHOT: action blocks]</a:t>
            </a:r>
            <a:endParaRPr lang="en-US" sz="1400" dirty="0"/>
          </a:p>
          <a:p>
            <a:pPr algn="ctr" indent="0" marL="0">
              <a:buNone/>
            </a:pPr>
            <a:r>
              <a:rPr lang="en-US" sz="1100" dirty="0">
                <a:solidFill>
                  <a:schemeClr val="accent6"/>
                </a:solidFill>
              </a:rPr>
              <a:t>Paste a screenshot from the live demo here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Proven: a new test built and passed in the app</a:t>
            </a:r>
            <a:endParaRPr lang="en-US" sz="2800" dirty="0"/>
          </a:p>
        </p:txBody>
      </p:sp>
      <p:sp>
        <p:nvSpPr>
          <p:cNvPr id="3" name="Proof 1"/>
          <p:cNvSpPr/>
          <p:nvPr/>
        </p:nvSpPr>
        <p:spPr>
          <a:xfrm>
            <a:off x="457200" y="1234440"/>
            <a:ext cx="1828800" cy="1920240"/>
          </a:xfrm>
          <a:prstGeom prst="roundRect">
            <a:avLst>
              <a:gd name="adj" fmla="val 4000"/>
            </a:avLst>
          </a:prstGeom>
          <a:solidFill>
            <a:schemeClr val="bg2"/>
          </a:solidFill>
          <a:ln/>
        </p:spPr>
      </p:sp>
      <p:sp>
        <p:nvSpPr>
          <p:cNvPr id="4" name="Proof 1 circle"/>
          <p:cNvSpPr/>
          <p:nvPr/>
        </p:nvSpPr>
        <p:spPr>
          <a:xfrm>
            <a:off x="640080" y="1417320"/>
            <a:ext cx="502920" cy="502920"/>
          </a:xfrm>
          <a:prstGeom prst="ellipse">
            <a:avLst/>
          </a:prstGeom>
          <a:solidFill>
            <a:schemeClr val="accent1"/>
          </a:solidFill>
          <a:ln/>
        </p:spPr>
      </p:sp>
      <p:pic>
        <p:nvPicPr>
          <p:cNvPr id="5" name="Proof 1 icon" descr="preencoded.png">    </p:cNvPr>
          <p:cNvPicPr>
            <a:picLocks noChangeAspect="1"/>
          </p:cNvPicPr>
          <p:nvPr/>
        </p:nvPicPr>
        <p:blipFill>
          <a:blip r:embed="rId1"/>
          <a:stretch>
            <a:fillRect/>
          </a:stretch>
        </p:blipFill>
        <p:spPr>
          <a:xfrm>
            <a:off x="765810" y="1543050"/>
            <a:ext cx="251460" cy="251460"/>
          </a:xfrm>
          <a:prstGeom prst="rect">
            <a:avLst/>
          </a:prstGeom>
        </p:spPr>
      </p:pic>
      <p:sp>
        <p:nvSpPr>
          <p:cNvPr id="6" name="Text 3"/>
          <p:cNvSpPr txBox="1"/>
          <p:nvPr/>
        </p:nvSpPr>
        <p:spPr>
          <a:xfrm>
            <a:off x="640080" y="2057400"/>
            <a:ext cx="1508760" cy="100584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Built</a:t>
            </a:r>
            <a:endParaRPr lang="en-US" sz="1400" dirty="0"/>
          </a:p>
          <a:p>
            <a:pPr indent="0" marL="0">
              <a:spcAft>
                <a:spcPts val="300"/>
              </a:spcAft>
              <a:buNone/>
            </a:pPr>
            <a:r>
              <a:rPr lang="en-US" sz="1200" dirty="0">
                <a:solidFill>
                  <a:schemeClr val="tx1"/>
                </a:solidFill>
              </a:rPr>
              <a:t>the test from blocks in the app</a:t>
            </a:r>
            <a:endParaRPr lang="en-US" sz="1400" dirty="0"/>
          </a:p>
        </p:txBody>
      </p:sp>
      <p:sp>
        <p:nvSpPr>
          <p:cNvPr id="7" name="Proof arrow 1"/>
          <p:cNvSpPr/>
          <p:nvPr/>
        </p:nvSpPr>
        <p:spPr>
          <a:xfrm>
            <a:off x="2313432" y="2011680"/>
            <a:ext cx="265176" cy="347472"/>
          </a:xfrm>
          <a:prstGeom prst="rightArrow">
            <a:avLst/>
          </a:prstGeom>
          <a:solidFill>
            <a:schemeClr val="accent2"/>
          </a:solidFill>
          <a:ln/>
        </p:spPr>
      </p:sp>
      <p:sp>
        <p:nvSpPr>
          <p:cNvPr id="8" name="Proof 2"/>
          <p:cNvSpPr/>
          <p:nvPr/>
        </p:nvSpPr>
        <p:spPr>
          <a:xfrm>
            <a:off x="2606040" y="1234440"/>
            <a:ext cx="1828800" cy="1920240"/>
          </a:xfrm>
          <a:prstGeom prst="roundRect">
            <a:avLst>
              <a:gd name="adj" fmla="val 4000"/>
            </a:avLst>
          </a:prstGeom>
          <a:solidFill>
            <a:schemeClr val="bg2"/>
          </a:solidFill>
          <a:ln/>
        </p:spPr>
      </p:sp>
      <p:sp>
        <p:nvSpPr>
          <p:cNvPr id="9" name="Proof 2 circle"/>
          <p:cNvSpPr/>
          <p:nvPr/>
        </p:nvSpPr>
        <p:spPr>
          <a:xfrm>
            <a:off x="2788920" y="1417320"/>
            <a:ext cx="502920" cy="502920"/>
          </a:xfrm>
          <a:prstGeom prst="ellipse">
            <a:avLst/>
          </a:prstGeom>
          <a:solidFill>
            <a:schemeClr val="accent1"/>
          </a:solidFill>
          <a:ln/>
        </p:spPr>
      </p:sp>
      <p:pic>
        <p:nvPicPr>
          <p:cNvPr id="10" name="Proof 2 icon" descr="preencoded.png">    </p:cNvPr>
          <p:cNvPicPr>
            <a:picLocks noChangeAspect="1"/>
          </p:cNvPicPr>
          <p:nvPr/>
        </p:nvPicPr>
        <p:blipFill>
          <a:blip r:embed="rId2"/>
          <a:stretch>
            <a:fillRect/>
          </a:stretch>
        </p:blipFill>
        <p:spPr>
          <a:xfrm>
            <a:off x="2914650" y="1543050"/>
            <a:ext cx="251460" cy="251460"/>
          </a:xfrm>
          <a:prstGeom prst="rect">
            <a:avLst/>
          </a:prstGeom>
        </p:spPr>
      </p:pic>
      <p:sp>
        <p:nvSpPr>
          <p:cNvPr id="11" name="Text 7"/>
          <p:cNvSpPr txBox="1"/>
          <p:nvPr/>
        </p:nvSpPr>
        <p:spPr>
          <a:xfrm>
            <a:off x="2788920" y="2057400"/>
            <a:ext cx="1508760" cy="100584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Created 2 new steps</a:t>
            </a:r>
            <a:endParaRPr lang="en-US" sz="1400" dirty="0"/>
          </a:p>
          <a:p>
            <a:pPr indent="0" marL="0">
              <a:spcAft>
                <a:spcPts val="300"/>
              </a:spcAft>
              <a:buNone/>
            </a:pPr>
            <a:r>
              <a:rPr lang="en-US" sz="1200" dirty="0">
                <a:solidFill>
                  <a:schemeClr val="tx1"/>
                </a:solidFill>
              </a:rPr>
              <a:t>with action blocks: one into an existing step file, one into a new file</a:t>
            </a:r>
            <a:endParaRPr lang="en-US" sz="1400" dirty="0"/>
          </a:p>
        </p:txBody>
      </p:sp>
      <p:sp>
        <p:nvSpPr>
          <p:cNvPr id="12" name="Proof arrow 2"/>
          <p:cNvSpPr/>
          <p:nvPr/>
        </p:nvSpPr>
        <p:spPr>
          <a:xfrm>
            <a:off x="4462272" y="2011680"/>
            <a:ext cx="265176" cy="347472"/>
          </a:xfrm>
          <a:prstGeom prst="rightArrow">
            <a:avLst/>
          </a:prstGeom>
          <a:solidFill>
            <a:schemeClr val="accent2"/>
          </a:solidFill>
          <a:ln/>
        </p:spPr>
      </p:sp>
      <p:sp>
        <p:nvSpPr>
          <p:cNvPr id="13" name="Proof 3"/>
          <p:cNvSpPr/>
          <p:nvPr/>
        </p:nvSpPr>
        <p:spPr>
          <a:xfrm>
            <a:off x="4754880" y="1234440"/>
            <a:ext cx="1828800" cy="1920240"/>
          </a:xfrm>
          <a:prstGeom prst="roundRect">
            <a:avLst>
              <a:gd name="adj" fmla="val 4000"/>
            </a:avLst>
          </a:prstGeom>
          <a:solidFill>
            <a:schemeClr val="bg2"/>
          </a:solidFill>
          <a:ln/>
        </p:spPr>
      </p:sp>
      <p:sp>
        <p:nvSpPr>
          <p:cNvPr id="14" name="Proof 3 circle"/>
          <p:cNvSpPr/>
          <p:nvPr/>
        </p:nvSpPr>
        <p:spPr>
          <a:xfrm>
            <a:off x="4937760" y="1417320"/>
            <a:ext cx="502920" cy="502920"/>
          </a:xfrm>
          <a:prstGeom prst="ellipse">
            <a:avLst/>
          </a:prstGeom>
          <a:solidFill>
            <a:schemeClr val="accent1"/>
          </a:solidFill>
          <a:ln/>
        </p:spPr>
      </p:sp>
      <p:pic>
        <p:nvPicPr>
          <p:cNvPr id="15" name="Proof 3 icon" descr="preencoded.png">    </p:cNvPr>
          <p:cNvPicPr>
            <a:picLocks noChangeAspect="1"/>
          </p:cNvPicPr>
          <p:nvPr/>
        </p:nvPicPr>
        <p:blipFill>
          <a:blip r:embed="rId3"/>
          <a:stretch>
            <a:fillRect/>
          </a:stretch>
        </p:blipFill>
        <p:spPr>
          <a:xfrm>
            <a:off x="5063490" y="1543050"/>
            <a:ext cx="251460" cy="251460"/>
          </a:xfrm>
          <a:prstGeom prst="rect">
            <a:avLst/>
          </a:prstGeom>
        </p:spPr>
      </p:pic>
      <p:sp>
        <p:nvSpPr>
          <p:cNvPr id="16" name="Text 11"/>
          <p:cNvSpPr txBox="1"/>
          <p:nvPr/>
        </p:nvSpPr>
        <p:spPr>
          <a:xfrm>
            <a:off x="4937760" y="2057400"/>
            <a:ext cx="1508760" cy="100584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Saved</a:t>
            </a:r>
            <a:endParaRPr lang="en-US" sz="1400" dirty="0"/>
          </a:p>
          <a:p>
            <a:pPr indent="0" marL="0">
              <a:spcAft>
                <a:spcPts val="300"/>
              </a:spcAft>
              <a:buNone/>
            </a:pPr>
            <a:r>
              <a:rPr lang="en-US" sz="1200" dirty="0">
                <a:solidFill>
                  <a:schemeClr val="tx1"/>
                </a:solidFill>
              </a:rPr>
              <a:t>after previewing the change</a:t>
            </a:r>
            <a:endParaRPr lang="en-US" sz="1400" dirty="0"/>
          </a:p>
        </p:txBody>
      </p:sp>
      <p:sp>
        <p:nvSpPr>
          <p:cNvPr id="17" name="Proof arrow 3"/>
          <p:cNvSpPr/>
          <p:nvPr/>
        </p:nvSpPr>
        <p:spPr>
          <a:xfrm>
            <a:off x="6611112" y="2011680"/>
            <a:ext cx="265176" cy="347472"/>
          </a:xfrm>
          <a:prstGeom prst="rightArrow">
            <a:avLst/>
          </a:prstGeom>
          <a:solidFill>
            <a:schemeClr val="accent2"/>
          </a:solidFill>
          <a:ln/>
        </p:spPr>
      </p:sp>
      <p:sp>
        <p:nvSpPr>
          <p:cNvPr id="18" name="Proof 4"/>
          <p:cNvSpPr/>
          <p:nvPr/>
        </p:nvSpPr>
        <p:spPr>
          <a:xfrm>
            <a:off x="6903720" y="1234440"/>
            <a:ext cx="1828800" cy="1920240"/>
          </a:xfrm>
          <a:prstGeom prst="roundRect">
            <a:avLst>
              <a:gd name="adj" fmla="val 4000"/>
            </a:avLst>
          </a:prstGeom>
          <a:solidFill>
            <a:schemeClr val="accent5"/>
          </a:solidFill>
          <a:ln/>
        </p:spPr>
      </p:sp>
      <p:sp>
        <p:nvSpPr>
          <p:cNvPr id="19" name="Proof 4 circle"/>
          <p:cNvSpPr/>
          <p:nvPr/>
        </p:nvSpPr>
        <p:spPr>
          <a:xfrm>
            <a:off x="7086600" y="1417320"/>
            <a:ext cx="502920" cy="502920"/>
          </a:xfrm>
          <a:prstGeom prst="ellipse">
            <a:avLst/>
          </a:prstGeom>
          <a:solidFill>
            <a:schemeClr val="accent1"/>
          </a:solidFill>
          <a:ln/>
        </p:spPr>
      </p:sp>
      <p:pic>
        <p:nvPicPr>
          <p:cNvPr id="20" name="Proof 4 icon" descr="preencoded.png">    </p:cNvPr>
          <p:cNvPicPr>
            <a:picLocks noChangeAspect="1"/>
          </p:cNvPicPr>
          <p:nvPr/>
        </p:nvPicPr>
        <p:blipFill>
          <a:blip r:embed="rId4"/>
          <a:stretch>
            <a:fillRect/>
          </a:stretch>
        </p:blipFill>
        <p:spPr>
          <a:xfrm>
            <a:off x="7212330" y="1543050"/>
            <a:ext cx="251460" cy="251460"/>
          </a:xfrm>
          <a:prstGeom prst="rect">
            <a:avLst/>
          </a:prstGeom>
        </p:spPr>
      </p:pic>
      <p:sp>
        <p:nvSpPr>
          <p:cNvPr id="21" name="Text 15"/>
          <p:cNvSpPr txBox="1"/>
          <p:nvPr/>
        </p:nvSpPr>
        <p:spPr>
          <a:xfrm>
            <a:off x="7086600" y="2057400"/>
            <a:ext cx="1508760" cy="1005840"/>
          </a:xfrm>
          <a:prstGeom prst="rect">
            <a:avLst/>
          </a:prstGeom>
          <a:noFill/>
          <a:ln/>
        </p:spPr>
        <p:txBody>
          <a:bodyPr wrap="square" lIns="0" tIns="0" rIns="0" bIns="0" rtlCol="0" anchor="t"/>
          <a:lstStyle/>
          <a:p>
            <a:pPr indent="0" marL="0">
              <a:spcAft>
                <a:spcPts val="300"/>
              </a:spcAft>
              <a:buNone/>
            </a:pPr>
            <a:r>
              <a:rPr lang="en-US" sz="1400" b="1" dirty="0">
                <a:solidFill>
                  <a:schemeClr val="tx2"/>
                </a:solidFill>
              </a:rPr>
              <a:t>Ran it</a:t>
            </a:r>
            <a:endParaRPr lang="en-US" sz="1400" dirty="0"/>
          </a:p>
          <a:p>
            <a:pPr indent="0" marL="0">
              <a:spcAft>
                <a:spcPts val="300"/>
              </a:spcAft>
              <a:buNone/>
            </a:pPr>
            <a:r>
              <a:rPr lang="en-US" sz="1200" dirty="0">
                <a:solidFill>
                  <a:schemeClr val="tx1"/>
                </a:solidFill>
              </a:rPr>
              <a:t>and it passed</a:t>
            </a:r>
            <a:endParaRPr lang="en-US" sz="1400" dirty="0"/>
          </a:p>
        </p:txBody>
      </p:sp>
      <p:sp>
        <p:nvSpPr>
          <p:cNvPr id="22" name="No code callout"/>
          <p:cNvSpPr/>
          <p:nvPr/>
        </p:nvSpPr>
        <p:spPr>
          <a:xfrm>
            <a:off x="457200" y="3429000"/>
            <a:ext cx="4023360" cy="1143000"/>
          </a:xfrm>
          <a:prstGeom prst="roundRect">
            <a:avLst>
              <a:gd name="adj" fmla="val 6400"/>
            </a:avLst>
          </a:prstGeom>
          <a:solidFill>
            <a:schemeClr val="tx2"/>
          </a:solidFill>
          <a:ln/>
        </p:spPr>
      </p:sp>
      <p:sp>
        <p:nvSpPr>
          <p:cNvPr id="23" name="Text 17"/>
          <p:cNvSpPr txBox="1"/>
          <p:nvPr/>
        </p:nvSpPr>
        <p:spPr>
          <a:xfrm>
            <a:off x="685800" y="3429000"/>
            <a:ext cx="3657600" cy="1143000"/>
          </a:xfrm>
          <a:prstGeom prst="rect">
            <a:avLst/>
          </a:prstGeom>
          <a:noFill/>
          <a:ln/>
        </p:spPr>
        <p:txBody>
          <a:bodyPr wrap="square" lIns="0" tIns="0" rIns="0" bIns="0" rtlCol="0" anchor="ctr"/>
          <a:lstStyle/>
          <a:p>
            <a:pPr indent="0" marL="0">
              <a:spcAft>
                <a:spcPts val="400"/>
              </a:spcAft>
              <a:buNone/>
            </a:pPr>
            <a:r>
              <a:rPr lang="en-US" sz="2000" b="1" dirty="0">
                <a:solidFill>
                  <a:srgbClr val="F2C46D"/>
                </a:solidFill>
                <a:latin typeface="Cambria" pitchFamily="34" charset="0"/>
                <a:ea typeface="Cambria" pitchFamily="34" charset="-122"/>
                <a:cs typeface="Cambria" pitchFamily="34" charset="-120"/>
              </a:rPr>
              <a:t>No hand-written code</a:t>
            </a:r>
            <a:endParaRPr lang="en-US" sz="1400" dirty="0"/>
          </a:p>
          <a:p>
            <a:pPr indent="0" marL="0">
              <a:spcAft>
                <a:spcPts val="400"/>
              </a:spcAft>
              <a:buNone/>
            </a:pPr>
            <a:r>
              <a:rPr lang="en-US" sz="1300" dirty="0">
                <a:solidFill>
                  <a:schemeClr val="bg1"/>
                </a:solidFill>
              </a:rPr>
              <a:t>Every line of the new test, and the code behind it, came from blocks.</a:t>
            </a:r>
            <a:endParaRPr lang="en-US" sz="1400" dirty="0"/>
          </a:p>
        </p:txBody>
      </p:sp>
      <p:sp>
        <p:nvSpPr>
          <p:cNvPr id="24" name="Time placeholder box"/>
          <p:cNvSpPr/>
          <p:nvPr/>
        </p:nvSpPr>
        <p:spPr>
          <a:xfrm>
            <a:off x="4663440" y="3703320"/>
            <a:ext cx="4023360" cy="594360"/>
          </a:xfrm>
          <a:prstGeom prst="roundRect">
            <a:avLst>
              <a:gd name="adj" fmla="val 9231"/>
            </a:avLst>
          </a:prstGeom>
          <a:solidFill>
            <a:srgbClr val="FDF0D9"/>
          </a:solidFill>
          <a:ln w="15875">
            <a:solidFill>
              <a:srgbClr val="E39B2D"/>
            </a:solidFill>
            <a:prstDash val="solid"/>
          </a:ln>
        </p:spPr>
      </p:sp>
      <p:sp>
        <p:nvSpPr>
          <p:cNvPr id="25" name="Time placeholder"/>
          <p:cNvSpPr txBox="1"/>
          <p:nvPr/>
        </p:nvSpPr>
        <p:spPr>
          <a:xfrm>
            <a:off x="4773168" y="3703320"/>
            <a:ext cx="3803904" cy="594360"/>
          </a:xfrm>
          <a:prstGeom prst="rect">
            <a:avLst/>
          </a:prstGeom>
          <a:noFill/>
          <a:ln/>
        </p:spPr>
        <p:txBody>
          <a:bodyPr wrap="square" lIns="0" tIns="0" rIns="0" bIns="0" rtlCol="0" anchor="ctr"/>
          <a:lstStyle/>
          <a:p>
            <a:pPr indent="0" marL="0">
              <a:buNone/>
            </a:pPr>
            <a:r>
              <a:rPr lang="en-US" sz="1200" b="1" dirty="0">
                <a:solidFill>
                  <a:srgbClr val="8A5A0C"/>
                </a:solidFill>
              </a:rPr>
              <a:t>[ADD: how long a new test like this normally takes our team]</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Run tests and see why they fail, in one place</a:t>
            </a:r>
            <a:endParaRPr lang="en-US" sz="2800" dirty="0"/>
          </a:p>
        </p:txBody>
      </p:sp>
      <p:sp>
        <p:nvSpPr>
          <p:cNvPr id="3" name="Results screenshot frame"/>
          <p:cNvSpPr/>
          <p:nvPr/>
        </p:nvSpPr>
        <p:spPr>
          <a:xfrm>
            <a:off x="457200" y="1188720"/>
            <a:ext cx="4846320" cy="3383280"/>
          </a:xfrm>
          <a:prstGeom prst="rect">
            <a:avLst/>
          </a:prstGeom>
          <a:solidFill>
            <a:srgbClr val="FBF8F2"/>
          </a:solidFill>
          <a:ln w="19050">
            <a:solidFill>
              <a:srgbClr val="E39B2D"/>
            </a:solidFill>
            <a:prstDash val="dash"/>
          </a:ln>
        </p:spPr>
      </p:sp>
      <p:sp>
        <p:nvSpPr>
          <p:cNvPr id="4" name="Results screenshot"/>
          <p:cNvSpPr txBox="1"/>
          <p:nvPr/>
        </p:nvSpPr>
        <p:spPr>
          <a:xfrm>
            <a:off x="640080" y="1188720"/>
            <a:ext cx="4480560" cy="3383280"/>
          </a:xfrm>
          <a:prstGeom prst="rect">
            <a:avLst/>
          </a:prstGeom>
          <a:noFill/>
          <a:ln/>
        </p:spPr>
        <p:txBody>
          <a:bodyPr wrap="square" lIns="0" tIns="0" rIns="0" bIns="0" rtlCol="0" anchor="ctr"/>
          <a:lstStyle/>
          <a:p>
            <a:pPr algn="ctr" indent="0" marL="0">
              <a:buNone/>
            </a:pPr>
            <a:r>
              <a:rPr lang="en-US" sz="1500" b="1" dirty="0">
                <a:solidFill>
                  <a:srgbClr val="8A5A0C"/>
                </a:solidFill>
              </a:rPr>
              <a:t>[SCREENSHOT: test results with a failure]</a:t>
            </a:r>
            <a:endParaRPr lang="en-US" sz="1400" dirty="0"/>
          </a:p>
          <a:p>
            <a:pPr algn="ctr" indent="0" marL="0">
              <a:buNone/>
            </a:pPr>
            <a:r>
              <a:rPr lang="en-US" sz="1100" dirty="0">
                <a:solidFill>
                  <a:schemeClr val="accent6"/>
                </a:solidFill>
              </a:rPr>
              <a:t>Paste a screenshot from the live demo here</a:t>
            </a:r>
            <a:endParaRPr lang="en-US" sz="1400" dirty="0"/>
          </a:p>
        </p:txBody>
      </p:sp>
      <p:sp>
        <p:nvSpPr>
          <p:cNvPr id="5" name="Results 1 circle"/>
          <p:cNvSpPr/>
          <p:nvPr/>
        </p:nvSpPr>
        <p:spPr>
          <a:xfrm>
            <a:off x="5623560" y="1188720"/>
            <a:ext cx="420624" cy="420624"/>
          </a:xfrm>
          <a:prstGeom prst="ellipse">
            <a:avLst/>
          </a:prstGeom>
          <a:solidFill>
            <a:schemeClr val="accent1"/>
          </a:solidFill>
          <a:ln/>
        </p:spPr>
      </p:sp>
      <p:pic>
        <p:nvPicPr>
          <p:cNvPr id="6" name="Results 1 icon" descr="preencoded.png">    </p:cNvPr>
          <p:cNvPicPr>
            <a:picLocks noChangeAspect="1"/>
          </p:cNvPicPr>
          <p:nvPr/>
        </p:nvPicPr>
        <p:blipFill>
          <a:blip r:embed="rId1"/>
          <a:stretch>
            <a:fillRect/>
          </a:stretch>
        </p:blipFill>
        <p:spPr>
          <a:xfrm>
            <a:off x="5728716" y="1293876"/>
            <a:ext cx="210312" cy="210312"/>
          </a:xfrm>
          <a:prstGeom prst="rect">
            <a:avLst/>
          </a:prstGeom>
        </p:spPr>
      </p:pic>
      <p:sp>
        <p:nvSpPr>
          <p:cNvPr id="7" name="Text 4"/>
          <p:cNvSpPr txBox="1"/>
          <p:nvPr/>
        </p:nvSpPr>
        <p:spPr>
          <a:xfrm>
            <a:off x="6172200" y="1188720"/>
            <a:ext cx="2514600" cy="420624"/>
          </a:xfrm>
          <a:prstGeom prst="rect">
            <a:avLst/>
          </a:prstGeom>
          <a:noFill/>
          <a:ln/>
        </p:spPr>
        <p:txBody>
          <a:bodyPr wrap="square" lIns="0" tIns="0" rIns="0" bIns="0" rtlCol="0" anchor="ctr"/>
          <a:lstStyle/>
          <a:p>
            <a:pPr indent="0" marL="0">
              <a:buNone/>
            </a:pPr>
            <a:r>
              <a:rPr lang="en-US" sz="1300" dirty="0">
                <a:solidFill>
                  <a:schemeClr val="tx1"/>
                </a:solidFill>
              </a:rPr>
              <a:t>Run everything, one file, or just this test</a:t>
            </a:r>
            <a:endParaRPr lang="en-US" sz="1300" dirty="0"/>
          </a:p>
        </p:txBody>
      </p:sp>
      <p:sp>
        <p:nvSpPr>
          <p:cNvPr id="8" name="Results 2 circle"/>
          <p:cNvSpPr/>
          <p:nvPr/>
        </p:nvSpPr>
        <p:spPr>
          <a:xfrm>
            <a:off x="5623560" y="1755648"/>
            <a:ext cx="420624" cy="420624"/>
          </a:xfrm>
          <a:prstGeom prst="ellipse">
            <a:avLst/>
          </a:prstGeom>
          <a:solidFill>
            <a:schemeClr val="accent1"/>
          </a:solidFill>
          <a:ln/>
        </p:spPr>
      </p:sp>
      <p:pic>
        <p:nvPicPr>
          <p:cNvPr id="9" name="Results 2 icon" descr="preencoded.png">    </p:cNvPr>
          <p:cNvPicPr>
            <a:picLocks noChangeAspect="1"/>
          </p:cNvPicPr>
          <p:nvPr/>
        </p:nvPicPr>
        <p:blipFill>
          <a:blip r:embed="rId2"/>
          <a:stretch>
            <a:fillRect/>
          </a:stretch>
        </p:blipFill>
        <p:spPr>
          <a:xfrm>
            <a:off x="5728716" y="1860804"/>
            <a:ext cx="210312" cy="210312"/>
          </a:xfrm>
          <a:prstGeom prst="rect">
            <a:avLst/>
          </a:prstGeom>
        </p:spPr>
      </p:pic>
      <p:sp>
        <p:nvSpPr>
          <p:cNvPr id="10" name="Text 6"/>
          <p:cNvSpPr txBox="1"/>
          <p:nvPr/>
        </p:nvSpPr>
        <p:spPr>
          <a:xfrm>
            <a:off x="6172200" y="1755648"/>
            <a:ext cx="2514600" cy="420624"/>
          </a:xfrm>
          <a:prstGeom prst="rect">
            <a:avLst/>
          </a:prstGeom>
          <a:noFill/>
          <a:ln/>
        </p:spPr>
        <p:txBody>
          <a:bodyPr wrap="square" lIns="0" tIns="0" rIns="0" bIns="0" rtlCol="0" anchor="ctr"/>
          <a:lstStyle/>
          <a:p>
            <a:pPr indent="0" marL="0">
              <a:buNone/>
            </a:pPr>
            <a:r>
              <a:rPr lang="en-US" sz="1300" dirty="0">
                <a:solidFill>
                  <a:schemeClr val="tx1"/>
                </a:solidFill>
              </a:rPr>
              <a:t>Pass or fail for every step, with the error</a:t>
            </a:r>
            <a:endParaRPr lang="en-US" sz="1300" dirty="0"/>
          </a:p>
        </p:txBody>
      </p:sp>
      <p:sp>
        <p:nvSpPr>
          <p:cNvPr id="11" name="Results 3 circle"/>
          <p:cNvSpPr/>
          <p:nvPr/>
        </p:nvSpPr>
        <p:spPr>
          <a:xfrm>
            <a:off x="5623560" y="2322576"/>
            <a:ext cx="420624" cy="420624"/>
          </a:xfrm>
          <a:prstGeom prst="ellipse">
            <a:avLst/>
          </a:prstGeom>
          <a:solidFill>
            <a:schemeClr val="accent1"/>
          </a:solidFill>
          <a:ln/>
        </p:spPr>
      </p:sp>
      <p:pic>
        <p:nvPicPr>
          <p:cNvPr id="12" name="Results 3 icon" descr="preencoded.png">    </p:cNvPr>
          <p:cNvPicPr>
            <a:picLocks noChangeAspect="1"/>
          </p:cNvPicPr>
          <p:nvPr/>
        </p:nvPicPr>
        <p:blipFill>
          <a:blip r:embed="rId3"/>
          <a:stretch>
            <a:fillRect/>
          </a:stretch>
        </p:blipFill>
        <p:spPr>
          <a:xfrm>
            <a:off x="5728716" y="2427732"/>
            <a:ext cx="210312" cy="210312"/>
          </a:xfrm>
          <a:prstGeom prst="rect">
            <a:avLst/>
          </a:prstGeom>
        </p:spPr>
      </p:pic>
      <p:sp>
        <p:nvSpPr>
          <p:cNvPr id="13" name="Text 8"/>
          <p:cNvSpPr txBox="1"/>
          <p:nvPr/>
        </p:nvSpPr>
        <p:spPr>
          <a:xfrm>
            <a:off x="6172200" y="2322576"/>
            <a:ext cx="2514600" cy="420624"/>
          </a:xfrm>
          <a:prstGeom prst="rect">
            <a:avLst/>
          </a:prstGeom>
          <a:noFill/>
          <a:ln/>
        </p:spPr>
        <p:txBody>
          <a:bodyPr wrap="square" lIns="0" tIns="0" rIns="0" bIns="0" rtlCol="0" anchor="ctr"/>
          <a:lstStyle/>
          <a:p>
            <a:pPr indent="0" marL="0">
              <a:buNone/>
            </a:pPr>
            <a:r>
              <a:rPr lang="en-US" sz="1300" dirty="0">
                <a:solidFill>
                  <a:schemeClr val="tx1"/>
                </a:solidFill>
              </a:rPr>
              <a:t>How long each test and step took</a:t>
            </a:r>
            <a:endParaRPr lang="en-US" sz="1300" dirty="0"/>
          </a:p>
        </p:txBody>
      </p:sp>
      <p:sp>
        <p:nvSpPr>
          <p:cNvPr id="14" name="Results 4 circle"/>
          <p:cNvSpPr/>
          <p:nvPr/>
        </p:nvSpPr>
        <p:spPr>
          <a:xfrm>
            <a:off x="5623560" y="2889504"/>
            <a:ext cx="420624" cy="420624"/>
          </a:xfrm>
          <a:prstGeom prst="ellipse">
            <a:avLst/>
          </a:prstGeom>
          <a:solidFill>
            <a:schemeClr val="accent1"/>
          </a:solidFill>
          <a:ln/>
        </p:spPr>
      </p:sp>
      <p:pic>
        <p:nvPicPr>
          <p:cNvPr id="15" name="Results 4 icon" descr="preencoded.png">    </p:cNvPr>
          <p:cNvPicPr>
            <a:picLocks noChangeAspect="1"/>
          </p:cNvPicPr>
          <p:nvPr/>
        </p:nvPicPr>
        <p:blipFill>
          <a:blip r:embed="rId4"/>
          <a:stretch>
            <a:fillRect/>
          </a:stretch>
        </p:blipFill>
        <p:spPr>
          <a:xfrm>
            <a:off x="5728716" y="2994660"/>
            <a:ext cx="210312" cy="210312"/>
          </a:xfrm>
          <a:prstGeom prst="rect">
            <a:avLst/>
          </a:prstGeom>
        </p:spPr>
      </p:pic>
      <p:sp>
        <p:nvSpPr>
          <p:cNvPr id="16" name="Text 10"/>
          <p:cNvSpPr txBox="1"/>
          <p:nvPr/>
        </p:nvSpPr>
        <p:spPr>
          <a:xfrm>
            <a:off x="6172200" y="2889504"/>
            <a:ext cx="2514600" cy="420624"/>
          </a:xfrm>
          <a:prstGeom prst="rect">
            <a:avLst/>
          </a:prstGeom>
          <a:noFill/>
          <a:ln/>
        </p:spPr>
        <p:txBody>
          <a:bodyPr wrap="square" lIns="0" tIns="0" rIns="0" bIns="0" rtlCol="0" anchor="ctr"/>
          <a:lstStyle/>
          <a:p>
            <a:pPr indent="0" marL="0">
              <a:buNone/>
            </a:pPr>
            <a:r>
              <a:rPr lang="en-US" sz="1300" dirty="0">
                <a:solidFill>
                  <a:schemeClr val="tx1"/>
                </a:solidFill>
              </a:rPr>
              <a:t>A screenshot, plus a step-by-step replay</a:t>
            </a:r>
            <a:endParaRPr lang="en-US" sz="1300" dirty="0"/>
          </a:p>
        </p:txBody>
      </p:sp>
      <p:sp>
        <p:nvSpPr>
          <p:cNvPr id="17" name="Demo run"/>
          <p:cNvSpPr/>
          <p:nvPr/>
        </p:nvSpPr>
        <p:spPr>
          <a:xfrm>
            <a:off x="5623560" y="3611880"/>
            <a:ext cx="3063240" cy="960120"/>
          </a:xfrm>
          <a:prstGeom prst="roundRect">
            <a:avLst>
              <a:gd name="adj" fmla="val 7619"/>
            </a:avLst>
          </a:prstGeom>
          <a:solidFill>
            <a:schemeClr val="tx2"/>
          </a:solidFill>
          <a:ln/>
        </p:spPr>
      </p:sp>
      <p:sp>
        <p:nvSpPr>
          <p:cNvPr id="18" name="Demo run text"/>
          <p:cNvSpPr txBox="1"/>
          <p:nvPr/>
        </p:nvSpPr>
        <p:spPr>
          <a:xfrm>
            <a:off x="5806440" y="3611880"/>
            <a:ext cx="2743200" cy="960120"/>
          </a:xfrm>
          <a:prstGeom prst="rect">
            <a:avLst/>
          </a:prstGeom>
          <a:noFill/>
          <a:ln/>
        </p:spPr>
        <p:txBody>
          <a:bodyPr wrap="square" lIns="0" tIns="0" rIns="0" bIns="0" rtlCol="0" anchor="ctr"/>
          <a:lstStyle/>
          <a:p>
            <a:pPr indent="0" marL="0">
              <a:buNone/>
            </a:pPr>
            <a:r>
              <a:rPr lang="en-US" sz="1500" b="1" dirty="0">
                <a:solidFill>
                  <a:schemeClr val="bg1"/>
                </a:solidFill>
              </a:rPr>
              <a:t>5 tests, real browser</a:t>
            </a:r>
            <a:endParaRPr lang="en-US" sz="1500" dirty="0"/>
          </a:p>
          <a:p>
            <a:pPr indent="0" marL="0">
              <a:buNone/>
            </a:pPr>
            <a:r>
              <a:rPr lang="en-US" sz="1500" dirty="0">
                <a:solidFill>
                  <a:schemeClr val="accent5"/>
                </a:solidFill>
              </a:rPr>
              <a:t>all pass in about 4 seconds</a:t>
            </a:r>
            <a:endParaRPr lang="en-US" sz="15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 tick means the step exists. Run tells you it works.</a:t>
            </a:r>
            <a:endParaRPr lang="en-US" sz="2800" dirty="0"/>
          </a:p>
        </p:txBody>
      </p:sp>
      <p:sp>
        <p:nvSpPr>
          <p:cNvPr id="3" name="Tick card"/>
          <p:cNvSpPr/>
          <p:nvPr/>
        </p:nvSpPr>
        <p:spPr>
          <a:xfrm>
            <a:off x="457200" y="1188720"/>
            <a:ext cx="3749040" cy="2240280"/>
          </a:xfrm>
          <a:prstGeom prst="roundRect">
            <a:avLst>
              <a:gd name="adj" fmla="val 3265"/>
            </a:avLst>
          </a:prstGeom>
          <a:solidFill>
            <a:schemeClr val="accent5"/>
          </a:solidFill>
          <a:ln/>
        </p:spPr>
      </p:sp>
      <p:sp>
        <p:nvSpPr>
          <p:cNvPr id="4" name="Tick circle"/>
          <p:cNvSpPr/>
          <p:nvPr/>
        </p:nvSpPr>
        <p:spPr>
          <a:xfrm>
            <a:off x="640080" y="1371600"/>
            <a:ext cx="502920" cy="502920"/>
          </a:xfrm>
          <a:prstGeom prst="ellipse">
            <a:avLst/>
          </a:prstGeom>
          <a:solidFill>
            <a:schemeClr val="accent1"/>
          </a:solidFill>
          <a:ln/>
        </p:spPr>
      </p:sp>
      <p:pic>
        <p:nvPicPr>
          <p:cNvPr id="5" name="Tick icon" descr="preencoded.png">    </p:cNvPr>
          <p:cNvPicPr>
            <a:picLocks noChangeAspect="1"/>
          </p:cNvPicPr>
          <p:nvPr/>
        </p:nvPicPr>
        <p:blipFill>
          <a:blip r:embed="rId1"/>
          <a:stretch>
            <a:fillRect/>
          </a:stretch>
        </p:blipFill>
        <p:spPr>
          <a:xfrm>
            <a:off x="765810" y="1497330"/>
            <a:ext cx="251460" cy="251460"/>
          </a:xfrm>
          <a:prstGeom prst="rect">
            <a:avLst/>
          </a:prstGeom>
        </p:spPr>
      </p:pic>
      <p:sp>
        <p:nvSpPr>
          <p:cNvPr id="6" name="Text 3"/>
          <p:cNvSpPr txBox="1"/>
          <p:nvPr/>
        </p:nvSpPr>
        <p:spPr>
          <a:xfrm>
            <a:off x="1280160" y="1371600"/>
            <a:ext cx="2834640" cy="502920"/>
          </a:xfrm>
          <a:prstGeom prst="rect">
            <a:avLst/>
          </a:prstGeom>
          <a:noFill/>
          <a:ln/>
        </p:spPr>
        <p:txBody>
          <a:bodyPr wrap="square" lIns="0" tIns="0" rIns="0" bIns="0" rtlCol="0" anchor="ctr"/>
          <a:lstStyle/>
          <a:p>
            <a:pPr indent="0" marL="0">
              <a:buNone/>
            </a:pPr>
            <a:r>
              <a:rPr lang="en-US" sz="1600" b="1" dirty="0">
                <a:solidFill>
                  <a:schemeClr val="tx2"/>
                </a:solidFill>
              </a:rPr>
              <a:t>The editor said ✓</a:t>
            </a:r>
            <a:endParaRPr lang="en-US" sz="1600" dirty="0"/>
          </a:p>
        </p:txBody>
      </p:sp>
      <p:sp>
        <p:nvSpPr>
          <p:cNvPr id="7" name="Text 4"/>
          <p:cNvSpPr txBox="1"/>
          <p:nvPr/>
        </p:nvSpPr>
        <p:spPr>
          <a:xfrm>
            <a:off x="640080" y="2011680"/>
            <a:ext cx="3429000" cy="1280160"/>
          </a:xfrm>
          <a:prstGeom prst="rect">
            <a:avLst/>
          </a:prstGeom>
          <a:noFill/>
          <a:ln/>
        </p:spPr>
        <p:txBody>
          <a:bodyPr wrap="square" lIns="0" tIns="0" rIns="0" bIns="0" rtlCol="0" anchor="t"/>
          <a:lstStyle/>
          <a:p>
            <a:pPr indent="0" marL="0">
              <a:buNone/>
            </a:pPr>
            <a:r>
              <a:rPr lang="en-US" sz="1500" dirty="0">
                <a:solidFill>
                  <a:schemeClr val="tx1"/>
                </a:solidFill>
              </a:rPr>
              <a:t>Someone added “add Bike Light to the cart” a second time to an existing test. The step exists, so the line was ticked.</a:t>
            </a:r>
            <a:endParaRPr lang="en-US" sz="1500" dirty="0"/>
          </a:p>
        </p:txBody>
      </p:sp>
      <p:sp>
        <p:nvSpPr>
          <p:cNvPr id="8" name="Example arrow"/>
          <p:cNvSpPr/>
          <p:nvPr/>
        </p:nvSpPr>
        <p:spPr>
          <a:xfrm>
            <a:off x="4297680" y="2130552"/>
            <a:ext cx="411480" cy="347472"/>
          </a:xfrm>
          <a:prstGeom prst="rightArrow">
            <a:avLst/>
          </a:prstGeom>
          <a:solidFill>
            <a:schemeClr val="accent2"/>
          </a:solidFill>
          <a:ln/>
        </p:spPr>
      </p:sp>
      <p:sp>
        <p:nvSpPr>
          <p:cNvPr id="9" name="Run card"/>
          <p:cNvSpPr/>
          <p:nvPr/>
        </p:nvSpPr>
        <p:spPr>
          <a:xfrm>
            <a:off x="4846320" y="1188720"/>
            <a:ext cx="3840480" cy="2240280"/>
          </a:xfrm>
          <a:prstGeom prst="roundRect">
            <a:avLst>
              <a:gd name="adj" fmla="val 3265"/>
            </a:avLst>
          </a:prstGeom>
          <a:solidFill>
            <a:srgbClr val="FBE9E5"/>
          </a:solidFill>
          <a:ln/>
        </p:spPr>
      </p:sp>
      <p:sp>
        <p:nvSpPr>
          <p:cNvPr id="10" name="Fail circle"/>
          <p:cNvSpPr/>
          <p:nvPr/>
        </p:nvSpPr>
        <p:spPr>
          <a:xfrm>
            <a:off x="5029200" y="1371600"/>
            <a:ext cx="502920" cy="502920"/>
          </a:xfrm>
          <a:prstGeom prst="ellipse">
            <a:avLst/>
          </a:prstGeom>
          <a:solidFill>
            <a:schemeClr val="accent4"/>
          </a:solidFill>
          <a:ln/>
        </p:spPr>
      </p:sp>
      <p:pic>
        <p:nvPicPr>
          <p:cNvPr id="11" name="Fail icon" descr="preencoded.png">    </p:cNvPr>
          <p:cNvPicPr>
            <a:picLocks noChangeAspect="1"/>
          </p:cNvPicPr>
          <p:nvPr/>
        </p:nvPicPr>
        <p:blipFill>
          <a:blip r:embed="rId2"/>
          <a:stretch>
            <a:fillRect/>
          </a:stretch>
        </p:blipFill>
        <p:spPr>
          <a:xfrm>
            <a:off x="5154930" y="1497330"/>
            <a:ext cx="251460" cy="251460"/>
          </a:xfrm>
          <a:prstGeom prst="rect">
            <a:avLst/>
          </a:prstGeom>
        </p:spPr>
      </p:pic>
      <p:sp>
        <p:nvSpPr>
          <p:cNvPr id="12" name="Text 8"/>
          <p:cNvSpPr txBox="1"/>
          <p:nvPr/>
        </p:nvSpPr>
        <p:spPr>
          <a:xfrm>
            <a:off x="5669280" y="1371600"/>
            <a:ext cx="2926080" cy="502920"/>
          </a:xfrm>
          <a:prstGeom prst="rect">
            <a:avLst/>
          </a:prstGeom>
          <a:noFill/>
          <a:ln/>
        </p:spPr>
        <p:txBody>
          <a:bodyPr wrap="square" lIns="0" tIns="0" rIns="0" bIns="0" rtlCol="0" anchor="ctr"/>
          <a:lstStyle/>
          <a:p>
            <a:pPr indent="0" marL="0">
              <a:buNone/>
            </a:pPr>
            <a:r>
              <a:rPr lang="en-US" sz="1600" b="1" dirty="0">
                <a:solidFill>
                  <a:schemeClr val="accent4"/>
                </a:solidFill>
              </a:rPr>
              <a:t>Running it said ✗</a:t>
            </a:r>
            <a:endParaRPr lang="en-US" sz="1600" dirty="0"/>
          </a:p>
        </p:txBody>
      </p:sp>
      <p:sp>
        <p:nvSpPr>
          <p:cNvPr id="13" name="Text 9"/>
          <p:cNvSpPr txBox="1"/>
          <p:nvPr/>
        </p:nvSpPr>
        <p:spPr>
          <a:xfrm>
            <a:off x="5029200" y="2011680"/>
            <a:ext cx="3520440" cy="1280160"/>
          </a:xfrm>
          <a:prstGeom prst="rect">
            <a:avLst/>
          </a:prstGeom>
          <a:noFill/>
          <a:ln/>
        </p:spPr>
        <p:txBody>
          <a:bodyPr wrap="square" lIns="0" tIns="0" rIns="0" bIns="0" rtlCol="0" anchor="t"/>
          <a:lstStyle/>
          <a:p>
            <a:pPr indent="0" marL="0">
              <a:buNone/>
            </a:pPr>
            <a:r>
              <a:rPr lang="en-US" sz="1500" dirty="0">
                <a:solidFill>
                  <a:schemeClr val="tx1"/>
                </a:solidFill>
              </a:rPr>
              <a:t>The second click removed the item, so the cart showed </a:t>
            </a:r>
            <a:pPr indent="0" marL="0">
              <a:buNone/>
            </a:pPr>
            <a:r>
              <a:rPr lang="en-US" sz="1500" b="1" dirty="0">
                <a:solidFill>
                  <a:schemeClr val="accent4"/>
                </a:solidFill>
              </a:rPr>
              <a:t>1 instead of 2</a:t>
            </a:r>
            <a:pPr indent="0" marL="0">
              <a:buNone/>
            </a:pPr>
            <a:r>
              <a:rPr lang="en-US" sz="1500" dirty="0">
                <a:solidFill>
                  <a:schemeClr val="tx1"/>
                </a:solidFill>
              </a:rPr>
              <a:t>.</a:t>
            </a:r>
            <a:endParaRPr lang="en-US" sz="1500" dirty="0"/>
          </a:p>
        </p:txBody>
      </p:sp>
      <p:sp>
        <p:nvSpPr>
          <p:cNvPr id="14" name="Lesson"/>
          <p:cNvSpPr/>
          <p:nvPr/>
        </p:nvSpPr>
        <p:spPr>
          <a:xfrm>
            <a:off x="457200" y="3657600"/>
            <a:ext cx="8229600" cy="914400"/>
          </a:xfrm>
          <a:prstGeom prst="roundRect">
            <a:avLst>
              <a:gd name="adj" fmla="val 8000"/>
            </a:avLst>
          </a:prstGeom>
          <a:solidFill>
            <a:schemeClr val="tx2"/>
          </a:solidFill>
          <a:ln/>
        </p:spPr>
      </p:sp>
      <p:sp>
        <p:nvSpPr>
          <p:cNvPr id="15" name="Lesson text"/>
          <p:cNvSpPr txBox="1"/>
          <p:nvPr/>
        </p:nvSpPr>
        <p:spPr>
          <a:xfrm>
            <a:off x="685800" y="3657600"/>
            <a:ext cx="7772400" cy="914400"/>
          </a:xfrm>
          <a:prstGeom prst="rect">
            <a:avLst/>
          </a:prstGeom>
          <a:noFill/>
          <a:ln/>
        </p:spPr>
        <p:txBody>
          <a:bodyPr wrap="square" lIns="0" tIns="0" rIns="0" bIns="0" rtlCol="0" anchor="ctr"/>
          <a:lstStyle/>
          <a:p>
            <a:pPr indent="0" marL="0">
              <a:buNone/>
            </a:pPr>
            <a:r>
              <a:rPr lang="en-US" sz="1400" b="1" dirty="0">
                <a:solidFill>
                  <a:srgbClr val="F2C46D"/>
                </a:solidFill>
              </a:rPr>
              <a:t>Both checks are now one click away. </a:t>
            </a:r>
            <a:pPr indent="0" marL="0">
              <a:buNone/>
            </a:pPr>
            <a:r>
              <a:rPr lang="en-US" sz="1400" dirty="0">
                <a:solidFill>
                  <a:schemeClr val="bg1"/>
                </a:solidFill>
              </a:rPr>
              <a:t>✓ catches wording mistakes as you type; Run catches mistakes in what the test actually does.</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Duplicates found and merged, safely</a:t>
            </a:r>
            <a:endParaRPr lang="en-US" sz="2800" dirty="0"/>
          </a:p>
        </p:txBody>
      </p:sp>
      <p:sp>
        <p:nvSpPr>
          <p:cNvPr id="3" name="Text 1"/>
          <p:cNvSpPr txBox="1"/>
          <p:nvPr/>
        </p:nvSpPr>
        <p:spPr>
          <a:xfrm>
            <a:off x="457200" y="1188720"/>
            <a:ext cx="2011680" cy="274320"/>
          </a:xfrm>
          <a:prstGeom prst="rect">
            <a:avLst/>
          </a:prstGeom>
          <a:noFill/>
          <a:ln/>
        </p:spPr>
        <p:txBody>
          <a:bodyPr wrap="square" lIns="0" tIns="0" rIns="0" bIns="0" rtlCol="0" anchor="t"/>
          <a:lstStyle/>
          <a:p>
            <a:pPr indent="0" marL="0">
              <a:buNone/>
            </a:pPr>
            <a:r>
              <a:rPr lang="en-US" sz="1300" b="1" dirty="0">
                <a:solidFill>
                  <a:schemeClr val="accent4"/>
                </a:solidFill>
              </a:rPr>
              <a:t>Before</a:t>
            </a:r>
            <a:endParaRPr lang="en-US" sz="1300" dirty="0"/>
          </a:p>
        </p:txBody>
      </p:sp>
      <p:sp>
        <p:nvSpPr>
          <p:cNvPr id="4" name="Text 2"/>
          <p:cNvSpPr txBox="1"/>
          <p:nvPr/>
        </p:nvSpPr>
        <p:spPr>
          <a:xfrm>
            <a:off x="2926080" y="1188720"/>
            <a:ext cx="1920240" cy="274320"/>
          </a:xfrm>
          <a:prstGeom prst="rect">
            <a:avLst/>
          </a:prstGeom>
          <a:noFill/>
          <a:ln/>
        </p:spPr>
        <p:txBody>
          <a:bodyPr wrap="square" lIns="0" tIns="0" rIns="0" bIns="0" rtlCol="0" anchor="t"/>
          <a:lstStyle/>
          <a:p>
            <a:pPr indent="0" marL="0">
              <a:buNone/>
            </a:pPr>
            <a:r>
              <a:rPr lang="en-US" sz="1300" b="1" dirty="0">
                <a:solidFill>
                  <a:schemeClr val="accent1"/>
                </a:solidFill>
              </a:rPr>
              <a:t>After</a:t>
            </a:r>
            <a:endParaRPr lang="en-US" sz="1300" dirty="0"/>
          </a:p>
        </p:txBody>
      </p:sp>
      <p:sp>
        <p:nvSpPr>
          <p:cNvPr id="5" name="Before 1"/>
          <p:cNvSpPr/>
          <p:nvPr/>
        </p:nvSpPr>
        <p:spPr>
          <a:xfrm>
            <a:off x="457200" y="1508760"/>
            <a:ext cx="2011680" cy="457200"/>
          </a:xfrm>
          <a:prstGeom prst="roundRect">
            <a:avLst>
              <a:gd name="adj" fmla="val 16000"/>
            </a:avLst>
          </a:prstGeom>
          <a:solidFill>
            <a:srgbClr val="FBE9E5"/>
          </a:solidFill>
          <a:ln/>
        </p:spPr>
      </p:sp>
      <p:sp>
        <p:nvSpPr>
          <p:cNvPr id="6" name="Text 4"/>
          <p:cNvSpPr txBox="1"/>
          <p:nvPr/>
        </p:nvSpPr>
        <p:spPr>
          <a:xfrm>
            <a:off x="548640" y="1508760"/>
            <a:ext cx="1828800" cy="457200"/>
          </a:xfrm>
          <a:prstGeom prst="rect">
            <a:avLst/>
          </a:prstGeom>
          <a:noFill/>
          <a:ln/>
        </p:spPr>
        <p:txBody>
          <a:bodyPr wrap="square" lIns="0" tIns="0" rIns="0" bIns="0" rtlCol="0" anchor="ctr"/>
          <a:lstStyle/>
          <a:p>
            <a:pPr indent="0" marL="0">
              <a:buNone/>
            </a:pPr>
            <a:r>
              <a:rPr lang="en-US" sz="1200" dirty="0">
                <a:solidFill>
                  <a:schemeClr val="tx1"/>
                </a:solidFill>
              </a:rPr>
              <a:t>I am on the login page</a:t>
            </a:r>
            <a:endParaRPr lang="en-US" sz="1200" dirty="0"/>
          </a:p>
        </p:txBody>
      </p:sp>
      <p:sp>
        <p:nvSpPr>
          <p:cNvPr id="7" name="Before 2"/>
          <p:cNvSpPr/>
          <p:nvPr/>
        </p:nvSpPr>
        <p:spPr>
          <a:xfrm>
            <a:off x="457200" y="2057400"/>
            <a:ext cx="2011680" cy="457200"/>
          </a:xfrm>
          <a:prstGeom prst="roundRect">
            <a:avLst>
              <a:gd name="adj" fmla="val 16000"/>
            </a:avLst>
          </a:prstGeom>
          <a:solidFill>
            <a:srgbClr val="FBE9E5"/>
          </a:solidFill>
          <a:ln/>
        </p:spPr>
      </p:sp>
      <p:sp>
        <p:nvSpPr>
          <p:cNvPr id="8" name="Text 6"/>
          <p:cNvSpPr txBox="1"/>
          <p:nvPr/>
        </p:nvSpPr>
        <p:spPr>
          <a:xfrm>
            <a:off x="548640" y="2057400"/>
            <a:ext cx="1828800" cy="457200"/>
          </a:xfrm>
          <a:prstGeom prst="rect">
            <a:avLst/>
          </a:prstGeom>
          <a:noFill/>
          <a:ln/>
        </p:spPr>
        <p:txBody>
          <a:bodyPr wrap="square" lIns="0" tIns="0" rIns="0" bIns="0" rtlCol="0" anchor="ctr"/>
          <a:lstStyle/>
          <a:p>
            <a:pPr indent="0" marL="0">
              <a:buNone/>
            </a:pPr>
            <a:r>
              <a:rPr lang="en-US" sz="1200" dirty="0">
                <a:solidFill>
                  <a:schemeClr val="tx1"/>
                </a:solidFill>
              </a:rPr>
              <a:t>the user is on the login page</a:t>
            </a:r>
            <a:endParaRPr lang="en-US" sz="1200" dirty="0"/>
          </a:p>
        </p:txBody>
      </p:sp>
      <p:sp>
        <p:nvSpPr>
          <p:cNvPr id="9" name="Merge arrow"/>
          <p:cNvSpPr/>
          <p:nvPr/>
        </p:nvSpPr>
        <p:spPr>
          <a:xfrm>
            <a:off x="2514600" y="1837944"/>
            <a:ext cx="365760" cy="347472"/>
          </a:xfrm>
          <a:prstGeom prst="rightArrow">
            <a:avLst/>
          </a:prstGeom>
          <a:solidFill>
            <a:schemeClr val="accent2"/>
          </a:solidFill>
          <a:ln/>
        </p:spPr>
      </p:sp>
      <p:sp>
        <p:nvSpPr>
          <p:cNvPr id="10" name="After 1"/>
          <p:cNvSpPr/>
          <p:nvPr/>
        </p:nvSpPr>
        <p:spPr>
          <a:xfrm>
            <a:off x="2926080" y="1783080"/>
            <a:ext cx="1920240" cy="457200"/>
          </a:xfrm>
          <a:prstGeom prst="roundRect">
            <a:avLst>
              <a:gd name="adj" fmla="val 16000"/>
            </a:avLst>
          </a:prstGeom>
          <a:solidFill>
            <a:schemeClr val="accent5"/>
          </a:solidFill>
          <a:ln/>
        </p:spPr>
      </p:sp>
      <p:sp>
        <p:nvSpPr>
          <p:cNvPr id="11" name="Text 9"/>
          <p:cNvSpPr txBox="1"/>
          <p:nvPr/>
        </p:nvSpPr>
        <p:spPr>
          <a:xfrm>
            <a:off x="3017520" y="1783080"/>
            <a:ext cx="1737360" cy="457200"/>
          </a:xfrm>
          <a:prstGeom prst="rect">
            <a:avLst/>
          </a:prstGeom>
          <a:noFill/>
          <a:ln/>
        </p:spPr>
        <p:txBody>
          <a:bodyPr wrap="square" lIns="0" tIns="0" rIns="0" bIns="0" rtlCol="0" anchor="ctr"/>
          <a:lstStyle/>
          <a:p>
            <a:pPr indent="0" marL="0">
              <a:buNone/>
            </a:pPr>
            <a:r>
              <a:rPr lang="en-US" sz="1200" dirty="0">
                <a:solidFill>
                  <a:schemeClr val="tx1"/>
                </a:solidFill>
              </a:rPr>
              <a:t>I am on the login page</a:t>
            </a:r>
            <a:endParaRPr lang="en-US" sz="1200" dirty="0"/>
          </a:p>
        </p:txBody>
      </p:sp>
      <p:sp>
        <p:nvSpPr>
          <p:cNvPr id="12" name="Text 10"/>
          <p:cNvSpPr txBox="1"/>
          <p:nvPr/>
        </p:nvSpPr>
        <p:spPr>
          <a:xfrm>
            <a:off x="2926080" y="2286000"/>
            <a:ext cx="1920240" cy="228600"/>
          </a:xfrm>
          <a:prstGeom prst="rect">
            <a:avLst/>
          </a:prstGeom>
          <a:noFill/>
          <a:ln/>
        </p:spPr>
        <p:txBody>
          <a:bodyPr wrap="square" lIns="0" tIns="0" rIns="0" bIns="0" rtlCol="0" anchor="t"/>
          <a:lstStyle/>
          <a:p>
            <a:pPr indent="0" marL="0">
              <a:buNone/>
            </a:pPr>
            <a:r>
              <a:rPr lang="en-US" sz="1000" i="1" dirty="0">
                <a:solidFill>
                  <a:schemeClr val="accent6"/>
                </a:solidFill>
              </a:rPr>
              <a:t>Example wording</a:t>
            </a:r>
            <a:endParaRPr lang="en-US" sz="1000" dirty="0"/>
          </a:p>
        </p:txBody>
      </p:sp>
      <p:sp>
        <p:nvSpPr>
          <p:cNvPr id="13" name="Stat 1"/>
          <p:cNvSpPr/>
          <p:nvPr/>
        </p:nvSpPr>
        <p:spPr>
          <a:xfrm>
            <a:off x="457200" y="2697480"/>
            <a:ext cx="2103120" cy="960120"/>
          </a:xfrm>
          <a:prstGeom prst="roundRect">
            <a:avLst>
              <a:gd name="adj" fmla="val 7619"/>
            </a:avLst>
          </a:prstGeom>
          <a:solidFill>
            <a:schemeClr val="bg2"/>
          </a:solidFill>
          <a:ln/>
        </p:spPr>
      </p:sp>
      <p:sp>
        <p:nvSpPr>
          <p:cNvPr id="14" name="Text 12"/>
          <p:cNvSpPr txBox="1"/>
          <p:nvPr/>
        </p:nvSpPr>
        <p:spPr>
          <a:xfrm>
            <a:off x="640080" y="2724912"/>
            <a:ext cx="1828800" cy="5029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a:t>
            </a:r>
            <a:endParaRPr lang="en-US" sz="2800" dirty="0"/>
          </a:p>
        </p:txBody>
      </p:sp>
      <p:sp>
        <p:nvSpPr>
          <p:cNvPr id="15" name="Text 13"/>
          <p:cNvSpPr txBox="1"/>
          <p:nvPr/>
        </p:nvSpPr>
        <p:spPr>
          <a:xfrm>
            <a:off x="640080" y="3200400"/>
            <a:ext cx="1828800" cy="411480"/>
          </a:xfrm>
          <a:prstGeom prst="rect">
            <a:avLst/>
          </a:prstGeom>
          <a:noFill/>
          <a:ln/>
        </p:spPr>
        <p:txBody>
          <a:bodyPr wrap="square" lIns="0" tIns="0" rIns="0" bIns="0" rtlCol="0" anchor="t"/>
          <a:lstStyle/>
          <a:p>
            <a:pPr indent="0" marL="0">
              <a:buNone/>
            </a:pPr>
            <a:r>
              <a:rPr lang="en-US" sz="1200" dirty="0">
                <a:solidFill>
                  <a:schemeClr val="tx1"/>
                </a:solidFill>
              </a:rPr>
              <a:t>duplicate pairs found and merged in the demo</a:t>
            </a:r>
            <a:endParaRPr lang="en-US" sz="1200" dirty="0"/>
          </a:p>
        </p:txBody>
      </p:sp>
      <p:sp>
        <p:nvSpPr>
          <p:cNvPr id="16" name="Stat 2"/>
          <p:cNvSpPr/>
          <p:nvPr/>
        </p:nvSpPr>
        <p:spPr>
          <a:xfrm>
            <a:off x="2743200" y="2697480"/>
            <a:ext cx="2103120" cy="960120"/>
          </a:xfrm>
          <a:prstGeom prst="roundRect">
            <a:avLst>
              <a:gd name="adj" fmla="val 7619"/>
            </a:avLst>
          </a:prstGeom>
          <a:solidFill>
            <a:schemeClr val="bg2"/>
          </a:solidFill>
          <a:ln/>
        </p:spPr>
      </p:sp>
      <p:sp>
        <p:nvSpPr>
          <p:cNvPr id="17" name="Text 15"/>
          <p:cNvSpPr txBox="1"/>
          <p:nvPr/>
        </p:nvSpPr>
        <p:spPr>
          <a:xfrm>
            <a:off x="2926080" y="2724912"/>
            <a:ext cx="1828800" cy="5029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5 of 5</a:t>
            </a:r>
            <a:endParaRPr lang="en-US" sz="2800" dirty="0"/>
          </a:p>
        </p:txBody>
      </p:sp>
      <p:sp>
        <p:nvSpPr>
          <p:cNvPr id="18" name="Text 16"/>
          <p:cNvSpPr txBox="1"/>
          <p:nvPr/>
        </p:nvSpPr>
        <p:spPr>
          <a:xfrm>
            <a:off x="2926080" y="3200400"/>
            <a:ext cx="1828800" cy="411480"/>
          </a:xfrm>
          <a:prstGeom prst="rect">
            <a:avLst/>
          </a:prstGeom>
          <a:noFill/>
          <a:ln/>
        </p:spPr>
        <p:txBody>
          <a:bodyPr wrap="square" lIns="0" tIns="0" rIns="0" bIns="0" rtlCol="0" anchor="t"/>
          <a:lstStyle/>
          <a:p>
            <a:pPr indent="0" marL="0">
              <a:buNone/>
            </a:pPr>
            <a:r>
              <a:rPr lang="en-US" sz="1200" dirty="0">
                <a:solidFill>
                  <a:schemeClr val="tx1"/>
                </a:solidFill>
              </a:rPr>
              <a:t>tests still pass afterwards</a:t>
            </a:r>
            <a:endParaRPr lang="en-US" sz="1200" dirty="0"/>
          </a:p>
        </p:txBody>
      </p:sp>
      <p:sp>
        <p:nvSpPr>
          <p:cNvPr id="19" name="Cautious circle"/>
          <p:cNvSpPr/>
          <p:nvPr/>
        </p:nvSpPr>
        <p:spPr>
          <a:xfrm>
            <a:off x="457200" y="3904488"/>
            <a:ext cx="457200" cy="457200"/>
          </a:xfrm>
          <a:prstGeom prst="ellipse">
            <a:avLst/>
          </a:prstGeom>
          <a:solidFill>
            <a:schemeClr val="tx2"/>
          </a:solidFill>
          <a:ln/>
        </p:spPr>
      </p:sp>
      <p:pic>
        <p:nvPicPr>
          <p:cNvPr id="20" name="Cautious icon" descr="preencoded.png">    </p:cNvPr>
          <p:cNvPicPr>
            <a:picLocks noChangeAspect="1"/>
          </p:cNvPicPr>
          <p:nvPr/>
        </p:nvPicPr>
        <p:blipFill>
          <a:blip r:embed="rId1"/>
          <a:stretch>
            <a:fillRect/>
          </a:stretch>
        </p:blipFill>
        <p:spPr>
          <a:xfrm>
            <a:off x="571500" y="4018788"/>
            <a:ext cx="228600" cy="228600"/>
          </a:xfrm>
          <a:prstGeom prst="rect">
            <a:avLst/>
          </a:prstGeom>
        </p:spPr>
      </p:pic>
      <p:sp>
        <p:nvSpPr>
          <p:cNvPr id="21" name="Cautious text"/>
          <p:cNvSpPr txBox="1"/>
          <p:nvPr/>
        </p:nvSpPr>
        <p:spPr>
          <a:xfrm>
            <a:off x="1051560" y="3794760"/>
            <a:ext cx="3794760" cy="731520"/>
          </a:xfrm>
          <a:prstGeom prst="rect">
            <a:avLst/>
          </a:prstGeom>
          <a:noFill/>
          <a:ln/>
        </p:spPr>
        <p:txBody>
          <a:bodyPr wrap="square" lIns="0" tIns="0" rIns="0" bIns="0" rtlCol="0" anchor="ctr"/>
          <a:lstStyle/>
          <a:p>
            <a:pPr indent="0" marL="0">
              <a:buNone/>
            </a:pPr>
            <a:r>
              <a:rPr lang="en-US" sz="1250" dirty="0">
                <a:solidFill>
                  <a:schemeClr val="tx1"/>
                </a:solidFill>
              </a:rPr>
              <a:t>Shows which step is kept and how often each is used. Only merges when both do exactly the same thing, and says why when it won’t.</a:t>
            </a:r>
            <a:endParaRPr lang="en-US" sz="1250" dirty="0"/>
          </a:p>
        </p:txBody>
      </p:sp>
      <p:sp>
        <p:nvSpPr>
          <p:cNvPr id="22" name="Duplicates screenshot frame"/>
          <p:cNvSpPr/>
          <p:nvPr/>
        </p:nvSpPr>
        <p:spPr>
          <a:xfrm>
            <a:off x="5120640" y="1188720"/>
            <a:ext cx="3566160" cy="3383280"/>
          </a:xfrm>
          <a:prstGeom prst="rect">
            <a:avLst/>
          </a:prstGeom>
          <a:solidFill>
            <a:srgbClr val="FBF8F2"/>
          </a:solidFill>
          <a:ln w="19050">
            <a:solidFill>
              <a:srgbClr val="E39B2D"/>
            </a:solidFill>
            <a:prstDash val="dash"/>
          </a:ln>
        </p:spPr>
      </p:sp>
      <p:sp>
        <p:nvSpPr>
          <p:cNvPr id="23" name="Duplicates screenshot"/>
          <p:cNvSpPr txBox="1"/>
          <p:nvPr/>
        </p:nvSpPr>
        <p:spPr>
          <a:xfrm>
            <a:off x="5303520" y="1188720"/>
            <a:ext cx="3200400" cy="3383280"/>
          </a:xfrm>
          <a:prstGeom prst="rect">
            <a:avLst/>
          </a:prstGeom>
          <a:noFill/>
          <a:ln/>
        </p:spPr>
        <p:txBody>
          <a:bodyPr wrap="square" lIns="0" tIns="0" rIns="0" bIns="0" rtlCol="0" anchor="ctr"/>
          <a:lstStyle/>
          <a:p>
            <a:pPr algn="ctr" indent="0" marL="0">
              <a:buNone/>
            </a:pPr>
            <a:r>
              <a:rPr lang="en-US" sz="1500" b="1" dirty="0">
                <a:solidFill>
                  <a:srgbClr val="8A5A0C"/>
                </a:solidFill>
              </a:rPr>
              <a:t>[SCREENSHOT: duplicates]</a:t>
            </a:r>
            <a:endParaRPr lang="en-US" sz="1400" dirty="0"/>
          </a:p>
          <a:p>
            <a:pPr algn="ctr" indent="0" marL="0">
              <a:buNone/>
            </a:pPr>
            <a:r>
              <a:rPr lang="en-US" sz="1100" dirty="0">
                <a:solidFill>
                  <a:schemeClr val="accent6"/>
                </a:solidFill>
              </a:rPr>
              <a:t>Paste a screenshot from the live demo here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Edit any existing test, and undo if needed</a:t>
            </a:r>
            <a:endParaRPr lang="en-US" sz="2800" dirty="0"/>
          </a:p>
        </p:txBody>
      </p:sp>
      <p:sp>
        <p:nvSpPr>
          <p:cNvPr id="3" name="Text 1"/>
          <p:cNvSpPr txBox="1"/>
          <p:nvPr/>
        </p:nvSpPr>
        <p:spPr>
          <a:xfrm>
            <a:off x="457200" y="1188720"/>
            <a:ext cx="4023360" cy="320040"/>
          </a:xfrm>
          <a:prstGeom prst="rect">
            <a:avLst/>
          </a:prstGeom>
          <a:noFill/>
          <a:ln/>
        </p:spPr>
        <p:txBody>
          <a:bodyPr wrap="square" lIns="0" tIns="0" rIns="0" bIns="0" rtlCol="0" anchor="t"/>
          <a:lstStyle/>
          <a:p>
            <a:pPr indent="0" marL="0">
              <a:buNone/>
            </a:pPr>
            <a:r>
              <a:rPr lang="en-US" sz="1500" b="1" dirty="0">
                <a:solidFill>
                  <a:schemeClr val="tx2"/>
                </a:solidFill>
              </a:rPr>
              <a:t>Scenarios tab</a:t>
            </a:r>
            <a:endParaRPr lang="en-US" sz="1500" dirty="0"/>
          </a:p>
        </p:txBody>
      </p:sp>
      <p:sp>
        <p:nvSpPr>
          <p:cNvPr id="4" name="Edit 1 circle"/>
          <p:cNvSpPr/>
          <p:nvPr/>
        </p:nvSpPr>
        <p:spPr>
          <a:xfrm>
            <a:off x="457200" y="1600200"/>
            <a:ext cx="310896" cy="310896"/>
          </a:xfrm>
          <a:prstGeom prst="ellipse">
            <a:avLst/>
          </a:prstGeom>
          <a:solidFill>
            <a:schemeClr val="accent1"/>
          </a:solidFill>
          <a:ln/>
        </p:spPr>
      </p:sp>
      <p:pic>
        <p:nvPicPr>
          <p:cNvPr id="5" name="Edit 1 icon" descr="preencoded.png">    </p:cNvPr>
          <p:cNvPicPr>
            <a:picLocks noChangeAspect="1"/>
          </p:cNvPicPr>
          <p:nvPr/>
        </p:nvPicPr>
        <p:blipFill>
          <a:blip r:embed="rId1"/>
          <a:stretch>
            <a:fillRect/>
          </a:stretch>
        </p:blipFill>
        <p:spPr>
          <a:xfrm>
            <a:off x="534924" y="1677924"/>
            <a:ext cx="155448" cy="155448"/>
          </a:xfrm>
          <a:prstGeom prst="rect">
            <a:avLst/>
          </a:prstGeom>
        </p:spPr>
      </p:pic>
      <p:sp>
        <p:nvSpPr>
          <p:cNvPr id="6" name="Text 3"/>
          <p:cNvSpPr txBox="1"/>
          <p:nvPr/>
        </p:nvSpPr>
        <p:spPr>
          <a:xfrm>
            <a:off x="896112" y="1572768"/>
            <a:ext cx="3657600" cy="365760"/>
          </a:xfrm>
          <a:prstGeom prst="rect">
            <a:avLst/>
          </a:prstGeom>
          <a:noFill/>
          <a:ln/>
        </p:spPr>
        <p:txBody>
          <a:bodyPr wrap="square" lIns="0" tIns="0" rIns="0" bIns="0" rtlCol="0" anchor="ctr"/>
          <a:lstStyle/>
          <a:p>
            <a:pPr indent="0" marL="0">
              <a:buNone/>
            </a:pPr>
            <a:r>
              <a:rPr lang="en-US" sz="1250" dirty="0">
                <a:solidFill>
                  <a:schemeClr val="tx1"/>
                </a:solidFill>
              </a:rPr>
              <a:t>Edit opens any existing test as blocks, values filled in</a:t>
            </a:r>
            <a:endParaRPr lang="en-US" sz="1250" dirty="0"/>
          </a:p>
        </p:txBody>
      </p:sp>
      <p:sp>
        <p:nvSpPr>
          <p:cNvPr id="7" name="Edit 2 circle"/>
          <p:cNvSpPr/>
          <p:nvPr/>
        </p:nvSpPr>
        <p:spPr>
          <a:xfrm>
            <a:off x="457200" y="2011680"/>
            <a:ext cx="310896" cy="310896"/>
          </a:xfrm>
          <a:prstGeom prst="ellipse">
            <a:avLst/>
          </a:prstGeom>
          <a:solidFill>
            <a:schemeClr val="accent1"/>
          </a:solidFill>
          <a:ln/>
        </p:spPr>
      </p:sp>
      <p:pic>
        <p:nvPicPr>
          <p:cNvPr id="8" name="Edit 2 icon" descr="preencoded.png">    </p:cNvPr>
          <p:cNvPicPr>
            <a:picLocks noChangeAspect="1"/>
          </p:cNvPicPr>
          <p:nvPr/>
        </p:nvPicPr>
        <p:blipFill>
          <a:blip r:embed="rId2"/>
          <a:stretch>
            <a:fillRect/>
          </a:stretch>
        </p:blipFill>
        <p:spPr>
          <a:xfrm>
            <a:off x="534924" y="2089404"/>
            <a:ext cx="155448" cy="155448"/>
          </a:xfrm>
          <a:prstGeom prst="rect">
            <a:avLst/>
          </a:prstGeom>
        </p:spPr>
      </p:pic>
      <p:sp>
        <p:nvSpPr>
          <p:cNvPr id="9" name="Text 5"/>
          <p:cNvSpPr txBox="1"/>
          <p:nvPr/>
        </p:nvSpPr>
        <p:spPr>
          <a:xfrm>
            <a:off x="896112" y="1984248"/>
            <a:ext cx="3657600" cy="365760"/>
          </a:xfrm>
          <a:prstGeom prst="rect">
            <a:avLst/>
          </a:prstGeom>
          <a:noFill/>
          <a:ln/>
        </p:spPr>
        <p:txBody>
          <a:bodyPr wrap="square" lIns="0" tIns="0" rIns="0" bIns="0" rtlCol="0" anchor="ctr"/>
          <a:lstStyle/>
          <a:p>
            <a:pPr indent="0" marL="0">
              <a:buNone/>
            </a:pPr>
            <a:r>
              <a:rPr lang="en-US" sz="1250" dirty="0">
                <a:solidFill>
                  <a:schemeClr val="tx1"/>
                </a:solidFill>
              </a:rPr>
              <a:t>Includes the shared opening steps, tags and example tables</a:t>
            </a:r>
            <a:endParaRPr lang="en-US" sz="1250" dirty="0"/>
          </a:p>
        </p:txBody>
      </p:sp>
      <p:sp>
        <p:nvSpPr>
          <p:cNvPr id="10" name="Edit 3 circle"/>
          <p:cNvSpPr/>
          <p:nvPr/>
        </p:nvSpPr>
        <p:spPr>
          <a:xfrm>
            <a:off x="457200" y="2423160"/>
            <a:ext cx="310896" cy="310896"/>
          </a:xfrm>
          <a:prstGeom prst="ellipse">
            <a:avLst/>
          </a:prstGeom>
          <a:solidFill>
            <a:schemeClr val="accent1"/>
          </a:solidFill>
          <a:ln/>
        </p:spPr>
      </p:sp>
      <p:pic>
        <p:nvPicPr>
          <p:cNvPr id="11" name="Edit 3 icon" descr="preencoded.png">    </p:cNvPr>
          <p:cNvPicPr>
            <a:picLocks noChangeAspect="1"/>
          </p:cNvPicPr>
          <p:nvPr/>
        </p:nvPicPr>
        <p:blipFill>
          <a:blip r:embed="rId3"/>
          <a:stretch>
            <a:fillRect/>
          </a:stretch>
        </p:blipFill>
        <p:spPr>
          <a:xfrm>
            <a:off x="534924" y="2500884"/>
            <a:ext cx="155448" cy="155448"/>
          </a:xfrm>
          <a:prstGeom prst="rect">
            <a:avLst/>
          </a:prstGeom>
        </p:spPr>
      </p:pic>
      <p:sp>
        <p:nvSpPr>
          <p:cNvPr id="12" name="Text 7"/>
          <p:cNvSpPr txBox="1"/>
          <p:nvPr/>
        </p:nvSpPr>
        <p:spPr>
          <a:xfrm>
            <a:off x="896112" y="2395728"/>
            <a:ext cx="3657600" cy="365760"/>
          </a:xfrm>
          <a:prstGeom prst="rect">
            <a:avLst/>
          </a:prstGeom>
          <a:noFill/>
          <a:ln/>
        </p:spPr>
        <p:txBody>
          <a:bodyPr wrap="square" lIns="0" tIns="0" rIns="0" bIns="0" rtlCol="0" anchor="ctr"/>
          <a:lstStyle/>
          <a:p>
            <a:pPr indent="0" marL="0">
              <a:buNone/>
            </a:pPr>
            <a:r>
              <a:rPr lang="en-US" sz="1250" dirty="0">
                <a:solidFill>
                  <a:schemeClr val="tx1"/>
                </a:solidFill>
              </a:rPr>
              <a:t>Duplicate or delete a test in one click</a:t>
            </a:r>
            <a:endParaRPr lang="en-US" sz="1250" dirty="0"/>
          </a:p>
        </p:txBody>
      </p:sp>
      <p:sp>
        <p:nvSpPr>
          <p:cNvPr id="13" name="Text 8"/>
          <p:cNvSpPr txBox="1"/>
          <p:nvPr/>
        </p:nvSpPr>
        <p:spPr>
          <a:xfrm>
            <a:off x="457200" y="2926080"/>
            <a:ext cx="4023360" cy="320040"/>
          </a:xfrm>
          <a:prstGeom prst="rect">
            <a:avLst/>
          </a:prstGeom>
          <a:noFill/>
          <a:ln/>
        </p:spPr>
        <p:txBody>
          <a:bodyPr wrap="square" lIns="0" tIns="0" rIns="0" bIns="0" rtlCol="0" anchor="t"/>
          <a:lstStyle/>
          <a:p>
            <a:pPr indent="0" marL="0">
              <a:buNone/>
            </a:pPr>
            <a:r>
              <a:rPr lang="en-US" sz="1500" b="1" dirty="0">
                <a:solidFill>
                  <a:schemeClr val="tx2"/>
                </a:solidFill>
              </a:rPr>
              <a:t>History tab</a:t>
            </a:r>
            <a:endParaRPr lang="en-US" sz="1500" dirty="0"/>
          </a:p>
        </p:txBody>
      </p:sp>
      <p:sp>
        <p:nvSpPr>
          <p:cNvPr id="14" name="History 1 circle"/>
          <p:cNvSpPr/>
          <p:nvPr/>
        </p:nvSpPr>
        <p:spPr>
          <a:xfrm>
            <a:off x="457200" y="3337560"/>
            <a:ext cx="310896" cy="310896"/>
          </a:xfrm>
          <a:prstGeom prst="ellipse">
            <a:avLst/>
          </a:prstGeom>
          <a:solidFill>
            <a:schemeClr val="tx2"/>
          </a:solidFill>
          <a:ln/>
        </p:spPr>
      </p:sp>
      <p:pic>
        <p:nvPicPr>
          <p:cNvPr id="15" name="History 1 icon" descr="preencoded.png">    </p:cNvPr>
          <p:cNvPicPr>
            <a:picLocks noChangeAspect="1"/>
          </p:cNvPicPr>
          <p:nvPr/>
        </p:nvPicPr>
        <p:blipFill>
          <a:blip r:embed="rId4"/>
          <a:stretch>
            <a:fillRect/>
          </a:stretch>
        </p:blipFill>
        <p:spPr>
          <a:xfrm>
            <a:off x="534924" y="3415284"/>
            <a:ext cx="155448" cy="155448"/>
          </a:xfrm>
          <a:prstGeom prst="rect">
            <a:avLst/>
          </a:prstGeom>
        </p:spPr>
      </p:pic>
      <p:sp>
        <p:nvSpPr>
          <p:cNvPr id="16" name="Text 10"/>
          <p:cNvSpPr txBox="1"/>
          <p:nvPr/>
        </p:nvSpPr>
        <p:spPr>
          <a:xfrm>
            <a:off x="896112" y="3310128"/>
            <a:ext cx="3657600" cy="365760"/>
          </a:xfrm>
          <a:prstGeom prst="rect">
            <a:avLst/>
          </a:prstGeom>
          <a:noFill/>
          <a:ln/>
        </p:spPr>
        <p:txBody>
          <a:bodyPr wrap="square" lIns="0" tIns="0" rIns="0" bIns="0" rtlCol="0" anchor="ctr"/>
          <a:lstStyle/>
          <a:p>
            <a:pPr indent="0" marL="0">
              <a:buNone/>
            </a:pPr>
            <a:r>
              <a:rPr lang="en-US" sz="1250" dirty="0">
                <a:solidFill>
                  <a:schemeClr val="tx1"/>
                </a:solidFill>
              </a:rPr>
              <a:t>Records who changed what, when, before and after</a:t>
            </a:r>
            <a:endParaRPr lang="en-US" sz="1250" dirty="0"/>
          </a:p>
        </p:txBody>
      </p:sp>
      <p:sp>
        <p:nvSpPr>
          <p:cNvPr id="17" name="History 2 circle"/>
          <p:cNvSpPr/>
          <p:nvPr/>
        </p:nvSpPr>
        <p:spPr>
          <a:xfrm>
            <a:off x="457200" y="3749040"/>
            <a:ext cx="310896" cy="310896"/>
          </a:xfrm>
          <a:prstGeom prst="ellipse">
            <a:avLst/>
          </a:prstGeom>
          <a:solidFill>
            <a:schemeClr val="tx2"/>
          </a:solidFill>
          <a:ln/>
        </p:spPr>
      </p:sp>
      <p:pic>
        <p:nvPicPr>
          <p:cNvPr id="18" name="History 2 icon" descr="preencoded.png">    </p:cNvPr>
          <p:cNvPicPr>
            <a:picLocks noChangeAspect="1"/>
          </p:cNvPicPr>
          <p:nvPr/>
        </p:nvPicPr>
        <p:blipFill>
          <a:blip r:embed="rId5"/>
          <a:stretch>
            <a:fillRect/>
          </a:stretch>
        </p:blipFill>
        <p:spPr>
          <a:xfrm>
            <a:off x="534924" y="3826764"/>
            <a:ext cx="155448" cy="155448"/>
          </a:xfrm>
          <a:prstGeom prst="rect">
            <a:avLst/>
          </a:prstGeom>
        </p:spPr>
      </p:pic>
      <p:sp>
        <p:nvSpPr>
          <p:cNvPr id="19" name="Text 12"/>
          <p:cNvSpPr txBox="1"/>
          <p:nvPr/>
        </p:nvSpPr>
        <p:spPr>
          <a:xfrm>
            <a:off x="896112" y="3721608"/>
            <a:ext cx="3657600" cy="365760"/>
          </a:xfrm>
          <a:prstGeom prst="rect">
            <a:avLst/>
          </a:prstGeom>
          <a:noFill/>
          <a:ln/>
        </p:spPr>
        <p:txBody>
          <a:bodyPr wrap="square" lIns="0" tIns="0" rIns="0" bIns="0" rtlCol="0" anchor="ctr"/>
          <a:lstStyle/>
          <a:p>
            <a:pPr indent="0" marL="0">
              <a:buNone/>
            </a:pPr>
            <a:r>
              <a:rPr lang="en-US" sz="1250" dirty="0">
                <a:solidFill>
                  <a:schemeClr val="tx1"/>
                </a:solidFill>
              </a:rPr>
              <a:t>Saved inside the project, shared with the team (git)</a:t>
            </a:r>
            <a:endParaRPr lang="en-US" sz="1250" dirty="0"/>
          </a:p>
        </p:txBody>
      </p:sp>
      <p:sp>
        <p:nvSpPr>
          <p:cNvPr id="20" name="History 3 circle"/>
          <p:cNvSpPr/>
          <p:nvPr/>
        </p:nvSpPr>
        <p:spPr>
          <a:xfrm>
            <a:off x="457200" y="4160520"/>
            <a:ext cx="310896" cy="310896"/>
          </a:xfrm>
          <a:prstGeom prst="ellipse">
            <a:avLst/>
          </a:prstGeom>
          <a:solidFill>
            <a:schemeClr val="tx2"/>
          </a:solidFill>
          <a:ln/>
        </p:spPr>
      </p:sp>
      <p:pic>
        <p:nvPicPr>
          <p:cNvPr id="21" name="History 3 icon" descr="preencoded.png">    </p:cNvPr>
          <p:cNvPicPr>
            <a:picLocks noChangeAspect="1"/>
          </p:cNvPicPr>
          <p:nvPr/>
        </p:nvPicPr>
        <p:blipFill>
          <a:blip r:embed="rId6"/>
          <a:stretch>
            <a:fillRect/>
          </a:stretch>
        </p:blipFill>
        <p:spPr>
          <a:xfrm>
            <a:off x="534924" y="4238244"/>
            <a:ext cx="155448" cy="155448"/>
          </a:xfrm>
          <a:prstGeom prst="rect">
            <a:avLst/>
          </a:prstGeom>
        </p:spPr>
      </p:pic>
      <p:sp>
        <p:nvSpPr>
          <p:cNvPr id="22" name="Text 14"/>
          <p:cNvSpPr txBox="1"/>
          <p:nvPr/>
        </p:nvSpPr>
        <p:spPr>
          <a:xfrm>
            <a:off x="896112" y="4133088"/>
            <a:ext cx="3657600" cy="365760"/>
          </a:xfrm>
          <a:prstGeom prst="rect">
            <a:avLst/>
          </a:prstGeom>
          <a:noFill/>
          <a:ln/>
        </p:spPr>
        <p:txBody>
          <a:bodyPr wrap="square" lIns="0" tIns="0" rIns="0" bIns="0" rtlCol="0" anchor="ctr"/>
          <a:lstStyle/>
          <a:p>
            <a:pPr indent="0" marL="0">
              <a:buNone/>
            </a:pPr>
            <a:r>
              <a:rPr lang="en-US" sz="1250" dirty="0">
                <a:solidFill>
                  <a:schemeClr val="tx1"/>
                </a:solidFill>
              </a:rPr>
              <a:t>Changes to tests can be undone</a:t>
            </a:r>
            <a:endParaRPr lang="en-US" sz="1250" dirty="0"/>
          </a:p>
        </p:txBody>
      </p:sp>
      <p:sp>
        <p:nvSpPr>
          <p:cNvPr id="23" name="History screenshot frame"/>
          <p:cNvSpPr/>
          <p:nvPr/>
        </p:nvSpPr>
        <p:spPr>
          <a:xfrm>
            <a:off x="4846320" y="1188720"/>
            <a:ext cx="3840480" cy="3383280"/>
          </a:xfrm>
          <a:prstGeom prst="rect">
            <a:avLst/>
          </a:prstGeom>
          <a:solidFill>
            <a:srgbClr val="FBF8F2"/>
          </a:solidFill>
          <a:ln w="19050">
            <a:solidFill>
              <a:srgbClr val="E39B2D"/>
            </a:solidFill>
            <a:prstDash val="dash"/>
          </a:ln>
        </p:spPr>
      </p:sp>
      <p:sp>
        <p:nvSpPr>
          <p:cNvPr id="24" name="History screenshot"/>
          <p:cNvSpPr txBox="1"/>
          <p:nvPr/>
        </p:nvSpPr>
        <p:spPr>
          <a:xfrm>
            <a:off x="5029200" y="1188720"/>
            <a:ext cx="3474720" cy="3383280"/>
          </a:xfrm>
          <a:prstGeom prst="rect">
            <a:avLst/>
          </a:prstGeom>
          <a:noFill/>
          <a:ln/>
        </p:spPr>
        <p:txBody>
          <a:bodyPr wrap="square" lIns="0" tIns="0" rIns="0" bIns="0" rtlCol="0" anchor="ctr"/>
          <a:lstStyle/>
          <a:p>
            <a:pPr algn="ctr" indent="0" marL="0">
              <a:buNone/>
            </a:pPr>
            <a:r>
              <a:rPr lang="en-US" sz="1500" b="1" dirty="0">
                <a:solidFill>
                  <a:srgbClr val="8A5A0C"/>
                </a:solidFill>
              </a:rPr>
              <a:t>[SCREENSHOT: history]</a:t>
            </a:r>
            <a:endParaRPr lang="en-US" sz="1400" dirty="0"/>
          </a:p>
          <a:p>
            <a:pPr algn="ctr" indent="0" marL="0">
              <a:buNone/>
            </a:pPr>
            <a:r>
              <a:rPr lang="en-US" sz="1100" dirty="0">
                <a:solidFill>
                  <a:schemeClr val="accent6"/>
                </a:solidFill>
              </a:rPr>
              <a:t>Paste a screenshot from the live demo here</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Designed to be safe on a company laptop</a:t>
            </a:r>
            <a:endParaRPr lang="en-US" sz="2800" dirty="0"/>
          </a:p>
        </p:txBody>
      </p:sp>
      <p:sp>
        <p:nvSpPr>
          <p:cNvPr id="3" name="Safety 1"/>
          <p:cNvSpPr/>
          <p:nvPr/>
        </p:nvSpPr>
        <p:spPr>
          <a:xfrm>
            <a:off x="457200" y="1188720"/>
            <a:ext cx="2606040" cy="1325880"/>
          </a:xfrm>
          <a:prstGeom prst="roundRect">
            <a:avLst>
              <a:gd name="adj" fmla="val 5517"/>
            </a:avLst>
          </a:prstGeom>
          <a:solidFill>
            <a:schemeClr val="bg1"/>
          </a:solidFill>
          <a:ln/>
          <a:effectLst>
            <a:outerShdw sx="100000" sy="100000" kx="0" ky="0" algn="bl" rotWithShape="0" blurRad="76200" dist="25400" dir="5400000">
              <a:srgbClr val="000000">
                <a:alpha val="12000"/>
              </a:srgbClr>
            </a:outerShdw>
          </a:effectLst>
        </p:spPr>
      </p:sp>
      <p:sp>
        <p:nvSpPr>
          <p:cNvPr id="4" name="Safety 1 circle"/>
          <p:cNvSpPr/>
          <p:nvPr/>
        </p:nvSpPr>
        <p:spPr>
          <a:xfrm>
            <a:off x="594360" y="1325880"/>
            <a:ext cx="411480" cy="411480"/>
          </a:xfrm>
          <a:prstGeom prst="ellipse">
            <a:avLst/>
          </a:prstGeom>
          <a:solidFill>
            <a:schemeClr val="tx2"/>
          </a:solidFill>
          <a:ln/>
        </p:spPr>
      </p:sp>
      <p:pic>
        <p:nvPicPr>
          <p:cNvPr id="5" name="Safety 1 icon" descr="preencoded.png">    </p:cNvPr>
          <p:cNvPicPr>
            <a:picLocks noChangeAspect="1"/>
          </p:cNvPicPr>
          <p:nvPr/>
        </p:nvPicPr>
        <p:blipFill>
          <a:blip r:embed="rId1"/>
          <a:stretch>
            <a:fillRect/>
          </a:stretch>
        </p:blipFill>
        <p:spPr>
          <a:xfrm>
            <a:off x="697230" y="1428750"/>
            <a:ext cx="205740" cy="205740"/>
          </a:xfrm>
          <a:prstGeom prst="rect">
            <a:avLst/>
          </a:prstGeom>
        </p:spPr>
      </p:pic>
      <p:sp>
        <p:nvSpPr>
          <p:cNvPr id="6" name="Text 3"/>
          <p:cNvSpPr txBox="1"/>
          <p:nvPr/>
        </p:nvSpPr>
        <p:spPr>
          <a:xfrm>
            <a:off x="1097280" y="1325880"/>
            <a:ext cx="1874520" cy="411480"/>
          </a:xfrm>
          <a:prstGeom prst="rect">
            <a:avLst/>
          </a:prstGeom>
          <a:noFill/>
          <a:ln/>
        </p:spPr>
        <p:txBody>
          <a:bodyPr wrap="square" lIns="0" tIns="0" rIns="0" bIns="0" rtlCol="0" anchor="ctr"/>
          <a:lstStyle/>
          <a:p>
            <a:pPr indent="0" marL="0">
              <a:buNone/>
            </a:pPr>
            <a:r>
              <a:rPr lang="en-US" sz="1300" b="1" dirty="0">
                <a:solidFill>
                  <a:schemeClr val="tx2"/>
                </a:solidFill>
              </a:rPr>
              <a:t>Only on your computer</a:t>
            </a:r>
            <a:endParaRPr lang="en-US" sz="1300" dirty="0"/>
          </a:p>
        </p:txBody>
      </p:sp>
      <p:sp>
        <p:nvSpPr>
          <p:cNvPr id="7" name="Text 4"/>
          <p:cNvSpPr txBox="1"/>
          <p:nvPr/>
        </p:nvSpPr>
        <p:spPr>
          <a:xfrm>
            <a:off x="594360" y="1810512"/>
            <a:ext cx="2377440" cy="658368"/>
          </a:xfrm>
          <a:prstGeom prst="rect">
            <a:avLst/>
          </a:prstGeom>
          <a:noFill/>
          <a:ln/>
        </p:spPr>
        <p:txBody>
          <a:bodyPr wrap="square" lIns="0" tIns="0" rIns="0" bIns="0" rtlCol="0" anchor="t"/>
          <a:lstStyle/>
          <a:p>
            <a:pPr indent="0" marL="0">
              <a:buNone/>
            </a:pPr>
            <a:r>
              <a:rPr lang="en-US" sz="1150" dirty="0">
                <a:solidFill>
                  <a:schemeClr val="tx1"/>
                </a:solidFill>
              </a:rPr>
              <a:t>A local address only, protected so other websites open in the browser can’t use it.</a:t>
            </a:r>
            <a:endParaRPr lang="en-US" sz="1150" dirty="0"/>
          </a:p>
        </p:txBody>
      </p:sp>
      <p:sp>
        <p:nvSpPr>
          <p:cNvPr id="8" name="Safety 2"/>
          <p:cNvSpPr/>
          <p:nvPr/>
        </p:nvSpPr>
        <p:spPr>
          <a:xfrm>
            <a:off x="3268980" y="1188720"/>
            <a:ext cx="2606040" cy="1325880"/>
          </a:xfrm>
          <a:prstGeom prst="roundRect">
            <a:avLst>
              <a:gd name="adj" fmla="val 5517"/>
            </a:avLst>
          </a:prstGeom>
          <a:solidFill>
            <a:schemeClr val="bg1"/>
          </a:solidFill>
          <a:ln/>
          <a:effectLst>
            <a:outerShdw sx="100000" sy="100000" kx="0" ky="0" algn="bl" rotWithShape="0" blurRad="76200" dist="25400" dir="5400000">
              <a:srgbClr val="000000">
                <a:alpha val="12000"/>
              </a:srgbClr>
            </a:outerShdw>
          </a:effectLst>
        </p:spPr>
      </p:sp>
      <p:sp>
        <p:nvSpPr>
          <p:cNvPr id="9" name="Safety 2 circle"/>
          <p:cNvSpPr/>
          <p:nvPr/>
        </p:nvSpPr>
        <p:spPr>
          <a:xfrm>
            <a:off x="3406140" y="1325880"/>
            <a:ext cx="411480" cy="411480"/>
          </a:xfrm>
          <a:prstGeom prst="ellipse">
            <a:avLst/>
          </a:prstGeom>
          <a:solidFill>
            <a:schemeClr val="tx2"/>
          </a:solidFill>
          <a:ln/>
        </p:spPr>
      </p:sp>
      <p:pic>
        <p:nvPicPr>
          <p:cNvPr id="10" name="Safety 2 icon" descr="preencoded.png">    </p:cNvPr>
          <p:cNvPicPr>
            <a:picLocks noChangeAspect="1"/>
          </p:cNvPicPr>
          <p:nvPr/>
        </p:nvPicPr>
        <p:blipFill>
          <a:blip r:embed="rId2"/>
          <a:stretch>
            <a:fillRect/>
          </a:stretch>
        </p:blipFill>
        <p:spPr>
          <a:xfrm>
            <a:off x="3509010" y="1428750"/>
            <a:ext cx="205740" cy="205740"/>
          </a:xfrm>
          <a:prstGeom prst="rect">
            <a:avLst/>
          </a:prstGeom>
        </p:spPr>
      </p:pic>
      <p:sp>
        <p:nvSpPr>
          <p:cNvPr id="11" name="Text 7"/>
          <p:cNvSpPr txBox="1"/>
          <p:nvPr/>
        </p:nvSpPr>
        <p:spPr>
          <a:xfrm>
            <a:off x="3909060" y="1325880"/>
            <a:ext cx="1874520" cy="411480"/>
          </a:xfrm>
          <a:prstGeom prst="rect">
            <a:avLst/>
          </a:prstGeom>
          <a:noFill/>
          <a:ln/>
        </p:spPr>
        <p:txBody>
          <a:bodyPr wrap="square" lIns="0" tIns="0" rIns="0" bIns="0" rtlCol="0" anchor="ctr"/>
          <a:lstStyle/>
          <a:p>
            <a:pPr indent="0" marL="0">
              <a:buNone/>
            </a:pPr>
            <a:r>
              <a:rPr lang="en-US" sz="1300" b="1" dirty="0">
                <a:solidFill>
                  <a:schemeClr val="tx2"/>
                </a:solidFill>
              </a:rPr>
              <a:t>No network, no tracking</a:t>
            </a:r>
            <a:endParaRPr lang="en-US" sz="1300" dirty="0"/>
          </a:p>
        </p:txBody>
      </p:sp>
      <p:sp>
        <p:nvSpPr>
          <p:cNvPr id="12" name="Text 8"/>
          <p:cNvSpPr txBox="1"/>
          <p:nvPr/>
        </p:nvSpPr>
        <p:spPr>
          <a:xfrm>
            <a:off x="3406140" y="1810512"/>
            <a:ext cx="2377440" cy="658368"/>
          </a:xfrm>
          <a:prstGeom prst="rect">
            <a:avLst/>
          </a:prstGeom>
          <a:noFill/>
          <a:ln/>
        </p:spPr>
        <p:txBody>
          <a:bodyPr wrap="square" lIns="0" tIns="0" rIns="0" bIns="0" rtlCol="0" anchor="t"/>
          <a:lstStyle/>
          <a:p>
            <a:pPr indent="0" marL="0">
              <a:buNone/>
            </a:pPr>
            <a:r>
              <a:rPr lang="en-US" sz="1150" dirty="0">
                <a:solidFill>
                  <a:schemeClr val="tx1"/>
                </a:solidFill>
              </a:rPr>
              <a:t>No internet access, no telemetry, no third-party software: standard Python only.</a:t>
            </a:r>
            <a:endParaRPr lang="en-US" sz="1150" dirty="0"/>
          </a:p>
        </p:txBody>
      </p:sp>
      <p:sp>
        <p:nvSpPr>
          <p:cNvPr id="13" name="Safety 3"/>
          <p:cNvSpPr/>
          <p:nvPr/>
        </p:nvSpPr>
        <p:spPr>
          <a:xfrm>
            <a:off x="6080760" y="1188720"/>
            <a:ext cx="2606040" cy="1325880"/>
          </a:xfrm>
          <a:prstGeom prst="roundRect">
            <a:avLst>
              <a:gd name="adj" fmla="val 5517"/>
            </a:avLst>
          </a:prstGeom>
          <a:solidFill>
            <a:schemeClr val="bg1"/>
          </a:solidFill>
          <a:ln/>
          <a:effectLst>
            <a:outerShdw sx="100000" sy="100000" kx="0" ky="0" algn="bl" rotWithShape="0" blurRad="76200" dist="25400" dir="5400000">
              <a:srgbClr val="000000">
                <a:alpha val="12000"/>
              </a:srgbClr>
            </a:outerShdw>
          </a:effectLst>
        </p:spPr>
      </p:sp>
      <p:sp>
        <p:nvSpPr>
          <p:cNvPr id="14" name="Safety 3 circle"/>
          <p:cNvSpPr/>
          <p:nvPr/>
        </p:nvSpPr>
        <p:spPr>
          <a:xfrm>
            <a:off x="6217920" y="1325880"/>
            <a:ext cx="411480" cy="411480"/>
          </a:xfrm>
          <a:prstGeom prst="ellipse">
            <a:avLst/>
          </a:prstGeom>
          <a:solidFill>
            <a:schemeClr val="tx2"/>
          </a:solidFill>
          <a:ln/>
        </p:spPr>
      </p:sp>
      <p:pic>
        <p:nvPicPr>
          <p:cNvPr id="15" name="Safety 3 icon" descr="preencoded.png">    </p:cNvPr>
          <p:cNvPicPr>
            <a:picLocks noChangeAspect="1"/>
          </p:cNvPicPr>
          <p:nvPr/>
        </p:nvPicPr>
        <p:blipFill>
          <a:blip r:embed="rId3"/>
          <a:stretch>
            <a:fillRect/>
          </a:stretch>
        </p:blipFill>
        <p:spPr>
          <a:xfrm>
            <a:off x="6320790" y="1428750"/>
            <a:ext cx="205740" cy="205740"/>
          </a:xfrm>
          <a:prstGeom prst="rect">
            <a:avLst/>
          </a:prstGeom>
        </p:spPr>
      </p:pic>
      <p:sp>
        <p:nvSpPr>
          <p:cNvPr id="16" name="Text 11"/>
          <p:cNvSpPr txBox="1"/>
          <p:nvPr/>
        </p:nvSpPr>
        <p:spPr>
          <a:xfrm>
            <a:off x="6720840" y="1325880"/>
            <a:ext cx="1874520" cy="411480"/>
          </a:xfrm>
          <a:prstGeom prst="rect">
            <a:avLst/>
          </a:prstGeom>
          <a:noFill/>
          <a:ln/>
        </p:spPr>
        <p:txBody>
          <a:bodyPr wrap="square" lIns="0" tIns="0" rIns="0" bIns="0" rtlCol="0" anchor="ctr"/>
          <a:lstStyle/>
          <a:p>
            <a:pPr indent="0" marL="0">
              <a:buNone/>
            </a:pPr>
            <a:r>
              <a:rPr lang="en-US" sz="1300" b="1" dirty="0">
                <a:solidFill>
                  <a:schemeClr val="tx2"/>
                </a:solidFill>
              </a:rPr>
              <a:t>Changes after a preview</a:t>
            </a:r>
            <a:endParaRPr lang="en-US" sz="1300" dirty="0"/>
          </a:p>
        </p:txBody>
      </p:sp>
      <p:sp>
        <p:nvSpPr>
          <p:cNvPr id="17" name="Text 12"/>
          <p:cNvSpPr txBox="1"/>
          <p:nvPr/>
        </p:nvSpPr>
        <p:spPr>
          <a:xfrm>
            <a:off x="6217920" y="1810512"/>
            <a:ext cx="2377440" cy="658368"/>
          </a:xfrm>
          <a:prstGeom prst="rect">
            <a:avLst/>
          </a:prstGeom>
          <a:noFill/>
          <a:ln/>
        </p:spPr>
        <p:txBody>
          <a:bodyPr wrap="square" lIns="0" tIns="0" rIns="0" bIns="0" rtlCol="0" anchor="t"/>
          <a:lstStyle/>
          <a:p>
            <a:pPr indent="0" marL="0">
              <a:buNone/>
            </a:pPr>
            <a:r>
              <a:rPr lang="en-US" sz="1150" dirty="0">
                <a:solidFill>
                  <a:schemeClr val="tx1"/>
                </a:solidFill>
              </a:rPr>
              <a:t>You confirm every change first. It refuses if the file changed in the meantime.</a:t>
            </a:r>
            <a:endParaRPr lang="en-US" sz="1150" dirty="0"/>
          </a:p>
        </p:txBody>
      </p:sp>
      <p:sp>
        <p:nvSpPr>
          <p:cNvPr id="18" name="Safety 4"/>
          <p:cNvSpPr/>
          <p:nvPr/>
        </p:nvSpPr>
        <p:spPr>
          <a:xfrm>
            <a:off x="457200" y="2651760"/>
            <a:ext cx="2606040" cy="1325880"/>
          </a:xfrm>
          <a:prstGeom prst="roundRect">
            <a:avLst>
              <a:gd name="adj" fmla="val 5517"/>
            </a:avLst>
          </a:prstGeom>
          <a:solidFill>
            <a:schemeClr val="bg1"/>
          </a:solidFill>
          <a:ln/>
          <a:effectLst>
            <a:outerShdw sx="100000" sy="100000" kx="0" ky="0" algn="bl" rotWithShape="0" blurRad="76200" dist="25400" dir="5400000">
              <a:srgbClr val="000000">
                <a:alpha val="12000"/>
              </a:srgbClr>
            </a:outerShdw>
          </a:effectLst>
        </p:spPr>
      </p:sp>
      <p:sp>
        <p:nvSpPr>
          <p:cNvPr id="19" name="Safety 4 circle"/>
          <p:cNvSpPr/>
          <p:nvPr/>
        </p:nvSpPr>
        <p:spPr>
          <a:xfrm>
            <a:off x="594360" y="2788920"/>
            <a:ext cx="411480" cy="411480"/>
          </a:xfrm>
          <a:prstGeom prst="ellipse">
            <a:avLst/>
          </a:prstGeom>
          <a:solidFill>
            <a:schemeClr val="tx2"/>
          </a:solidFill>
          <a:ln/>
        </p:spPr>
      </p:sp>
      <p:pic>
        <p:nvPicPr>
          <p:cNvPr id="20" name="Safety 4 icon" descr="preencoded.png">    </p:cNvPr>
          <p:cNvPicPr>
            <a:picLocks noChangeAspect="1"/>
          </p:cNvPicPr>
          <p:nvPr/>
        </p:nvPicPr>
        <p:blipFill>
          <a:blip r:embed="rId4"/>
          <a:stretch>
            <a:fillRect/>
          </a:stretch>
        </p:blipFill>
        <p:spPr>
          <a:xfrm>
            <a:off x="697230" y="2891790"/>
            <a:ext cx="205740" cy="205740"/>
          </a:xfrm>
          <a:prstGeom prst="rect">
            <a:avLst/>
          </a:prstGeom>
        </p:spPr>
      </p:pic>
      <p:sp>
        <p:nvSpPr>
          <p:cNvPr id="21" name="Text 15"/>
          <p:cNvSpPr txBox="1"/>
          <p:nvPr/>
        </p:nvSpPr>
        <p:spPr>
          <a:xfrm>
            <a:off x="1097280" y="2788920"/>
            <a:ext cx="1874520" cy="411480"/>
          </a:xfrm>
          <a:prstGeom prst="rect">
            <a:avLst/>
          </a:prstGeom>
          <a:noFill/>
          <a:ln/>
        </p:spPr>
        <p:txBody>
          <a:bodyPr wrap="square" lIns="0" tIns="0" rIns="0" bIns="0" rtlCol="0" anchor="ctr"/>
          <a:lstStyle/>
          <a:p>
            <a:pPr indent="0" marL="0">
              <a:buNone/>
            </a:pPr>
            <a:r>
              <a:rPr lang="en-US" sz="1300" b="1" dirty="0">
                <a:solidFill>
                  <a:schemeClr val="tx2"/>
                </a:solidFill>
              </a:rPr>
              <a:t>The app builds every change</a:t>
            </a:r>
            <a:endParaRPr lang="en-US" sz="1300" dirty="0"/>
          </a:p>
        </p:txBody>
      </p:sp>
      <p:sp>
        <p:nvSpPr>
          <p:cNvPr id="22" name="Text 16"/>
          <p:cNvSpPr txBox="1"/>
          <p:nvPr/>
        </p:nvSpPr>
        <p:spPr>
          <a:xfrm>
            <a:off x="594360" y="3273552"/>
            <a:ext cx="2377440" cy="658368"/>
          </a:xfrm>
          <a:prstGeom prst="rect">
            <a:avLst/>
          </a:prstGeom>
          <a:noFill/>
          <a:ln/>
        </p:spPr>
        <p:txBody>
          <a:bodyPr wrap="square" lIns="0" tIns="0" rIns="0" bIns="0" rtlCol="0" anchor="t"/>
          <a:lstStyle/>
          <a:p>
            <a:pPr indent="0" marL="0">
              <a:buNone/>
            </a:pPr>
            <a:r>
              <a:rPr lang="en-US" sz="1150" dirty="0">
                <a:solidFill>
                  <a:schemeClr val="tx1"/>
                </a:solidFill>
              </a:rPr>
              <a:t>The browser never writes into files. Generated code is checked before saving.</a:t>
            </a:r>
            <a:endParaRPr lang="en-US" sz="1150" dirty="0"/>
          </a:p>
        </p:txBody>
      </p:sp>
      <p:sp>
        <p:nvSpPr>
          <p:cNvPr id="23" name="Safety 5"/>
          <p:cNvSpPr/>
          <p:nvPr/>
        </p:nvSpPr>
        <p:spPr>
          <a:xfrm>
            <a:off x="3268980" y="2651760"/>
            <a:ext cx="2606040" cy="1325880"/>
          </a:xfrm>
          <a:prstGeom prst="roundRect">
            <a:avLst>
              <a:gd name="adj" fmla="val 5517"/>
            </a:avLst>
          </a:prstGeom>
          <a:solidFill>
            <a:schemeClr val="bg1"/>
          </a:solidFill>
          <a:ln/>
          <a:effectLst>
            <a:outerShdw sx="100000" sy="100000" kx="0" ky="0" algn="bl" rotWithShape="0" blurRad="76200" dist="25400" dir="5400000">
              <a:srgbClr val="000000">
                <a:alpha val="12000"/>
              </a:srgbClr>
            </a:outerShdw>
          </a:effectLst>
        </p:spPr>
      </p:sp>
      <p:sp>
        <p:nvSpPr>
          <p:cNvPr id="24" name="Safety 5 circle"/>
          <p:cNvSpPr/>
          <p:nvPr/>
        </p:nvSpPr>
        <p:spPr>
          <a:xfrm>
            <a:off x="3406140" y="2788920"/>
            <a:ext cx="411480" cy="411480"/>
          </a:xfrm>
          <a:prstGeom prst="ellipse">
            <a:avLst/>
          </a:prstGeom>
          <a:solidFill>
            <a:schemeClr val="tx2"/>
          </a:solidFill>
          <a:ln/>
        </p:spPr>
      </p:sp>
      <p:pic>
        <p:nvPicPr>
          <p:cNvPr id="25" name="Safety 5 icon" descr="preencoded.png">    </p:cNvPr>
          <p:cNvPicPr>
            <a:picLocks noChangeAspect="1"/>
          </p:cNvPicPr>
          <p:nvPr/>
        </p:nvPicPr>
        <p:blipFill>
          <a:blip r:embed="rId5"/>
          <a:stretch>
            <a:fillRect/>
          </a:stretch>
        </p:blipFill>
        <p:spPr>
          <a:xfrm>
            <a:off x="3509010" y="2891790"/>
            <a:ext cx="205740" cy="205740"/>
          </a:xfrm>
          <a:prstGeom prst="rect">
            <a:avLst/>
          </a:prstGeom>
        </p:spPr>
      </p:pic>
      <p:sp>
        <p:nvSpPr>
          <p:cNvPr id="26" name="Text 19"/>
          <p:cNvSpPr txBox="1"/>
          <p:nvPr/>
        </p:nvSpPr>
        <p:spPr>
          <a:xfrm>
            <a:off x="3909060" y="2788920"/>
            <a:ext cx="1874520" cy="411480"/>
          </a:xfrm>
          <a:prstGeom prst="rect">
            <a:avLst/>
          </a:prstGeom>
          <a:noFill/>
          <a:ln/>
        </p:spPr>
        <p:txBody>
          <a:bodyPr wrap="square" lIns="0" tIns="0" rIns="0" bIns="0" rtlCol="0" anchor="ctr"/>
          <a:lstStyle/>
          <a:p>
            <a:pPr indent="0" marL="0">
              <a:buNone/>
            </a:pPr>
            <a:r>
              <a:rPr lang="en-US" sz="1300" b="1" dirty="0">
                <a:solidFill>
                  <a:schemeClr val="tx2"/>
                </a:solidFill>
              </a:rPr>
              <a:t>Runs tests only when asked</a:t>
            </a:r>
            <a:endParaRPr lang="en-US" sz="1300" dirty="0"/>
          </a:p>
        </p:txBody>
      </p:sp>
      <p:sp>
        <p:nvSpPr>
          <p:cNvPr id="27" name="Text 20"/>
          <p:cNvSpPr txBox="1"/>
          <p:nvPr/>
        </p:nvSpPr>
        <p:spPr>
          <a:xfrm>
            <a:off x="3406140" y="3273552"/>
            <a:ext cx="2377440" cy="658368"/>
          </a:xfrm>
          <a:prstGeom prst="rect">
            <a:avLst/>
          </a:prstGeom>
          <a:noFill/>
          <a:ln/>
        </p:spPr>
        <p:txBody>
          <a:bodyPr wrap="square" lIns="0" tIns="0" rIns="0" bIns="0" rtlCol="0" anchor="t"/>
          <a:lstStyle/>
          <a:p>
            <a:pPr indent="0" marL="0">
              <a:buNone/>
            </a:pPr>
            <a:r>
              <a:rPr lang="en-US" sz="1150" dirty="0">
                <a:solidFill>
                  <a:schemeClr val="tx1"/>
                </a:solidFill>
              </a:rPr>
              <a:t>Only the test command you set. One run at a time, a stop button and a time limit.</a:t>
            </a:r>
            <a:endParaRPr lang="en-US" sz="1150" dirty="0"/>
          </a:p>
        </p:txBody>
      </p:sp>
      <p:sp>
        <p:nvSpPr>
          <p:cNvPr id="28" name="Safety 6"/>
          <p:cNvSpPr/>
          <p:nvPr/>
        </p:nvSpPr>
        <p:spPr>
          <a:xfrm>
            <a:off x="6080760" y="2651760"/>
            <a:ext cx="2606040" cy="1325880"/>
          </a:xfrm>
          <a:prstGeom prst="roundRect">
            <a:avLst>
              <a:gd name="adj" fmla="val 5517"/>
            </a:avLst>
          </a:prstGeom>
          <a:solidFill>
            <a:schemeClr val="bg1"/>
          </a:solidFill>
          <a:ln/>
          <a:effectLst>
            <a:outerShdw sx="100000" sy="100000" kx="0" ky="0" algn="bl" rotWithShape="0" blurRad="76200" dist="25400" dir="5400000">
              <a:srgbClr val="000000">
                <a:alpha val="12000"/>
              </a:srgbClr>
            </a:outerShdw>
          </a:effectLst>
        </p:spPr>
      </p:sp>
      <p:sp>
        <p:nvSpPr>
          <p:cNvPr id="29" name="Safety 6 circle"/>
          <p:cNvSpPr/>
          <p:nvPr/>
        </p:nvSpPr>
        <p:spPr>
          <a:xfrm>
            <a:off x="6217920" y="2788920"/>
            <a:ext cx="411480" cy="411480"/>
          </a:xfrm>
          <a:prstGeom prst="ellipse">
            <a:avLst/>
          </a:prstGeom>
          <a:solidFill>
            <a:schemeClr val="tx2"/>
          </a:solidFill>
          <a:ln/>
        </p:spPr>
      </p:sp>
      <p:pic>
        <p:nvPicPr>
          <p:cNvPr id="30" name="Safety 6 icon" descr="preencoded.png">    </p:cNvPr>
          <p:cNvPicPr>
            <a:picLocks noChangeAspect="1"/>
          </p:cNvPicPr>
          <p:nvPr/>
        </p:nvPicPr>
        <p:blipFill>
          <a:blip r:embed="rId6"/>
          <a:stretch>
            <a:fillRect/>
          </a:stretch>
        </p:blipFill>
        <p:spPr>
          <a:xfrm>
            <a:off x="6320790" y="2891790"/>
            <a:ext cx="205740" cy="205740"/>
          </a:xfrm>
          <a:prstGeom prst="rect">
            <a:avLst/>
          </a:prstGeom>
        </p:spPr>
      </p:pic>
      <p:sp>
        <p:nvSpPr>
          <p:cNvPr id="31" name="Text 23"/>
          <p:cNvSpPr txBox="1"/>
          <p:nvPr/>
        </p:nvSpPr>
        <p:spPr>
          <a:xfrm>
            <a:off x="6720840" y="2788920"/>
            <a:ext cx="1874520" cy="411480"/>
          </a:xfrm>
          <a:prstGeom prst="rect">
            <a:avLst/>
          </a:prstGeom>
          <a:noFill/>
          <a:ln/>
        </p:spPr>
        <p:txBody>
          <a:bodyPr wrap="square" lIns="0" tIns="0" rIns="0" bIns="0" rtlCol="0" anchor="ctr"/>
          <a:lstStyle/>
          <a:p>
            <a:pPr indent="0" marL="0">
              <a:buNone/>
            </a:pPr>
            <a:r>
              <a:rPr lang="en-US" sz="1300" b="1" dirty="0">
                <a:solidFill>
                  <a:schemeClr val="tx2"/>
                </a:solidFill>
              </a:rPr>
              <a:t>Tested itself</a:t>
            </a:r>
            <a:endParaRPr lang="en-US" sz="1300" dirty="0"/>
          </a:p>
        </p:txBody>
      </p:sp>
      <p:sp>
        <p:nvSpPr>
          <p:cNvPr id="32" name="Text 24"/>
          <p:cNvSpPr txBox="1"/>
          <p:nvPr/>
        </p:nvSpPr>
        <p:spPr>
          <a:xfrm>
            <a:off x="6217920" y="3273552"/>
            <a:ext cx="2377440" cy="658368"/>
          </a:xfrm>
          <a:prstGeom prst="rect">
            <a:avLst/>
          </a:prstGeom>
          <a:noFill/>
          <a:ln/>
        </p:spPr>
        <p:txBody>
          <a:bodyPr wrap="square" lIns="0" tIns="0" rIns="0" bIns="0" rtlCol="0" anchor="t"/>
          <a:lstStyle/>
          <a:p>
            <a:pPr indent="0" marL="0">
              <a:buNone/>
            </a:pPr>
            <a:r>
              <a:rPr lang="en-US" sz="1150" dirty="0">
                <a:solidFill>
                  <a:schemeClr val="tx1"/>
                </a:solidFill>
              </a:rPr>
              <a:t>153 automated tests: 152 pass. The one failure is a quirk of the developer’s Mac, not the product.</a:t>
            </a:r>
            <a:endParaRPr lang="en-US" sz="1150" dirty="0"/>
          </a:p>
        </p:txBody>
      </p:sp>
      <p:sp>
        <p:nvSpPr>
          <p:cNvPr id="33" name="Security doc strip"/>
          <p:cNvSpPr/>
          <p:nvPr/>
        </p:nvSpPr>
        <p:spPr>
          <a:xfrm>
            <a:off x="457200" y="4160520"/>
            <a:ext cx="8229600" cy="457200"/>
          </a:xfrm>
          <a:prstGeom prst="roundRect">
            <a:avLst>
              <a:gd name="adj" fmla="val 16000"/>
            </a:avLst>
          </a:prstGeom>
          <a:solidFill>
            <a:schemeClr val="bg2"/>
          </a:solidFill>
          <a:ln/>
        </p:spPr>
      </p:sp>
      <p:sp>
        <p:nvSpPr>
          <p:cNvPr id="34" name="Security doc text"/>
          <p:cNvSpPr txBox="1"/>
          <p:nvPr/>
        </p:nvSpPr>
        <p:spPr>
          <a:xfrm>
            <a:off x="640080" y="4160520"/>
            <a:ext cx="7955280" cy="457200"/>
          </a:xfrm>
          <a:prstGeom prst="rect">
            <a:avLst/>
          </a:prstGeom>
          <a:noFill/>
          <a:ln/>
        </p:spPr>
        <p:txBody>
          <a:bodyPr wrap="square" lIns="0" tIns="0" rIns="0" bIns="0" rtlCol="0" anchor="ctr"/>
          <a:lstStyle/>
          <a:p>
            <a:pPr indent="0" marL="0">
              <a:buNone/>
            </a:pPr>
            <a:r>
              <a:rPr lang="en-US" sz="1300" dirty="0">
                <a:solidFill>
                  <a:schemeClr val="tx1"/>
                </a:solidFill>
              </a:rPr>
              <a:t>A written security document is ready for IT reviewers. Test results are kept out of the shared code.</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What’s next, and how you can help</a:t>
            </a:r>
            <a:endParaRPr lang="en-US" sz="2800" dirty="0"/>
          </a:p>
        </p:txBody>
      </p:sp>
      <p:sp>
        <p:nvSpPr>
          <p:cNvPr id="3" name="Roadmap 1 circle"/>
          <p:cNvSpPr/>
          <p:nvPr/>
        </p:nvSpPr>
        <p:spPr>
          <a:xfrm>
            <a:off x="457200" y="1225296"/>
            <a:ext cx="411480" cy="411480"/>
          </a:xfrm>
          <a:prstGeom prst="ellipse">
            <a:avLst/>
          </a:prstGeom>
          <a:solidFill>
            <a:schemeClr val="accent1"/>
          </a:solidFill>
          <a:ln/>
        </p:spPr>
      </p:sp>
      <p:pic>
        <p:nvPicPr>
          <p:cNvPr id="4" name="Roadmap 1 icon" descr="preencoded.png">    </p:cNvPr>
          <p:cNvPicPr>
            <a:picLocks noChangeAspect="1"/>
          </p:cNvPicPr>
          <p:nvPr/>
        </p:nvPicPr>
        <p:blipFill>
          <a:blip r:embed="rId1"/>
          <a:stretch>
            <a:fillRect/>
          </a:stretch>
        </p:blipFill>
        <p:spPr>
          <a:xfrm>
            <a:off x="560070" y="1328166"/>
            <a:ext cx="205740" cy="205740"/>
          </a:xfrm>
          <a:prstGeom prst="rect">
            <a:avLst/>
          </a:prstGeom>
        </p:spPr>
      </p:pic>
      <p:sp>
        <p:nvSpPr>
          <p:cNvPr id="5" name="Text 2"/>
          <p:cNvSpPr txBox="1"/>
          <p:nvPr/>
        </p:nvSpPr>
        <p:spPr>
          <a:xfrm>
            <a:off x="1005840" y="1152144"/>
            <a:ext cx="3657600" cy="603504"/>
          </a:xfrm>
          <a:prstGeom prst="rect">
            <a:avLst/>
          </a:prstGeom>
          <a:noFill/>
          <a:ln/>
        </p:spPr>
        <p:txBody>
          <a:bodyPr wrap="square" lIns="0" tIns="0" rIns="0" bIns="0" rtlCol="0" anchor="ctr"/>
          <a:lstStyle/>
          <a:p>
            <a:pPr indent="0" marL="0">
              <a:buNone/>
            </a:pPr>
            <a:r>
              <a:rPr lang="en-US" sz="1250" b="1" dirty="0">
                <a:solidFill>
                  <a:srgbClr val="F2C46D"/>
                </a:solidFill>
              </a:rPr>
              <a:t>Done  </a:t>
            </a:r>
            <a:pPr indent="0" marL="0">
              <a:buNone/>
            </a:pPr>
            <a:r>
              <a:rPr lang="en-US" sz="1250" dirty="0">
                <a:solidFill>
                  <a:schemeClr val="bg1"/>
                </a:solidFill>
              </a:rPr>
              <a:t>Everything you’ve seen today</a:t>
            </a:r>
            <a:endParaRPr lang="en-US" sz="1250" dirty="0"/>
          </a:p>
        </p:txBody>
      </p:sp>
      <p:sp>
        <p:nvSpPr>
          <p:cNvPr id="6" name="Roadmap 2 circle"/>
          <p:cNvSpPr/>
          <p:nvPr/>
        </p:nvSpPr>
        <p:spPr>
          <a:xfrm>
            <a:off x="457200" y="1901952"/>
            <a:ext cx="411480" cy="411480"/>
          </a:xfrm>
          <a:prstGeom prst="ellipse">
            <a:avLst/>
          </a:prstGeom>
          <a:solidFill>
            <a:schemeClr val="accent3"/>
          </a:solidFill>
          <a:ln/>
        </p:spPr>
      </p:sp>
      <p:pic>
        <p:nvPicPr>
          <p:cNvPr id="7" name="Roadmap 2 icon" descr="preencoded.png">    </p:cNvPr>
          <p:cNvPicPr>
            <a:picLocks noChangeAspect="1"/>
          </p:cNvPicPr>
          <p:nvPr/>
        </p:nvPicPr>
        <p:blipFill>
          <a:blip r:embed="rId2"/>
          <a:stretch>
            <a:fillRect/>
          </a:stretch>
        </p:blipFill>
        <p:spPr>
          <a:xfrm>
            <a:off x="560070" y="2004822"/>
            <a:ext cx="205740" cy="205740"/>
          </a:xfrm>
          <a:prstGeom prst="rect">
            <a:avLst/>
          </a:prstGeom>
        </p:spPr>
      </p:pic>
      <p:sp>
        <p:nvSpPr>
          <p:cNvPr id="8" name="Text 4"/>
          <p:cNvSpPr txBox="1"/>
          <p:nvPr/>
        </p:nvSpPr>
        <p:spPr>
          <a:xfrm>
            <a:off x="1005840" y="1828800"/>
            <a:ext cx="3657600" cy="603504"/>
          </a:xfrm>
          <a:prstGeom prst="rect">
            <a:avLst/>
          </a:prstGeom>
          <a:noFill/>
          <a:ln/>
        </p:spPr>
        <p:txBody>
          <a:bodyPr wrap="square" lIns="0" tIns="0" rIns="0" bIns="0" rtlCol="0" anchor="ctr"/>
          <a:lstStyle/>
          <a:p>
            <a:pPr indent="0" marL="0">
              <a:buNone/>
            </a:pPr>
            <a:r>
              <a:rPr lang="en-US" sz="1250" b="1" dirty="0">
                <a:solidFill>
                  <a:srgbClr val="F2C46D"/>
                </a:solidFill>
              </a:rPr>
              <a:t>Next  </a:t>
            </a:r>
            <a:pPr indent="0" marL="0">
              <a:buNone/>
            </a:pPr>
            <a:r>
              <a:rPr lang="en-US" sz="1250" dirty="0">
                <a:solidFill>
                  <a:schemeClr val="bg1"/>
                </a:solidFill>
              </a:rPr>
              <a:t>Warn when a test file isn’t being picked up by the test run</a:t>
            </a:r>
            <a:endParaRPr lang="en-US" sz="1250" dirty="0"/>
          </a:p>
        </p:txBody>
      </p:sp>
      <p:sp>
        <p:nvSpPr>
          <p:cNvPr id="9" name="Roadmap 3 circle"/>
          <p:cNvSpPr/>
          <p:nvPr/>
        </p:nvSpPr>
        <p:spPr>
          <a:xfrm>
            <a:off x="457200" y="2578608"/>
            <a:ext cx="411480" cy="411480"/>
          </a:xfrm>
          <a:prstGeom prst="ellipse">
            <a:avLst/>
          </a:prstGeom>
          <a:solidFill>
            <a:schemeClr val="accent3"/>
          </a:solidFill>
          <a:ln/>
        </p:spPr>
      </p:sp>
      <p:pic>
        <p:nvPicPr>
          <p:cNvPr id="10" name="Roadmap 3 icon" descr="preencoded.png">    </p:cNvPr>
          <p:cNvPicPr>
            <a:picLocks noChangeAspect="1"/>
          </p:cNvPicPr>
          <p:nvPr/>
        </p:nvPicPr>
        <p:blipFill>
          <a:blip r:embed="rId3"/>
          <a:stretch>
            <a:fillRect/>
          </a:stretch>
        </p:blipFill>
        <p:spPr>
          <a:xfrm>
            <a:off x="560070" y="2681478"/>
            <a:ext cx="205740" cy="205740"/>
          </a:xfrm>
          <a:prstGeom prst="rect">
            <a:avLst/>
          </a:prstGeom>
        </p:spPr>
      </p:pic>
      <p:sp>
        <p:nvSpPr>
          <p:cNvPr id="11" name="Text 6"/>
          <p:cNvSpPr txBox="1"/>
          <p:nvPr/>
        </p:nvSpPr>
        <p:spPr>
          <a:xfrm>
            <a:off x="1005840" y="2505456"/>
            <a:ext cx="3657600" cy="603504"/>
          </a:xfrm>
          <a:prstGeom prst="rect">
            <a:avLst/>
          </a:prstGeom>
          <a:noFill/>
          <a:ln/>
        </p:spPr>
        <p:txBody>
          <a:bodyPr wrap="square" lIns="0" tIns="0" rIns="0" bIns="0" rtlCol="0" anchor="ctr"/>
          <a:lstStyle/>
          <a:p>
            <a:pPr indent="0" marL="0">
              <a:buNone/>
            </a:pPr>
            <a:r>
              <a:rPr lang="en-US" sz="1250" b="1" dirty="0">
                <a:solidFill>
                  <a:srgbClr val="F2C46D"/>
                </a:solidFill>
              </a:rPr>
              <a:t>Then  </a:t>
            </a:r>
            <a:pPr indent="0" marL="0">
              <a:buNone/>
            </a:pPr>
            <a:r>
              <a:rPr lang="en-US" sz="1250" dirty="0">
                <a:solidFill>
                  <a:schemeClr val="bg1"/>
                </a:solidFill>
              </a:rPr>
              <a:t>A shared library of common steps across projects, once we have 2–3 real projects</a:t>
            </a:r>
            <a:endParaRPr lang="en-US" sz="1250" dirty="0"/>
          </a:p>
        </p:txBody>
      </p:sp>
      <p:sp>
        <p:nvSpPr>
          <p:cNvPr id="12" name="Roadmap 4 circle"/>
          <p:cNvSpPr/>
          <p:nvPr/>
        </p:nvSpPr>
        <p:spPr>
          <a:xfrm>
            <a:off x="457200" y="3255264"/>
            <a:ext cx="411480" cy="411480"/>
          </a:xfrm>
          <a:prstGeom prst="ellipse">
            <a:avLst/>
          </a:prstGeom>
          <a:solidFill>
            <a:schemeClr val="accent3"/>
          </a:solidFill>
          <a:ln/>
        </p:spPr>
      </p:sp>
      <p:pic>
        <p:nvPicPr>
          <p:cNvPr id="13" name="Roadmap 4 icon" descr="preencoded.png">    </p:cNvPr>
          <p:cNvPicPr>
            <a:picLocks noChangeAspect="1"/>
          </p:cNvPicPr>
          <p:nvPr/>
        </p:nvPicPr>
        <p:blipFill>
          <a:blip r:embed="rId4"/>
          <a:stretch>
            <a:fillRect/>
          </a:stretch>
        </p:blipFill>
        <p:spPr>
          <a:xfrm>
            <a:off x="560070" y="3358134"/>
            <a:ext cx="205740" cy="205740"/>
          </a:xfrm>
          <a:prstGeom prst="rect">
            <a:avLst/>
          </a:prstGeom>
        </p:spPr>
      </p:pic>
      <p:sp>
        <p:nvSpPr>
          <p:cNvPr id="14" name="Text 8"/>
          <p:cNvSpPr txBox="1"/>
          <p:nvPr/>
        </p:nvSpPr>
        <p:spPr>
          <a:xfrm>
            <a:off x="1005840" y="3182112"/>
            <a:ext cx="3657600" cy="603504"/>
          </a:xfrm>
          <a:prstGeom prst="rect">
            <a:avLst/>
          </a:prstGeom>
          <a:noFill/>
          <a:ln/>
        </p:spPr>
        <p:txBody>
          <a:bodyPr wrap="square" lIns="0" tIns="0" rIns="0" bIns="0" rtlCol="0" anchor="ctr"/>
          <a:lstStyle/>
          <a:p>
            <a:pPr indent="0" marL="0">
              <a:buNone/>
            </a:pPr>
            <a:r>
              <a:rPr lang="en-US" sz="1250" b="1" dirty="0">
                <a:solidFill>
                  <a:srgbClr val="F2C46D"/>
                </a:solidFill>
              </a:rPr>
              <a:t>Later  </a:t>
            </a:r>
            <a:pPr indent="0" marL="0">
              <a:buNone/>
            </a:pPr>
            <a:r>
              <a:rPr lang="en-US" sz="1250" dirty="0">
                <a:solidFill>
                  <a:schemeClr val="bg1"/>
                </a:solidFill>
              </a:rPr>
              <a:t>Optional AI drafting of tests and step code, clearly marked and kept separate</a:t>
            </a:r>
            <a:endParaRPr lang="en-US" sz="1250" dirty="0"/>
          </a:p>
        </p:txBody>
      </p:sp>
      <p:sp>
        <p:nvSpPr>
          <p:cNvPr id="15" name="Roadmap 5 circle"/>
          <p:cNvSpPr/>
          <p:nvPr/>
        </p:nvSpPr>
        <p:spPr>
          <a:xfrm>
            <a:off x="457200" y="3931920"/>
            <a:ext cx="411480" cy="411480"/>
          </a:xfrm>
          <a:prstGeom prst="ellipse">
            <a:avLst/>
          </a:prstGeom>
          <a:solidFill>
            <a:schemeClr val="accent3"/>
          </a:solidFill>
          <a:ln/>
        </p:spPr>
      </p:sp>
      <p:pic>
        <p:nvPicPr>
          <p:cNvPr id="16" name="Roadmap 5 icon" descr="preencoded.png">    </p:cNvPr>
          <p:cNvPicPr>
            <a:picLocks noChangeAspect="1"/>
          </p:cNvPicPr>
          <p:nvPr/>
        </p:nvPicPr>
        <p:blipFill>
          <a:blip r:embed="rId5"/>
          <a:stretch>
            <a:fillRect/>
          </a:stretch>
        </p:blipFill>
        <p:spPr>
          <a:xfrm>
            <a:off x="560070" y="4034790"/>
            <a:ext cx="205740" cy="205740"/>
          </a:xfrm>
          <a:prstGeom prst="rect">
            <a:avLst/>
          </a:prstGeom>
        </p:spPr>
      </p:pic>
      <p:sp>
        <p:nvSpPr>
          <p:cNvPr id="17" name="Text 10"/>
          <p:cNvSpPr txBox="1"/>
          <p:nvPr/>
        </p:nvSpPr>
        <p:spPr>
          <a:xfrm>
            <a:off x="1005840" y="3858768"/>
            <a:ext cx="3657600" cy="603504"/>
          </a:xfrm>
          <a:prstGeom prst="rect">
            <a:avLst/>
          </a:prstGeom>
          <a:noFill/>
          <a:ln/>
        </p:spPr>
        <p:txBody>
          <a:bodyPr wrap="square" lIns="0" tIns="0" rIns="0" bIns="0" rtlCol="0" anchor="ctr"/>
          <a:lstStyle/>
          <a:p>
            <a:pPr indent="0" marL="0">
              <a:buNone/>
            </a:pPr>
            <a:r>
              <a:rPr lang="en-US" sz="1250" b="1" dirty="0">
                <a:solidFill>
                  <a:srgbClr val="F2C46D"/>
                </a:solidFill>
              </a:rPr>
              <a:t>And  </a:t>
            </a:r>
            <a:pPr indent="0" marL="0">
              <a:buNone/>
            </a:pPr>
            <a:r>
              <a:rPr lang="en-US" sz="1250" dirty="0">
                <a:solidFill>
                  <a:schemeClr val="bg1"/>
                </a:solidFill>
              </a:rPr>
              <a:t>Run these checks automatically on every code change</a:t>
            </a:r>
            <a:endParaRPr lang="en-US" sz="1250" dirty="0"/>
          </a:p>
        </p:txBody>
      </p:sp>
      <p:sp>
        <p:nvSpPr>
          <p:cNvPr id="18" name="Ask card"/>
          <p:cNvSpPr/>
          <p:nvPr/>
        </p:nvSpPr>
        <p:spPr>
          <a:xfrm>
            <a:off x="5029200" y="1188720"/>
            <a:ext cx="3657600" cy="3383280"/>
          </a:xfrm>
          <a:prstGeom prst="roundRect">
            <a:avLst>
              <a:gd name="adj" fmla="val 2162"/>
            </a:avLst>
          </a:prstGeom>
          <a:solidFill>
            <a:schemeClr val="bg1"/>
          </a:solidFill>
          <a:ln/>
          <a:effectLst>
            <a:outerShdw sx="100000" sy="100000" kx="0" ky="0" algn="bl" rotWithShape="0" blurRad="76200" dist="25400" dir="5400000">
              <a:srgbClr val="000000">
                <a:alpha val="12000"/>
              </a:srgbClr>
            </a:outerShdw>
          </a:effectLst>
        </p:spPr>
      </p:sp>
      <p:sp>
        <p:nvSpPr>
          <p:cNvPr id="19" name="Text 12"/>
          <p:cNvSpPr txBox="1"/>
          <p:nvPr/>
        </p:nvSpPr>
        <p:spPr>
          <a:xfrm>
            <a:off x="5257800" y="1325880"/>
            <a:ext cx="320040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My ask</a:t>
            </a:r>
            <a:endParaRPr lang="en-US" sz="2200" dirty="0"/>
          </a:p>
        </p:txBody>
      </p:sp>
      <p:sp>
        <p:nvSpPr>
          <p:cNvPr id="20" name="Ask placeholder box"/>
          <p:cNvSpPr/>
          <p:nvPr/>
        </p:nvSpPr>
        <p:spPr>
          <a:xfrm>
            <a:off x="5257800" y="1828800"/>
            <a:ext cx="3200400" cy="548640"/>
          </a:xfrm>
          <a:prstGeom prst="roundRect">
            <a:avLst>
              <a:gd name="adj" fmla="val 10000"/>
            </a:avLst>
          </a:prstGeom>
          <a:solidFill>
            <a:srgbClr val="FDF0D9"/>
          </a:solidFill>
          <a:ln w="15875">
            <a:solidFill>
              <a:srgbClr val="E39B2D"/>
            </a:solidFill>
            <a:prstDash val="solid"/>
          </a:ln>
        </p:spPr>
      </p:sp>
      <p:sp>
        <p:nvSpPr>
          <p:cNvPr id="21" name="Ask placeholder"/>
          <p:cNvSpPr txBox="1"/>
          <p:nvPr/>
        </p:nvSpPr>
        <p:spPr>
          <a:xfrm>
            <a:off x="5367528" y="1828800"/>
            <a:ext cx="2980944" cy="548640"/>
          </a:xfrm>
          <a:prstGeom prst="rect">
            <a:avLst/>
          </a:prstGeom>
          <a:noFill/>
          <a:ln/>
        </p:spPr>
        <p:txBody>
          <a:bodyPr wrap="square" lIns="0" tIns="0" rIns="0" bIns="0" rtlCol="0" anchor="ctr"/>
          <a:lstStyle/>
          <a:p>
            <a:pPr indent="0" marL="0">
              <a:buNone/>
            </a:pPr>
            <a:r>
              <a:rPr lang="en-US" sz="1500" b="1" dirty="0">
                <a:solidFill>
                  <a:srgbClr val="8A5A0C"/>
                </a:solidFill>
              </a:rPr>
              <a:t>[ADD: what I’m asking for]</a:t>
            </a:r>
            <a:endParaRPr lang="en-US" sz="1500" dirty="0"/>
          </a:p>
        </p:txBody>
      </p:sp>
      <p:sp>
        <p:nvSpPr>
          <p:cNvPr id="22" name="Text 15"/>
          <p:cNvSpPr txBox="1"/>
          <p:nvPr/>
        </p:nvSpPr>
        <p:spPr>
          <a:xfrm>
            <a:off x="5257800" y="2514600"/>
            <a:ext cx="3200400" cy="868680"/>
          </a:xfrm>
          <a:prstGeom prst="rect">
            <a:avLst/>
          </a:prstGeom>
          <a:noFill/>
          <a:ln/>
        </p:spPr>
        <p:txBody>
          <a:bodyPr wrap="square" lIns="0" tIns="0" rIns="0" bIns="0" rtlCol="0" anchor="t"/>
          <a:lstStyle/>
          <a:p>
            <a:pPr indent="0" marL="0">
              <a:buNone/>
            </a:pPr>
            <a:r>
              <a:rPr lang="en-US" sz="1300" dirty="0">
                <a:solidFill>
                  <a:schemeClr val="accent6"/>
                </a:solidFill>
              </a:rPr>
              <a:t>For example: time to pilot it on a real project, approval to install it, or introductions to the test teams.</a:t>
            </a:r>
            <a:endParaRPr lang="en-US" sz="1300" dirty="0"/>
          </a:p>
        </p:txBody>
      </p:sp>
      <p:sp>
        <p:nvSpPr>
          <p:cNvPr id="23" name="Impact placeholder box"/>
          <p:cNvSpPr/>
          <p:nvPr/>
        </p:nvSpPr>
        <p:spPr>
          <a:xfrm>
            <a:off x="5257800" y="3520440"/>
            <a:ext cx="3200400" cy="457200"/>
          </a:xfrm>
          <a:prstGeom prst="roundRect">
            <a:avLst>
              <a:gd name="adj" fmla="val 12000"/>
            </a:avLst>
          </a:prstGeom>
          <a:solidFill>
            <a:srgbClr val="FDF0D9"/>
          </a:solidFill>
          <a:ln w="15875">
            <a:solidFill>
              <a:srgbClr val="E39B2D"/>
            </a:solidFill>
            <a:prstDash val="solid"/>
          </a:ln>
        </p:spPr>
      </p:sp>
      <p:sp>
        <p:nvSpPr>
          <p:cNvPr id="24" name="Impact placeholder"/>
          <p:cNvSpPr txBox="1"/>
          <p:nvPr/>
        </p:nvSpPr>
        <p:spPr>
          <a:xfrm>
            <a:off x="5367528" y="3520440"/>
            <a:ext cx="2980944" cy="457200"/>
          </a:xfrm>
          <a:prstGeom prst="rect">
            <a:avLst/>
          </a:prstGeom>
          <a:noFill/>
          <a:ln/>
        </p:spPr>
        <p:txBody>
          <a:bodyPr wrap="square" lIns="0" tIns="0" rIns="0" bIns="0" rtlCol="0" anchor="ctr"/>
          <a:lstStyle/>
          <a:p>
            <a:pPr indent="0" marL="0">
              <a:buNone/>
            </a:pPr>
            <a:r>
              <a:rPr lang="en-US" sz="1200" b="1" dirty="0">
                <a:solidFill>
                  <a:srgbClr val="8A5A0C"/>
                </a:solidFill>
              </a:rPr>
              <a:t>[ADD: expected time saved on a pilot]</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Appendix</a:t>
            </a:r>
            <a:endParaRPr lang="en-US" sz="4000" dirty="0"/>
          </a:p>
        </p:txBody>
      </p:sp>
      <p:sp>
        <p:nvSpPr>
          <p:cNvPr id="3" name="Text 0"/>
          <p:cNvSpPr/>
          <p:nvPr>
            <p:ph idx="101" type="body" hasCustomPrompt="1"/>
          </p:nvPr>
        </p:nvSpPr>
        <p:spPr>
          <a:xfrm>
            <a:off x="548640" y="2560320"/>
            <a:ext cx="8046720" cy="914400"/>
          </a:xfrm>
          <a:prstGeom prst="rect">
            <a:avLst/>
          </a:prstGeom>
          <a:noFill/>
          <a:ln/>
        </p:spPr>
        <p:txBody>
          <a:bodyPr wrap="square" lIns="0" tIns="0" rIns="0" bIns="0" rtlCol="0" anchor="t"/>
          <a:lstStyle/>
          <a:p>
            <a:pPr indent="0" marL="0">
              <a:buNone/>
            </a:pPr>
            <a:r>
              <a:rPr lang="en-US" sz="2000" dirty="0">
                <a:solidFill>
                  <a:schemeClr val="accent5"/>
                </a:solidFill>
              </a:rPr>
              <a:t>Glossary and command list</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Glossary</a:t>
            </a:r>
            <a:endParaRPr lang="en-US" sz="2800" dirty="0"/>
          </a:p>
        </p:txBody>
      </p:sp>
      <p:sp>
        <p:nvSpPr>
          <p:cNvPr id="3" name="Term Automated test"/>
          <p:cNvSpPr/>
          <p:nvPr/>
        </p:nvSpPr>
        <p:spPr>
          <a:xfrm>
            <a:off x="457200" y="1143000"/>
            <a:ext cx="4023360" cy="777240"/>
          </a:xfrm>
          <a:prstGeom prst="roundRect">
            <a:avLst>
              <a:gd name="adj" fmla="val 9412"/>
            </a:avLst>
          </a:prstGeom>
          <a:solidFill>
            <a:schemeClr val="bg2"/>
          </a:solidFill>
          <a:ln/>
        </p:spPr>
      </p:sp>
      <p:sp>
        <p:nvSpPr>
          <p:cNvPr id="4" name="Text 2"/>
          <p:cNvSpPr txBox="1"/>
          <p:nvPr/>
        </p:nvSpPr>
        <p:spPr>
          <a:xfrm>
            <a:off x="640080" y="1143000"/>
            <a:ext cx="3657600" cy="777240"/>
          </a:xfrm>
          <a:prstGeom prst="rect">
            <a:avLst/>
          </a:prstGeom>
          <a:noFill/>
          <a:ln/>
        </p:spPr>
        <p:txBody>
          <a:bodyPr wrap="square" lIns="0" tIns="0" rIns="0" bIns="0" rtlCol="0" anchor="ctr"/>
          <a:lstStyle/>
          <a:p>
            <a:pPr indent="0" marL="0">
              <a:spcAft>
                <a:spcPts val="100"/>
              </a:spcAft>
              <a:buNone/>
            </a:pPr>
            <a:r>
              <a:rPr lang="en-US" sz="1300" b="1" dirty="0">
                <a:solidFill>
                  <a:schemeClr val="accent1"/>
                </a:solidFill>
              </a:rPr>
              <a:t>Automated test</a:t>
            </a:r>
            <a:endParaRPr lang="en-US" sz="1400" dirty="0"/>
          </a:p>
          <a:p>
            <a:pPr indent="0" marL="0">
              <a:spcAft>
                <a:spcPts val="100"/>
              </a:spcAft>
              <a:buNone/>
            </a:pPr>
            <a:r>
              <a:rPr lang="en-US" sz="1150" dirty="0">
                <a:solidFill>
                  <a:schemeClr val="tx1"/>
                </a:solidFill>
              </a:rPr>
              <a:t>A program that clicks through the software and checks it works, instead of a person.</a:t>
            </a:r>
            <a:endParaRPr lang="en-US" sz="1400" dirty="0"/>
          </a:p>
        </p:txBody>
      </p:sp>
      <p:sp>
        <p:nvSpPr>
          <p:cNvPr id="5" name="Term BDD"/>
          <p:cNvSpPr/>
          <p:nvPr/>
        </p:nvSpPr>
        <p:spPr>
          <a:xfrm>
            <a:off x="4663440" y="1143000"/>
            <a:ext cx="4023360" cy="777240"/>
          </a:xfrm>
          <a:prstGeom prst="roundRect">
            <a:avLst>
              <a:gd name="adj" fmla="val 9412"/>
            </a:avLst>
          </a:prstGeom>
          <a:solidFill>
            <a:schemeClr val="bg2"/>
          </a:solidFill>
          <a:ln/>
        </p:spPr>
      </p:sp>
      <p:sp>
        <p:nvSpPr>
          <p:cNvPr id="6" name="Text 4"/>
          <p:cNvSpPr txBox="1"/>
          <p:nvPr/>
        </p:nvSpPr>
        <p:spPr>
          <a:xfrm>
            <a:off x="4846320" y="1143000"/>
            <a:ext cx="3657600" cy="777240"/>
          </a:xfrm>
          <a:prstGeom prst="rect">
            <a:avLst/>
          </a:prstGeom>
          <a:noFill/>
          <a:ln/>
        </p:spPr>
        <p:txBody>
          <a:bodyPr wrap="square" lIns="0" tIns="0" rIns="0" bIns="0" rtlCol="0" anchor="ctr"/>
          <a:lstStyle/>
          <a:p>
            <a:pPr indent="0" marL="0">
              <a:spcAft>
                <a:spcPts val="100"/>
              </a:spcAft>
              <a:buNone/>
            </a:pPr>
            <a:r>
              <a:rPr lang="en-US" sz="1300" b="1" dirty="0">
                <a:solidFill>
                  <a:schemeClr val="accent1"/>
                </a:solidFill>
              </a:rPr>
              <a:t>BDD</a:t>
            </a:r>
            <a:endParaRPr lang="en-US" sz="1400" dirty="0"/>
          </a:p>
          <a:p>
            <a:pPr indent="0" marL="0">
              <a:spcAft>
                <a:spcPts val="100"/>
              </a:spcAft>
              <a:buNone/>
            </a:pPr>
            <a:r>
              <a:rPr lang="en-US" sz="1150" dirty="0">
                <a:solidFill>
                  <a:schemeClr val="tx1"/>
                </a:solidFill>
              </a:rPr>
              <a:t>Behaviour-Driven Development: describing how software should behave, in words everyone can read.</a:t>
            </a:r>
            <a:endParaRPr lang="en-US" sz="1400" dirty="0"/>
          </a:p>
        </p:txBody>
      </p:sp>
      <p:sp>
        <p:nvSpPr>
          <p:cNvPr id="7" name="Term Cucumber"/>
          <p:cNvSpPr/>
          <p:nvPr/>
        </p:nvSpPr>
        <p:spPr>
          <a:xfrm>
            <a:off x="457200" y="2011680"/>
            <a:ext cx="4023360" cy="777240"/>
          </a:xfrm>
          <a:prstGeom prst="roundRect">
            <a:avLst>
              <a:gd name="adj" fmla="val 9412"/>
            </a:avLst>
          </a:prstGeom>
          <a:solidFill>
            <a:schemeClr val="bg2"/>
          </a:solidFill>
          <a:ln/>
        </p:spPr>
      </p:sp>
      <p:sp>
        <p:nvSpPr>
          <p:cNvPr id="8" name="Text 6"/>
          <p:cNvSpPr txBox="1"/>
          <p:nvPr/>
        </p:nvSpPr>
        <p:spPr>
          <a:xfrm>
            <a:off x="640080" y="2011680"/>
            <a:ext cx="3657600" cy="777240"/>
          </a:xfrm>
          <a:prstGeom prst="rect">
            <a:avLst/>
          </a:prstGeom>
          <a:noFill/>
          <a:ln/>
        </p:spPr>
        <p:txBody>
          <a:bodyPr wrap="square" lIns="0" tIns="0" rIns="0" bIns="0" rtlCol="0" anchor="ctr"/>
          <a:lstStyle/>
          <a:p>
            <a:pPr indent="0" marL="0">
              <a:spcAft>
                <a:spcPts val="100"/>
              </a:spcAft>
              <a:buNone/>
            </a:pPr>
            <a:r>
              <a:rPr lang="en-US" sz="1300" b="1" dirty="0">
                <a:solidFill>
                  <a:schemeClr val="accent1"/>
                </a:solidFill>
              </a:rPr>
              <a:t>Cucumber</a:t>
            </a:r>
            <a:endParaRPr lang="en-US" sz="1400" dirty="0"/>
          </a:p>
          <a:p>
            <a:pPr indent="0" marL="0">
              <a:spcAft>
                <a:spcPts val="100"/>
              </a:spcAft>
              <a:buNone/>
            </a:pPr>
            <a:r>
              <a:rPr lang="en-US" sz="1150" dirty="0">
                <a:solidFill>
                  <a:schemeClr val="tx1"/>
                </a:solidFill>
              </a:rPr>
              <a:t>A widely used tool that runs tests written in plain English.</a:t>
            </a:r>
            <a:endParaRPr lang="en-US" sz="1400" dirty="0"/>
          </a:p>
        </p:txBody>
      </p:sp>
      <p:sp>
        <p:nvSpPr>
          <p:cNvPr id="9" name="Term Gherkin"/>
          <p:cNvSpPr/>
          <p:nvPr/>
        </p:nvSpPr>
        <p:spPr>
          <a:xfrm>
            <a:off x="4663440" y="2011680"/>
            <a:ext cx="4023360" cy="777240"/>
          </a:xfrm>
          <a:prstGeom prst="roundRect">
            <a:avLst>
              <a:gd name="adj" fmla="val 9412"/>
            </a:avLst>
          </a:prstGeom>
          <a:solidFill>
            <a:schemeClr val="bg2"/>
          </a:solidFill>
          <a:ln/>
        </p:spPr>
      </p:sp>
      <p:sp>
        <p:nvSpPr>
          <p:cNvPr id="10" name="Text 8"/>
          <p:cNvSpPr txBox="1"/>
          <p:nvPr/>
        </p:nvSpPr>
        <p:spPr>
          <a:xfrm>
            <a:off x="4846320" y="2011680"/>
            <a:ext cx="3657600" cy="777240"/>
          </a:xfrm>
          <a:prstGeom prst="rect">
            <a:avLst/>
          </a:prstGeom>
          <a:noFill/>
          <a:ln/>
        </p:spPr>
        <p:txBody>
          <a:bodyPr wrap="square" lIns="0" tIns="0" rIns="0" bIns="0" rtlCol="0" anchor="ctr"/>
          <a:lstStyle/>
          <a:p>
            <a:pPr indent="0" marL="0">
              <a:spcAft>
                <a:spcPts val="100"/>
              </a:spcAft>
              <a:buNone/>
            </a:pPr>
            <a:r>
              <a:rPr lang="en-US" sz="1300" b="1" dirty="0">
                <a:solidFill>
                  <a:schemeClr val="accent1"/>
                </a:solidFill>
              </a:rPr>
              <a:t>Gherkin</a:t>
            </a:r>
            <a:endParaRPr lang="en-US" sz="1400" dirty="0"/>
          </a:p>
          <a:p>
            <a:pPr indent="0" marL="0">
              <a:spcAft>
                <a:spcPts val="100"/>
              </a:spcAft>
              <a:buNone/>
            </a:pPr>
            <a:r>
              <a:rPr lang="en-US" sz="1150" dirty="0">
                <a:solidFill>
                  <a:schemeClr val="tx1"/>
                </a:solidFill>
              </a:rPr>
              <a:t>The plain-English format those tests are written in (Given, When, Then).</a:t>
            </a:r>
            <a:endParaRPr lang="en-US" sz="1400" dirty="0"/>
          </a:p>
        </p:txBody>
      </p:sp>
      <p:sp>
        <p:nvSpPr>
          <p:cNvPr id="11" name="Term Step definition"/>
          <p:cNvSpPr/>
          <p:nvPr/>
        </p:nvSpPr>
        <p:spPr>
          <a:xfrm>
            <a:off x="457200" y="2880360"/>
            <a:ext cx="4023360" cy="777240"/>
          </a:xfrm>
          <a:prstGeom prst="roundRect">
            <a:avLst>
              <a:gd name="adj" fmla="val 9412"/>
            </a:avLst>
          </a:prstGeom>
          <a:solidFill>
            <a:schemeClr val="bg2"/>
          </a:solidFill>
          <a:ln/>
        </p:spPr>
      </p:sp>
      <p:sp>
        <p:nvSpPr>
          <p:cNvPr id="12" name="Text 10"/>
          <p:cNvSpPr txBox="1"/>
          <p:nvPr/>
        </p:nvSpPr>
        <p:spPr>
          <a:xfrm>
            <a:off x="640080" y="2880360"/>
            <a:ext cx="3657600" cy="777240"/>
          </a:xfrm>
          <a:prstGeom prst="rect">
            <a:avLst/>
          </a:prstGeom>
          <a:noFill/>
          <a:ln/>
        </p:spPr>
        <p:txBody>
          <a:bodyPr wrap="square" lIns="0" tIns="0" rIns="0" bIns="0" rtlCol="0" anchor="ctr"/>
          <a:lstStyle/>
          <a:p>
            <a:pPr indent="0" marL="0">
              <a:spcAft>
                <a:spcPts val="100"/>
              </a:spcAft>
              <a:buNone/>
            </a:pPr>
            <a:r>
              <a:rPr lang="en-US" sz="1300" b="1" dirty="0">
                <a:solidFill>
                  <a:schemeClr val="accent1"/>
                </a:solidFill>
              </a:rPr>
              <a:t>Step definition</a:t>
            </a:r>
            <a:endParaRPr lang="en-US" sz="1400" dirty="0"/>
          </a:p>
          <a:p>
            <a:pPr indent="0" marL="0">
              <a:spcAft>
                <a:spcPts val="100"/>
              </a:spcAft>
              <a:buNone/>
            </a:pPr>
            <a:r>
              <a:rPr lang="en-US" sz="1150" dirty="0">
                <a:solidFill>
                  <a:schemeClr val="tx1"/>
                </a:solidFill>
              </a:rPr>
              <a:t>The small piece of code behind one English line that actually does it in the browser.</a:t>
            </a:r>
            <a:endParaRPr lang="en-US" sz="1400" dirty="0"/>
          </a:p>
        </p:txBody>
      </p:sp>
      <p:sp>
        <p:nvSpPr>
          <p:cNvPr id="13" name="Term CI"/>
          <p:cNvSpPr/>
          <p:nvPr/>
        </p:nvSpPr>
        <p:spPr>
          <a:xfrm>
            <a:off x="4663440" y="2880360"/>
            <a:ext cx="4023360" cy="777240"/>
          </a:xfrm>
          <a:prstGeom prst="roundRect">
            <a:avLst>
              <a:gd name="adj" fmla="val 9412"/>
            </a:avLst>
          </a:prstGeom>
          <a:solidFill>
            <a:schemeClr val="bg2"/>
          </a:solidFill>
          <a:ln/>
        </p:spPr>
      </p:sp>
      <p:sp>
        <p:nvSpPr>
          <p:cNvPr id="14" name="Text 12"/>
          <p:cNvSpPr txBox="1"/>
          <p:nvPr/>
        </p:nvSpPr>
        <p:spPr>
          <a:xfrm>
            <a:off x="4846320" y="2880360"/>
            <a:ext cx="3657600" cy="777240"/>
          </a:xfrm>
          <a:prstGeom prst="rect">
            <a:avLst/>
          </a:prstGeom>
          <a:noFill/>
          <a:ln/>
        </p:spPr>
        <p:txBody>
          <a:bodyPr wrap="square" lIns="0" tIns="0" rIns="0" bIns="0" rtlCol="0" anchor="ctr"/>
          <a:lstStyle/>
          <a:p>
            <a:pPr indent="0" marL="0">
              <a:spcAft>
                <a:spcPts val="100"/>
              </a:spcAft>
              <a:buNone/>
            </a:pPr>
            <a:r>
              <a:rPr lang="en-US" sz="1300" b="1" dirty="0">
                <a:solidFill>
                  <a:schemeClr val="accent1"/>
                </a:solidFill>
              </a:rPr>
              <a:t>CI</a:t>
            </a:r>
            <a:endParaRPr lang="en-US" sz="1400" dirty="0"/>
          </a:p>
          <a:p>
            <a:pPr indent="0" marL="0">
              <a:spcAft>
                <a:spcPts val="100"/>
              </a:spcAft>
              <a:buNone/>
            </a:pPr>
            <a:r>
              <a:rPr lang="en-US" sz="1150" dirty="0">
                <a:solidFill>
                  <a:schemeClr val="tx1"/>
                </a:solidFill>
              </a:rPr>
              <a:t>Continuous integration: checks that run automatically every time someone changes the code.</a:t>
            </a:r>
            <a:endParaRPr lang="en-US" sz="1400" dirty="0"/>
          </a:p>
        </p:txBody>
      </p:sp>
      <p:sp>
        <p:nvSpPr>
          <p:cNvPr id="15" name="Term Block editor"/>
          <p:cNvSpPr/>
          <p:nvPr/>
        </p:nvSpPr>
        <p:spPr>
          <a:xfrm>
            <a:off x="457200" y="3749040"/>
            <a:ext cx="4023360" cy="777240"/>
          </a:xfrm>
          <a:prstGeom prst="roundRect">
            <a:avLst>
              <a:gd name="adj" fmla="val 9412"/>
            </a:avLst>
          </a:prstGeom>
          <a:solidFill>
            <a:schemeClr val="bg2"/>
          </a:solidFill>
          <a:ln/>
        </p:spPr>
      </p:sp>
      <p:sp>
        <p:nvSpPr>
          <p:cNvPr id="16" name="Text 14"/>
          <p:cNvSpPr txBox="1"/>
          <p:nvPr/>
        </p:nvSpPr>
        <p:spPr>
          <a:xfrm>
            <a:off x="640080" y="3749040"/>
            <a:ext cx="3657600" cy="777240"/>
          </a:xfrm>
          <a:prstGeom prst="rect">
            <a:avLst/>
          </a:prstGeom>
          <a:noFill/>
          <a:ln/>
        </p:spPr>
        <p:txBody>
          <a:bodyPr wrap="square" lIns="0" tIns="0" rIns="0" bIns="0" rtlCol="0" anchor="ctr"/>
          <a:lstStyle/>
          <a:p>
            <a:pPr indent="0" marL="0">
              <a:spcAft>
                <a:spcPts val="100"/>
              </a:spcAft>
              <a:buNone/>
            </a:pPr>
            <a:r>
              <a:rPr lang="en-US" sz="1300" b="1" dirty="0">
                <a:solidFill>
                  <a:schemeClr val="accent1"/>
                </a:solidFill>
              </a:rPr>
              <a:t>Block editor</a:t>
            </a:r>
            <a:endParaRPr lang="en-US" sz="1400" dirty="0"/>
          </a:p>
          <a:p>
            <a:pPr indent="0" marL="0">
              <a:spcAft>
                <a:spcPts val="100"/>
              </a:spcAft>
              <a:buNone/>
            </a:pPr>
            <a:r>
              <a:rPr lang="en-US" sz="1150" dirty="0">
                <a:solidFill>
                  <a:schemeClr val="tx1"/>
                </a:solidFill>
              </a:rPr>
              <a:t>Building a test by dragging ready-made pieces together, like the Scratch tool for children.</a:t>
            </a:r>
            <a:endParaRPr lang="en-US" sz="1400" dirty="0"/>
          </a:p>
        </p:txBody>
      </p:sp>
      <p:sp>
        <p:nvSpPr>
          <p:cNvPr id="17" name="Term Replay (trace)"/>
          <p:cNvSpPr/>
          <p:nvPr/>
        </p:nvSpPr>
        <p:spPr>
          <a:xfrm>
            <a:off x="4663440" y="3749040"/>
            <a:ext cx="4023360" cy="777240"/>
          </a:xfrm>
          <a:prstGeom prst="roundRect">
            <a:avLst>
              <a:gd name="adj" fmla="val 9412"/>
            </a:avLst>
          </a:prstGeom>
          <a:solidFill>
            <a:schemeClr val="bg2"/>
          </a:solidFill>
          <a:ln/>
        </p:spPr>
      </p:sp>
      <p:sp>
        <p:nvSpPr>
          <p:cNvPr id="18" name="Text 16"/>
          <p:cNvSpPr txBox="1"/>
          <p:nvPr/>
        </p:nvSpPr>
        <p:spPr>
          <a:xfrm>
            <a:off x="4846320" y="3749040"/>
            <a:ext cx="3657600" cy="777240"/>
          </a:xfrm>
          <a:prstGeom prst="rect">
            <a:avLst/>
          </a:prstGeom>
          <a:noFill/>
          <a:ln/>
        </p:spPr>
        <p:txBody>
          <a:bodyPr wrap="square" lIns="0" tIns="0" rIns="0" bIns="0" rtlCol="0" anchor="ctr"/>
          <a:lstStyle/>
          <a:p>
            <a:pPr indent="0" marL="0">
              <a:spcAft>
                <a:spcPts val="100"/>
              </a:spcAft>
              <a:buNone/>
            </a:pPr>
            <a:r>
              <a:rPr lang="en-US" sz="1300" b="1" dirty="0">
                <a:solidFill>
                  <a:schemeClr val="accent1"/>
                </a:solidFill>
              </a:rPr>
              <a:t>Replay (trace)</a:t>
            </a:r>
            <a:endParaRPr lang="en-US" sz="1400" dirty="0"/>
          </a:p>
          <a:p>
            <a:pPr indent="0" marL="0">
              <a:spcAft>
                <a:spcPts val="100"/>
              </a:spcAft>
              <a:buNone/>
            </a:pPr>
            <a:r>
              <a:rPr lang="en-US" sz="1150" dirty="0">
                <a:solidFill>
                  <a:schemeClr val="tx1"/>
                </a:solidFill>
              </a:rPr>
              <a:t>A recording of a test run that you can step through afterwards to see what happened.</a:t>
            </a:r>
            <a:endParaRPr lang="en-US" sz="14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Command list</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371600"/>
                <a:gridCol w="3840480"/>
                <a:gridCol w="301752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Command</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Plain-English value</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1F4D3A"/>
                    </a:solidFill>
                  </a:tcPr>
                </a:tc>
              </a:tr>
              <a:tr h="365760">
                <a:tc>
                  <a:txBody>
                    <a:bodyPr/>
                    <a:lstStyle/>
                    <a:p>
                      <a:pPr indent="0" marL="0">
                        <a:buNone/>
                      </a:pPr>
                      <a:r>
                        <a:rPr lang="en-US" sz="1050" b="1" dirty="0">
                          <a:solidFill>
                            <a:srgbClr val="1F4D3A"/>
                          </a:solidFill>
                          <a:latin typeface="Courier New" pitchFamily="34" charset="0"/>
                          <a:ea typeface="Courier New" pitchFamily="34" charset="-122"/>
                          <a:cs typeface="Courier New" pitchFamily="34" charset="-120"/>
                        </a:rPr>
                        <a:t>index</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Lists every step the project already has, with where it lives</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A catalogue of everything our tests already know how to do</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rgbClr val="1F4D3A"/>
                          </a:solidFill>
                          <a:latin typeface="Courier New" pitchFamily="34" charset="0"/>
                          <a:ea typeface="Courier New" pitchFamily="34" charset="-122"/>
                          <a:cs typeface="Courier New" pitchFamily="34" charset="-120"/>
                        </a:rPr>
                        <a:t>find</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Checks whether a line already has a step behind it; if not, suggests close matches</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Stops people writing a step that already exists</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rgbClr val="1F4D3A"/>
                          </a:solidFill>
                          <a:latin typeface="Courier New" pitchFamily="34" charset="0"/>
                          <a:ea typeface="Courier New" pitchFamily="34" charset="-122"/>
                          <a:cs typeface="Courier New" pitchFamily="34" charset="-120"/>
                        </a:rPr>
                        <a:t>dupes</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Finds steps that say the same thing in different words</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Spots duplicated work that has already crept in</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rgbClr val="1F4D3A"/>
                          </a:solidFill>
                          <a:latin typeface="Courier New" pitchFamily="34" charset="0"/>
                          <a:ea typeface="Courier New" pitchFamily="34" charset="-122"/>
                          <a:cs typeface="Courier New" pitchFamily="34" charset="-120"/>
                        </a:rPr>
                        <a:t>merge</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Keeps one of each duplicate pair, rewrites the tests, deletes the other. Preview first</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Cleans up duplication automatically, safely</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rgbClr val="1F4D3A"/>
                          </a:solidFill>
                          <a:latin typeface="Courier New" pitchFamily="34" charset="0"/>
                          <a:ea typeface="Courier New" pitchFamily="34" charset="-122"/>
                          <a:cs typeface="Courier New" pitchFamily="34" charset="-120"/>
                        </a:rPr>
                        <a:t>check</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Checks every line of every test and reports which are ready and which are missing</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A readiness checklist for new tests</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rgbClr val="1F4D3A"/>
                          </a:solidFill>
                          <a:latin typeface="Courier New" pitchFamily="34" charset="0"/>
                          <a:ea typeface="Courier New" pitchFamily="34" charset="-122"/>
                          <a:cs typeface="Courier New" pitchFamily="34" charset="-120"/>
                        </a:rPr>
                        <a:t>check --stubs</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Drafts the code skeleton for missing steps</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Removes boring, error-prone setup work</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rgbClr val="1F4D3A"/>
                          </a:solidFill>
                          <a:latin typeface="Courier New" pitchFamily="34" charset="0"/>
                          <a:ea typeface="Courier New" pitchFamily="34" charset="-122"/>
                          <a:cs typeface="Courier New" pitchFamily="34" charset="-120"/>
                        </a:rPr>
                        <a:t>report</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Turns test results into one web page with pass/fail, timings, screenshots and replays</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Results anyone can read</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r h="365760">
                <a:tc>
                  <a:txBody>
                    <a:bodyPr/>
                    <a:lstStyle/>
                    <a:p>
                      <a:pPr indent="0" marL="0">
                        <a:buNone/>
                      </a:pPr>
                      <a:r>
                        <a:rPr lang="en-US" sz="1050" b="1" dirty="0">
                          <a:solidFill>
                            <a:srgbClr val="1F4D3A"/>
                          </a:solidFill>
                          <a:latin typeface="Courier New" pitchFamily="34" charset="0"/>
                          <a:ea typeface="Courier New" pitchFamily="34" charset="-122"/>
                          <a:cs typeface="Courier New" pitchFamily="34" charset="-120"/>
                        </a:rPr>
                        <a:t>ui</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Opens the app in the browser, on this computer only</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c>
                  <a:txBody>
                    <a:bodyPr/>
                    <a:lstStyle/>
                    <a:p>
                      <a:pPr indent="0" marL="0">
                        <a:buNone/>
                      </a:pPr>
                      <a:r>
                        <a:rPr lang="en-US" sz="1050" dirty="0">
                          <a:solidFill>
                            <a:srgbClr val="1B2B22"/>
                          </a:solidFill>
                          <a:latin typeface="Calibri" pitchFamily="34" charset="0"/>
                          <a:ea typeface="Calibri" pitchFamily="34" charset="-122"/>
                          <a:cs typeface="Calibri" pitchFamily="34" charset="-120"/>
                        </a:rPr>
                        <a:t>One place to build, run and tidy tests</a:t>
                      </a:r>
                      <a:endParaRPr lang="en-US" sz="1050" dirty="0">
                        <a:latin typeface="Calibri" charset="0"/>
                        <a:ea typeface="Calibri" charset="0"/>
                        <a:cs typeface="Calibri" charset="0"/>
                      </a:endParaRPr>
                    </a:p>
                  </a:txBody>
                  <a:tcPr marL="54864" marR="54864" marT="54864" marB="54864" anchor="ctr">
                    <a:lnL w="9525" cap="flat" cmpd="sng" algn="ctr">
                      <a:solidFill>
                        <a:srgbClr val="C9D9CC"/>
                      </a:solidFill>
                      <a:prstDash val="solid"/>
                      <a:round/>
                      <a:headEnd type="none" w="med" len="med"/>
                      <a:tailEnd type="none" w="med" len="med"/>
                    </a:lnL>
                    <a:lnR w="9525" cap="flat" cmpd="sng" algn="ctr">
                      <a:solidFill>
                        <a:srgbClr val="C9D9CC"/>
                      </a:solidFill>
                      <a:prstDash val="solid"/>
                      <a:round/>
                      <a:headEnd type="none" w="med" len="med"/>
                      <a:tailEnd type="none" w="med" len="med"/>
                    </a:lnR>
                    <a:lnT w="9525" cap="flat" cmpd="sng" algn="ctr">
                      <a:solidFill>
                        <a:srgbClr val="C9D9CC"/>
                      </a:solidFill>
                      <a:prstDash val="solid"/>
                      <a:round/>
                      <a:headEnd type="none" w="med" len="med"/>
                      <a:tailEnd type="none" w="med" len="med"/>
                    </a:lnT>
                    <a:lnB w="9525" cap="flat" cmpd="sng" algn="ctr">
                      <a:solidFill>
                        <a:srgbClr val="C9D9C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Cucumber">
  <a:themeElements>
    <a:clrScheme name="Cucumber">
      <a:dk1>
        <a:srgbClr val="1B2B22"/>
      </a:dk1>
      <a:lt1>
        <a:srgbClr val="FFFFFF"/>
      </a:lt1>
      <a:dk2>
        <a:srgbClr val="1F4D3A"/>
      </a:dk2>
      <a:lt2>
        <a:srgbClr val="EEF5EF"/>
      </a:lt2>
      <a:accent1>
        <a:srgbClr val="3E8E4F"/>
      </a:accent1>
      <a:accent2>
        <a:srgbClr val="E39B2D"/>
      </a:accent2>
      <a:accent3>
        <a:srgbClr val="2C6E8F"/>
      </a:accent3>
      <a:accent4>
        <a:srgbClr val="C0503A"/>
      </a:accent4>
      <a:accent5>
        <a:srgbClr val="D7E9D9"/>
      </a:accent5>
      <a:accent6>
        <a:srgbClr val="5F6F66"/>
      </a:accent6>
      <a:hlink>
        <a:srgbClr val="2C6E8F"/>
      </a:hlink>
      <a:folHlink>
        <a:srgbClr val="5F6F66"/>
      </a:folHlink>
    </a:clrScheme>
    <a:fontScheme name="Cucu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gherkin-copilot</dc:title>
  <dc:subject>PptxGenJS Presentation</dc:subject>
  <dc:creator>Gabe Olsen</dc:creator>
  <cp:lastModifiedBy>Gabe Olsen</cp:lastModifiedBy>
  <cp:revision>1</cp:revision>
  <dcterms:created xsi:type="dcterms:W3CDTF">2026-10-10T09:43:13Z</dcterms:created>
  <dcterms:modified xsi:type="dcterms:W3CDTF">2026-10-10T09:43:13Z</dcterms:modified>
</cp:coreProperties>
</file>