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iagrams" id="{f81289c2-b81d-2ff8-d1f5-1c1eee783e48}">
          <p14:sldIdLst>
            <p14:sldId id="256"/>
            <p14:sldId id="257"/>
            <p14:sldId id="258"/>
            <p14:sldId id="259"/>
            <p14:sldId id="260"/>
            <p14:sldId id="261"/>
            <p14:sldId id="262"/>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diagram companion to the two decks. Each slide follows one command or one part of the test suite, from the files it reads to what it produces. Function and file names are the real ones in src/gherkin_copilot and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in gherkin-copilot starts from one of four kinds of file. Step definition files in steps/ are read by the indexer and become StepDef records, which the matcher uses for find and dupes. Feature files are parsed by the checker, which uses the matcher to bind each line; merge uses both. The Cucumber JSON that pytest writes is turned into the HTML report or the app's Results tab. And the app's project list tells the local server which folders to work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start-up sequence for the demo suite.
pytest reads pytest.ini first: tests live in tests/, and pytest-bdd should look for feature files under features/. Then it loads conftest.py, which is pytest's standard place for shared setup.
conftest.py adds the demo folder to Python's import path, lists every .py file in steps/ except __init__, and puts them in pytest_plugins. pytest imports each of those modules, and as they're imported the @given, @when and @then decorators register every step with pytest-bdd. That's the shared step library.
Next pytest imports tests/test_features.py. Its one line, scenarios("."), walks every .feature file under features/ and creates one pytest test per scenario, named test_ plus the scenario name.
The payoff: a new step file, for example one the app generates from action blocks, or a new feature file, needs no registration anywhere. Drop it in the folder and the next run picks it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tests are collected, each step function needs two things: a browser page and the address of the website.
app_url is a session fixture, so it's set up once per run. If DEMO_BASE_URL is set, for example to saucedemo.com, the tests use that site. Otherwise it calls server.start_in_background(), which serves the bundled demo shop on 127.0.0.1 on a free port, and shuts it down when the run ends.
browser_type_launch_args decides which browser binary Playwright launches. browsers.browser_path_from_env() checks DEMO_BROWSER_PATH first, then DEMO_BROWSER=brave, which looks Brave up in its usual install folders. If neither is set, Playwright uses its own Chromium or the --browser-channel you passed, like msedge.
pytest-playwright then launches that browser and hands each test a fresh page. For each line in the scenario, pytest-bdd finds the matching step function and calls it with page, app_url and the values from the line. The step drives the browser and its expect() calls pass or fail, and the run writes the results, screenshots and traces.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index is where every other command gets its list of steps.
build_index walks every .py file under the folder you give it, skipping virtualenvs, build output and node_modules. Each file is parsed with ast.parse, which reads the code as a tree without importing or running it. It walks every function definition and looks at its decorators. If a decorator is a call named given, when, then or step, the first argument is the pattern: a plain string, parsers.parse or cfparse, or parsers.re. That gives the kind.
Each hit becomes a StepDef record: keyword, pattern, kind, function name, file and line. index prints them and saves them to .gherkin-index.json, unless you pass --no-save.
Bottom row: find, dupes and check all call _load_steps. If you pass --path, or there's no saved index yet, they scan the folder fresh; otherwise they load the saved JSON. merge and the app always scan fresh.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find takes one line of text and the StepDef list from _load_steps.
For each step definition it first asks: would this line bind at runtime? is_exact_match strips the Given/When/Then keyword, turns the pattern into an anchored regex with to_regex, and tries it. A hit scores 1.0.
Otherwise both sides are normalised: values become &lt;arg&gt;, everything is lowercased, filler words are dropped. The similarity score is half character similarity from difflib and half word overlap. Anything at or above --min-score, 0.4 by default, is kept.
Results are sorted, exact matches first, then by score, and the top five are printed. In the demo, 'I open the login page' finds no exact match, and 'I am on the login page' comes back at 0.73. The exit code is 0 only if there was an exact match, which is useful in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dupes uses the same similarity score as find, but compares step definitions with each other.
It gets the StepDef list from _load_steps, normalises every pattern once, turning placeholders like {product} or regex groups into &lt;arg&gt; and dropping filler words. Then itertools.combinations produces every pair, each pair is scored, and pairs at or above the threshold, 0.6 by default, are kept and sorted by score.
In the demo that gives 2 pairs: the two login-page steps at 0.73 and the two add-to-cart steps at 0.64. The same find_duplicates function feeds merge and the app's Duplicates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merge reads both kinds of file. It scans the steps fresh with build_index and parses every feature file, then counts how many feature lines bind to each step. dupes gives the pairs.
For each pair it picks the keeper: a function named with --keep, otherwise the one more lines use, otherwise the one defined first.
Then the checks: same keyword, same placeholder names, the kept step isn't a regex if lines need rewriting, and in _check_code the decorators have the same options, the parameters and body are identical as ast dumps, the dropped function isn't referenced anywhere else, and it has no other decorators. Any failure is reported as 'can't merge' with the reason and the pair is left alone.
If it passes, _plan_edits captures the values from each line using the dropped pattern, renders the kept wording with them, and checks the new line binds. _changes builds the new file text, deleting dropped functions bottom-up. The diff is printed; only with --apply does apply() write the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starts from the feature files. iter_feature_files finds every .feature file, and parse_feature turns each into FeatureStep records: And and But take the keyword before them, Scenario Outlines are filled from the first Examples row, and tables, doc strings, tags and comments are skipped.
check_steps then binds each line: a step definition binds if its keyword matches, or it's a generic @step, and the exact regex matches. One binding is ok, none is missing, more than one is ambiguous. Missing lines also get suggestions from find, at 0.5 or above.
With --stubs, every missing line goes through make_stub, which turns quoted values and numbers into parameters, names the function from the wording, and makes the body raise NotImplementedError. In the demo checkout draft: 2 ok, 4 missing, 4 stubs.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starts after a test run. pytest-bdd writes Cucumber-format JSON when pytest runs with --cucumberjson, and pytest-playwright saves screenshots and traces into one folder per test under --output.
load_report reads the JSON into Feature, Scenario and Step objects, converts durations from nanoseconds, and gives each scenario the status of its worst step. attach_artifacts matches each artifacts folder to a scenario through the pytest test id. render_html builds a single page with no JavaScript, a strict Content-Security-Policy and every value escaped.
The app's Results tab uses the same load_report and attach_artifacts on the results of its own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gherkin-copilot ui loads the project list from your home folder, starts the server on 127.0.0.1, and opens the page in your browser. The page carries a random session token.
Every tab is a thin layer: the browser calls an /api address on the server, the server calls one ui module, and that module uses the same core functions as the command line. Every POST is checked for the right Host, Origin and session token first.
So the Steps tab is build_index underneath, the live checks in Build are check_steps and find, Duplicates is plan_merges, and so on. That's why the app and the command line always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 row: every save in the app, whether a scenario, generated step code or a merge, is planned as a FileChange holding the file's text before and after. The browser shows a unified diff and the server remembers a SHA-256 hash of the 'before' text. When you confirm, apply_change re-reads the file and refuses if the hash no longer matches, for example because a teammate's change landed in between. Then it writes the file and history.py appends an entry to history.jsonl.
Bottom row: the Run button. parse_command splits the saved test command with shlex into an argument list, rejects shell features, and swaps 'python' for the app's own interpreter. To run one file or scenario it first collects tests and builds a -k expression from pytest-bdd's test names. It then runs pytest without a shell, adding --cucumberjson, an output folder, screenshots and traces on failure. Results land in .gherkin-copilot/results, and the Results tab reads them with load_report and attach_artifacts.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run_demo.py ties everything together for a demo. --brave sets DEMO_BROWSER=brave, which the conftest fixture picks up.
It runs seven tool commands in order with the demo folder: index, find twice, once for an existing line and once for 'I open the login page', dupes, a merge preview, check on the finished features, and check --stubs on the draft. Each runs as a subprocess with an argument list, never a shell.
Then it runs pytest on demo with Cucumber JSON, screenshots and traces turned on. That's where conftest.py takes over, as on the conftest slides. Finally it calls gherkin-copilot report to build reports/report.html and opens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429000"/>
            <a:ext cx="10698480" cy="109728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agram">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rtlCol="0"/>
          <a:lstStyle>
            <a:lvl1pPr algn="l" indent="0" marL="0">
              <a:buNone/>
              <a:defRPr lang="en-US" sz="26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rtlCol="0"/>
          <a:lstStyle>
            <a:lvl1pPr algn="l" indent="0" marL="0">
              <a:buNone/>
              <a:defRPr lang="en-US" sz="1300" dirty="0">
                <a:solidFill>
                  <a:schemeClr val="accent6"/>
                </a:solidFill>
              </a:defRPr>
            </a:lvl1pPr>
          </a:lstStyle>
          <a:p>
            <a:pPr algn="l" indent="0" marL="0">
              <a:buNone/>
            </a:pPr>
            <a:endParaRPr lang="en-US" sz="13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lIns="0" tIns="0" rIns="0" bIns="0" rtlCol="0" anchor="b"/>
          <a:lstStyle/>
          <a:p>
            <a:pPr algn="l" indent="0" marL="0">
              <a:buNone/>
            </a:pPr>
            <a:r>
              <a:rPr lang="en-US" sz="4400" b="1" dirty="0">
                <a:solidFill>
                  <a:schemeClr val="bg1"/>
                </a:solidFill>
                <a:latin typeface="Cambria" pitchFamily="34" charset="0"/>
                <a:ea typeface="Cambria" pitchFamily="34" charset="-122"/>
                <a:cs typeface="Cambria" pitchFamily="34" charset="-120"/>
              </a:rPr>
              <a:t>gherkin-copilot: how the data flows</a:t>
            </a:r>
            <a:endParaRPr lang="en-US" sz="4400" dirty="0"/>
          </a:p>
        </p:txBody>
      </p:sp>
      <p:sp>
        <p:nvSpPr>
          <p:cNvPr id="3" name="Text 0"/>
          <p:cNvSpPr/>
          <p:nvPr>
            <p:ph idx="101" type="body" hasCustomPrompt="1"/>
          </p:nvPr>
        </p:nvSpPr>
        <p:spPr>
          <a:xfrm>
            <a:off x="731520" y="3429000"/>
            <a:ext cx="10698480" cy="1097280"/>
          </a:xfrm>
          <a:prstGeom prst="rect">
            <a:avLst/>
          </a:prstGeom>
          <a:noFill/>
          <a:ln/>
        </p:spPr>
        <p:txBody>
          <a:bodyPr wrap="square" lIns="0" tIns="0" rIns="0" bIns="0" rtlCol="0" anchor="t"/>
          <a:lstStyle/>
          <a:p>
            <a:pPr algn="l" indent="0" marL="0">
              <a:buNone/>
            </a:pPr>
            <a:r>
              <a:rPr lang="en-US" sz="2000" dirty="0">
                <a:solidFill>
                  <a:schemeClr val="accent5"/>
                </a:solidFill>
              </a:rPr>
              <a:t>Where every function gets its input, what it does with it, and what it produces. Includes how conftest.py wires the test suite together.</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big picture: four inputs, four pipelines</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Every command starts from one of these files. Later slides zoom into each column.</a:t>
            </a:r>
            <a:endParaRPr lang="en-US" sz="1300" dirty="0"/>
          </a:p>
        </p:txBody>
      </p:sp>
      <p:sp>
        <p:nvSpPr>
          <p:cNvPr id="5" name="Box steps/*.py"/>
          <p:cNvSpPr/>
          <p:nvPr/>
        </p:nvSpPr>
        <p:spPr>
          <a:xfrm>
            <a:off x="457200" y="1417320"/>
            <a:ext cx="2606040" cy="868680"/>
          </a:xfrm>
          <a:prstGeom prst="roundRect">
            <a:avLst>
              <a:gd name="adj" fmla="val 6316"/>
            </a:avLst>
          </a:prstGeom>
          <a:solidFill>
            <a:srgbClr val="FDF0D9"/>
          </a:solidFill>
          <a:ln w="15875">
            <a:solidFill>
              <a:srgbClr val="E39B2D"/>
            </a:solidFill>
            <a:prstDash val="solid"/>
          </a:ln>
        </p:spPr>
      </p:sp>
      <p:sp>
        <p:nvSpPr>
          <p:cNvPr id="6" name="Text steps/*.py"/>
          <p:cNvSpPr txBox="1"/>
          <p:nvPr/>
        </p:nvSpPr>
        <p:spPr>
          <a:xfrm>
            <a:off x="548640" y="145389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steps/*.py</a:t>
            </a:r>
            <a:endParaRPr lang="en-US" sz="1100" dirty="0"/>
          </a:p>
          <a:p>
            <a:pPr algn="ctr" indent="0" marL="0">
              <a:spcAft>
                <a:spcPts val="200"/>
              </a:spcAft>
              <a:buNone/>
            </a:pPr>
            <a:r>
              <a:rPr lang="en-US" sz="1000" dirty="0">
                <a:solidFill>
                  <a:srgbClr val="1B2B22"/>
                </a:solidFill>
              </a:rPr>
              <a:t>@given / @when / @then functions</a:t>
            </a:r>
            <a:endParaRPr lang="en-US" sz="1100" dirty="0"/>
          </a:p>
        </p:txBody>
      </p:sp>
      <p:sp>
        <p:nvSpPr>
          <p:cNvPr id="7" name="Box indexer.build_index()"/>
          <p:cNvSpPr/>
          <p:nvPr/>
        </p:nvSpPr>
        <p:spPr>
          <a:xfrm>
            <a:off x="457200" y="2697480"/>
            <a:ext cx="2606040" cy="868680"/>
          </a:xfrm>
          <a:prstGeom prst="roundRect">
            <a:avLst>
              <a:gd name="adj" fmla="val 6316"/>
            </a:avLst>
          </a:prstGeom>
          <a:solidFill>
            <a:srgbClr val="EEF5EF"/>
          </a:solidFill>
          <a:ln w="15875">
            <a:solidFill>
              <a:srgbClr val="3E8E4F"/>
            </a:solidFill>
            <a:prstDash val="solid"/>
          </a:ln>
        </p:spPr>
      </p:sp>
      <p:sp>
        <p:nvSpPr>
          <p:cNvPr id="8" name="Text indexer.build_index()"/>
          <p:cNvSpPr txBox="1"/>
          <p:nvPr/>
        </p:nvSpPr>
        <p:spPr>
          <a:xfrm>
            <a:off x="548640" y="273405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indexer.build_index()</a:t>
            </a:r>
            <a:endParaRPr lang="en-US" sz="1100" dirty="0"/>
          </a:p>
          <a:p>
            <a:pPr algn="ctr" indent="0" marL="0">
              <a:spcAft>
                <a:spcPts val="200"/>
              </a:spcAft>
              <a:buNone/>
            </a:pPr>
            <a:r>
              <a:rPr lang="en-US" sz="1000" dirty="0">
                <a:solidFill>
                  <a:srgbClr val="1B2B22"/>
                </a:solidFill>
              </a:rPr>
              <a:t>ast scan, never imports</a:t>
            </a:r>
            <a:endParaRPr lang="en-US" sz="1100" dirty="0"/>
          </a:p>
        </p:txBody>
      </p:sp>
      <p:sp>
        <p:nvSpPr>
          <p:cNvPr id="9" name="Box matcher.find() find_duplicates()"/>
          <p:cNvSpPr/>
          <p:nvPr/>
        </p:nvSpPr>
        <p:spPr>
          <a:xfrm>
            <a:off x="457200" y="3977640"/>
            <a:ext cx="2606040" cy="868680"/>
          </a:xfrm>
          <a:prstGeom prst="roundRect">
            <a:avLst>
              <a:gd name="adj" fmla="val 6316"/>
            </a:avLst>
          </a:prstGeom>
          <a:solidFill>
            <a:srgbClr val="EEF5EF"/>
          </a:solidFill>
          <a:ln w="15875">
            <a:solidFill>
              <a:srgbClr val="3E8E4F"/>
            </a:solidFill>
            <a:prstDash val="solid"/>
          </a:ln>
        </p:spPr>
      </p:sp>
      <p:sp>
        <p:nvSpPr>
          <p:cNvPr id="10" name="Text matcher.find() find_duplicates()"/>
          <p:cNvSpPr txBox="1"/>
          <p:nvPr/>
        </p:nvSpPr>
        <p:spPr>
          <a:xfrm>
            <a:off x="548640" y="401421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matcher.find()</a:t>
            </a:r>
            <a:endParaRPr lang="en-US" sz="1100" dirty="0"/>
          </a:p>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find_duplicates()</a:t>
            </a:r>
            <a:endParaRPr lang="en-US" sz="1100" dirty="0"/>
          </a:p>
          <a:p>
            <a:pPr algn="ctr" indent="0" marL="0">
              <a:spcAft>
                <a:spcPts val="200"/>
              </a:spcAft>
              <a:buNone/>
            </a:pPr>
            <a:r>
              <a:rPr lang="en-US" sz="1000" dirty="0">
                <a:solidFill>
                  <a:srgbClr val="1B2B22"/>
                </a:solidFill>
              </a:rPr>
              <a:t>exact regex + fuzzy score</a:t>
            </a:r>
            <a:endParaRPr lang="en-US" sz="1100" dirty="0"/>
          </a:p>
        </p:txBody>
      </p:sp>
      <p:sp>
        <p:nvSpPr>
          <p:cNvPr id="11" name="Box Did you mean…? / pairs"/>
          <p:cNvSpPr/>
          <p:nvPr/>
        </p:nvSpPr>
        <p:spPr>
          <a:xfrm>
            <a:off x="457200" y="5257800"/>
            <a:ext cx="2606040" cy="868680"/>
          </a:xfrm>
          <a:prstGeom prst="roundRect">
            <a:avLst>
              <a:gd name="adj" fmla="val 6316"/>
            </a:avLst>
          </a:prstGeom>
          <a:solidFill>
            <a:srgbClr val="D7E9D9"/>
          </a:solidFill>
          <a:ln w="15875">
            <a:solidFill>
              <a:srgbClr val="1F4D3A"/>
            </a:solidFill>
            <a:prstDash val="solid"/>
          </a:ln>
        </p:spPr>
      </p:sp>
      <p:sp>
        <p:nvSpPr>
          <p:cNvPr id="12" name="Text Did you mean…? / pairs"/>
          <p:cNvSpPr txBox="1"/>
          <p:nvPr/>
        </p:nvSpPr>
        <p:spPr>
          <a:xfrm>
            <a:off x="548640" y="529437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Did you mean…? / pairs</a:t>
            </a:r>
            <a:endParaRPr lang="en-US" sz="1100" dirty="0"/>
          </a:p>
          <a:p>
            <a:pPr algn="ctr" indent="0" marL="0">
              <a:spcAft>
                <a:spcPts val="200"/>
              </a:spcAft>
              <a:buNone/>
            </a:pPr>
            <a:r>
              <a:rPr lang="en-US" sz="1000" dirty="0">
                <a:solidFill>
                  <a:srgbClr val="1B2B22"/>
                </a:solidFill>
              </a:rPr>
              <a:t>terminal, or the app</a:t>
            </a:r>
            <a:endParaRPr lang="en-US" sz="1100" dirty="0"/>
          </a:p>
        </p:txBody>
      </p:sp>
      <p:sp>
        <p:nvSpPr>
          <p:cNvPr id="13" name="Box features/*.feature"/>
          <p:cNvSpPr/>
          <p:nvPr/>
        </p:nvSpPr>
        <p:spPr>
          <a:xfrm>
            <a:off x="3337560" y="1417320"/>
            <a:ext cx="2606040" cy="868680"/>
          </a:xfrm>
          <a:prstGeom prst="roundRect">
            <a:avLst>
              <a:gd name="adj" fmla="val 6316"/>
            </a:avLst>
          </a:prstGeom>
          <a:solidFill>
            <a:srgbClr val="FDF0D9"/>
          </a:solidFill>
          <a:ln w="15875">
            <a:solidFill>
              <a:srgbClr val="E39B2D"/>
            </a:solidFill>
            <a:prstDash val="solid"/>
          </a:ln>
        </p:spPr>
      </p:sp>
      <p:sp>
        <p:nvSpPr>
          <p:cNvPr id="14" name="Text features/*.feature"/>
          <p:cNvSpPr txBox="1"/>
          <p:nvPr/>
        </p:nvSpPr>
        <p:spPr>
          <a:xfrm>
            <a:off x="3429000" y="145389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features/*.feature</a:t>
            </a:r>
            <a:endParaRPr lang="en-US" sz="1100" dirty="0"/>
          </a:p>
          <a:p>
            <a:pPr algn="ctr" indent="0" marL="0">
              <a:spcAft>
                <a:spcPts val="200"/>
              </a:spcAft>
              <a:buNone/>
            </a:pPr>
            <a:r>
              <a:rPr lang="en-US" sz="1000" dirty="0">
                <a:solidFill>
                  <a:srgbClr val="1B2B22"/>
                </a:solidFill>
              </a:rPr>
              <a:t>scenarios in Gherkin</a:t>
            </a:r>
            <a:endParaRPr lang="en-US" sz="1100" dirty="0"/>
          </a:p>
        </p:txBody>
      </p:sp>
      <p:sp>
        <p:nvSpPr>
          <p:cNvPr id="15" name="Box checker.parse_feature()"/>
          <p:cNvSpPr/>
          <p:nvPr/>
        </p:nvSpPr>
        <p:spPr>
          <a:xfrm>
            <a:off x="3337560" y="2697480"/>
            <a:ext cx="2606040" cy="868680"/>
          </a:xfrm>
          <a:prstGeom prst="roundRect">
            <a:avLst>
              <a:gd name="adj" fmla="val 6316"/>
            </a:avLst>
          </a:prstGeom>
          <a:solidFill>
            <a:srgbClr val="EEF5EF"/>
          </a:solidFill>
          <a:ln w="15875">
            <a:solidFill>
              <a:srgbClr val="3E8E4F"/>
            </a:solidFill>
            <a:prstDash val="solid"/>
          </a:ln>
        </p:spPr>
      </p:sp>
      <p:sp>
        <p:nvSpPr>
          <p:cNvPr id="16" name="Text checker.parse_feature()"/>
          <p:cNvSpPr txBox="1"/>
          <p:nvPr/>
        </p:nvSpPr>
        <p:spPr>
          <a:xfrm>
            <a:off x="3429000" y="273405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checker.parse_feature()</a:t>
            </a:r>
            <a:endParaRPr lang="en-US" sz="1100" dirty="0"/>
          </a:p>
          <a:p>
            <a:pPr algn="ctr" indent="0" marL="0">
              <a:spcAft>
                <a:spcPts val="200"/>
              </a:spcAft>
              <a:buNone/>
            </a:pPr>
            <a:r>
              <a:rPr lang="en-US" sz="1000" dirty="0">
                <a:solidFill>
                  <a:srgbClr val="1B2B22"/>
                </a:solidFill>
              </a:rPr>
              <a:t>every step line</a:t>
            </a:r>
            <a:endParaRPr lang="en-US" sz="1100" dirty="0"/>
          </a:p>
        </p:txBody>
      </p:sp>
      <p:sp>
        <p:nvSpPr>
          <p:cNvPr id="17" name="Box checker.check_steps() merger.plan_merges()"/>
          <p:cNvSpPr/>
          <p:nvPr/>
        </p:nvSpPr>
        <p:spPr>
          <a:xfrm>
            <a:off x="3337560" y="3977640"/>
            <a:ext cx="2606040" cy="868680"/>
          </a:xfrm>
          <a:prstGeom prst="roundRect">
            <a:avLst>
              <a:gd name="adj" fmla="val 6316"/>
            </a:avLst>
          </a:prstGeom>
          <a:solidFill>
            <a:srgbClr val="EEF5EF"/>
          </a:solidFill>
          <a:ln w="15875">
            <a:solidFill>
              <a:srgbClr val="3E8E4F"/>
            </a:solidFill>
            <a:prstDash val="solid"/>
          </a:ln>
        </p:spPr>
      </p:sp>
      <p:sp>
        <p:nvSpPr>
          <p:cNvPr id="18" name="Text checker.check_steps() merger.plan_merges()"/>
          <p:cNvSpPr txBox="1"/>
          <p:nvPr/>
        </p:nvSpPr>
        <p:spPr>
          <a:xfrm>
            <a:off x="3429000" y="401421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checker.check_steps()</a:t>
            </a:r>
            <a:endParaRPr lang="en-US" sz="1100" dirty="0"/>
          </a:p>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merger.plan_merges()</a:t>
            </a:r>
            <a:endParaRPr lang="en-US" sz="1100" dirty="0"/>
          </a:p>
          <a:p>
            <a:pPr algn="ctr" indent="0" marL="0">
              <a:spcAft>
                <a:spcPts val="200"/>
              </a:spcAft>
              <a:buNone/>
            </a:pPr>
            <a:r>
              <a:rPr lang="en-US" sz="1000" dirty="0">
                <a:solidFill>
                  <a:srgbClr val="1B2B22"/>
                </a:solidFill>
              </a:rPr>
              <a:t>bind lines to steps</a:t>
            </a:r>
            <a:endParaRPr lang="en-US" sz="1100" dirty="0"/>
          </a:p>
        </p:txBody>
      </p:sp>
      <p:sp>
        <p:nvSpPr>
          <p:cNvPr id="19" name="Box ok / missing + stubs"/>
          <p:cNvSpPr/>
          <p:nvPr/>
        </p:nvSpPr>
        <p:spPr>
          <a:xfrm>
            <a:off x="3337560" y="5257800"/>
            <a:ext cx="2606040" cy="868680"/>
          </a:xfrm>
          <a:prstGeom prst="roundRect">
            <a:avLst>
              <a:gd name="adj" fmla="val 6316"/>
            </a:avLst>
          </a:prstGeom>
          <a:solidFill>
            <a:srgbClr val="D7E9D9"/>
          </a:solidFill>
          <a:ln w="15875">
            <a:solidFill>
              <a:srgbClr val="1F4D3A"/>
            </a:solidFill>
            <a:prstDash val="solid"/>
          </a:ln>
        </p:spPr>
      </p:sp>
      <p:sp>
        <p:nvSpPr>
          <p:cNvPr id="20" name="Text ok / missing + stubs"/>
          <p:cNvSpPr txBox="1"/>
          <p:nvPr/>
        </p:nvSpPr>
        <p:spPr>
          <a:xfrm>
            <a:off x="3429000" y="529437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ok / missing + stubs</a:t>
            </a:r>
            <a:endParaRPr lang="en-US" sz="1100" dirty="0"/>
          </a:p>
          <a:p>
            <a:pPr algn="ctr" indent="0" marL="0">
              <a:spcAft>
                <a:spcPts val="200"/>
              </a:spcAft>
              <a:buNone/>
            </a:pPr>
            <a:r>
              <a:rPr lang="en-US" sz="1000" dirty="0">
                <a:solidFill>
                  <a:srgbClr val="1B2B22"/>
                </a:solidFill>
              </a:rPr>
              <a:t>merge diff, --apply</a:t>
            </a:r>
            <a:endParaRPr lang="en-US" sz="1100" dirty="0"/>
          </a:p>
        </p:txBody>
      </p:sp>
      <p:sp>
        <p:nvSpPr>
          <p:cNvPr id="21" name="Box cucumber.json + artifacts/"/>
          <p:cNvSpPr/>
          <p:nvPr/>
        </p:nvSpPr>
        <p:spPr>
          <a:xfrm>
            <a:off x="6217920" y="1417320"/>
            <a:ext cx="2606040" cy="868680"/>
          </a:xfrm>
          <a:prstGeom prst="roundRect">
            <a:avLst>
              <a:gd name="adj" fmla="val 6316"/>
            </a:avLst>
          </a:prstGeom>
          <a:solidFill>
            <a:srgbClr val="FDF0D9"/>
          </a:solidFill>
          <a:ln w="15875">
            <a:solidFill>
              <a:srgbClr val="E39B2D"/>
            </a:solidFill>
            <a:prstDash val="solid"/>
          </a:ln>
        </p:spPr>
      </p:sp>
      <p:sp>
        <p:nvSpPr>
          <p:cNvPr id="22" name="Text cucumber.json + artifacts/"/>
          <p:cNvSpPr txBox="1"/>
          <p:nvPr/>
        </p:nvSpPr>
        <p:spPr>
          <a:xfrm>
            <a:off x="6309360" y="145389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cucumber.json + artifacts/</a:t>
            </a:r>
            <a:endParaRPr lang="en-US" sz="1100" dirty="0"/>
          </a:p>
          <a:p>
            <a:pPr algn="ctr" indent="0" marL="0">
              <a:spcAft>
                <a:spcPts val="200"/>
              </a:spcAft>
              <a:buNone/>
            </a:pPr>
            <a:r>
              <a:rPr lang="en-US" sz="1000" dirty="0">
                <a:solidFill>
                  <a:srgbClr val="1B2B22"/>
                </a:solidFill>
              </a:rPr>
              <a:t>written by pytest</a:t>
            </a:r>
            <a:endParaRPr lang="en-US" sz="1100" dirty="0"/>
          </a:p>
        </p:txBody>
      </p:sp>
      <p:sp>
        <p:nvSpPr>
          <p:cNvPr id="23" name="Box report.load_report()"/>
          <p:cNvSpPr/>
          <p:nvPr/>
        </p:nvSpPr>
        <p:spPr>
          <a:xfrm>
            <a:off x="6217920" y="2697480"/>
            <a:ext cx="2606040" cy="868680"/>
          </a:xfrm>
          <a:prstGeom prst="roundRect">
            <a:avLst>
              <a:gd name="adj" fmla="val 6316"/>
            </a:avLst>
          </a:prstGeom>
          <a:solidFill>
            <a:srgbClr val="EEF5EF"/>
          </a:solidFill>
          <a:ln w="15875">
            <a:solidFill>
              <a:srgbClr val="3E8E4F"/>
            </a:solidFill>
            <a:prstDash val="solid"/>
          </a:ln>
        </p:spPr>
      </p:sp>
      <p:sp>
        <p:nvSpPr>
          <p:cNvPr id="24" name="Text report.load_report()"/>
          <p:cNvSpPr txBox="1"/>
          <p:nvPr/>
        </p:nvSpPr>
        <p:spPr>
          <a:xfrm>
            <a:off x="6309360" y="273405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report.load_report()</a:t>
            </a:r>
            <a:endParaRPr lang="en-US" sz="1100" dirty="0"/>
          </a:p>
          <a:p>
            <a:pPr algn="ctr" indent="0" marL="0">
              <a:spcAft>
                <a:spcPts val="200"/>
              </a:spcAft>
              <a:buNone/>
            </a:pPr>
            <a:r>
              <a:rPr lang="en-US" sz="1000" dirty="0">
                <a:solidFill>
                  <a:srgbClr val="1B2B22"/>
                </a:solidFill>
              </a:rPr>
              <a:t>features, scenarios, steps</a:t>
            </a:r>
            <a:endParaRPr lang="en-US" sz="1100" dirty="0"/>
          </a:p>
        </p:txBody>
      </p:sp>
      <p:sp>
        <p:nvSpPr>
          <p:cNvPr id="25" name="Box attach_artifacts() render_html()"/>
          <p:cNvSpPr/>
          <p:nvPr/>
        </p:nvSpPr>
        <p:spPr>
          <a:xfrm>
            <a:off x="6217920" y="3977640"/>
            <a:ext cx="2606040" cy="868680"/>
          </a:xfrm>
          <a:prstGeom prst="roundRect">
            <a:avLst>
              <a:gd name="adj" fmla="val 6316"/>
            </a:avLst>
          </a:prstGeom>
          <a:solidFill>
            <a:srgbClr val="EEF5EF"/>
          </a:solidFill>
          <a:ln w="15875">
            <a:solidFill>
              <a:srgbClr val="3E8E4F"/>
            </a:solidFill>
            <a:prstDash val="solid"/>
          </a:ln>
        </p:spPr>
      </p:sp>
      <p:sp>
        <p:nvSpPr>
          <p:cNvPr id="26" name="Text attach_artifacts() render_html()"/>
          <p:cNvSpPr txBox="1"/>
          <p:nvPr/>
        </p:nvSpPr>
        <p:spPr>
          <a:xfrm>
            <a:off x="6309360" y="401421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attach_artifacts()</a:t>
            </a:r>
            <a:endParaRPr lang="en-US" sz="1100" dirty="0"/>
          </a:p>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render_html()</a:t>
            </a:r>
            <a:endParaRPr lang="en-US" sz="1100" dirty="0"/>
          </a:p>
          <a:p>
            <a:pPr algn="ctr" indent="0" marL="0">
              <a:spcAft>
                <a:spcPts val="200"/>
              </a:spcAft>
              <a:buNone/>
            </a:pPr>
            <a:r>
              <a:rPr lang="en-US" sz="1000" dirty="0">
                <a:solidFill>
                  <a:srgbClr val="1B2B22"/>
                </a:solidFill>
              </a:rPr>
              <a:t>screenshots, traces</a:t>
            </a:r>
            <a:endParaRPr lang="en-US" sz="1100" dirty="0"/>
          </a:p>
        </p:txBody>
      </p:sp>
      <p:sp>
        <p:nvSpPr>
          <p:cNvPr id="27" name="Box report.html"/>
          <p:cNvSpPr/>
          <p:nvPr/>
        </p:nvSpPr>
        <p:spPr>
          <a:xfrm>
            <a:off x="6217920" y="5257800"/>
            <a:ext cx="2606040" cy="868680"/>
          </a:xfrm>
          <a:prstGeom prst="roundRect">
            <a:avLst>
              <a:gd name="adj" fmla="val 6316"/>
            </a:avLst>
          </a:prstGeom>
          <a:solidFill>
            <a:srgbClr val="D7E9D9"/>
          </a:solidFill>
          <a:ln w="15875">
            <a:solidFill>
              <a:srgbClr val="1F4D3A"/>
            </a:solidFill>
            <a:prstDash val="solid"/>
          </a:ln>
        </p:spPr>
      </p:sp>
      <p:sp>
        <p:nvSpPr>
          <p:cNvPr id="28" name="Text report.html"/>
          <p:cNvSpPr txBox="1"/>
          <p:nvPr/>
        </p:nvSpPr>
        <p:spPr>
          <a:xfrm>
            <a:off x="6309360" y="529437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report.html</a:t>
            </a:r>
            <a:endParaRPr lang="en-US" sz="1100" dirty="0"/>
          </a:p>
          <a:p>
            <a:pPr algn="ctr" indent="0" marL="0">
              <a:spcAft>
                <a:spcPts val="200"/>
              </a:spcAft>
              <a:buNone/>
            </a:pPr>
            <a:r>
              <a:rPr lang="en-US" sz="1000" dirty="0">
                <a:solidFill>
                  <a:srgbClr val="1B2B22"/>
                </a:solidFill>
              </a:rPr>
              <a:t>or the app’s Results tab</a:t>
            </a:r>
            <a:endParaRPr lang="en-US" sz="1100" dirty="0"/>
          </a:p>
        </p:txBody>
      </p:sp>
      <p:sp>
        <p:nvSpPr>
          <p:cNvPr id="29" name="Box ~/.gherkin-copilot/projects.json"/>
          <p:cNvSpPr/>
          <p:nvPr/>
        </p:nvSpPr>
        <p:spPr>
          <a:xfrm>
            <a:off x="9098280" y="1417320"/>
            <a:ext cx="2606040" cy="868680"/>
          </a:xfrm>
          <a:prstGeom prst="roundRect">
            <a:avLst>
              <a:gd name="adj" fmla="val 6316"/>
            </a:avLst>
          </a:prstGeom>
          <a:solidFill>
            <a:srgbClr val="FDF0D9"/>
          </a:solidFill>
          <a:ln w="15875">
            <a:solidFill>
              <a:srgbClr val="E39B2D"/>
            </a:solidFill>
            <a:prstDash val="solid"/>
          </a:ln>
        </p:spPr>
      </p:sp>
      <p:sp>
        <p:nvSpPr>
          <p:cNvPr id="30" name="Text ~/.gherkin-copilot/projects.json"/>
          <p:cNvSpPr txBox="1"/>
          <p:nvPr/>
        </p:nvSpPr>
        <p:spPr>
          <a:xfrm>
            <a:off x="9189720" y="145389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~/.gherkin-copilot/projects.json</a:t>
            </a:r>
            <a:endParaRPr lang="en-US" sz="1100" dirty="0"/>
          </a:p>
          <a:p>
            <a:pPr algn="ctr" indent="0" marL="0">
              <a:spcAft>
                <a:spcPts val="200"/>
              </a:spcAft>
              <a:buNone/>
            </a:pPr>
            <a:r>
              <a:rPr lang="en-US" sz="1000" dirty="0">
                <a:solidFill>
                  <a:srgbClr val="1B2B22"/>
                </a:solidFill>
              </a:rPr>
              <a:t>the app’s project list</a:t>
            </a:r>
            <a:endParaRPr lang="en-US" sz="1100" dirty="0"/>
          </a:p>
        </p:txBody>
      </p:sp>
      <p:sp>
        <p:nvSpPr>
          <p:cNvPr id="31" name="Box ui/server.py"/>
          <p:cNvSpPr/>
          <p:nvPr/>
        </p:nvSpPr>
        <p:spPr>
          <a:xfrm>
            <a:off x="9098280" y="2697480"/>
            <a:ext cx="2606040" cy="868680"/>
          </a:xfrm>
          <a:prstGeom prst="roundRect">
            <a:avLst>
              <a:gd name="adj" fmla="val 6316"/>
            </a:avLst>
          </a:prstGeom>
          <a:solidFill>
            <a:srgbClr val="EEF5EF"/>
          </a:solidFill>
          <a:ln w="15875">
            <a:solidFill>
              <a:srgbClr val="3E8E4F"/>
            </a:solidFill>
            <a:prstDash val="solid"/>
          </a:ln>
        </p:spPr>
      </p:sp>
      <p:sp>
        <p:nvSpPr>
          <p:cNvPr id="32" name="Text ui/server.py"/>
          <p:cNvSpPr txBox="1"/>
          <p:nvPr/>
        </p:nvSpPr>
        <p:spPr>
          <a:xfrm>
            <a:off x="9189720" y="273405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ui/server.py</a:t>
            </a:r>
            <a:endParaRPr lang="en-US" sz="1100" dirty="0"/>
          </a:p>
          <a:p>
            <a:pPr algn="ctr" indent="0" marL="0">
              <a:spcAft>
                <a:spcPts val="200"/>
              </a:spcAft>
              <a:buNone/>
            </a:pPr>
            <a:r>
              <a:rPr lang="en-US" sz="1000" dirty="0">
                <a:solidFill>
                  <a:srgbClr val="1B2B22"/>
                </a:solidFill>
              </a:rPr>
              <a:t>127.0.0.1 only</a:t>
            </a:r>
            <a:endParaRPr lang="en-US" sz="1100" dirty="0"/>
          </a:p>
        </p:txBody>
      </p:sp>
      <p:sp>
        <p:nvSpPr>
          <p:cNvPr id="33" name="Box builder · stepcode · editor · dupes · runner"/>
          <p:cNvSpPr/>
          <p:nvPr/>
        </p:nvSpPr>
        <p:spPr>
          <a:xfrm>
            <a:off x="9098280" y="3977640"/>
            <a:ext cx="2606040" cy="868680"/>
          </a:xfrm>
          <a:prstGeom prst="roundRect">
            <a:avLst>
              <a:gd name="adj" fmla="val 6316"/>
            </a:avLst>
          </a:prstGeom>
          <a:solidFill>
            <a:srgbClr val="EEF5EF"/>
          </a:solidFill>
          <a:ln w="15875">
            <a:solidFill>
              <a:srgbClr val="3E8E4F"/>
            </a:solidFill>
            <a:prstDash val="solid"/>
          </a:ln>
        </p:spPr>
      </p:sp>
      <p:sp>
        <p:nvSpPr>
          <p:cNvPr id="34" name="Text builder · stepcode · editor · dupes · runner"/>
          <p:cNvSpPr txBox="1"/>
          <p:nvPr/>
        </p:nvSpPr>
        <p:spPr>
          <a:xfrm>
            <a:off x="9189720" y="401421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builder · stepcode · editor · dupes · runner</a:t>
            </a:r>
            <a:endParaRPr lang="en-US" sz="1100" dirty="0"/>
          </a:p>
          <a:p>
            <a:pPr algn="ctr" indent="0" marL="0">
              <a:spcAft>
                <a:spcPts val="200"/>
              </a:spcAft>
              <a:buNone/>
            </a:pPr>
            <a:r>
              <a:rPr lang="en-US" sz="1000" dirty="0">
                <a:solidFill>
                  <a:srgbClr val="1B2B22"/>
                </a:solidFill>
              </a:rPr>
              <a:t>uses the core above</a:t>
            </a:r>
            <a:endParaRPr lang="en-US" sz="1100" dirty="0"/>
          </a:p>
        </p:txBody>
      </p:sp>
      <p:sp>
        <p:nvSpPr>
          <p:cNvPr id="35" name="Box saved files + history.jsonl"/>
          <p:cNvSpPr/>
          <p:nvPr/>
        </p:nvSpPr>
        <p:spPr>
          <a:xfrm>
            <a:off x="9098280" y="5257800"/>
            <a:ext cx="2606040" cy="868680"/>
          </a:xfrm>
          <a:prstGeom prst="roundRect">
            <a:avLst>
              <a:gd name="adj" fmla="val 6316"/>
            </a:avLst>
          </a:prstGeom>
          <a:solidFill>
            <a:srgbClr val="D7E9D9"/>
          </a:solidFill>
          <a:ln w="15875">
            <a:solidFill>
              <a:srgbClr val="1F4D3A"/>
            </a:solidFill>
            <a:prstDash val="solid"/>
          </a:ln>
        </p:spPr>
      </p:sp>
      <p:sp>
        <p:nvSpPr>
          <p:cNvPr id="36" name="Text saved files + history.jsonl"/>
          <p:cNvSpPr txBox="1"/>
          <p:nvPr/>
        </p:nvSpPr>
        <p:spPr>
          <a:xfrm>
            <a:off x="9189720" y="5294376"/>
            <a:ext cx="242316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saved files + history.jsonl</a:t>
            </a:r>
            <a:endParaRPr lang="en-US" sz="1100" dirty="0"/>
          </a:p>
          <a:p>
            <a:pPr algn="ctr" indent="0" marL="0">
              <a:spcAft>
                <a:spcPts val="200"/>
              </a:spcAft>
              <a:buNone/>
            </a:pPr>
            <a:r>
              <a:rPr lang="en-US" sz="1000" dirty="0">
                <a:solidFill>
                  <a:srgbClr val="1B2B22"/>
                </a:solidFill>
              </a:rPr>
              <a:t>after a confirmed preview</a:t>
            </a:r>
            <a:endParaRPr lang="en-US" sz="1100" dirty="0"/>
          </a:p>
        </p:txBody>
      </p:sp>
      <p:sp>
        <p:nvSpPr>
          <p:cNvPr id="37" name="Arrow"/>
          <p:cNvSpPr/>
          <p:nvPr/>
        </p:nvSpPr>
        <p:spPr>
          <a:xfrm>
            <a:off x="1760220" y="2286000"/>
            <a:ext cx="0" cy="411480"/>
          </a:xfrm>
          <a:prstGeom prst="line">
            <a:avLst/>
          </a:prstGeom>
          <a:noFill/>
          <a:ln w="19050">
            <a:solidFill>
              <a:srgbClr val="5F6F66"/>
            </a:solidFill>
            <a:prstDash val="solid"/>
            <a:tailEnd type="triangle"/>
          </a:ln>
        </p:spPr>
      </p:sp>
      <p:sp>
        <p:nvSpPr>
          <p:cNvPr id="38" name="Arrow"/>
          <p:cNvSpPr/>
          <p:nvPr/>
        </p:nvSpPr>
        <p:spPr>
          <a:xfrm>
            <a:off x="1760220" y="3566160"/>
            <a:ext cx="0" cy="411480"/>
          </a:xfrm>
          <a:prstGeom prst="line">
            <a:avLst/>
          </a:prstGeom>
          <a:noFill/>
          <a:ln w="19050">
            <a:solidFill>
              <a:srgbClr val="5F6F66"/>
            </a:solidFill>
            <a:prstDash val="solid"/>
            <a:tailEnd type="triangle"/>
          </a:ln>
        </p:spPr>
      </p:sp>
      <p:sp>
        <p:nvSpPr>
          <p:cNvPr id="39" name="Arrow"/>
          <p:cNvSpPr/>
          <p:nvPr/>
        </p:nvSpPr>
        <p:spPr>
          <a:xfrm>
            <a:off x="1760220" y="4846320"/>
            <a:ext cx="0" cy="411480"/>
          </a:xfrm>
          <a:prstGeom prst="line">
            <a:avLst/>
          </a:prstGeom>
          <a:noFill/>
          <a:ln w="19050">
            <a:solidFill>
              <a:srgbClr val="5F6F66"/>
            </a:solidFill>
            <a:prstDash val="solid"/>
            <a:tailEnd type="triangle"/>
          </a:ln>
        </p:spPr>
      </p:sp>
      <p:sp>
        <p:nvSpPr>
          <p:cNvPr id="40" name="Arrow"/>
          <p:cNvSpPr/>
          <p:nvPr/>
        </p:nvSpPr>
        <p:spPr>
          <a:xfrm>
            <a:off x="4640580" y="2286000"/>
            <a:ext cx="0" cy="411480"/>
          </a:xfrm>
          <a:prstGeom prst="line">
            <a:avLst/>
          </a:prstGeom>
          <a:noFill/>
          <a:ln w="19050">
            <a:solidFill>
              <a:srgbClr val="5F6F66"/>
            </a:solidFill>
            <a:prstDash val="solid"/>
            <a:tailEnd type="triangle"/>
          </a:ln>
        </p:spPr>
      </p:sp>
      <p:sp>
        <p:nvSpPr>
          <p:cNvPr id="41" name="Arrow"/>
          <p:cNvSpPr/>
          <p:nvPr/>
        </p:nvSpPr>
        <p:spPr>
          <a:xfrm>
            <a:off x="4640580" y="3566160"/>
            <a:ext cx="0" cy="411480"/>
          </a:xfrm>
          <a:prstGeom prst="line">
            <a:avLst/>
          </a:prstGeom>
          <a:noFill/>
          <a:ln w="19050">
            <a:solidFill>
              <a:srgbClr val="5F6F66"/>
            </a:solidFill>
            <a:prstDash val="solid"/>
            <a:tailEnd type="triangle"/>
          </a:ln>
        </p:spPr>
      </p:sp>
      <p:sp>
        <p:nvSpPr>
          <p:cNvPr id="42" name="Arrow"/>
          <p:cNvSpPr/>
          <p:nvPr/>
        </p:nvSpPr>
        <p:spPr>
          <a:xfrm>
            <a:off x="4640580" y="4846320"/>
            <a:ext cx="0" cy="411480"/>
          </a:xfrm>
          <a:prstGeom prst="line">
            <a:avLst/>
          </a:prstGeom>
          <a:noFill/>
          <a:ln w="19050">
            <a:solidFill>
              <a:srgbClr val="5F6F66"/>
            </a:solidFill>
            <a:prstDash val="solid"/>
            <a:tailEnd type="triangle"/>
          </a:ln>
        </p:spPr>
      </p:sp>
      <p:sp>
        <p:nvSpPr>
          <p:cNvPr id="43" name="Arrow"/>
          <p:cNvSpPr/>
          <p:nvPr/>
        </p:nvSpPr>
        <p:spPr>
          <a:xfrm>
            <a:off x="7520940" y="2286000"/>
            <a:ext cx="0" cy="411480"/>
          </a:xfrm>
          <a:prstGeom prst="line">
            <a:avLst/>
          </a:prstGeom>
          <a:noFill/>
          <a:ln w="19050">
            <a:solidFill>
              <a:srgbClr val="5F6F66"/>
            </a:solidFill>
            <a:prstDash val="solid"/>
            <a:tailEnd type="triangle"/>
          </a:ln>
        </p:spPr>
      </p:sp>
      <p:sp>
        <p:nvSpPr>
          <p:cNvPr id="44" name="Arrow"/>
          <p:cNvSpPr/>
          <p:nvPr/>
        </p:nvSpPr>
        <p:spPr>
          <a:xfrm>
            <a:off x="7520940" y="3566160"/>
            <a:ext cx="0" cy="411480"/>
          </a:xfrm>
          <a:prstGeom prst="line">
            <a:avLst/>
          </a:prstGeom>
          <a:noFill/>
          <a:ln w="19050">
            <a:solidFill>
              <a:srgbClr val="5F6F66"/>
            </a:solidFill>
            <a:prstDash val="solid"/>
            <a:tailEnd type="triangle"/>
          </a:ln>
        </p:spPr>
      </p:sp>
      <p:sp>
        <p:nvSpPr>
          <p:cNvPr id="45" name="Arrow"/>
          <p:cNvSpPr/>
          <p:nvPr/>
        </p:nvSpPr>
        <p:spPr>
          <a:xfrm>
            <a:off x="7520940" y="4846320"/>
            <a:ext cx="0" cy="411480"/>
          </a:xfrm>
          <a:prstGeom prst="line">
            <a:avLst/>
          </a:prstGeom>
          <a:noFill/>
          <a:ln w="19050">
            <a:solidFill>
              <a:srgbClr val="5F6F66"/>
            </a:solidFill>
            <a:prstDash val="solid"/>
            <a:tailEnd type="triangle"/>
          </a:ln>
        </p:spPr>
      </p:sp>
      <p:sp>
        <p:nvSpPr>
          <p:cNvPr id="46" name="Arrow"/>
          <p:cNvSpPr/>
          <p:nvPr/>
        </p:nvSpPr>
        <p:spPr>
          <a:xfrm>
            <a:off x="10401300" y="2286000"/>
            <a:ext cx="0" cy="411480"/>
          </a:xfrm>
          <a:prstGeom prst="line">
            <a:avLst/>
          </a:prstGeom>
          <a:noFill/>
          <a:ln w="19050">
            <a:solidFill>
              <a:srgbClr val="5F6F66"/>
            </a:solidFill>
            <a:prstDash val="solid"/>
            <a:tailEnd type="triangle"/>
          </a:ln>
        </p:spPr>
      </p:sp>
      <p:sp>
        <p:nvSpPr>
          <p:cNvPr id="47" name="Arrow"/>
          <p:cNvSpPr/>
          <p:nvPr/>
        </p:nvSpPr>
        <p:spPr>
          <a:xfrm>
            <a:off x="10401300" y="3566160"/>
            <a:ext cx="0" cy="411480"/>
          </a:xfrm>
          <a:prstGeom prst="line">
            <a:avLst/>
          </a:prstGeom>
          <a:noFill/>
          <a:ln w="19050">
            <a:solidFill>
              <a:srgbClr val="5F6F66"/>
            </a:solidFill>
            <a:prstDash val="solid"/>
            <a:tailEnd type="triangle"/>
          </a:ln>
        </p:spPr>
      </p:sp>
      <p:sp>
        <p:nvSpPr>
          <p:cNvPr id="48" name="Arrow"/>
          <p:cNvSpPr/>
          <p:nvPr/>
        </p:nvSpPr>
        <p:spPr>
          <a:xfrm>
            <a:off x="10401300" y="4846320"/>
            <a:ext cx="0" cy="411480"/>
          </a:xfrm>
          <a:prstGeom prst="line">
            <a:avLst/>
          </a:prstGeom>
          <a:noFill/>
          <a:ln w="19050">
            <a:solidFill>
              <a:srgbClr val="5F6F66"/>
            </a:solidFill>
            <a:prstDash val="solid"/>
            <a:tailEnd type="triangle"/>
          </a:ln>
        </p:spPr>
      </p:sp>
      <p:sp>
        <p:nvSpPr>
          <p:cNvPr id="49" name="Arrow"/>
          <p:cNvSpPr/>
          <p:nvPr/>
        </p:nvSpPr>
        <p:spPr>
          <a:xfrm>
            <a:off x="2542032" y="3566160"/>
            <a:ext cx="0" cy="201168"/>
          </a:xfrm>
          <a:prstGeom prst="line">
            <a:avLst/>
          </a:prstGeom>
          <a:noFill/>
          <a:ln w="19050">
            <a:solidFill>
              <a:srgbClr val="5F6F66"/>
            </a:solidFill>
            <a:prstDash val="solid"/>
          </a:ln>
        </p:spPr>
      </p:sp>
      <p:sp>
        <p:nvSpPr>
          <p:cNvPr id="50" name="Arrow"/>
          <p:cNvSpPr/>
          <p:nvPr/>
        </p:nvSpPr>
        <p:spPr>
          <a:xfrm>
            <a:off x="2542032" y="3767328"/>
            <a:ext cx="1316736" cy="0"/>
          </a:xfrm>
          <a:prstGeom prst="line">
            <a:avLst/>
          </a:prstGeom>
          <a:noFill/>
          <a:ln w="19050">
            <a:solidFill>
              <a:srgbClr val="5F6F66"/>
            </a:solidFill>
            <a:prstDash val="solid"/>
          </a:ln>
        </p:spPr>
      </p:sp>
      <p:sp>
        <p:nvSpPr>
          <p:cNvPr id="51" name="Arrow"/>
          <p:cNvSpPr/>
          <p:nvPr/>
        </p:nvSpPr>
        <p:spPr>
          <a:xfrm>
            <a:off x="3858768" y="3767328"/>
            <a:ext cx="0" cy="210312"/>
          </a:xfrm>
          <a:prstGeom prst="line">
            <a:avLst/>
          </a:prstGeom>
          <a:noFill/>
          <a:ln w="19050">
            <a:solidFill>
              <a:srgbClr val="5F6F66"/>
            </a:solidFill>
            <a:prstDash val="solid"/>
            <a:tailEnd type="triangle"/>
          </a:ln>
        </p:spPr>
      </p:sp>
      <p:sp>
        <p:nvSpPr>
          <p:cNvPr id="52" name="Text 49"/>
          <p:cNvSpPr txBox="1"/>
          <p:nvPr/>
        </p:nvSpPr>
        <p:spPr>
          <a:xfrm>
            <a:off x="2857500" y="3648456"/>
            <a:ext cx="68580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StepDefs</a:t>
            </a:r>
            <a:endParaRPr lang="en-US" sz="950" dirty="0"/>
          </a:p>
        </p:txBody>
      </p:sp>
      <p:sp>
        <p:nvSpPr>
          <p:cNvPr id="53" name="Arrow"/>
          <p:cNvSpPr/>
          <p:nvPr/>
        </p:nvSpPr>
        <p:spPr>
          <a:xfrm>
            <a:off x="3063240" y="4411980"/>
            <a:ext cx="274320" cy="0"/>
          </a:xfrm>
          <a:prstGeom prst="line">
            <a:avLst/>
          </a:prstGeom>
          <a:noFill/>
          <a:ln w="19050">
            <a:solidFill>
              <a:srgbClr val="5F6F66"/>
            </a:solidFill>
            <a:prstDash val="solid"/>
            <a:tailEnd type="triangle"/>
          </a:ln>
        </p:spPr>
      </p:sp>
      <p:sp>
        <p:nvSpPr>
          <p:cNvPr id="54" name="Legend File it reads"/>
          <p:cNvSpPr/>
          <p:nvPr/>
        </p:nvSpPr>
        <p:spPr>
          <a:xfrm>
            <a:off x="457200" y="6355080"/>
            <a:ext cx="384048" cy="274320"/>
          </a:xfrm>
          <a:prstGeom prst="roundRect">
            <a:avLst>
              <a:gd name="adj" fmla="val 16667"/>
            </a:avLst>
          </a:prstGeom>
          <a:solidFill>
            <a:srgbClr val="FDF0D9"/>
          </a:solidFill>
          <a:ln w="15875">
            <a:solidFill>
              <a:srgbClr val="E39B2D"/>
            </a:solidFill>
            <a:prstDash val="solid"/>
          </a:ln>
        </p:spPr>
      </p:sp>
      <p:sp>
        <p:nvSpPr>
          <p:cNvPr id="55" name="Text 52"/>
          <p:cNvSpPr txBox="1"/>
          <p:nvPr/>
        </p:nvSpPr>
        <p:spPr>
          <a:xfrm>
            <a:off x="932688" y="6355080"/>
            <a:ext cx="1691640" cy="274320"/>
          </a:xfrm>
          <a:prstGeom prst="rect">
            <a:avLst/>
          </a:prstGeom>
          <a:noFill/>
          <a:ln/>
        </p:spPr>
        <p:txBody>
          <a:bodyPr wrap="square" lIns="0" tIns="0" rIns="0" bIns="0" rtlCol="0" anchor="ctr"/>
          <a:lstStyle/>
          <a:p>
            <a:pPr indent="0" marL="0">
              <a:buNone/>
            </a:pPr>
            <a:r>
              <a:rPr lang="en-US" sz="1100" dirty="0">
                <a:solidFill>
                  <a:srgbClr val="5F6F66"/>
                </a:solidFill>
              </a:rPr>
              <a:t>File it reads</a:t>
            </a:r>
            <a:endParaRPr lang="en-US" sz="1100" dirty="0"/>
          </a:p>
        </p:txBody>
      </p:sp>
      <p:sp>
        <p:nvSpPr>
          <p:cNvPr id="56" name="Legend Function (file.py)"/>
          <p:cNvSpPr/>
          <p:nvPr/>
        </p:nvSpPr>
        <p:spPr>
          <a:xfrm>
            <a:off x="2697480" y="6355080"/>
            <a:ext cx="384048" cy="274320"/>
          </a:xfrm>
          <a:prstGeom prst="roundRect">
            <a:avLst>
              <a:gd name="adj" fmla="val 16667"/>
            </a:avLst>
          </a:prstGeom>
          <a:solidFill>
            <a:srgbClr val="EEF5EF"/>
          </a:solidFill>
          <a:ln w="15875">
            <a:solidFill>
              <a:srgbClr val="3E8E4F"/>
            </a:solidFill>
            <a:prstDash val="solid"/>
          </a:ln>
        </p:spPr>
      </p:sp>
      <p:sp>
        <p:nvSpPr>
          <p:cNvPr id="57" name="Text 54"/>
          <p:cNvSpPr txBox="1"/>
          <p:nvPr/>
        </p:nvSpPr>
        <p:spPr>
          <a:xfrm>
            <a:off x="3172968" y="6355080"/>
            <a:ext cx="1691640" cy="274320"/>
          </a:xfrm>
          <a:prstGeom prst="rect">
            <a:avLst/>
          </a:prstGeom>
          <a:noFill/>
          <a:ln/>
        </p:spPr>
        <p:txBody>
          <a:bodyPr wrap="square" lIns="0" tIns="0" rIns="0" bIns="0" rtlCol="0" anchor="ctr"/>
          <a:lstStyle/>
          <a:p>
            <a:pPr indent="0" marL="0">
              <a:buNone/>
            </a:pPr>
            <a:r>
              <a:rPr lang="en-US" sz="1100" dirty="0">
                <a:solidFill>
                  <a:srgbClr val="5F6F66"/>
                </a:solidFill>
              </a:rPr>
              <a:t>Function (file.py)</a:t>
            </a:r>
            <a:endParaRPr lang="en-US" sz="1100" dirty="0"/>
          </a:p>
        </p:txBody>
      </p:sp>
      <p:sp>
        <p:nvSpPr>
          <p:cNvPr id="58" name="Legend Decision"/>
          <p:cNvSpPr/>
          <p:nvPr/>
        </p:nvSpPr>
        <p:spPr>
          <a:xfrm>
            <a:off x="4937760" y="6355080"/>
            <a:ext cx="384048" cy="274320"/>
          </a:xfrm>
          <a:prstGeom prst="roundRect">
            <a:avLst>
              <a:gd name="adj" fmla="val 16667"/>
            </a:avLst>
          </a:prstGeom>
          <a:solidFill>
            <a:srgbClr val="FFFFFF"/>
          </a:solidFill>
          <a:ln w="15875">
            <a:solidFill>
              <a:srgbClr val="E39B2D"/>
            </a:solidFill>
            <a:prstDash val="dash"/>
          </a:ln>
        </p:spPr>
      </p:sp>
      <p:sp>
        <p:nvSpPr>
          <p:cNvPr id="59" name="Text 56"/>
          <p:cNvSpPr txBox="1"/>
          <p:nvPr/>
        </p:nvSpPr>
        <p:spPr>
          <a:xfrm>
            <a:off x="5413248" y="6355080"/>
            <a:ext cx="1691640" cy="274320"/>
          </a:xfrm>
          <a:prstGeom prst="rect">
            <a:avLst/>
          </a:prstGeom>
          <a:noFill/>
          <a:ln/>
        </p:spPr>
        <p:txBody>
          <a:bodyPr wrap="square" lIns="0" tIns="0" rIns="0" bIns="0" rtlCol="0" anchor="ctr"/>
          <a:lstStyle/>
          <a:p>
            <a:pPr indent="0" marL="0">
              <a:buNone/>
            </a:pPr>
            <a:r>
              <a:rPr lang="en-US" sz="1100" dirty="0">
                <a:solidFill>
                  <a:srgbClr val="5F6F66"/>
                </a:solidFill>
              </a:rPr>
              <a:t>Decision</a:t>
            </a:r>
            <a:endParaRPr lang="en-US" sz="1100" dirty="0"/>
          </a:p>
        </p:txBody>
      </p:sp>
      <p:sp>
        <p:nvSpPr>
          <p:cNvPr id="60" name="Legend What it produces"/>
          <p:cNvSpPr/>
          <p:nvPr/>
        </p:nvSpPr>
        <p:spPr>
          <a:xfrm>
            <a:off x="7178040" y="6355080"/>
            <a:ext cx="384048" cy="274320"/>
          </a:xfrm>
          <a:prstGeom prst="roundRect">
            <a:avLst>
              <a:gd name="adj" fmla="val 16667"/>
            </a:avLst>
          </a:prstGeom>
          <a:solidFill>
            <a:srgbClr val="D7E9D9"/>
          </a:solidFill>
          <a:ln w="15875">
            <a:solidFill>
              <a:srgbClr val="1F4D3A"/>
            </a:solidFill>
            <a:prstDash val="solid"/>
          </a:ln>
        </p:spPr>
      </p:sp>
      <p:sp>
        <p:nvSpPr>
          <p:cNvPr id="61" name="Text 58"/>
          <p:cNvSpPr txBox="1"/>
          <p:nvPr/>
        </p:nvSpPr>
        <p:spPr>
          <a:xfrm>
            <a:off x="7653528" y="6355080"/>
            <a:ext cx="1691640" cy="274320"/>
          </a:xfrm>
          <a:prstGeom prst="rect">
            <a:avLst/>
          </a:prstGeom>
          <a:noFill/>
          <a:ln/>
        </p:spPr>
        <p:txBody>
          <a:bodyPr wrap="square" lIns="0" tIns="0" rIns="0" bIns="0" rtlCol="0" anchor="ctr"/>
          <a:lstStyle/>
          <a:p>
            <a:pPr indent="0" marL="0">
              <a:buNone/>
            </a:pPr>
            <a:r>
              <a:rPr lang="en-US" sz="1100" dirty="0">
                <a:solidFill>
                  <a:srgbClr val="5F6F66"/>
                </a:solidFill>
              </a:rPr>
              <a:t>What it produces</a:t>
            </a:r>
            <a:endParaRPr lang="en-US" sz="1100" dirty="0"/>
          </a:p>
        </p:txBody>
      </p:sp>
      <p:sp>
        <p:nvSpPr>
          <p:cNvPr id="62" name="Legend pytest / browser"/>
          <p:cNvSpPr/>
          <p:nvPr/>
        </p:nvSpPr>
        <p:spPr>
          <a:xfrm>
            <a:off x="9418320" y="6355080"/>
            <a:ext cx="384048" cy="274320"/>
          </a:xfrm>
          <a:prstGeom prst="roundRect">
            <a:avLst>
              <a:gd name="adj" fmla="val 16667"/>
            </a:avLst>
          </a:prstGeom>
          <a:solidFill>
            <a:srgbClr val="E3EEF4"/>
          </a:solidFill>
          <a:ln w="15875">
            <a:solidFill>
              <a:srgbClr val="2C6E8F"/>
            </a:solidFill>
            <a:prstDash val="solid"/>
          </a:ln>
        </p:spPr>
      </p:sp>
      <p:sp>
        <p:nvSpPr>
          <p:cNvPr id="63" name="Text 60"/>
          <p:cNvSpPr txBox="1"/>
          <p:nvPr/>
        </p:nvSpPr>
        <p:spPr>
          <a:xfrm>
            <a:off x="9893808" y="6355080"/>
            <a:ext cx="1691640" cy="274320"/>
          </a:xfrm>
          <a:prstGeom prst="rect">
            <a:avLst/>
          </a:prstGeom>
          <a:noFill/>
          <a:ln/>
        </p:spPr>
        <p:txBody>
          <a:bodyPr wrap="square" lIns="0" tIns="0" rIns="0" bIns="0" rtlCol="0" anchor="ctr"/>
          <a:lstStyle/>
          <a:p>
            <a:pPr indent="0" marL="0">
              <a:buNone/>
            </a:pPr>
            <a:r>
              <a:rPr lang="en-US" sz="1100" dirty="0">
                <a:solidFill>
                  <a:srgbClr val="5F6F66"/>
                </a:solidFill>
              </a:rPr>
              <a:t>pytest / browser</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conftest.py, part 1: how pytest finds every step and scenario</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What happens when you type pytest, before any test runs.</a:t>
            </a:r>
            <a:endParaRPr lang="en-US" sz="1300" dirty="0"/>
          </a:p>
        </p:txBody>
      </p:sp>
      <p:sp>
        <p:nvSpPr>
          <p:cNvPr id="5" name="Box $ pytest demo"/>
          <p:cNvSpPr/>
          <p:nvPr/>
        </p:nvSpPr>
        <p:spPr>
          <a:xfrm>
            <a:off x="457200" y="1463040"/>
            <a:ext cx="1920240" cy="960120"/>
          </a:xfrm>
          <a:prstGeom prst="roundRect">
            <a:avLst>
              <a:gd name="adj" fmla="val 5714"/>
            </a:avLst>
          </a:prstGeom>
          <a:solidFill>
            <a:srgbClr val="E3EEF4"/>
          </a:solidFill>
          <a:ln w="15875">
            <a:solidFill>
              <a:srgbClr val="2C6E8F"/>
            </a:solidFill>
            <a:prstDash val="solid"/>
          </a:ln>
        </p:spPr>
      </p:sp>
      <p:sp>
        <p:nvSpPr>
          <p:cNvPr id="6" name="Text $ pytest demo"/>
          <p:cNvSpPr txBox="1"/>
          <p:nvPr/>
        </p:nvSpPr>
        <p:spPr>
          <a:xfrm>
            <a:off x="548640" y="1499616"/>
            <a:ext cx="173736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 pytest demo</a:t>
            </a:r>
            <a:endParaRPr lang="en-US" sz="1100" dirty="0"/>
          </a:p>
          <a:p>
            <a:pPr algn="ctr" indent="0" marL="0">
              <a:spcAft>
                <a:spcPts val="200"/>
              </a:spcAft>
              <a:buNone/>
            </a:pPr>
            <a:r>
              <a:rPr lang="en-US" sz="1000" dirty="0">
                <a:solidFill>
                  <a:srgbClr val="1B2B22"/>
                </a:solidFill>
              </a:rPr>
              <a:t>you, CI, run_demo.py or the app’s Run button</a:t>
            </a:r>
            <a:endParaRPr lang="en-US" sz="1100" dirty="0"/>
          </a:p>
        </p:txBody>
      </p:sp>
      <p:sp>
        <p:nvSpPr>
          <p:cNvPr id="7" name="Box pytest.ini"/>
          <p:cNvSpPr/>
          <p:nvPr/>
        </p:nvSpPr>
        <p:spPr>
          <a:xfrm>
            <a:off x="2743200" y="1463040"/>
            <a:ext cx="1920240" cy="960120"/>
          </a:xfrm>
          <a:prstGeom prst="roundRect">
            <a:avLst>
              <a:gd name="adj" fmla="val 5714"/>
            </a:avLst>
          </a:prstGeom>
          <a:solidFill>
            <a:srgbClr val="FDF0D9"/>
          </a:solidFill>
          <a:ln w="15875">
            <a:solidFill>
              <a:srgbClr val="E39B2D"/>
            </a:solidFill>
            <a:prstDash val="solid"/>
          </a:ln>
        </p:spPr>
      </p:sp>
      <p:sp>
        <p:nvSpPr>
          <p:cNvPr id="8" name="Text pytest.ini"/>
          <p:cNvSpPr txBox="1"/>
          <p:nvPr/>
        </p:nvSpPr>
        <p:spPr>
          <a:xfrm>
            <a:off x="2834640" y="1499616"/>
            <a:ext cx="173736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pytest.ini</a:t>
            </a:r>
            <a:endParaRPr lang="en-US" sz="1100" dirty="0"/>
          </a:p>
          <a:p>
            <a:pPr algn="ctr" indent="0" marL="0">
              <a:spcAft>
                <a:spcPts val="200"/>
              </a:spcAft>
              <a:buNone/>
            </a:pPr>
            <a:r>
              <a:rPr lang="en-US" sz="1000" dirty="0">
                <a:solidFill>
                  <a:srgbClr val="1B2B22"/>
                </a:solidFill>
              </a:rPr>
              <a:t>testpaths = tests</a:t>
            </a:r>
            <a:endParaRPr lang="en-US" sz="1100" dirty="0"/>
          </a:p>
          <a:p>
            <a:pPr algn="ctr" indent="0" marL="0">
              <a:spcAft>
                <a:spcPts val="200"/>
              </a:spcAft>
              <a:buNone/>
            </a:pPr>
            <a:r>
              <a:rPr lang="en-US" sz="1000" dirty="0">
                <a:solidFill>
                  <a:srgbClr val="1B2B22"/>
                </a:solidFill>
              </a:rPr>
              <a:t>bdd_features_base_dir = features</a:t>
            </a:r>
            <a:endParaRPr lang="en-US" sz="1100" dirty="0"/>
          </a:p>
        </p:txBody>
      </p:sp>
      <p:sp>
        <p:nvSpPr>
          <p:cNvPr id="9" name="Box conftest.py"/>
          <p:cNvSpPr/>
          <p:nvPr/>
        </p:nvSpPr>
        <p:spPr>
          <a:xfrm>
            <a:off x="5029200" y="1463040"/>
            <a:ext cx="1920240" cy="960120"/>
          </a:xfrm>
          <a:prstGeom prst="roundRect">
            <a:avLst>
              <a:gd name="adj" fmla="val 5714"/>
            </a:avLst>
          </a:prstGeom>
          <a:solidFill>
            <a:srgbClr val="EEF5EF"/>
          </a:solidFill>
          <a:ln w="15875">
            <a:solidFill>
              <a:srgbClr val="3E8E4F"/>
            </a:solidFill>
            <a:prstDash val="solid"/>
          </a:ln>
        </p:spPr>
      </p:sp>
      <p:sp>
        <p:nvSpPr>
          <p:cNvPr id="10" name="Text conftest.py"/>
          <p:cNvSpPr txBox="1"/>
          <p:nvPr/>
        </p:nvSpPr>
        <p:spPr>
          <a:xfrm>
            <a:off x="5120640" y="1499616"/>
            <a:ext cx="173736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conftest.py</a:t>
            </a:r>
            <a:endParaRPr lang="en-US" sz="1100" dirty="0"/>
          </a:p>
          <a:p>
            <a:pPr algn="ctr" indent="0" marL="0">
              <a:spcAft>
                <a:spcPts val="200"/>
              </a:spcAft>
              <a:buNone/>
            </a:pPr>
            <a:r>
              <a:rPr lang="en-US" sz="1000" dirty="0">
                <a:solidFill>
                  <a:srgbClr val="1B2B22"/>
                </a:solidFill>
              </a:rPr>
              <a:t>loaded automatically by pytest; adds demo/ to sys.path</a:t>
            </a:r>
            <a:endParaRPr lang="en-US" sz="1100" dirty="0"/>
          </a:p>
        </p:txBody>
      </p:sp>
      <p:sp>
        <p:nvSpPr>
          <p:cNvPr id="11" name="Box STEPS_DIR.glob(&quot;*.py&quot;)"/>
          <p:cNvSpPr/>
          <p:nvPr/>
        </p:nvSpPr>
        <p:spPr>
          <a:xfrm>
            <a:off x="7315200" y="1463040"/>
            <a:ext cx="1920240" cy="960120"/>
          </a:xfrm>
          <a:prstGeom prst="roundRect">
            <a:avLst>
              <a:gd name="adj" fmla="val 5714"/>
            </a:avLst>
          </a:prstGeom>
          <a:solidFill>
            <a:srgbClr val="EEF5EF"/>
          </a:solidFill>
          <a:ln w="15875">
            <a:solidFill>
              <a:srgbClr val="3E8E4F"/>
            </a:solidFill>
            <a:prstDash val="solid"/>
          </a:ln>
        </p:spPr>
      </p:sp>
      <p:sp>
        <p:nvSpPr>
          <p:cNvPr id="12" name="Text STEPS_DIR.glob(&quot;*.py&quot;)"/>
          <p:cNvSpPr txBox="1"/>
          <p:nvPr/>
        </p:nvSpPr>
        <p:spPr>
          <a:xfrm>
            <a:off x="7406640" y="1499616"/>
            <a:ext cx="1737360" cy="88696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STEPS_DIR.glob("*.py")</a:t>
            </a:r>
            <a:endParaRPr lang="en-US" sz="1100" dirty="0"/>
          </a:p>
          <a:p>
            <a:pPr algn="ctr" indent="0" marL="0">
              <a:spcAft>
                <a:spcPts val="200"/>
              </a:spcAft>
              <a:buNone/>
            </a:pPr>
            <a:r>
              <a:rPr lang="en-US" sz="1000" dirty="0">
                <a:solidFill>
                  <a:srgbClr val="1B2B22"/>
                </a:solidFill>
              </a:rPr>
              <a:t>every file in steps/, except __init__.py</a:t>
            </a:r>
            <a:endParaRPr lang="en-US" sz="1100" dirty="0"/>
          </a:p>
        </p:txBody>
      </p:sp>
      <p:sp>
        <p:nvSpPr>
          <p:cNvPr id="13" name="Box pytest_plugins"/>
          <p:cNvSpPr/>
          <p:nvPr/>
        </p:nvSpPr>
        <p:spPr>
          <a:xfrm>
            <a:off x="9601200" y="1463040"/>
            <a:ext cx="2286000" cy="960120"/>
          </a:xfrm>
          <a:prstGeom prst="roundRect">
            <a:avLst>
              <a:gd name="adj" fmla="val 5714"/>
            </a:avLst>
          </a:prstGeom>
          <a:solidFill>
            <a:srgbClr val="EEF5EF"/>
          </a:solidFill>
          <a:ln w="15875">
            <a:solidFill>
              <a:srgbClr val="3E8E4F"/>
            </a:solidFill>
            <a:prstDash val="solid"/>
          </a:ln>
        </p:spPr>
      </p:sp>
      <p:sp>
        <p:nvSpPr>
          <p:cNvPr id="14" name="Text pytest_plugins"/>
          <p:cNvSpPr txBox="1"/>
          <p:nvPr/>
        </p:nvSpPr>
        <p:spPr>
          <a:xfrm>
            <a:off x="9692640" y="1499616"/>
            <a:ext cx="210312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pytest_plugins</a:t>
            </a:r>
            <a:endParaRPr lang="en-US" sz="1100" dirty="0"/>
          </a:p>
          <a:p>
            <a:pPr algn="ctr" indent="0" marL="0">
              <a:spcAft>
                <a:spcPts val="200"/>
              </a:spcAft>
              <a:buNone/>
            </a:pPr>
            <a:r>
              <a:rPr lang="en-US" sz="1000" dirty="0">
                <a:solidFill>
                  <a:srgbClr val="1B2B22"/>
                </a:solidFill>
              </a:rPr>
              <a:t>["steps.cart_steps", "steps.login_steps", …]</a:t>
            </a:r>
            <a:endParaRPr lang="en-US" sz="1100" dirty="0"/>
          </a:p>
        </p:txBody>
      </p:sp>
      <p:sp>
        <p:nvSpPr>
          <p:cNvPr id="15" name="Arrow"/>
          <p:cNvSpPr/>
          <p:nvPr/>
        </p:nvSpPr>
        <p:spPr>
          <a:xfrm>
            <a:off x="2377440" y="1943100"/>
            <a:ext cx="365760" cy="0"/>
          </a:xfrm>
          <a:prstGeom prst="line">
            <a:avLst/>
          </a:prstGeom>
          <a:noFill/>
          <a:ln w="19050">
            <a:solidFill>
              <a:srgbClr val="5F6F66"/>
            </a:solidFill>
            <a:prstDash val="solid"/>
            <a:tailEnd type="triangle"/>
          </a:ln>
        </p:spPr>
      </p:sp>
      <p:sp>
        <p:nvSpPr>
          <p:cNvPr id="16" name="Arrow"/>
          <p:cNvSpPr/>
          <p:nvPr/>
        </p:nvSpPr>
        <p:spPr>
          <a:xfrm>
            <a:off x="4663440" y="1943100"/>
            <a:ext cx="365760" cy="0"/>
          </a:xfrm>
          <a:prstGeom prst="line">
            <a:avLst/>
          </a:prstGeom>
          <a:noFill/>
          <a:ln w="19050">
            <a:solidFill>
              <a:srgbClr val="5F6F66"/>
            </a:solidFill>
            <a:prstDash val="solid"/>
            <a:tailEnd type="triangle"/>
          </a:ln>
        </p:spPr>
      </p:sp>
      <p:sp>
        <p:nvSpPr>
          <p:cNvPr id="17" name="Arrow"/>
          <p:cNvSpPr/>
          <p:nvPr/>
        </p:nvSpPr>
        <p:spPr>
          <a:xfrm>
            <a:off x="6949440" y="1943100"/>
            <a:ext cx="365760" cy="0"/>
          </a:xfrm>
          <a:prstGeom prst="line">
            <a:avLst/>
          </a:prstGeom>
          <a:noFill/>
          <a:ln w="19050">
            <a:solidFill>
              <a:srgbClr val="5F6F66"/>
            </a:solidFill>
            <a:prstDash val="solid"/>
            <a:tailEnd type="triangle"/>
          </a:ln>
        </p:spPr>
      </p:sp>
      <p:sp>
        <p:nvSpPr>
          <p:cNvPr id="18" name="Arrow"/>
          <p:cNvSpPr/>
          <p:nvPr/>
        </p:nvSpPr>
        <p:spPr>
          <a:xfrm>
            <a:off x="9235440" y="1943100"/>
            <a:ext cx="365760" cy="0"/>
          </a:xfrm>
          <a:prstGeom prst="line">
            <a:avLst/>
          </a:prstGeom>
          <a:noFill/>
          <a:ln w="19050">
            <a:solidFill>
              <a:srgbClr val="5F6F66"/>
            </a:solidFill>
            <a:prstDash val="solid"/>
            <a:tailEnd type="triangle"/>
          </a:ln>
        </p:spPr>
      </p:sp>
      <p:sp>
        <p:nvSpPr>
          <p:cNvPr id="19" name="Box one test per scenario"/>
          <p:cNvSpPr/>
          <p:nvPr/>
        </p:nvSpPr>
        <p:spPr>
          <a:xfrm>
            <a:off x="457200" y="3154680"/>
            <a:ext cx="1920240" cy="960120"/>
          </a:xfrm>
          <a:prstGeom prst="roundRect">
            <a:avLst>
              <a:gd name="adj" fmla="val 5714"/>
            </a:avLst>
          </a:prstGeom>
          <a:solidFill>
            <a:srgbClr val="D7E9D9"/>
          </a:solidFill>
          <a:ln w="15875">
            <a:solidFill>
              <a:srgbClr val="1F4D3A"/>
            </a:solidFill>
            <a:prstDash val="solid"/>
          </a:ln>
        </p:spPr>
      </p:sp>
      <p:sp>
        <p:nvSpPr>
          <p:cNvPr id="20" name="Text one test per scenario"/>
          <p:cNvSpPr txBox="1"/>
          <p:nvPr/>
        </p:nvSpPr>
        <p:spPr>
          <a:xfrm>
            <a:off x="548640" y="3191256"/>
            <a:ext cx="173736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one test per scenario</a:t>
            </a:r>
            <a:endParaRPr lang="en-US" sz="1100" dirty="0"/>
          </a:p>
          <a:p>
            <a:pPr algn="ctr" indent="0" marL="0">
              <a:spcAft>
                <a:spcPts val="200"/>
              </a:spcAft>
              <a:buNone/>
            </a:pPr>
            <a:r>
              <a:rPr lang="en-US" sz="1000" dirty="0">
                <a:solidFill>
                  <a:srgbClr val="1B2B22"/>
                </a:solidFill>
              </a:rPr>
              <a:t>test_add_two_products, test_standard_user_logs_in, …</a:t>
            </a:r>
            <a:endParaRPr lang="en-US" sz="1100" dirty="0"/>
          </a:p>
        </p:txBody>
      </p:sp>
      <p:sp>
        <p:nvSpPr>
          <p:cNvPr id="21" name="Box scenarios(&quot;.&quot;)"/>
          <p:cNvSpPr/>
          <p:nvPr/>
        </p:nvSpPr>
        <p:spPr>
          <a:xfrm>
            <a:off x="2743200" y="3154680"/>
            <a:ext cx="1920240" cy="960120"/>
          </a:xfrm>
          <a:prstGeom prst="roundRect">
            <a:avLst>
              <a:gd name="adj" fmla="val 5714"/>
            </a:avLst>
          </a:prstGeom>
          <a:solidFill>
            <a:srgbClr val="EEF5EF"/>
          </a:solidFill>
          <a:ln w="15875">
            <a:solidFill>
              <a:srgbClr val="3E8E4F"/>
            </a:solidFill>
            <a:prstDash val="solid"/>
          </a:ln>
        </p:spPr>
      </p:sp>
      <p:sp>
        <p:nvSpPr>
          <p:cNvPr id="22" name="Text scenarios(&quot;.&quot;)"/>
          <p:cNvSpPr txBox="1"/>
          <p:nvPr/>
        </p:nvSpPr>
        <p:spPr>
          <a:xfrm>
            <a:off x="2834640" y="3191256"/>
            <a:ext cx="173736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scenarios(".")</a:t>
            </a:r>
            <a:endParaRPr lang="en-US" sz="1100" dirty="0"/>
          </a:p>
          <a:p>
            <a:pPr algn="ctr" indent="0" marL="0">
              <a:spcAft>
                <a:spcPts val="200"/>
              </a:spcAft>
              <a:buNone/>
            </a:pPr>
            <a:r>
              <a:rPr lang="en-US" sz="1000" dirty="0">
                <a:solidFill>
                  <a:srgbClr val="1B2B22"/>
                </a:solidFill>
              </a:rPr>
              <a:t>reads every .feature under features/, subfolders too</a:t>
            </a:r>
            <a:endParaRPr lang="en-US" sz="1100" dirty="0"/>
          </a:p>
        </p:txBody>
      </p:sp>
      <p:sp>
        <p:nvSpPr>
          <p:cNvPr id="23" name="Box tests/test_features.py"/>
          <p:cNvSpPr/>
          <p:nvPr/>
        </p:nvSpPr>
        <p:spPr>
          <a:xfrm>
            <a:off x="5029200" y="3154680"/>
            <a:ext cx="1920240" cy="960120"/>
          </a:xfrm>
          <a:prstGeom prst="roundRect">
            <a:avLst>
              <a:gd name="adj" fmla="val 5714"/>
            </a:avLst>
          </a:prstGeom>
          <a:solidFill>
            <a:srgbClr val="FDF0D9"/>
          </a:solidFill>
          <a:ln w="15875">
            <a:solidFill>
              <a:srgbClr val="E39B2D"/>
            </a:solidFill>
            <a:prstDash val="solid"/>
          </a:ln>
        </p:spPr>
      </p:sp>
      <p:sp>
        <p:nvSpPr>
          <p:cNvPr id="24" name="Text tests/test_features.py"/>
          <p:cNvSpPr txBox="1"/>
          <p:nvPr/>
        </p:nvSpPr>
        <p:spPr>
          <a:xfrm>
            <a:off x="5120640" y="3191256"/>
            <a:ext cx="1737360" cy="88696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tests/test_features.py</a:t>
            </a:r>
            <a:endParaRPr lang="en-US" sz="1100" dirty="0"/>
          </a:p>
          <a:p>
            <a:pPr algn="ctr" indent="0" marL="0">
              <a:spcAft>
                <a:spcPts val="200"/>
              </a:spcAft>
              <a:buNone/>
            </a:pPr>
            <a:r>
              <a:rPr lang="en-US" sz="1000" dirty="0">
                <a:solidFill>
                  <a:srgbClr val="1B2B22"/>
                </a:solidFill>
              </a:rPr>
              <a:t>collected because of testpaths = tests</a:t>
            </a:r>
            <a:endParaRPr lang="en-US" sz="1100" dirty="0"/>
          </a:p>
        </p:txBody>
      </p:sp>
      <p:sp>
        <p:nvSpPr>
          <p:cNvPr id="25" name="Box pytest-bdd step registry"/>
          <p:cNvSpPr/>
          <p:nvPr/>
        </p:nvSpPr>
        <p:spPr>
          <a:xfrm>
            <a:off x="7315200" y="3154680"/>
            <a:ext cx="1920240" cy="960120"/>
          </a:xfrm>
          <a:prstGeom prst="roundRect">
            <a:avLst>
              <a:gd name="adj" fmla="val 5714"/>
            </a:avLst>
          </a:prstGeom>
          <a:solidFill>
            <a:srgbClr val="E3EEF4"/>
          </a:solidFill>
          <a:ln w="15875">
            <a:solidFill>
              <a:srgbClr val="2C6E8F"/>
            </a:solidFill>
            <a:prstDash val="solid"/>
          </a:ln>
        </p:spPr>
      </p:sp>
      <p:sp>
        <p:nvSpPr>
          <p:cNvPr id="26" name="Text pytest-bdd step registry"/>
          <p:cNvSpPr txBox="1"/>
          <p:nvPr/>
        </p:nvSpPr>
        <p:spPr>
          <a:xfrm>
            <a:off x="7406640" y="3191256"/>
            <a:ext cx="173736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pytest-bdd step registry</a:t>
            </a:r>
            <a:endParaRPr lang="en-US" sz="1100" dirty="0"/>
          </a:p>
          <a:p>
            <a:pPr algn="ctr" indent="0" marL="0">
              <a:spcAft>
                <a:spcPts val="200"/>
              </a:spcAft>
              <a:buNone/>
            </a:pPr>
            <a:r>
              <a:rPr lang="en-US" sz="1000" dirty="0">
                <a:solidFill>
                  <a:srgbClr val="1B2B22"/>
                </a:solidFill>
              </a:rPr>
              <a:t>every step now available to every scenario</a:t>
            </a:r>
            <a:endParaRPr lang="en-US" sz="1100" dirty="0"/>
          </a:p>
        </p:txBody>
      </p:sp>
      <p:sp>
        <p:nvSpPr>
          <p:cNvPr id="27" name="Box import steps/*.py"/>
          <p:cNvSpPr/>
          <p:nvPr/>
        </p:nvSpPr>
        <p:spPr>
          <a:xfrm>
            <a:off x="9601200" y="3154680"/>
            <a:ext cx="2286000" cy="960120"/>
          </a:xfrm>
          <a:prstGeom prst="roundRect">
            <a:avLst>
              <a:gd name="adj" fmla="val 5714"/>
            </a:avLst>
          </a:prstGeom>
          <a:solidFill>
            <a:srgbClr val="EEF5EF"/>
          </a:solidFill>
          <a:ln w="15875">
            <a:solidFill>
              <a:srgbClr val="3E8E4F"/>
            </a:solidFill>
            <a:prstDash val="solid"/>
          </a:ln>
        </p:spPr>
      </p:sp>
      <p:sp>
        <p:nvSpPr>
          <p:cNvPr id="28" name="Text import steps/*.py"/>
          <p:cNvSpPr txBox="1"/>
          <p:nvPr/>
        </p:nvSpPr>
        <p:spPr>
          <a:xfrm>
            <a:off x="9692640" y="3191256"/>
            <a:ext cx="210312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import steps/*.py</a:t>
            </a:r>
            <a:endParaRPr lang="en-US" sz="1100" dirty="0"/>
          </a:p>
          <a:p>
            <a:pPr algn="ctr" indent="0" marL="0">
              <a:spcAft>
                <a:spcPts val="200"/>
              </a:spcAft>
              <a:buNone/>
            </a:pPr>
            <a:r>
              <a:rPr lang="en-US" sz="1000" dirty="0">
                <a:solidFill>
                  <a:srgbClr val="1B2B22"/>
                </a:solidFill>
              </a:rPr>
              <a:t>@given / @when / @then register each step as it loads</a:t>
            </a:r>
            <a:endParaRPr lang="en-US" sz="1100" dirty="0"/>
          </a:p>
        </p:txBody>
      </p:sp>
      <p:sp>
        <p:nvSpPr>
          <p:cNvPr id="29" name="Arrow"/>
          <p:cNvSpPr/>
          <p:nvPr/>
        </p:nvSpPr>
        <p:spPr>
          <a:xfrm>
            <a:off x="10744200" y="2423160"/>
            <a:ext cx="0" cy="731520"/>
          </a:xfrm>
          <a:prstGeom prst="line">
            <a:avLst/>
          </a:prstGeom>
          <a:noFill/>
          <a:ln w="19050">
            <a:solidFill>
              <a:srgbClr val="5F6F66"/>
            </a:solidFill>
            <a:prstDash val="solid"/>
            <a:tailEnd type="triangle"/>
          </a:ln>
        </p:spPr>
      </p:sp>
      <p:sp>
        <p:nvSpPr>
          <p:cNvPr id="30" name="Arrow"/>
          <p:cNvSpPr/>
          <p:nvPr/>
        </p:nvSpPr>
        <p:spPr>
          <a:xfrm flipH="1">
            <a:off x="9235440" y="3634740"/>
            <a:ext cx="365760" cy="0"/>
          </a:xfrm>
          <a:prstGeom prst="line">
            <a:avLst/>
          </a:prstGeom>
          <a:noFill/>
          <a:ln w="19050">
            <a:solidFill>
              <a:srgbClr val="5F6F66"/>
            </a:solidFill>
            <a:prstDash val="solid"/>
            <a:tailEnd type="triangle"/>
          </a:ln>
        </p:spPr>
      </p:sp>
      <p:sp>
        <p:nvSpPr>
          <p:cNvPr id="31" name="Arrow"/>
          <p:cNvSpPr/>
          <p:nvPr/>
        </p:nvSpPr>
        <p:spPr>
          <a:xfrm flipH="1">
            <a:off x="6949440" y="3634740"/>
            <a:ext cx="365760" cy="0"/>
          </a:xfrm>
          <a:prstGeom prst="line">
            <a:avLst/>
          </a:prstGeom>
          <a:noFill/>
          <a:ln w="19050">
            <a:solidFill>
              <a:srgbClr val="5F6F66"/>
            </a:solidFill>
            <a:prstDash val="solid"/>
            <a:tailEnd type="triangle"/>
          </a:ln>
        </p:spPr>
      </p:sp>
      <p:sp>
        <p:nvSpPr>
          <p:cNvPr id="32" name="Arrow"/>
          <p:cNvSpPr/>
          <p:nvPr/>
        </p:nvSpPr>
        <p:spPr>
          <a:xfrm flipH="1">
            <a:off x="4663440" y="3634740"/>
            <a:ext cx="365760" cy="0"/>
          </a:xfrm>
          <a:prstGeom prst="line">
            <a:avLst/>
          </a:prstGeom>
          <a:noFill/>
          <a:ln w="19050">
            <a:solidFill>
              <a:srgbClr val="5F6F66"/>
            </a:solidFill>
            <a:prstDash val="solid"/>
            <a:tailEnd type="triangle"/>
          </a:ln>
        </p:spPr>
      </p:sp>
      <p:sp>
        <p:nvSpPr>
          <p:cNvPr id="33" name="Arrow"/>
          <p:cNvSpPr/>
          <p:nvPr/>
        </p:nvSpPr>
        <p:spPr>
          <a:xfrm flipH="1">
            <a:off x="2377440" y="3634740"/>
            <a:ext cx="365760" cy="0"/>
          </a:xfrm>
          <a:prstGeom prst="line">
            <a:avLst/>
          </a:prstGeom>
          <a:noFill/>
          <a:ln w="19050">
            <a:solidFill>
              <a:srgbClr val="5F6F66"/>
            </a:solidFill>
            <a:prstDash val="solid"/>
            <a:tailEnd type="triangle"/>
          </a:ln>
        </p:spPr>
      </p:sp>
      <p:sp>
        <p:nvSpPr>
          <p:cNvPr id="34" name="Arrow"/>
          <p:cNvSpPr/>
          <p:nvPr/>
        </p:nvSpPr>
        <p:spPr>
          <a:xfrm>
            <a:off x="3703320" y="2423160"/>
            <a:ext cx="0" cy="365760"/>
          </a:xfrm>
          <a:prstGeom prst="line">
            <a:avLst/>
          </a:prstGeom>
          <a:noFill/>
          <a:ln w="19050">
            <a:solidFill>
              <a:srgbClr val="5F6F66"/>
            </a:solidFill>
            <a:prstDash val="solid"/>
          </a:ln>
        </p:spPr>
      </p:sp>
      <p:sp>
        <p:nvSpPr>
          <p:cNvPr id="35" name="Arrow"/>
          <p:cNvSpPr/>
          <p:nvPr/>
        </p:nvSpPr>
        <p:spPr>
          <a:xfrm>
            <a:off x="3703320" y="2788920"/>
            <a:ext cx="457200" cy="0"/>
          </a:xfrm>
          <a:prstGeom prst="line">
            <a:avLst/>
          </a:prstGeom>
          <a:noFill/>
          <a:ln w="19050">
            <a:solidFill>
              <a:srgbClr val="5F6F66"/>
            </a:solidFill>
            <a:prstDash val="solid"/>
          </a:ln>
        </p:spPr>
      </p:sp>
      <p:sp>
        <p:nvSpPr>
          <p:cNvPr id="36" name="Arrow"/>
          <p:cNvSpPr/>
          <p:nvPr/>
        </p:nvSpPr>
        <p:spPr>
          <a:xfrm>
            <a:off x="4160520" y="2788920"/>
            <a:ext cx="0" cy="365760"/>
          </a:xfrm>
          <a:prstGeom prst="line">
            <a:avLst/>
          </a:prstGeom>
          <a:noFill/>
          <a:ln w="19050">
            <a:solidFill>
              <a:srgbClr val="5F6F66"/>
            </a:solidFill>
            <a:prstDash val="solid"/>
            <a:tailEnd type="triangle"/>
          </a:ln>
        </p:spPr>
      </p:sp>
      <p:sp>
        <p:nvSpPr>
          <p:cNvPr id="37" name="Text 34"/>
          <p:cNvSpPr txBox="1"/>
          <p:nvPr/>
        </p:nvSpPr>
        <p:spPr>
          <a:xfrm>
            <a:off x="3771900" y="2487168"/>
            <a:ext cx="68580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features/</a:t>
            </a:r>
            <a:endParaRPr lang="en-US" sz="950" dirty="0"/>
          </a:p>
        </p:txBody>
      </p:sp>
      <p:sp>
        <p:nvSpPr>
          <p:cNvPr id="38" name="Conftest code bg"/>
          <p:cNvSpPr/>
          <p:nvPr/>
        </p:nvSpPr>
        <p:spPr>
          <a:xfrm>
            <a:off x="457200" y="4434840"/>
            <a:ext cx="6949440" cy="1097280"/>
          </a:xfrm>
          <a:prstGeom prst="roundRect">
            <a:avLst>
              <a:gd name="adj" fmla="val 5000"/>
            </a:avLst>
          </a:prstGeom>
          <a:solidFill>
            <a:srgbClr val="1B2B22"/>
          </a:solidFill>
          <a:ln/>
        </p:spPr>
      </p:sp>
      <p:sp>
        <p:nvSpPr>
          <p:cNvPr id="39" name="Conftest code"/>
          <p:cNvSpPr txBox="1"/>
          <p:nvPr/>
        </p:nvSpPr>
        <p:spPr>
          <a:xfrm>
            <a:off x="594360" y="4507992"/>
            <a:ext cx="6675120" cy="950976"/>
          </a:xfrm>
          <a:prstGeom prst="rect">
            <a:avLst/>
          </a:prstGeom>
          <a:noFill/>
          <a:ln/>
        </p:spPr>
        <p:txBody>
          <a:bodyPr wrap="square" lIns="0" tIns="0" rIns="0" bIns="0" rtlCol="0" anchor="ctr"/>
          <a:lstStyle/>
          <a:p>
            <a:pPr indent="0" marL="0">
              <a:buNone/>
            </a:pPr>
            <a:r>
              <a:rPr lang="en-US" sz="1000" dirty="0">
                <a:solidFill>
                  <a:srgbClr val="8A9A90"/>
                </a:solidFill>
                <a:latin typeface="Courier New" pitchFamily="34" charset="0"/>
                <a:ea typeface="Courier New" pitchFamily="34" charset="-122"/>
                <a:cs typeface="Courier New" pitchFamily="34" charset="-120"/>
              </a:rPr>
              <a:t># demo/conftest.py</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STEPS_DIR = Path(__file__).resolve().parent / "steps"</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pytest_plugins = [f"steps.{p.stem}" for p in sorted(STEPS_DIR.glob("*.py"))</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                  if p.stem != "__init__"]</a:t>
            </a:r>
            <a:endParaRPr lang="en-US" sz="1000" dirty="0"/>
          </a:p>
        </p:txBody>
      </p:sp>
      <p:sp>
        <p:nvSpPr>
          <p:cNvPr id="40" name="Scenarios code bg"/>
          <p:cNvSpPr/>
          <p:nvPr/>
        </p:nvSpPr>
        <p:spPr>
          <a:xfrm>
            <a:off x="7680960" y="4434840"/>
            <a:ext cx="4050792" cy="1097280"/>
          </a:xfrm>
          <a:prstGeom prst="roundRect">
            <a:avLst>
              <a:gd name="adj" fmla="val 5000"/>
            </a:avLst>
          </a:prstGeom>
          <a:solidFill>
            <a:srgbClr val="1B2B22"/>
          </a:solidFill>
          <a:ln/>
        </p:spPr>
      </p:sp>
      <p:sp>
        <p:nvSpPr>
          <p:cNvPr id="41" name="Scenarios code"/>
          <p:cNvSpPr txBox="1"/>
          <p:nvPr/>
        </p:nvSpPr>
        <p:spPr>
          <a:xfrm>
            <a:off x="7818120" y="4507992"/>
            <a:ext cx="3776472" cy="950976"/>
          </a:xfrm>
          <a:prstGeom prst="rect">
            <a:avLst/>
          </a:prstGeom>
          <a:noFill/>
          <a:ln/>
        </p:spPr>
        <p:txBody>
          <a:bodyPr wrap="square" lIns="0" tIns="0" rIns="0" bIns="0" rtlCol="0" anchor="ctr"/>
          <a:lstStyle/>
          <a:p>
            <a:pPr indent="0" marL="0">
              <a:buNone/>
            </a:pPr>
            <a:r>
              <a:rPr lang="en-US" sz="1000" dirty="0">
                <a:solidFill>
                  <a:srgbClr val="8A9A90"/>
                </a:solidFill>
                <a:latin typeface="Courier New" pitchFamily="34" charset="0"/>
                <a:ea typeface="Courier New" pitchFamily="34" charset="-122"/>
                <a:cs typeface="Courier New" pitchFamily="34" charset="-120"/>
              </a:rPr>
              <a:t># demo/tests/test_features.py</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from pytest_bdd import scenarios</a:t>
            </a:r>
            <a:endParaRPr lang="en-US" sz="1000" dirty="0"/>
          </a:p>
          <a:p>
            <a:pPr indent="0" marL="0">
              <a:buNone/>
            </a:pPr>
            <a:r>
              <a:rPr lang="en-US" sz="1000" dirty="0">
                <a:solidFill>
                  <a:srgbClr val="E6EDE8"/>
                </a:solidFill>
                <a:latin typeface="Courier New" pitchFamily="34" charset="0"/>
                <a:ea typeface="Courier New" pitchFamily="34" charset="-122"/>
                <a:cs typeface="Courier New" pitchFamily="34" charset="-120"/>
              </a:rPr>
              <a:t>scenarios(".")</a:t>
            </a:r>
            <a:endParaRPr lang="en-US" sz="1000" dirty="0"/>
          </a:p>
        </p:txBody>
      </p:sp>
      <p:sp>
        <p:nvSpPr>
          <p:cNvPr id="42" name="Box Why it matters"/>
          <p:cNvSpPr/>
          <p:nvPr/>
        </p:nvSpPr>
        <p:spPr>
          <a:xfrm>
            <a:off x="457200" y="5715000"/>
            <a:ext cx="11274552" cy="640080"/>
          </a:xfrm>
          <a:prstGeom prst="roundRect">
            <a:avLst>
              <a:gd name="adj" fmla="val 8571"/>
            </a:avLst>
          </a:prstGeom>
          <a:solidFill>
            <a:srgbClr val="F7F7F5"/>
          </a:solidFill>
          <a:ln w="15875">
            <a:solidFill>
              <a:srgbClr val="C9D0CB"/>
            </a:solidFill>
            <a:prstDash val="solid"/>
          </a:ln>
        </p:spPr>
      </p:sp>
      <p:sp>
        <p:nvSpPr>
          <p:cNvPr id="43" name="Text Why it matters"/>
          <p:cNvSpPr txBox="1"/>
          <p:nvPr/>
        </p:nvSpPr>
        <p:spPr>
          <a:xfrm>
            <a:off x="548640" y="5751576"/>
            <a:ext cx="11091672" cy="566928"/>
          </a:xfrm>
          <a:prstGeom prst="rect">
            <a:avLst/>
          </a:prstGeom>
          <a:noFill/>
          <a:ln/>
        </p:spPr>
        <p:txBody>
          <a:bodyPr wrap="square" lIns="0" tIns="0" rIns="0" bIns="0" rtlCol="0" anchor="ctr"/>
          <a:lstStyle/>
          <a:p>
            <a:pPr algn="l" indent="0" marL="0">
              <a:spcAft>
                <a:spcPts val="200"/>
              </a:spcAft>
              <a:buNone/>
            </a:pPr>
            <a:r>
              <a:rPr lang="en-US" sz="1100" b="1" dirty="0">
                <a:solidFill>
                  <a:srgbClr val="1F4D3A"/>
                </a:solidFill>
                <a:latin typeface="Calibri" pitchFamily="34" charset="0"/>
                <a:ea typeface="Calibri" pitchFamily="34" charset="-122"/>
                <a:cs typeface="Calibri" pitchFamily="34" charset="-120"/>
              </a:rPr>
              <a:t>Why it matters</a:t>
            </a:r>
            <a:endParaRPr lang="en-US" sz="1100" dirty="0"/>
          </a:p>
          <a:p>
            <a:pPr algn="l" indent="0" marL="0">
              <a:spcAft>
                <a:spcPts val="200"/>
              </a:spcAft>
              <a:buNone/>
            </a:pPr>
            <a:r>
              <a:rPr lang="en-US" sz="1000" dirty="0">
                <a:solidFill>
                  <a:srgbClr val="1B2B22"/>
                </a:solidFill>
              </a:rPr>
              <a:t>A new step file (for example one the app writes from action blocks) or a new .feature file needs no registration. Put it in the folder and the next run picks it up.</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conftest.py, part 2: what every test gets from its fixtures</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Fixtures are pytest’s way of handing ready-made things to a test. conftest.py defines two.</a:t>
            </a:r>
            <a:endParaRPr lang="en-US" sz="1300" dirty="0"/>
          </a:p>
        </p:txBody>
      </p:sp>
      <p:sp>
        <p:nvSpPr>
          <p:cNvPr id="5" name="Box app_url"/>
          <p:cNvSpPr/>
          <p:nvPr/>
        </p:nvSpPr>
        <p:spPr>
          <a:xfrm>
            <a:off x="457200" y="1417320"/>
            <a:ext cx="1920240" cy="777240"/>
          </a:xfrm>
          <a:prstGeom prst="roundRect">
            <a:avLst>
              <a:gd name="adj" fmla="val 7059"/>
            </a:avLst>
          </a:prstGeom>
          <a:solidFill>
            <a:srgbClr val="EEF5EF"/>
          </a:solidFill>
          <a:ln w="15875">
            <a:solidFill>
              <a:srgbClr val="3E8E4F"/>
            </a:solidFill>
            <a:prstDash val="solid"/>
          </a:ln>
        </p:spPr>
      </p:sp>
      <p:sp>
        <p:nvSpPr>
          <p:cNvPr id="6" name="Text app_url"/>
          <p:cNvSpPr txBox="1"/>
          <p:nvPr/>
        </p:nvSpPr>
        <p:spPr>
          <a:xfrm>
            <a:off x="548640" y="1453896"/>
            <a:ext cx="1737360" cy="7040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app_url</a:t>
            </a:r>
            <a:endParaRPr lang="en-US" sz="1100" dirty="0"/>
          </a:p>
          <a:p>
            <a:pPr algn="ctr" indent="0" marL="0">
              <a:spcAft>
                <a:spcPts val="200"/>
              </a:spcAft>
              <a:buNone/>
            </a:pPr>
            <a:r>
              <a:rPr lang="en-US" sz="1000" dirty="0">
                <a:solidFill>
                  <a:srgbClr val="1B2B22"/>
                </a:solidFill>
              </a:rPr>
              <a:t>fixture, once per session</a:t>
            </a:r>
            <a:endParaRPr lang="en-US" sz="1100" dirty="0"/>
          </a:p>
        </p:txBody>
      </p:sp>
      <p:sp>
        <p:nvSpPr>
          <p:cNvPr id="7" name="Box DEMO_BASE_URL set?"/>
          <p:cNvSpPr/>
          <p:nvPr/>
        </p:nvSpPr>
        <p:spPr>
          <a:xfrm>
            <a:off x="2834640" y="1417320"/>
            <a:ext cx="1920240" cy="777240"/>
          </a:xfrm>
          <a:prstGeom prst="roundRect">
            <a:avLst>
              <a:gd name="adj" fmla="val 7059"/>
            </a:avLst>
          </a:prstGeom>
          <a:solidFill>
            <a:srgbClr val="FFFFFF"/>
          </a:solidFill>
          <a:ln w="15875">
            <a:solidFill>
              <a:srgbClr val="E39B2D"/>
            </a:solidFill>
            <a:prstDash val="dash"/>
          </a:ln>
        </p:spPr>
      </p:sp>
      <p:sp>
        <p:nvSpPr>
          <p:cNvPr id="8" name="Text DEMO_BASE_URL set?"/>
          <p:cNvSpPr txBox="1"/>
          <p:nvPr/>
        </p:nvSpPr>
        <p:spPr>
          <a:xfrm>
            <a:off x="2926080" y="1453896"/>
            <a:ext cx="1737360" cy="70408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DEMO_BASE_URL set?</a:t>
            </a:r>
            <a:endParaRPr lang="en-US" sz="1100" dirty="0"/>
          </a:p>
        </p:txBody>
      </p:sp>
      <p:sp>
        <p:nvSpPr>
          <p:cNvPr id="9" name="Box use that address"/>
          <p:cNvSpPr/>
          <p:nvPr/>
        </p:nvSpPr>
        <p:spPr>
          <a:xfrm>
            <a:off x="5257800" y="1234440"/>
            <a:ext cx="2468880" cy="548640"/>
          </a:xfrm>
          <a:prstGeom prst="roundRect">
            <a:avLst>
              <a:gd name="adj" fmla="val 10000"/>
            </a:avLst>
          </a:prstGeom>
          <a:solidFill>
            <a:srgbClr val="FDF0D9"/>
          </a:solidFill>
          <a:ln w="15875">
            <a:solidFill>
              <a:srgbClr val="E39B2D"/>
            </a:solidFill>
            <a:prstDash val="solid"/>
          </a:ln>
        </p:spPr>
      </p:sp>
      <p:sp>
        <p:nvSpPr>
          <p:cNvPr id="10" name="Text use that address"/>
          <p:cNvSpPr txBox="1"/>
          <p:nvPr/>
        </p:nvSpPr>
        <p:spPr>
          <a:xfrm>
            <a:off x="5349240" y="1271016"/>
            <a:ext cx="2286000" cy="4754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use that address</a:t>
            </a:r>
            <a:endParaRPr lang="en-US" sz="1100" dirty="0"/>
          </a:p>
          <a:p>
            <a:pPr algn="ctr" indent="0" marL="0">
              <a:spcAft>
                <a:spcPts val="200"/>
              </a:spcAft>
              <a:buNone/>
            </a:pPr>
            <a:r>
              <a:rPr lang="en-US" sz="1000" dirty="0">
                <a:solidFill>
                  <a:srgbClr val="1B2B22"/>
                </a:solidFill>
              </a:rPr>
              <a:t>e.g. https://www.saucedemo.com</a:t>
            </a:r>
            <a:endParaRPr lang="en-US" sz="1100" dirty="0"/>
          </a:p>
        </p:txBody>
      </p:sp>
      <p:sp>
        <p:nvSpPr>
          <p:cNvPr id="11" name="Box server.start_in_background()"/>
          <p:cNvSpPr/>
          <p:nvPr/>
        </p:nvSpPr>
        <p:spPr>
          <a:xfrm>
            <a:off x="5257800" y="1920240"/>
            <a:ext cx="2468880" cy="640080"/>
          </a:xfrm>
          <a:prstGeom prst="roundRect">
            <a:avLst>
              <a:gd name="adj" fmla="val 8571"/>
            </a:avLst>
          </a:prstGeom>
          <a:solidFill>
            <a:srgbClr val="EEF5EF"/>
          </a:solidFill>
          <a:ln w="15875">
            <a:solidFill>
              <a:srgbClr val="3E8E4F"/>
            </a:solidFill>
            <a:prstDash val="solid"/>
          </a:ln>
        </p:spPr>
      </p:sp>
      <p:sp>
        <p:nvSpPr>
          <p:cNvPr id="12" name="Text server.start_in_background()"/>
          <p:cNvSpPr txBox="1"/>
          <p:nvPr/>
        </p:nvSpPr>
        <p:spPr>
          <a:xfrm>
            <a:off x="5349240" y="1956816"/>
            <a:ext cx="2286000" cy="56692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server.start_in_background()</a:t>
            </a:r>
            <a:endParaRPr lang="en-US" sz="1100" dirty="0"/>
          </a:p>
          <a:p>
            <a:pPr algn="ctr" indent="0" marL="0">
              <a:spcAft>
                <a:spcPts val="200"/>
              </a:spcAft>
              <a:buNone/>
            </a:pPr>
            <a:r>
              <a:rPr lang="en-US" sz="1000" dirty="0">
                <a:solidFill>
                  <a:srgbClr val="1B2B22"/>
                </a:solidFill>
              </a:rPr>
              <a:t>demo/app on 127.0.0.1, free port</a:t>
            </a:r>
            <a:endParaRPr lang="en-US" sz="1100" dirty="0"/>
          </a:p>
        </p:txBody>
      </p:sp>
      <p:sp>
        <p:nvSpPr>
          <p:cNvPr id="13" name="Arrow"/>
          <p:cNvSpPr/>
          <p:nvPr/>
        </p:nvSpPr>
        <p:spPr>
          <a:xfrm>
            <a:off x="2377440" y="1805940"/>
            <a:ext cx="457200" cy="0"/>
          </a:xfrm>
          <a:prstGeom prst="line">
            <a:avLst/>
          </a:prstGeom>
          <a:noFill/>
          <a:ln w="19050">
            <a:solidFill>
              <a:srgbClr val="5F6F66"/>
            </a:solidFill>
            <a:prstDash val="solid"/>
            <a:tailEnd type="triangle"/>
          </a:ln>
        </p:spPr>
      </p:sp>
      <p:sp>
        <p:nvSpPr>
          <p:cNvPr id="14" name="Arrow"/>
          <p:cNvSpPr/>
          <p:nvPr/>
        </p:nvSpPr>
        <p:spPr>
          <a:xfrm flipV="1">
            <a:off x="4754880" y="1508760"/>
            <a:ext cx="502920" cy="141732"/>
          </a:xfrm>
          <a:prstGeom prst="line">
            <a:avLst/>
          </a:prstGeom>
          <a:noFill/>
          <a:ln w="19050">
            <a:solidFill>
              <a:srgbClr val="5F6F66"/>
            </a:solidFill>
            <a:prstDash val="solid"/>
            <a:tailEnd type="triangle"/>
          </a:ln>
        </p:spPr>
      </p:sp>
      <p:sp>
        <p:nvSpPr>
          <p:cNvPr id="15" name="Text 12"/>
          <p:cNvSpPr txBox="1"/>
          <p:nvPr/>
        </p:nvSpPr>
        <p:spPr>
          <a:xfrm>
            <a:off x="4823460" y="1460754"/>
            <a:ext cx="36576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yes</a:t>
            </a:r>
            <a:endParaRPr lang="en-US" sz="950" dirty="0"/>
          </a:p>
        </p:txBody>
      </p:sp>
      <p:sp>
        <p:nvSpPr>
          <p:cNvPr id="16" name="Arrow"/>
          <p:cNvSpPr/>
          <p:nvPr/>
        </p:nvSpPr>
        <p:spPr>
          <a:xfrm>
            <a:off x="4754880" y="1961388"/>
            <a:ext cx="502920" cy="278892"/>
          </a:xfrm>
          <a:prstGeom prst="line">
            <a:avLst/>
          </a:prstGeom>
          <a:noFill/>
          <a:ln w="19050">
            <a:solidFill>
              <a:srgbClr val="5F6F66"/>
            </a:solidFill>
            <a:prstDash val="solid"/>
            <a:tailEnd type="triangle"/>
          </a:ln>
        </p:spPr>
      </p:sp>
      <p:sp>
        <p:nvSpPr>
          <p:cNvPr id="17" name="Text 14"/>
          <p:cNvSpPr txBox="1"/>
          <p:nvPr/>
        </p:nvSpPr>
        <p:spPr>
          <a:xfrm>
            <a:off x="4846320" y="1981962"/>
            <a:ext cx="32004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no</a:t>
            </a:r>
            <a:endParaRPr lang="en-US" sz="950" dirty="0"/>
          </a:p>
        </p:txBody>
      </p:sp>
      <p:sp>
        <p:nvSpPr>
          <p:cNvPr id="18" name="Box browser_type_launch_args"/>
          <p:cNvSpPr/>
          <p:nvPr/>
        </p:nvSpPr>
        <p:spPr>
          <a:xfrm>
            <a:off x="457200" y="3063240"/>
            <a:ext cx="1920240" cy="868680"/>
          </a:xfrm>
          <a:prstGeom prst="roundRect">
            <a:avLst>
              <a:gd name="adj" fmla="val 6316"/>
            </a:avLst>
          </a:prstGeom>
          <a:solidFill>
            <a:srgbClr val="EEF5EF"/>
          </a:solidFill>
          <a:ln w="15875">
            <a:solidFill>
              <a:srgbClr val="3E8E4F"/>
            </a:solidFill>
            <a:prstDash val="solid"/>
          </a:ln>
        </p:spPr>
      </p:sp>
      <p:sp>
        <p:nvSpPr>
          <p:cNvPr id="19" name="Text browser_type_launch_args"/>
          <p:cNvSpPr txBox="1"/>
          <p:nvPr/>
        </p:nvSpPr>
        <p:spPr>
          <a:xfrm>
            <a:off x="548640" y="3099816"/>
            <a:ext cx="1737360" cy="795528"/>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browser_type_launch_args</a:t>
            </a:r>
            <a:endParaRPr lang="en-US" sz="1100" dirty="0"/>
          </a:p>
          <a:p>
            <a:pPr algn="ctr" indent="0" marL="0">
              <a:spcAft>
                <a:spcPts val="200"/>
              </a:spcAft>
              <a:buNone/>
            </a:pPr>
            <a:r>
              <a:rPr lang="en-US" sz="1000" dirty="0">
                <a:solidFill>
                  <a:srgbClr val="1B2B22"/>
                </a:solidFill>
              </a:rPr>
              <a:t>fixture: which browser to start</a:t>
            </a:r>
            <a:endParaRPr lang="en-US" sz="1100" dirty="0"/>
          </a:p>
        </p:txBody>
      </p:sp>
      <p:sp>
        <p:nvSpPr>
          <p:cNvPr id="20" name="Box browser_path_from_env()"/>
          <p:cNvSpPr/>
          <p:nvPr/>
        </p:nvSpPr>
        <p:spPr>
          <a:xfrm>
            <a:off x="2834640" y="3063240"/>
            <a:ext cx="1920240" cy="868680"/>
          </a:xfrm>
          <a:prstGeom prst="roundRect">
            <a:avLst>
              <a:gd name="adj" fmla="val 6316"/>
            </a:avLst>
          </a:prstGeom>
          <a:solidFill>
            <a:srgbClr val="EEF5EF"/>
          </a:solidFill>
          <a:ln w="15875">
            <a:solidFill>
              <a:srgbClr val="3E8E4F"/>
            </a:solidFill>
            <a:prstDash val="solid"/>
          </a:ln>
        </p:spPr>
      </p:sp>
      <p:sp>
        <p:nvSpPr>
          <p:cNvPr id="21" name="Text browser_path_from_env()"/>
          <p:cNvSpPr txBox="1"/>
          <p:nvPr/>
        </p:nvSpPr>
        <p:spPr>
          <a:xfrm>
            <a:off x="2926080" y="3099816"/>
            <a:ext cx="1737360" cy="795528"/>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browser_path_from_env()</a:t>
            </a:r>
            <a:endParaRPr lang="en-US" sz="1100" dirty="0"/>
          </a:p>
          <a:p>
            <a:pPr algn="ctr" indent="0" marL="0">
              <a:spcAft>
                <a:spcPts val="200"/>
              </a:spcAft>
              <a:buNone/>
            </a:pPr>
            <a:r>
              <a:rPr lang="en-US" sz="1000" dirty="0">
                <a:solidFill>
                  <a:srgbClr val="1B2B22"/>
                </a:solidFill>
              </a:rPr>
              <a:t>demo/browsers.py</a:t>
            </a:r>
            <a:endParaRPr lang="en-US" sz="1100" dirty="0"/>
          </a:p>
        </p:txBody>
      </p:sp>
      <p:sp>
        <p:nvSpPr>
          <p:cNvPr id="22" name="Box DEMO_BROWSER_PATH → that file"/>
          <p:cNvSpPr/>
          <p:nvPr/>
        </p:nvSpPr>
        <p:spPr>
          <a:xfrm>
            <a:off x="5257800" y="2788920"/>
            <a:ext cx="2468880" cy="411480"/>
          </a:xfrm>
          <a:prstGeom prst="roundRect">
            <a:avLst>
              <a:gd name="adj" fmla="val 13333"/>
            </a:avLst>
          </a:prstGeom>
          <a:solidFill>
            <a:srgbClr val="FDF0D9"/>
          </a:solidFill>
          <a:ln w="15875">
            <a:solidFill>
              <a:srgbClr val="E39B2D"/>
            </a:solidFill>
            <a:prstDash val="solid"/>
          </a:ln>
        </p:spPr>
      </p:sp>
      <p:sp>
        <p:nvSpPr>
          <p:cNvPr id="23" name="Text DEMO_BROWSER_PATH → that file"/>
          <p:cNvSpPr txBox="1"/>
          <p:nvPr/>
        </p:nvSpPr>
        <p:spPr>
          <a:xfrm>
            <a:off x="5349240" y="2825496"/>
            <a:ext cx="2286000" cy="338328"/>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DEMO_BROWSER_PATH → that file</a:t>
            </a:r>
            <a:endParaRPr lang="en-US" sz="1100" dirty="0"/>
          </a:p>
        </p:txBody>
      </p:sp>
      <p:sp>
        <p:nvSpPr>
          <p:cNvPr id="24" name="Box DEMO_BROWSER=brave → find_brave()"/>
          <p:cNvSpPr/>
          <p:nvPr/>
        </p:nvSpPr>
        <p:spPr>
          <a:xfrm>
            <a:off x="5257800" y="3291840"/>
            <a:ext cx="2468880" cy="411480"/>
          </a:xfrm>
          <a:prstGeom prst="roundRect">
            <a:avLst>
              <a:gd name="adj" fmla="val 13333"/>
            </a:avLst>
          </a:prstGeom>
          <a:solidFill>
            <a:srgbClr val="FDF0D9"/>
          </a:solidFill>
          <a:ln w="15875">
            <a:solidFill>
              <a:srgbClr val="E39B2D"/>
            </a:solidFill>
            <a:prstDash val="solid"/>
          </a:ln>
        </p:spPr>
      </p:sp>
      <p:sp>
        <p:nvSpPr>
          <p:cNvPr id="25" name="Text DEMO_BROWSER=brave → find_brave()"/>
          <p:cNvSpPr txBox="1"/>
          <p:nvPr/>
        </p:nvSpPr>
        <p:spPr>
          <a:xfrm>
            <a:off x="5349240" y="3328416"/>
            <a:ext cx="2286000" cy="338328"/>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DEMO_BROWSER=brave → find_brave()</a:t>
            </a:r>
            <a:endParaRPr lang="en-US" sz="1100" dirty="0"/>
          </a:p>
        </p:txBody>
      </p:sp>
      <p:sp>
        <p:nvSpPr>
          <p:cNvPr id="26" name="Box neither → --browser-channel / Chromium"/>
          <p:cNvSpPr/>
          <p:nvPr/>
        </p:nvSpPr>
        <p:spPr>
          <a:xfrm>
            <a:off x="5257800" y="3794760"/>
            <a:ext cx="2468880" cy="411480"/>
          </a:xfrm>
          <a:prstGeom prst="roundRect">
            <a:avLst>
              <a:gd name="adj" fmla="val 13333"/>
            </a:avLst>
          </a:prstGeom>
          <a:solidFill>
            <a:srgbClr val="FDF0D9"/>
          </a:solidFill>
          <a:ln w="15875">
            <a:solidFill>
              <a:srgbClr val="E39B2D"/>
            </a:solidFill>
            <a:prstDash val="solid"/>
          </a:ln>
        </p:spPr>
      </p:sp>
      <p:sp>
        <p:nvSpPr>
          <p:cNvPr id="27" name="Text neither → --browser-channel / Chromium"/>
          <p:cNvSpPr txBox="1"/>
          <p:nvPr/>
        </p:nvSpPr>
        <p:spPr>
          <a:xfrm>
            <a:off x="5349240" y="3831336"/>
            <a:ext cx="2286000" cy="338328"/>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alibri" pitchFamily="34" charset="0"/>
                <a:ea typeface="Calibri" pitchFamily="34" charset="-122"/>
                <a:cs typeface="Calibri" pitchFamily="34" charset="-120"/>
              </a:rPr>
              <a:t>neither → --browser-channel / Chromium</a:t>
            </a:r>
            <a:endParaRPr lang="en-US" sz="1100" dirty="0"/>
          </a:p>
        </p:txBody>
      </p:sp>
      <p:sp>
        <p:nvSpPr>
          <p:cNvPr id="28" name="Arrow"/>
          <p:cNvSpPr/>
          <p:nvPr/>
        </p:nvSpPr>
        <p:spPr>
          <a:xfrm>
            <a:off x="2377440" y="3497580"/>
            <a:ext cx="457200" cy="0"/>
          </a:xfrm>
          <a:prstGeom prst="line">
            <a:avLst/>
          </a:prstGeom>
          <a:noFill/>
          <a:ln w="19050">
            <a:solidFill>
              <a:srgbClr val="5F6F66"/>
            </a:solidFill>
            <a:prstDash val="solid"/>
            <a:tailEnd type="triangle"/>
          </a:ln>
        </p:spPr>
      </p:sp>
      <p:sp>
        <p:nvSpPr>
          <p:cNvPr id="29" name="Arrow"/>
          <p:cNvSpPr/>
          <p:nvPr/>
        </p:nvSpPr>
        <p:spPr>
          <a:xfrm flipV="1">
            <a:off x="4754880" y="2994660"/>
            <a:ext cx="502920" cy="285750"/>
          </a:xfrm>
          <a:prstGeom prst="line">
            <a:avLst/>
          </a:prstGeom>
          <a:noFill/>
          <a:ln w="19050">
            <a:solidFill>
              <a:srgbClr val="5F6F66"/>
            </a:solidFill>
            <a:prstDash val="solid"/>
            <a:tailEnd type="triangle"/>
          </a:ln>
        </p:spPr>
      </p:sp>
      <p:sp>
        <p:nvSpPr>
          <p:cNvPr id="30" name="Arrow"/>
          <p:cNvSpPr/>
          <p:nvPr/>
        </p:nvSpPr>
        <p:spPr>
          <a:xfrm>
            <a:off x="4754880" y="3497580"/>
            <a:ext cx="502920" cy="0"/>
          </a:xfrm>
          <a:prstGeom prst="line">
            <a:avLst/>
          </a:prstGeom>
          <a:noFill/>
          <a:ln w="19050">
            <a:solidFill>
              <a:srgbClr val="5F6F66"/>
            </a:solidFill>
            <a:prstDash val="solid"/>
            <a:tailEnd type="triangle"/>
          </a:ln>
        </p:spPr>
      </p:sp>
      <p:sp>
        <p:nvSpPr>
          <p:cNvPr id="31" name="Arrow"/>
          <p:cNvSpPr/>
          <p:nvPr/>
        </p:nvSpPr>
        <p:spPr>
          <a:xfrm>
            <a:off x="4754880" y="3714750"/>
            <a:ext cx="502920" cy="285750"/>
          </a:xfrm>
          <a:prstGeom prst="line">
            <a:avLst/>
          </a:prstGeom>
          <a:noFill/>
          <a:ln w="19050">
            <a:solidFill>
              <a:srgbClr val="5F6F66"/>
            </a:solidFill>
            <a:prstDash val="solid"/>
            <a:tailEnd type="triangle"/>
          </a:ln>
        </p:spPr>
      </p:sp>
      <p:sp>
        <p:nvSpPr>
          <p:cNvPr id="32" name="Box pytest-playwright"/>
          <p:cNvSpPr/>
          <p:nvPr/>
        </p:nvSpPr>
        <p:spPr>
          <a:xfrm>
            <a:off x="8229600" y="3063240"/>
            <a:ext cx="1828800" cy="868680"/>
          </a:xfrm>
          <a:prstGeom prst="roundRect">
            <a:avLst>
              <a:gd name="adj" fmla="val 6316"/>
            </a:avLst>
          </a:prstGeom>
          <a:solidFill>
            <a:srgbClr val="E3EEF4"/>
          </a:solidFill>
          <a:ln w="15875">
            <a:solidFill>
              <a:srgbClr val="2C6E8F"/>
            </a:solidFill>
            <a:prstDash val="solid"/>
          </a:ln>
        </p:spPr>
      </p:sp>
      <p:sp>
        <p:nvSpPr>
          <p:cNvPr id="33" name="Text pytest-playwright"/>
          <p:cNvSpPr txBox="1"/>
          <p:nvPr/>
        </p:nvSpPr>
        <p:spPr>
          <a:xfrm>
            <a:off x="8321040" y="3099816"/>
            <a:ext cx="164592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pytest-playwright</a:t>
            </a:r>
            <a:endParaRPr lang="en-US" sz="1100" dirty="0"/>
          </a:p>
          <a:p>
            <a:pPr algn="ctr" indent="0" marL="0">
              <a:spcAft>
                <a:spcPts val="200"/>
              </a:spcAft>
              <a:buNone/>
            </a:pPr>
            <a:r>
              <a:rPr lang="en-US" sz="1000" dirty="0">
                <a:solidFill>
                  <a:srgbClr val="1B2B22"/>
                </a:solidFill>
              </a:rPr>
              <a:t>launches the browser, gives each test a fresh page</a:t>
            </a:r>
            <a:endParaRPr lang="en-US" sz="1100" dirty="0"/>
          </a:p>
        </p:txBody>
      </p:sp>
      <p:sp>
        <p:nvSpPr>
          <p:cNvPr id="34" name="Arrow"/>
          <p:cNvSpPr/>
          <p:nvPr/>
        </p:nvSpPr>
        <p:spPr>
          <a:xfrm>
            <a:off x="7726680" y="2994660"/>
            <a:ext cx="502920" cy="285750"/>
          </a:xfrm>
          <a:prstGeom prst="line">
            <a:avLst/>
          </a:prstGeom>
          <a:noFill/>
          <a:ln w="19050">
            <a:solidFill>
              <a:srgbClr val="5F6F66"/>
            </a:solidFill>
            <a:prstDash val="solid"/>
            <a:tailEnd type="triangle"/>
          </a:ln>
        </p:spPr>
      </p:sp>
      <p:sp>
        <p:nvSpPr>
          <p:cNvPr id="35" name="Arrow"/>
          <p:cNvSpPr/>
          <p:nvPr/>
        </p:nvSpPr>
        <p:spPr>
          <a:xfrm>
            <a:off x="7726680" y="3497580"/>
            <a:ext cx="502920" cy="0"/>
          </a:xfrm>
          <a:prstGeom prst="line">
            <a:avLst/>
          </a:prstGeom>
          <a:noFill/>
          <a:ln w="19050">
            <a:solidFill>
              <a:srgbClr val="5F6F66"/>
            </a:solidFill>
            <a:prstDash val="solid"/>
            <a:tailEnd type="triangle"/>
          </a:ln>
        </p:spPr>
      </p:sp>
      <p:sp>
        <p:nvSpPr>
          <p:cNvPr id="36" name="Arrow"/>
          <p:cNvSpPr/>
          <p:nvPr/>
        </p:nvSpPr>
        <p:spPr>
          <a:xfrm flipV="1">
            <a:off x="7726680" y="3714750"/>
            <a:ext cx="502920" cy="285750"/>
          </a:xfrm>
          <a:prstGeom prst="line">
            <a:avLst/>
          </a:prstGeom>
          <a:noFill/>
          <a:ln w="19050">
            <a:solidFill>
              <a:srgbClr val="5F6F66"/>
            </a:solidFill>
            <a:prstDash val="solid"/>
            <a:tailEnd type="triangle"/>
          </a:ln>
        </p:spPr>
      </p:sp>
      <p:sp>
        <p:nvSpPr>
          <p:cNvPr id="37" name="Box step function(page, app_url, …)"/>
          <p:cNvSpPr/>
          <p:nvPr/>
        </p:nvSpPr>
        <p:spPr>
          <a:xfrm>
            <a:off x="10332720" y="1417320"/>
            <a:ext cx="1399032" cy="2514600"/>
          </a:xfrm>
          <a:prstGeom prst="roundRect">
            <a:avLst>
              <a:gd name="adj" fmla="val 3922"/>
            </a:avLst>
          </a:prstGeom>
          <a:solidFill>
            <a:srgbClr val="EEF5EF"/>
          </a:solidFill>
          <a:ln w="15875">
            <a:solidFill>
              <a:srgbClr val="3E8E4F"/>
            </a:solidFill>
            <a:prstDash val="solid"/>
          </a:ln>
        </p:spPr>
      </p:sp>
      <p:sp>
        <p:nvSpPr>
          <p:cNvPr id="38" name="Text step function(page, app_url, …)"/>
          <p:cNvSpPr txBox="1"/>
          <p:nvPr/>
        </p:nvSpPr>
        <p:spPr>
          <a:xfrm>
            <a:off x="10424160" y="1453896"/>
            <a:ext cx="1216152" cy="244144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step function(page, app_url, …)</a:t>
            </a:r>
            <a:endParaRPr lang="en-US" sz="1100" dirty="0"/>
          </a:p>
          <a:p>
            <a:pPr algn="ctr" indent="0" marL="0">
              <a:spcAft>
                <a:spcPts val="200"/>
              </a:spcAft>
              <a:buNone/>
            </a:pPr>
            <a:r>
              <a:rPr lang="en-US" sz="1000" dirty="0">
                <a:solidFill>
                  <a:srgbClr val="1B2B22"/>
                </a:solidFill>
              </a:rPr>
              <a:t>e.g. logged_in_as(page, app_url, username)</a:t>
            </a:r>
            <a:endParaRPr lang="en-US" sz="1100" dirty="0"/>
          </a:p>
        </p:txBody>
      </p:sp>
      <p:sp>
        <p:nvSpPr>
          <p:cNvPr id="39" name="Arrow"/>
          <p:cNvSpPr/>
          <p:nvPr/>
        </p:nvSpPr>
        <p:spPr>
          <a:xfrm>
            <a:off x="7726680" y="1508760"/>
            <a:ext cx="2606040" cy="0"/>
          </a:xfrm>
          <a:prstGeom prst="line">
            <a:avLst/>
          </a:prstGeom>
          <a:noFill/>
          <a:ln w="19050">
            <a:solidFill>
              <a:srgbClr val="5F6F66"/>
            </a:solidFill>
            <a:prstDash val="solid"/>
            <a:tailEnd type="triangle"/>
          </a:ln>
        </p:spPr>
      </p:sp>
      <p:sp>
        <p:nvSpPr>
          <p:cNvPr id="40" name="Arrow"/>
          <p:cNvSpPr/>
          <p:nvPr/>
        </p:nvSpPr>
        <p:spPr>
          <a:xfrm>
            <a:off x="7726680" y="2240280"/>
            <a:ext cx="2606040" cy="0"/>
          </a:xfrm>
          <a:prstGeom prst="line">
            <a:avLst/>
          </a:prstGeom>
          <a:noFill/>
          <a:ln w="19050">
            <a:solidFill>
              <a:srgbClr val="5F6F66"/>
            </a:solidFill>
            <a:prstDash val="solid"/>
            <a:tailEnd type="triangle"/>
          </a:ln>
        </p:spPr>
      </p:sp>
      <p:sp>
        <p:nvSpPr>
          <p:cNvPr id="41" name="Arrow"/>
          <p:cNvSpPr/>
          <p:nvPr/>
        </p:nvSpPr>
        <p:spPr>
          <a:xfrm>
            <a:off x="10058400" y="3497580"/>
            <a:ext cx="274320" cy="0"/>
          </a:xfrm>
          <a:prstGeom prst="line">
            <a:avLst/>
          </a:prstGeom>
          <a:noFill/>
          <a:ln w="19050">
            <a:solidFill>
              <a:srgbClr val="5F6F66"/>
            </a:solidFill>
            <a:prstDash val="solid"/>
            <a:tailEnd type="triangle"/>
          </a:ln>
        </p:spPr>
      </p:sp>
      <p:sp>
        <p:nvSpPr>
          <p:cNvPr id="42" name="Box scenario line"/>
          <p:cNvSpPr/>
          <p:nvPr/>
        </p:nvSpPr>
        <p:spPr>
          <a:xfrm>
            <a:off x="457200" y="4892040"/>
            <a:ext cx="2377440" cy="868680"/>
          </a:xfrm>
          <a:prstGeom prst="roundRect">
            <a:avLst>
              <a:gd name="adj" fmla="val 6316"/>
            </a:avLst>
          </a:prstGeom>
          <a:solidFill>
            <a:srgbClr val="FDF0D9"/>
          </a:solidFill>
          <a:ln w="15875">
            <a:solidFill>
              <a:srgbClr val="E39B2D"/>
            </a:solidFill>
            <a:prstDash val="solid"/>
          </a:ln>
        </p:spPr>
      </p:sp>
      <p:sp>
        <p:nvSpPr>
          <p:cNvPr id="43" name="Text scenario line"/>
          <p:cNvSpPr txBox="1"/>
          <p:nvPr/>
        </p:nvSpPr>
        <p:spPr>
          <a:xfrm>
            <a:off x="548640" y="4928616"/>
            <a:ext cx="219456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scenario line</a:t>
            </a:r>
            <a:endParaRPr lang="en-US" sz="1100" dirty="0"/>
          </a:p>
          <a:p>
            <a:pPr algn="ctr" indent="0" marL="0">
              <a:spcAft>
                <a:spcPts val="200"/>
              </a:spcAft>
              <a:buNone/>
            </a:pPr>
            <a:r>
              <a:rPr lang="en-US" sz="1000" dirty="0">
                <a:solidFill>
                  <a:srgbClr val="1B2B22"/>
                </a:solidFill>
              </a:rPr>
              <a:t>Given I am logged in as "standard_user"</a:t>
            </a:r>
            <a:endParaRPr lang="en-US" sz="1100" dirty="0"/>
          </a:p>
        </p:txBody>
      </p:sp>
      <p:sp>
        <p:nvSpPr>
          <p:cNvPr id="44" name="Box pytest-bdd matches it"/>
          <p:cNvSpPr/>
          <p:nvPr/>
        </p:nvSpPr>
        <p:spPr>
          <a:xfrm>
            <a:off x="3246120" y="4892040"/>
            <a:ext cx="2377440" cy="868680"/>
          </a:xfrm>
          <a:prstGeom prst="roundRect">
            <a:avLst>
              <a:gd name="adj" fmla="val 6316"/>
            </a:avLst>
          </a:prstGeom>
          <a:solidFill>
            <a:srgbClr val="E3EEF4"/>
          </a:solidFill>
          <a:ln w="15875">
            <a:solidFill>
              <a:srgbClr val="2C6E8F"/>
            </a:solidFill>
            <a:prstDash val="solid"/>
          </a:ln>
        </p:spPr>
      </p:sp>
      <p:sp>
        <p:nvSpPr>
          <p:cNvPr id="45" name="Text pytest-bdd matches it"/>
          <p:cNvSpPr txBox="1"/>
          <p:nvPr/>
        </p:nvSpPr>
        <p:spPr>
          <a:xfrm>
            <a:off x="3337560" y="4928616"/>
            <a:ext cx="219456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pytest-bdd matches it</a:t>
            </a:r>
            <a:endParaRPr lang="en-US" sz="1100" dirty="0"/>
          </a:p>
          <a:p>
            <a:pPr algn="ctr" indent="0" marL="0">
              <a:spcAft>
                <a:spcPts val="200"/>
              </a:spcAft>
              <a:buNone/>
            </a:pPr>
            <a:r>
              <a:rPr lang="en-US" sz="1000" dirty="0">
                <a:solidFill>
                  <a:srgbClr val="1B2B22"/>
                </a:solidFill>
              </a:rPr>
              <a:t>to the one step whose pattern fits; values become arguments</a:t>
            </a:r>
            <a:endParaRPr lang="en-US" sz="1100" dirty="0"/>
          </a:p>
        </p:txBody>
      </p:sp>
      <p:sp>
        <p:nvSpPr>
          <p:cNvPr id="46" name="Box step runs Playwright"/>
          <p:cNvSpPr/>
          <p:nvPr/>
        </p:nvSpPr>
        <p:spPr>
          <a:xfrm>
            <a:off x="6035040" y="4892040"/>
            <a:ext cx="2377440" cy="868680"/>
          </a:xfrm>
          <a:prstGeom prst="roundRect">
            <a:avLst>
              <a:gd name="adj" fmla="val 6316"/>
            </a:avLst>
          </a:prstGeom>
          <a:solidFill>
            <a:srgbClr val="EEF5EF"/>
          </a:solidFill>
          <a:ln w="15875">
            <a:solidFill>
              <a:srgbClr val="3E8E4F"/>
            </a:solidFill>
            <a:prstDash val="solid"/>
          </a:ln>
        </p:spPr>
      </p:sp>
      <p:sp>
        <p:nvSpPr>
          <p:cNvPr id="47" name="Text step runs Playwright"/>
          <p:cNvSpPr txBox="1"/>
          <p:nvPr/>
        </p:nvSpPr>
        <p:spPr>
          <a:xfrm>
            <a:off x="6126480" y="4928616"/>
            <a:ext cx="219456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step runs Playwright</a:t>
            </a:r>
            <a:endParaRPr lang="en-US" sz="1100" dirty="0"/>
          </a:p>
          <a:p>
            <a:pPr algn="ctr" indent="0" marL="0">
              <a:spcAft>
                <a:spcPts val="200"/>
              </a:spcAft>
              <a:buNone/>
            </a:pPr>
            <a:r>
              <a:rPr lang="en-US" sz="1000" dirty="0">
                <a:solidFill>
                  <a:srgbClr val="1B2B22"/>
                </a:solidFill>
              </a:rPr>
              <a:t>page.goto(app_url), page.fill(…), expect(…)</a:t>
            </a:r>
            <a:endParaRPr lang="en-US" sz="1100" dirty="0"/>
          </a:p>
        </p:txBody>
      </p:sp>
      <p:sp>
        <p:nvSpPr>
          <p:cNvPr id="48" name="Box pass / fail per step"/>
          <p:cNvSpPr/>
          <p:nvPr/>
        </p:nvSpPr>
        <p:spPr>
          <a:xfrm>
            <a:off x="8823960" y="4892040"/>
            <a:ext cx="2907792" cy="868680"/>
          </a:xfrm>
          <a:prstGeom prst="roundRect">
            <a:avLst>
              <a:gd name="adj" fmla="val 6316"/>
            </a:avLst>
          </a:prstGeom>
          <a:solidFill>
            <a:srgbClr val="D7E9D9"/>
          </a:solidFill>
          <a:ln w="15875">
            <a:solidFill>
              <a:srgbClr val="1F4D3A"/>
            </a:solidFill>
            <a:prstDash val="solid"/>
          </a:ln>
        </p:spPr>
      </p:sp>
      <p:sp>
        <p:nvSpPr>
          <p:cNvPr id="49" name="Text pass / fail per step"/>
          <p:cNvSpPr txBox="1"/>
          <p:nvPr/>
        </p:nvSpPr>
        <p:spPr>
          <a:xfrm>
            <a:off x="8915400" y="4928616"/>
            <a:ext cx="2724912"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pass / fail per step</a:t>
            </a:r>
            <a:endParaRPr lang="en-US" sz="1100" dirty="0"/>
          </a:p>
          <a:p>
            <a:pPr algn="ctr" indent="0" marL="0">
              <a:spcAft>
                <a:spcPts val="200"/>
              </a:spcAft>
              <a:buNone/>
            </a:pPr>
            <a:r>
              <a:rPr lang="en-US" sz="1000" dirty="0">
                <a:solidFill>
                  <a:srgbClr val="1B2B22"/>
                </a:solidFill>
              </a:rPr>
              <a:t>--cucumberjson, screenshots, traces</a:t>
            </a:r>
            <a:endParaRPr lang="en-US" sz="1100" dirty="0"/>
          </a:p>
        </p:txBody>
      </p:sp>
      <p:sp>
        <p:nvSpPr>
          <p:cNvPr id="50" name="Arrow"/>
          <p:cNvSpPr/>
          <p:nvPr/>
        </p:nvSpPr>
        <p:spPr>
          <a:xfrm>
            <a:off x="2834640" y="5326380"/>
            <a:ext cx="411480" cy="0"/>
          </a:xfrm>
          <a:prstGeom prst="line">
            <a:avLst/>
          </a:prstGeom>
          <a:noFill/>
          <a:ln w="19050">
            <a:solidFill>
              <a:srgbClr val="5F6F66"/>
            </a:solidFill>
            <a:prstDash val="solid"/>
            <a:tailEnd type="triangle"/>
          </a:ln>
        </p:spPr>
      </p:sp>
      <p:sp>
        <p:nvSpPr>
          <p:cNvPr id="51" name="Arrow"/>
          <p:cNvSpPr/>
          <p:nvPr/>
        </p:nvSpPr>
        <p:spPr>
          <a:xfrm>
            <a:off x="5623560" y="5326380"/>
            <a:ext cx="411480" cy="0"/>
          </a:xfrm>
          <a:prstGeom prst="line">
            <a:avLst/>
          </a:prstGeom>
          <a:noFill/>
          <a:ln w="19050">
            <a:solidFill>
              <a:srgbClr val="5F6F66"/>
            </a:solidFill>
            <a:prstDash val="solid"/>
            <a:tailEnd type="triangle"/>
          </a:ln>
        </p:spPr>
      </p:sp>
      <p:sp>
        <p:nvSpPr>
          <p:cNvPr id="52" name="Arrow"/>
          <p:cNvSpPr/>
          <p:nvPr/>
        </p:nvSpPr>
        <p:spPr>
          <a:xfrm>
            <a:off x="8412480" y="5326380"/>
            <a:ext cx="411480" cy="0"/>
          </a:xfrm>
          <a:prstGeom prst="line">
            <a:avLst/>
          </a:prstGeom>
          <a:noFill/>
          <a:ln w="19050">
            <a:solidFill>
              <a:srgbClr val="5F6F66"/>
            </a:solidFill>
            <a:prstDash val="solid"/>
            <a:tailEnd type="triangle"/>
          </a:ln>
        </p:spPr>
      </p:sp>
      <p:sp>
        <p:nvSpPr>
          <p:cNvPr id="53" name="Arrow"/>
          <p:cNvSpPr/>
          <p:nvPr/>
        </p:nvSpPr>
        <p:spPr>
          <a:xfrm>
            <a:off x="11032236" y="3931920"/>
            <a:ext cx="0" cy="502920"/>
          </a:xfrm>
          <a:prstGeom prst="line">
            <a:avLst/>
          </a:prstGeom>
          <a:noFill/>
          <a:ln w="19050">
            <a:solidFill>
              <a:srgbClr val="5F6F66"/>
            </a:solidFill>
            <a:prstDash val="solid"/>
          </a:ln>
        </p:spPr>
      </p:sp>
      <p:sp>
        <p:nvSpPr>
          <p:cNvPr id="54" name="Arrow"/>
          <p:cNvSpPr/>
          <p:nvPr/>
        </p:nvSpPr>
        <p:spPr>
          <a:xfrm flipH="1">
            <a:off x="7223760" y="4434840"/>
            <a:ext cx="3808476" cy="0"/>
          </a:xfrm>
          <a:prstGeom prst="line">
            <a:avLst/>
          </a:prstGeom>
          <a:noFill/>
          <a:ln w="19050">
            <a:solidFill>
              <a:srgbClr val="5F6F66"/>
            </a:solidFill>
            <a:prstDash val="solid"/>
          </a:ln>
        </p:spPr>
      </p:sp>
      <p:sp>
        <p:nvSpPr>
          <p:cNvPr id="55" name="Arrow"/>
          <p:cNvSpPr/>
          <p:nvPr/>
        </p:nvSpPr>
        <p:spPr>
          <a:xfrm>
            <a:off x="7223760" y="4434840"/>
            <a:ext cx="0" cy="457200"/>
          </a:xfrm>
          <a:prstGeom prst="line">
            <a:avLst/>
          </a:prstGeom>
          <a:noFill/>
          <a:ln w="19050">
            <a:solidFill>
              <a:srgbClr val="5F6F66"/>
            </a:solidFill>
            <a:prstDash val="solid"/>
            <a:tailEnd type="triangle"/>
          </a:ln>
        </p:spPr>
      </p:sp>
      <p:sp>
        <p:nvSpPr>
          <p:cNvPr id="56" name="Text 53"/>
          <p:cNvSpPr txBox="1"/>
          <p:nvPr/>
        </p:nvSpPr>
        <p:spPr>
          <a:xfrm>
            <a:off x="8625078" y="4315968"/>
            <a:ext cx="100584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page + app_url</a:t>
            </a:r>
            <a:endParaRPr lang="en-US" sz="950" dirty="0"/>
          </a:p>
        </p:txBody>
      </p:sp>
      <p:sp>
        <p:nvSpPr>
          <p:cNvPr id="57" name="Box Run afterwards: "/>
          <p:cNvSpPr/>
          <p:nvPr/>
        </p:nvSpPr>
        <p:spPr>
          <a:xfrm>
            <a:off x="457200" y="5989320"/>
            <a:ext cx="5486400" cy="411480"/>
          </a:xfrm>
          <a:prstGeom prst="roundRect">
            <a:avLst>
              <a:gd name="adj" fmla="val 13333"/>
            </a:avLst>
          </a:prstGeom>
          <a:solidFill>
            <a:srgbClr val="F7F7F5"/>
          </a:solidFill>
          <a:ln w="15875">
            <a:solidFill>
              <a:srgbClr val="C9D0CB"/>
            </a:solidFill>
            <a:prstDash val="solid"/>
          </a:ln>
        </p:spPr>
      </p:sp>
      <p:sp>
        <p:nvSpPr>
          <p:cNvPr id="58" name="Text Run afterwards: "/>
          <p:cNvSpPr txBox="1"/>
          <p:nvPr/>
        </p:nvSpPr>
        <p:spPr>
          <a:xfrm>
            <a:off x="548640" y="6025896"/>
            <a:ext cx="5303520" cy="338328"/>
          </a:xfrm>
          <a:prstGeom prst="rect">
            <a:avLst/>
          </a:prstGeom>
          <a:noFill/>
          <a:ln/>
        </p:spPr>
        <p:txBody>
          <a:bodyPr wrap="square" lIns="0" tIns="0" rIns="0" bIns="0" rtlCol="0" anchor="ctr"/>
          <a:lstStyle/>
          <a:p>
            <a:pPr algn="l" indent="0" marL="0">
              <a:spcAft>
                <a:spcPts val="200"/>
              </a:spcAft>
              <a:buNone/>
            </a:pPr>
            <a:r>
              <a:rPr lang="en-US" sz="1000" b="1" dirty="0">
                <a:solidFill>
                  <a:srgbClr val="1F4D3A"/>
                </a:solidFill>
                <a:latin typeface="Calibri" pitchFamily="34" charset="0"/>
                <a:ea typeface="Calibri" pitchFamily="34" charset="-122"/>
                <a:cs typeface="Calibri" pitchFamily="34" charset="-120"/>
              </a:rPr>
              <a:t>Run afterwards: </a:t>
            </a:r>
            <a:endParaRPr lang="en-US" sz="1100" dirty="0"/>
          </a:p>
          <a:p>
            <a:pPr algn="l" indent="0" marL="0">
              <a:spcAft>
                <a:spcPts val="200"/>
              </a:spcAft>
              <a:buNone/>
            </a:pPr>
            <a:r>
              <a:rPr lang="en-US" sz="1000" dirty="0">
                <a:solidFill>
                  <a:srgbClr val="1B2B22"/>
                </a:solidFill>
              </a:rPr>
              <a:t>the app_url server is shut down when the session ends.</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index: where the step list comes from</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gherkin-copilot index demo  →  .gherkin-index.json</a:t>
            </a:r>
            <a:endParaRPr lang="en-US" sz="1300" dirty="0"/>
          </a:p>
        </p:txBody>
      </p:sp>
      <p:sp>
        <p:nvSpPr>
          <p:cNvPr id="5" name="Box $ gherkin-copilot index demo"/>
          <p:cNvSpPr/>
          <p:nvPr/>
        </p:nvSpPr>
        <p:spPr>
          <a:xfrm>
            <a:off x="457200" y="1417320"/>
            <a:ext cx="2011680" cy="914400"/>
          </a:xfrm>
          <a:prstGeom prst="roundRect">
            <a:avLst>
              <a:gd name="adj" fmla="val 6000"/>
            </a:avLst>
          </a:prstGeom>
          <a:solidFill>
            <a:srgbClr val="E3EEF4"/>
          </a:solidFill>
          <a:ln w="15875">
            <a:solidFill>
              <a:srgbClr val="2C6E8F"/>
            </a:solidFill>
            <a:prstDash val="solid"/>
          </a:ln>
        </p:spPr>
      </p:sp>
      <p:sp>
        <p:nvSpPr>
          <p:cNvPr id="6" name="Text $ gherkin-copilot index demo"/>
          <p:cNvSpPr txBox="1"/>
          <p:nvPr/>
        </p:nvSpPr>
        <p:spPr>
          <a:xfrm>
            <a:off x="548640" y="1453896"/>
            <a:ext cx="1828800" cy="84124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 gherkin-copilot index demo</a:t>
            </a:r>
            <a:endParaRPr lang="en-US" sz="1100" dirty="0"/>
          </a:p>
          <a:p>
            <a:pPr algn="ctr" indent="0" marL="0">
              <a:spcAft>
                <a:spcPts val="200"/>
              </a:spcAft>
              <a:buNone/>
            </a:pPr>
            <a:r>
              <a:rPr lang="en-US" sz="1000" dirty="0">
                <a:solidFill>
                  <a:srgbClr val="1B2B22"/>
                </a:solidFill>
              </a:rPr>
              <a:t>cli.cmd_index()</a:t>
            </a:r>
            <a:endParaRPr lang="en-US" sz="1100" dirty="0"/>
          </a:p>
        </p:txBody>
      </p:sp>
      <p:sp>
        <p:nvSpPr>
          <p:cNvPr id="7" name="Box build_index(root)"/>
          <p:cNvSpPr/>
          <p:nvPr/>
        </p:nvSpPr>
        <p:spPr>
          <a:xfrm>
            <a:off x="2743200" y="1417320"/>
            <a:ext cx="2011680" cy="914400"/>
          </a:xfrm>
          <a:prstGeom prst="roundRect">
            <a:avLst>
              <a:gd name="adj" fmla="val 6000"/>
            </a:avLst>
          </a:prstGeom>
          <a:solidFill>
            <a:srgbClr val="EEF5EF"/>
          </a:solidFill>
          <a:ln w="15875">
            <a:solidFill>
              <a:srgbClr val="3E8E4F"/>
            </a:solidFill>
            <a:prstDash val="solid"/>
          </a:ln>
        </p:spPr>
      </p:sp>
      <p:sp>
        <p:nvSpPr>
          <p:cNvPr id="8" name="Text build_index(root)"/>
          <p:cNvSpPr txBox="1"/>
          <p:nvPr/>
        </p:nvSpPr>
        <p:spPr>
          <a:xfrm>
            <a:off x="2834640" y="1453896"/>
            <a:ext cx="1828800"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build_index(root)</a:t>
            </a:r>
            <a:endParaRPr lang="en-US" sz="1100" dirty="0"/>
          </a:p>
          <a:p>
            <a:pPr algn="ctr" indent="0" marL="0">
              <a:spcAft>
                <a:spcPts val="200"/>
              </a:spcAft>
              <a:buNone/>
            </a:pPr>
            <a:r>
              <a:rPr lang="en-US" sz="1000" dirty="0">
                <a:solidFill>
                  <a:srgbClr val="1B2B22"/>
                </a:solidFill>
              </a:rPr>
              <a:t>indexer.py</a:t>
            </a:r>
            <a:endParaRPr lang="en-US" sz="1100" dirty="0"/>
          </a:p>
        </p:txBody>
      </p:sp>
      <p:sp>
        <p:nvSpPr>
          <p:cNvPr id="9" name="Box iter_python_files()"/>
          <p:cNvSpPr/>
          <p:nvPr/>
        </p:nvSpPr>
        <p:spPr>
          <a:xfrm>
            <a:off x="5029200" y="1417320"/>
            <a:ext cx="2194560" cy="914400"/>
          </a:xfrm>
          <a:prstGeom prst="roundRect">
            <a:avLst>
              <a:gd name="adj" fmla="val 6000"/>
            </a:avLst>
          </a:prstGeom>
          <a:solidFill>
            <a:srgbClr val="EEF5EF"/>
          </a:solidFill>
          <a:ln w="15875">
            <a:solidFill>
              <a:srgbClr val="3E8E4F"/>
            </a:solidFill>
            <a:prstDash val="solid"/>
          </a:ln>
        </p:spPr>
      </p:sp>
      <p:sp>
        <p:nvSpPr>
          <p:cNvPr id="10" name="Text iter_python_files()"/>
          <p:cNvSpPr txBox="1"/>
          <p:nvPr/>
        </p:nvSpPr>
        <p:spPr>
          <a:xfrm>
            <a:off x="5120640" y="1453896"/>
            <a:ext cx="2011680"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iter_python_files()</a:t>
            </a:r>
            <a:endParaRPr lang="en-US" sz="1100" dirty="0"/>
          </a:p>
          <a:p>
            <a:pPr algn="ctr" indent="0" marL="0">
              <a:spcAft>
                <a:spcPts val="200"/>
              </a:spcAft>
              <a:buNone/>
            </a:pPr>
            <a:r>
              <a:rPr lang="en-US" sz="1000" dirty="0">
                <a:solidFill>
                  <a:srgbClr val="1B2B22"/>
                </a:solidFill>
              </a:rPr>
              <a:t>rglob("*.py"), skips .venv, venv, build, dist, node_modules…</a:t>
            </a:r>
            <a:endParaRPr lang="en-US" sz="1100" dirty="0"/>
          </a:p>
        </p:txBody>
      </p:sp>
      <p:sp>
        <p:nvSpPr>
          <p:cNvPr id="11" name="Box steps/cart_steps.py steps/login_steps.py …"/>
          <p:cNvSpPr/>
          <p:nvPr/>
        </p:nvSpPr>
        <p:spPr>
          <a:xfrm>
            <a:off x="7498080" y="1417320"/>
            <a:ext cx="2011680" cy="914400"/>
          </a:xfrm>
          <a:prstGeom prst="roundRect">
            <a:avLst>
              <a:gd name="adj" fmla="val 6000"/>
            </a:avLst>
          </a:prstGeom>
          <a:solidFill>
            <a:srgbClr val="FDF0D9"/>
          </a:solidFill>
          <a:ln w="15875">
            <a:solidFill>
              <a:srgbClr val="E39B2D"/>
            </a:solidFill>
            <a:prstDash val="solid"/>
          </a:ln>
        </p:spPr>
      </p:sp>
      <p:sp>
        <p:nvSpPr>
          <p:cNvPr id="12" name="Text steps/cart_steps.py steps/login_steps.py …"/>
          <p:cNvSpPr txBox="1"/>
          <p:nvPr/>
        </p:nvSpPr>
        <p:spPr>
          <a:xfrm>
            <a:off x="7589520" y="1453896"/>
            <a:ext cx="1828800" cy="84124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steps/cart_steps.py</a:t>
            </a:r>
            <a:endParaRPr lang="en-US" sz="1100" dirty="0"/>
          </a:p>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steps/login_steps.py …</a:t>
            </a:r>
            <a:endParaRPr lang="en-US" sz="1100" dirty="0"/>
          </a:p>
        </p:txBody>
      </p:sp>
      <p:sp>
        <p:nvSpPr>
          <p:cNvPr id="13" name="Box index_file(path)"/>
          <p:cNvSpPr/>
          <p:nvPr/>
        </p:nvSpPr>
        <p:spPr>
          <a:xfrm>
            <a:off x="9784080" y="1417320"/>
            <a:ext cx="1947672" cy="914400"/>
          </a:xfrm>
          <a:prstGeom prst="roundRect">
            <a:avLst>
              <a:gd name="adj" fmla="val 6000"/>
            </a:avLst>
          </a:prstGeom>
          <a:solidFill>
            <a:srgbClr val="EEF5EF"/>
          </a:solidFill>
          <a:ln w="15875">
            <a:solidFill>
              <a:srgbClr val="3E8E4F"/>
            </a:solidFill>
            <a:prstDash val="solid"/>
          </a:ln>
        </p:spPr>
      </p:sp>
      <p:sp>
        <p:nvSpPr>
          <p:cNvPr id="14" name="Text index_file(path)"/>
          <p:cNvSpPr txBox="1"/>
          <p:nvPr/>
        </p:nvSpPr>
        <p:spPr>
          <a:xfrm>
            <a:off x="9875520" y="1453896"/>
            <a:ext cx="1764792"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index_file(path)</a:t>
            </a:r>
            <a:endParaRPr lang="en-US" sz="1100" dirty="0"/>
          </a:p>
          <a:p>
            <a:pPr algn="ctr" indent="0" marL="0">
              <a:spcAft>
                <a:spcPts val="200"/>
              </a:spcAft>
              <a:buNone/>
            </a:pPr>
            <a:r>
              <a:rPr lang="en-US" sz="1000" dirty="0">
                <a:solidFill>
                  <a:srgbClr val="1B2B22"/>
                </a:solidFill>
              </a:rPr>
              <a:t>ast.parse(): reads the code, never imports or runs it</a:t>
            </a:r>
            <a:endParaRPr lang="en-US" sz="1100" dirty="0"/>
          </a:p>
        </p:txBody>
      </p:sp>
      <p:sp>
        <p:nvSpPr>
          <p:cNvPr id="15" name="Arrow"/>
          <p:cNvSpPr/>
          <p:nvPr/>
        </p:nvSpPr>
        <p:spPr>
          <a:xfrm>
            <a:off x="2468880" y="1874520"/>
            <a:ext cx="274320" cy="0"/>
          </a:xfrm>
          <a:prstGeom prst="line">
            <a:avLst/>
          </a:prstGeom>
          <a:noFill/>
          <a:ln w="19050">
            <a:solidFill>
              <a:srgbClr val="5F6F66"/>
            </a:solidFill>
            <a:prstDash val="solid"/>
            <a:tailEnd type="triangle"/>
          </a:ln>
        </p:spPr>
      </p:sp>
      <p:sp>
        <p:nvSpPr>
          <p:cNvPr id="16" name="Arrow"/>
          <p:cNvSpPr/>
          <p:nvPr/>
        </p:nvSpPr>
        <p:spPr>
          <a:xfrm>
            <a:off x="4754880" y="1874520"/>
            <a:ext cx="274320" cy="0"/>
          </a:xfrm>
          <a:prstGeom prst="line">
            <a:avLst/>
          </a:prstGeom>
          <a:noFill/>
          <a:ln w="19050">
            <a:solidFill>
              <a:srgbClr val="5F6F66"/>
            </a:solidFill>
            <a:prstDash val="solid"/>
            <a:tailEnd type="triangle"/>
          </a:ln>
        </p:spPr>
      </p:sp>
      <p:sp>
        <p:nvSpPr>
          <p:cNvPr id="17" name="Arrow"/>
          <p:cNvSpPr/>
          <p:nvPr/>
        </p:nvSpPr>
        <p:spPr>
          <a:xfrm>
            <a:off x="7223760" y="1874520"/>
            <a:ext cx="274320" cy="0"/>
          </a:xfrm>
          <a:prstGeom prst="line">
            <a:avLst/>
          </a:prstGeom>
          <a:noFill/>
          <a:ln w="19050">
            <a:solidFill>
              <a:srgbClr val="5F6F66"/>
            </a:solidFill>
            <a:prstDash val="solid"/>
            <a:tailEnd type="triangle"/>
          </a:ln>
        </p:spPr>
      </p:sp>
      <p:sp>
        <p:nvSpPr>
          <p:cNvPr id="18" name="Arrow"/>
          <p:cNvSpPr/>
          <p:nvPr/>
        </p:nvSpPr>
        <p:spPr>
          <a:xfrm>
            <a:off x="9509760" y="1874520"/>
            <a:ext cx="274320" cy="0"/>
          </a:xfrm>
          <a:prstGeom prst="line">
            <a:avLst/>
          </a:prstGeom>
          <a:noFill/>
          <a:ln w="19050">
            <a:solidFill>
              <a:srgbClr val="5F6F66"/>
            </a:solidFill>
            <a:prstDash val="solid"/>
            <a:tailEnd type="triangle"/>
          </a:ln>
        </p:spPr>
      </p:sp>
      <p:sp>
        <p:nvSpPr>
          <p:cNvPr id="19" name="Box .gherkin-index.json"/>
          <p:cNvSpPr/>
          <p:nvPr/>
        </p:nvSpPr>
        <p:spPr>
          <a:xfrm>
            <a:off x="457200" y="2880360"/>
            <a:ext cx="2011680" cy="1005840"/>
          </a:xfrm>
          <a:prstGeom prst="roundRect">
            <a:avLst>
              <a:gd name="adj" fmla="val 5455"/>
            </a:avLst>
          </a:prstGeom>
          <a:solidFill>
            <a:srgbClr val="D7E9D9"/>
          </a:solidFill>
          <a:ln w="15875">
            <a:solidFill>
              <a:srgbClr val="1F4D3A"/>
            </a:solidFill>
            <a:prstDash val="solid"/>
          </a:ln>
        </p:spPr>
      </p:sp>
      <p:sp>
        <p:nvSpPr>
          <p:cNvPr id="20" name="Text .gherkin-index.json"/>
          <p:cNvSpPr txBox="1"/>
          <p:nvPr/>
        </p:nvSpPr>
        <p:spPr>
          <a:xfrm>
            <a:off x="548640" y="2916936"/>
            <a:ext cx="1828800" cy="93268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.gherkin-index.json</a:t>
            </a:r>
            <a:endParaRPr lang="en-US" sz="1100" dirty="0"/>
          </a:p>
          <a:p>
            <a:pPr algn="ctr" indent="0" marL="0">
              <a:spcAft>
                <a:spcPts val="200"/>
              </a:spcAft>
              <a:buNone/>
            </a:pPr>
            <a:r>
              <a:rPr lang="en-US" sz="1000" dirty="0">
                <a:solidFill>
                  <a:srgbClr val="1B2B22"/>
                </a:solidFill>
              </a:rPr>
              <a:t>save_index() writes plain JSON; the list is also printed (12 steps in the demo)</a:t>
            </a:r>
            <a:endParaRPr lang="en-US" sz="1100" dirty="0"/>
          </a:p>
        </p:txBody>
      </p:sp>
      <p:sp>
        <p:nvSpPr>
          <p:cNvPr id="21" name="Box StepDef(…)"/>
          <p:cNvSpPr/>
          <p:nvPr/>
        </p:nvSpPr>
        <p:spPr>
          <a:xfrm>
            <a:off x="2743200" y="2880360"/>
            <a:ext cx="2011680" cy="1005840"/>
          </a:xfrm>
          <a:prstGeom prst="roundRect">
            <a:avLst>
              <a:gd name="adj" fmla="val 5455"/>
            </a:avLst>
          </a:prstGeom>
          <a:solidFill>
            <a:srgbClr val="EEF5EF"/>
          </a:solidFill>
          <a:ln w="15875">
            <a:solidFill>
              <a:srgbClr val="3E8E4F"/>
            </a:solidFill>
            <a:prstDash val="solid"/>
          </a:ln>
        </p:spPr>
      </p:sp>
      <p:sp>
        <p:nvSpPr>
          <p:cNvPr id="22" name="Text StepDef(…)"/>
          <p:cNvSpPr txBox="1"/>
          <p:nvPr/>
        </p:nvSpPr>
        <p:spPr>
          <a:xfrm>
            <a:off x="2834640" y="2916936"/>
            <a:ext cx="1828800" cy="9326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StepDef(…)</a:t>
            </a:r>
            <a:endParaRPr lang="en-US" sz="1100" dirty="0"/>
          </a:p>
          <a:p>
            <a:pPr algn="ctr" indent="0" marL="0">
              <a:spcAft>
                <a:spcPts val="200"/>
              </a:spcAft>
              <a:buNone/>
            </a:pPr>
            <a:r>
              <a:rPr lang="en-US" sz="1000" dirty="0">
                <a:solidFill>
                  <a:srgbClr val="1B2B22"/>
                </a:solidFill>
              </a:rPr>
              <a:t>keyword, pattern, kind, function, file, line</a:t>
            </a:r>
            <a:endParaRPr lang="en-US" sz="1100" dirty="0"/>
          </a:p>
        </p:txBody>
      </p:sp>
      <p:sp>
        <p:nvSpPr>
          <p:cNvPr id="23" name="Box _pattern_from_arg()"/>
          <p:cNvSpPr/>
          <p:nvPr/>
        </p:nvSpPr>
        <p:spPr>
          <a:xfrm>
            <a:off x="5029200" y="2880360"/>
            <a:ext cx="2194560" cy="1005840"/>
          </a:xfrm>
          <a:prstGeom prst="roundRect">
            <a:avLst>
              <a:gd name="adj" fmla="val 5455"/>
            </a:avLst>
          </a:prstGeom>
          <a:solidFill>
            <a:srgbClr val="EEF5EF"/>
          </a:solidFill>
          <a:ln w="15875">
            <a:solidFill>
              <a:srgbClr val="3E8E4F"/>
            </a:solidFill>
            <a:prstDash val="solid"/>
          </a:ln>
        </p:spPr>
      </p:sp>
      <p:sp>
        <p:nvSpPr>
          <p:cNvPr id="24" name="Text _pattern_from_arg()"/>
          <p:cNvSpPr txBox="1"/>
          <p:nvPr/>
        </p:nvSpPr>
        <p:spPr>
          <a:xfrm>
            <a:off x="5120640" y="2916936"/>
            <a:ext cx="2011680" cy="9326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_pattern_from_arg()</a:t>
            </a:r>
            <a:endParaRPr lang="en-US" sz="1100" dirty="0"/>
          </a:p>
          <a:p>
            <a:pPr algn="ctr" indent="0" marL="0">
              <a:spcAft>
                <a:spcPts val="200"/>
              </a:spcAft>
              <a:buNone/>
            </a:pPr>
            <a:r>
              <a:rPr lang="en-US" sz="1000" dirty="0">
                <a:solidFill>
                  <a:srgbClr val="1B2B22"/>
                </a:solidFill>
              </a:rPr>
              <a:t>"text" → string</a:t>
            </a:r>
            <a:endParaRPr lang="en-US" sz="1100" dirty="0"/>
          </a:p>
          <a:p>
            <a:pPr algn="ctr" indent="0" marL="0">
              <a:spcAft>
                <a:spcPts val="200"/>
              </a:spcAft>
              <a:buNone/>
            </a:pPr>
            <a:r>
              <a:rPr lang="en-US" sz="1000" dirty="0">
                <a:solidFill>
                  <a:srgbClr val="1B2B22"/>
                </a:solidFill>
              </a:rPr>
              <a:t>parsers.parse/cfparse → parse</a:t>
            </a:r>
            <a:endParaRPr lang="en-US" sz="1100" dirty="0"/>
          </a:p>
          <a:p>
            <a:pPr algn="ctr" indent="0" marL="0">
              <a:spcAft>
                <a:spcPts val="200"/>
              </a:spcAft>
              <a:buNone/>
            </a:pPr>
            <a:r>
              <a:rPr lang="en-US" sz="1000" dirty="0">
                <a:solidFill>
                  <a:srgbClr val="1B2B22"/>
                </a:solidFill>
              </a:rPr>
              <a:t>parsers.re → regex</a:t>
            </a:r>
            <a:endParaRPr lang="en-US" sz="1100" dirty="0"/>
          </a:p>
        </p:txBody>
      </p:sp>
      <p:sp>
        <p:nvSpPr>
          <p:cNvPr id="25" name="Box decorator is given / when / then / step?"/>
          <p:cNvSpPr/>
          <p:nvPr/>
        </p:nvSpPr>
        <p:spPr>
          <a:xfrm>
            <a:off x="7498080" y="2880360"/>
            <a:ext cx="2011680" cy="1005840"/>
          </a:xfrm>
          <a:prstGeom prst="roundRect">
            <a:avLst>
              <a:gd name="adj" fmla="val 5455"/>
            </a:avLst>
          </a:prstGeom>
          <a:solidFill>
            <a:srgbClr val="FFFFFF"/>
          </a:solidFill>
          <a:ln w="15875">
            <a:solidFill>
              <a:srgbClr val="E39B2D"/>
            </a:solidFill>
            <a:prstDash val="dash"/>
          </a:ln>
        </p:spPr>
      </p:sp>
      <p:sp>
        <p:nvSpPr>
          <p:cNvPr id="26" name="Text decorator is given / when / then / step?"/>
          <p:cNvSpPr txBox="1"/>
          <p:nvPr/>
        </p:nvSpPr>
        <p:spPr>
          <a:xfrm>
            <a:off x="7589520" y="2916936"/>
            <a:ext cx="1828800" cy="9326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decorator is given / when / then / step?</a:t>
            </a:r>
            <a:endParaRPr lang="en-US" sz="1100" dirty="0"/>
          </a:p>
          <a:p>
            <a:pPr algn="ctr" indent="0" marL="0">
              <a:spcAft>
                <a:spcPts val="200"/>
              </a:spcAft>
              <a:buNone/>
            </a:pPr>
            <a:r>
              <a:rPr lang="en-US" sz="1000" dirty="0">
                <a:solidFill>
                  <a:srgbClr val="1B2B22"/>
                </a:solidFill>
              </a:rPr>
              <a:t>also pytest_bdd.given etc.</a:t>
            </a:r>
            <a:endParaRPr lang="en-US" sz="1100" dirty="0"/>
          </a:p>
        </p:txBody>
      </p:sp>
      <p:sp>
        <p:nvSpPr>
          <p:cNvPr id="27" name="Box ast.walk(tree)"/>
          <p:cNvSpPr/>
          <p:nvPr/>
        </p:nvSpPr>
        <p:spPr>
          <a:xfrm>
            <a:off x="9784080" y="2880360"/>
            <a:ext cx="1947672" cy="1005840"/>
          </a:xfrm>
          <a:prstGeom prst="roundRect">
            <a:avLst>
              <a:gd name="adj" fmla="val 5455"/>
            </a:avLst>
          </a:prstGeom>
          <a:solidFill>
            <a:srgbClr val="EEF5EF"/>
          </a:solidFill>
          <a:ln w="15875">
            <a:solidFill>
              <a:srgbClr val="3E8E4F"/>
            </a:solidFill>
            <a:prstDash val="solid"/>
          </a:ln>
        </p:spPr>
      </p:sp>
      <p:sp>
        <p:nvSpPr>
          <p:cNvPr id="28" name="Text ast.walk(tree)"/>
          <p:cNvSpPr txBox="1"/>
          <p:nvPr/>
        </p:nvSpPr>
        <p:spPr>
          <a:xfrm>
            <a:off x="9875520" y="2916936"/>
            <a:ext cx="1764792" cy="9326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ast.walk(tree)</a:t>
            </a:r>
            <a:endParaRPr lang="en-US" sz="1100" dirty="0"/>
          </a:p>
          <a:p>
            <a:pPr algn="ctr" indent="0" marL="0">
              <a:spcAft>
                <a:spcPts val="200"/>
              </a:spcAft>
              <a:buNone/>
            </a:pPr>
            <a:r>
              <a:rPr lang="en-US" sz="1000" dirty="0">
                <a:solidFill>
                  <a:srgbClr val="1B2B22"/>
                </a:solidFill>
              </a:rPr>
              <a:t>every FunctionDef and its decorator_list</a:t>
            </a:r>
            <a:endParaRPr lang="en-US" sz="1100" dirty="0"/>
          </a:p>
        </p:txBody>
      </p:sp>
      <p:sp>
        <p:nvSpPr>
          <p:cNvPr id="29" name="Arrow"/>
          <p:cNvSpPr/>
          <p:nvPr/>
        </p:nvSpPr>
        <p:spPr>
          <a:xfrm>
            <a:off x="10757916" y="2331720"/>
            <a:ext cx="0" cy="548640"/>
          </a:xfrm>
          <a:prstGeom prst="line">
            <a:avLst/>
          </a:prstGeom>
          <a:noFill/>
          <a:ln w="19050">
            <a:solidFill>
              <a:srgbClr val="5F6F66"/>
            </a:solidFill>
            <a:prstDash val="solid"/>
            <a:tailEnd type="triangle"/>
          </a:ln>
        </p:spPr>
      </p:sp>
      <p:sp>
        <p:nvSpPr>
          <p:cNvPr id="30" name="Arrow"/>
          <p:cNvSpPr/>
          <p:nvPr/>
        </p:nvSpPr>
        <p:spPr>
          <a:xfrm flipH="1">
            <a:off x="9509760" y="3383280"/>
            <a:ext cx="274320" cy="0"/>
          </a:xfrm>
          <a:prstGeom prst="line">
            <a:avLst/>
          </a:prstGeom>
          <a:noFill/>
          <a:ln w="19050">
            <a:solidFill>
              <a:srgbClr val="5F6F66"/>
            </a:solidFill>
            <a:prstDash val="solid"/>
            <a:tailEnd type="triangle"/>
          </a:ln>
        </p:spPr>
      </p:sp>
      <p:sp>
        <p:nvSpPr>
          <p:cNvPr id="31" name="Arrow"/>
          <p:cNvSpPr/>
          <p:nvPr/>
        </p:nvSpPr>
        <p:spPr>
          <a:xfrm flipH="1">
            <a:off x="7223760" y="3383280"/>
            <a:ext cx="274320" cy="0"/>
          </a:xfrm>
          <a:prstGeom prst="line">
            <a:avLst/>
          </a:prstGeom>
          <a:noFill/>
          <a:ln w="19050">
            <a:solidFill>
              <a:srgbClr val="5F6F66"/>
            </a:solidFill>
            <a:prstDash val="solid"/>
            <a:tailEnd type="triangle"/>
          </a:ln>
        </p:spPr>
      </p:sp>
      <p:sp>
        <p:nvSpPr>
          <p:cNvPr id="32" name="Text 29"/>
          <p:cNvSpPr txBox="1"/>
          <p:nvPr/>
        </p:nvSpPr>
        <p:spPr>
          <a:xfrm>
            <a:off x="7178040" y="3264408"/>
            <a:ext cx="36576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yes</a:t>
            </a:r>
            <a:endParaRPr lang="en-US" sz="950" dirty="0"/>
          </a:p>
        </p:txBody>
      </p:sp>
      <p:sp>
        <p:nvSpPr>
          <p:cNvPr id="33" name="Arrow"/>
          <p:cNvSpPr/>
          <p:nvPr/>
        </p:nvSpPr>
        <p:spPr>
          <a:xfrm flipH="1">
            <a:off x="4754880" y="3383280"/>
            <a:ext cx="274320" cy="0"/>
          </a:xfrm>
          <a:prstGeom prst="line">
            <a:avLst/>
          </a:prstGeom>
          <a:noFill/>
          <a:ln w="19050">
            <a:solidFill>
              <a:srgbClr val="5F6F66"/>
            </a:solidFill>
            <a:prstDash val="solid"/>
            <a:tailEnd type="triangle"/>
          </a:ln>
        </p:spPr>
      </p:sp>
      <p:sp>
        <p:nvSpPr>
          <p:cNvPr id="34" name="Arrow"/>
          <p:cNvSpPr/>
          <p:nvPr/>
        </p:nvSpPr>
        <p:spPr>
          <a:xfrm flipH="1">
            <a:off x="2468880" y="3383280"/>
            <a:ext cx="274320" cy="0"/>
          </a:xfrm>
          <a:prstGeom prst="line">
            <a:avLst/>
          </a:prstGeom>
          <a:noFill/>
          <a:ln w="19050">
            <a:solidFill>
              <a:srgbClr val="5F6F66"/>
            </a:solidFill>
            <a:prstDash val="solid"/>
            <a:tailEnd type="triangle"/>
          </a:ln>
        </p:spPr>
      </p:sp>
      <p:sp>
        <p:nvSpPr>
          <p:cNvPr id="35" name="Text 32"/>
          <p:cNvSpPr txBox="1"/>
          <p:nvPr/>
        </p:nvSpPr>
        <p:spPr>
          <a:xfrm>
            <a:off x="457200" y="4251960"/>
            <a:ext cx="7315200" cy="320040"/>
          </a:xfrm>
          <a:prstGeom prst="rect">
            <a:avLst/>
          </a:prstGeom>
          <a:noFill/>
          <a:ln/>
        </p:spPr>
        <p:txBody>
          <a:bodyPr wrap="square" lIns="0" tIns="0" rIns="0" bIns="0" rtlCol="0" anchor="t"/>
          <a:lstStyle/>
          <a:p>
            <a:pPr indent="0" marL="0">
              <a:buNone/>
            </a:pPr>
            <a:r>
              <a:rPr lang="en-US" sz="1400" b="1" dirty="0">
                <a:solidFill>
                  <a:srgbClr val="1F4D3A"/>
                </a:solidFill>
              </a:rPr>
              <a:t>How find, dupes and check get their steps</a:t>
            </a:r>
            <a:endParaRPr lang="en-US" sz="1400" dirty="0"/>
          </a:p>
        </p:txBody>
      </p:sp>
      <p:sp>
        <p:nvSpPr>
          <p:cNvPr id="36" name="Box find / dupes / check"/>
          <p:cNvSpPr/>
          <p:nvPr/>
        </p:nvSpPr>
        <p:spPr>
          <a:xfrm>
            <a:off x="457200" y="4709160"/>
            <a:ext cx="2011680" cy="868680"/>
          </a:xfrm>
          <a:prstGeom prst="roundRect">
            <a:avLst>
              <a:gd name="adj" fmla="val 6316"/>
            </a:avLst>
          </a:prstGeom>
          <a:solidFill>
            <a:srgbClr val="E3EEF4"/>
          </a:solidFill>
          <a:ln w="15875">
            <a:solidFill>
              <a:srgbClr val="2C6E8F"/>
            </a:solidFill>
            <a:prstDash val="solid"/>
          </a:ln>
        </p:spPr>
      </p:sp>
      <p:sp>
        <p:nvSpPr>
          <p:cNvPr id="37" name="Text find / dupes / check"/>
          <p:cNvSpPr txBox="1"/>
          <p:nvPr/>
        </p:nvSpPr>
        <p:spPr>
          <a:xfrm>
            <a:off x="548640" y="4745736"/>
            <a:ext cx="182880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find / dupes / check</a:t>
            </a:r>
            <a:endParaRPr lang="en-US" sz="1100" dirty="0"/>
          </a:p>
          <a:p>
            <a:pPr algn="ctr" indent="0" marL="0">
              <a:spcAft>
                <a:spcPts val="200"/>
              </a:spcAft>
              <a:buNone/>
            </a:pPr>
            <a:r>
              <a:rPr lang="en-US" sz="1000" dirty="0">
                <a:solidFill>
                  <a:srgbClr val="1B2B22"/>
                </a:solidFill>
              </a:rPr>
              <a:t>cli._load_steps()</a:t>
            </a:r>
            <a:endParaRPr lang="en-US" sz="1100" dirty="0"/>
          </a:p>
        </p:txBody>
      </p:sp>
      <p:sp>
        <p:nvSpPr>
          <p:cNvPr id="38" name="Box --path given, or no index file yet?"/>
          <p:cNvSpPr/>
          <p:nvPr/>
        </p:nvSpPr>
        <p:spPr>
          <a:xfrm>
            <a:off x="2743200" y="4709160"/>
            <a:ext cx="2194560" cy="868680"/>
          </a:xfrm>
          <a:prstGeom prst="roundRect">
            <a:avLst>
              <a:gd name="adj" fmla="val 6316"/>
            </a:avLst>
          </a:prstGeom>
          <a:solidFill>
            <a:srgbClr val="FFFFFF"/>
          </a:solidFill>
          <a:ln w="15875">
            <a:solidFill>
              <a:srgbClr val="E39B2D"/>
            </a:solidFill>
            <a:prstDash val="dash"/>
          </a:ln>
        </p:spPr>
      </p:sp>
      <p:sp>
        <p:nvSpPr>
          <p:cNvPr id="39" name="Text --path given, or no index file yet?"/>
          <p:cNvSpPr txBox="1"/>
          <p:nvPr/>
        </p:nvSpPr>
        <p:spPr>
          <a:xfrm>
            <a:off x="2834640" y="4745736"/>
            <a:ext cx="201168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--path given, or no index file yet?</a:t>
            </a:r>
            <a:endParaRPr lang="en-US" sz="1100" dirty="0"/>
          </a:p>
        </p:txBody>
      </p:sp>
      <p:sp>
        <p:nvSpPr>
          <p:cNvPr id="40" name="Box build_index(path)"/>
          <p:cNvSpPr/>
          <p:nvPr/>
        </p:nvSpPr>
        <p:spPr>
          <a:xfrm>
            <a:off x="5486400" y="4434840"/>
            <a:ext cx="2194560" cy="640080"/>
          </a:xfrm>
          <a:prstGeom prst="roundRect">
            <a:avLst>
              <a:gd name="adj" fmla="val 8571"/>
            </a:avLst>
          </a:prstGeom>
          <a:solidFill>
            <a:srgbClr val="EEF5EF"/>
          </a:solidFill>
          <a:ln w="15875">
            <a:solidFill>
              <a:srgbClr val="3E8E4F"/>
            </a:solidFill>
            <a:prstDash val="solid"/>
          </a:ln>
        </p:spPr>
      </p:sp>
      <p:sp>
        <p:nvSpPr>
          <p:cNvPr id="41" name="Text build_index(path)"/>
          <p:cNvSpPr txBox="1"/>
          <p:nvPr/>
        </p:nvSpPr>
        <p:spPr>
          <a:xfrm>
            <a:off x="5577840" y="4471416"/>
            <a:ext cx="2011680" cy="5669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build_index(path)</a:t>
            </a:r>
            <a:endParaRPr lang="en-US" sz="1100" dirty="0"/>
          </a:p>
          <a:p>
            <a:pPr algn="ctr" indent="0" marL="0">
              <a:spcAft>
                <a:spcPts val="200"/>
              </a:spcAft>
              <a:buNone/>
            </a:pPr>
            <a:r>
              <a:rPr lang="en-US" sz="1000" dirty="0">
                <a:solidFill>
                  <a:srgbClr val="1B2B22"/>
                </a:solidFill>
              </a:rPr>
              <a:t>fresh scan, as above</a:t>
            </a:r>
            <a:endParaRPr lang="en-US" sz="1100" dirty="0"/>
          </a:p>
        </p:txBody>
      </p:sp>
      <p:sp>
        <p:nvSpPr>
          <p:cNvPr id="42" name="Box load_index()"/>
          <p:cNvSpPr/>
          <p:nvPr/>
        </p:nvSpPr>
        <p:spPr>
          <a:xfrm>
            <a:off x="5486400" y="5212080"/>
            <a:ext cx="2194560" cy="731520"/>
          </a:xfrm>
          <a:prstGeom prst="roundRect">
            <a:avLst>
              <a:gd name="adj" fmla="val 7500"/>
            </a:avLst>
          </a:prstGeom>
          <a:solidFill>
            <a:srgbClr val="EEF5EF"/>
          </a:solidFill>
          <a:ln w="15875">
            <a:solidFill>
              <a:srgbClr val="3E8E4F"/>
            </a:solidFill>
            <a:prstDash val="solid"/>
          </a:ln>
        </p:spPr>
      </p:sp>
      <p:sp>
        <p:nvSpPr>
          <p:cNvPr id="43" name="Text load_index()"/>
          <p:cNvSpPr txBox="1"/>
          <p:nvPr/>
        </p:nvSpPr>
        <p:spPr>
          <a:xfrm>
            <a:off x="5577840" y="5248656"/>
            <a:ext cx="2011680" cy="6583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load_index()</a:t>
            </a:r>
            <a:endParaRPr lang="en-US" sz="1100" dirty="0"/>
          </a:p>
          <a:p>
            <a:pPr algn="ctr" indent="0" marL="0">
              <a:spcAft>
                <a:spcPts val="200"/>
              </a:spcAft>
              <a:buNone/>
            </a:pPr>
            <a:r>
              <a:rPr lang="en-US" sz="1000" dirty="0">
                <a:solidFill>
                  <a:srgbClr val="1B2B22"/>
                </a:solidFill>
              </a:rPr>
              <a:t>reads .gherkin-index.json (json, never pickle)</a:t>
            </a:r>
            <a:endParaRPr lang="en-US" sz="1100" dirty="0"/>
          </a:p>
        </p:txBody>
      </p:sp>
      <p:sp>
        <p:nvSpPr>
          <p:cNvPr id="44" name="Box list[StepDef]"/>
          <p:cNvSpPr/>
          <p:nvPr/>
        </p:nvSpPr>
        <p:spPr>
          <a:xfrm>
            <a:off x="8229600" y="4709160"/>
            <a:ext cx="2011680" cy="868680"/>
          </a:xfrm>
          <a:prstGeom prst="roundRect">
            <a:avLst>
              <a:gd name="adj" fmla="val 6316"/>
            </a:avLst>
          </a:prstGeom>
          <a:solidFill>
            <a:srgbClr val="D7E9D9"/>
          </a:solidFill>
          <a:ln w="15875">
            <a:solidFill>
              <a:srgbClr val="1F4D3A"/>
            </a:solidFill>
            <a:prstDash val="solid"/>
          </a:ln>
        </p:spPr>
      </p:sp>
      <p:sp>
        <p:nvSpPr>
          <p:cNvPr id="45" name="Text list[StepDef]"/>
          <p:cNvSpPr txBox="1"/>
          <p:nvPr/>
        </p:nvSpPr>
        <p:spPr>
          <a:xfrm>
            <a:off x="8321040" y="4745736"/>
            <a:ext cx="182880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list[StepDef]</a:t>
            </a:r>
            <a:endParaRPr lang="en-US" sz="1100" dirty="0"/>
          </a:p>
          <a:p>
            <a:pPr algn="ctr" indent="0" marL="0">
              <a:spcAft>
                <a:spcPts val="200"/>
              </a:spcAft>
              <a:buNone/>
            </a:pPr>
            <a:r>
              <a:rPr lang="en-US" sz="1000" dirty="0">
                <a:solidFill>
                  <a:srgbClr val="1B2B22"/>
                </a:solidFill>
              </a:rPr>
              <a:t>handed to the matcher</a:t>
            </a:r>
            <a:endParaRPr lang="en-US" sz="1100" dirty="0"/>
          </a:p>
        </p:txBody>
      </p:sp>
      <p:sp>
        <p:nvSpPr>
          <p:cNvPr id="46" name="Arrow"/>
          <p:cNvSpPr/>
          <p:nvPr/>
        </p:nvSpPr>
        <p:spPr>
          <a:xfrm>
            <a:off x="2468880" y="5143500"/>
            <a:ext cx="274320" cy="0"/>
          </a:xfrm>
          <a:prstGeom prst="line">
            <a:avLst/>
          </a:prstGeom>
          <a:noFill/>
          <a:ln w="19050">
            <a:solidFill>
              <a:srgbClr val="5F6F66"/>
            </a:solidFill>
            <a:prstDash val="solid"/>
            <a:tailEnd type="triangle"/>
          </a:ln>
        </p:spPr>
      </p:sp>
      <p:sp>
        <p:nvSpPr>
          <p:cNvPr id="47" name="Arrow"/>
          <p:cNvSpPr/>
          <p:nvPr/>
        </p:nvSpPr>
        <p:spPr>
          <a:xfrm flipV="1">
            <a:off x="4937760" y="4754880"/>
            <a:ext cx="548640" cy="214884"/>
          </a:xfrm>
          <a:prstGeom prst="line">
            <a:avLst/>
          </a:prstGeom>
          <a:noFill/>
          <a:ln w="19050">
            <a:solidFill>
              <a:srgbClr val="5F6F66"/>
            </a:solidFill>
            <a:prstDash val="solid"/>
            <a:tailEnd type="triangle"/>
          </a:ln>
        </p:spPr>
      </p:sp>
      <p:sp>
        <p:nvSpPr>
          <p:cNvPr id="48" name="Text 45"/>
          <p:cNvSpPr txBox="1"/>
          <p:nvPr/>
        </p:nvSpPr>
        <p:spPr>
          <a:xfrm>
            <a:off x="5029200" y="4743450"/>
            <a:ext cx="36576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yes</a:t>
            </a:r>
            <a:endParaRPr lang="en-US" sz="950" dirty="0"/>
          </a:p>
        </p:txBody>
      </p:sp>
      <p:sp>
        <p:nvSpPr>
          <p:cNvPr id="49" name="Arrow"/>
          <p:cNvSpPr/>
          <p:nvPr/>
        </p:nvSpPr>
        <p:spPr>
          <a:xfrm>
            <a:off x="4937760" y="5317236"/>
            <a:ext cx="548640" cy="260604"/>
          </a:xfrm>
          <a:prstGeom prst="line">
            <a:avLst/>
          </a:prstGeom>
          <a:noFill/>
          <a:ln w="19050">
            <a:solidFill>
              <a:srgbClr val="5F6F66"/>
            </a:solidFill>
            <a:prstDash val="solid"/>
            <a:tailEnd type="triangle"/>
          </a:ln>
        </p:spPr>
      </p:sp>
      <p:sp>
        <p:nvSpPr>
          <p:cNvPr id="50" name="Text 47"/>
          <p:cNvSpPr txBox="1"/>
          <p:nvPr/>
        </p:nvSpPr>
        <p:spPr>
          <a:xfrm>
            <a:off x="5052060" y="5328666"/>
            <a:ext cx="32004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no</a:t>
            </a:r>
            <a:endParaRPr lang="en-US" sz="950" dirty="0"/>
          </a:p>
        </p:txBody>
      </p:sp>
      <p:sp>
        <p:nvSpPr>
          <p:cNvPr id="51" name="Arrow"/>
          <p:cNvSpPr/>
          <p:nvPr/>
        </p:nvSpPr>
        <p:spPr>
          <a:xfrm>
            <a:off x="7680960" y="4754880"/>
            <a:ext cx="548640" cy="214884"/>
          </a:xfrm>
          <a:prstGeom prst="line">
            <a:avLst/>
          </a:prstGeom>
          <a:noFill/>
          <a:ln w="19050">
            <a:solidFill>
              <a:srgbClr val="5F6F66"/>
            </a:solidFill>
            <a:prstDash val="solid"/>
            <a:tailEnd type="triangle"/>
          </a:ln>
        </p:spPr>
      </p:sp>
      <p:sp>
        <p:nvSpPr>
          <p:cNvPr id="52" name="Arrow"/>
          <p:cNvSpPr/>
          <p:nvPr/>
        </p:nvSpPr>
        <p:spPr>
          <a:xfrm flipV="1">
            <a:off x="7680960" y="5317236"/>
            <a:ext cx="548640" cy="260604"/>
          </a:xfrm>
          <a:prstGeom prst="line">
            <a:avLst/>
          </a:prstGeom>
          <a:noFill/>
          <a:ln w="19050">
            <a:solidFill>
              <a:srgbClr val="5F6F66"/>
            </a:solidFill>
            <a:prstDash val="solid"/>
            <a:tailEnd type="triangle"/>
          </a:ln>
        </p:spPr>
      </p:sp>
      <p:sp>
        <p:nvSpPr>
          <p:cNvPr id="53" name="Box merge and the app"/>
          <p:cNvSpPr/>
          <p:nvPr/>
        </p:nvSpPr>
        <p:spPr>
          <a:xfrm>
            <a:off x="457200" y="5989320"/>
            <a:ext cx="5486400" cy="411480"/>
          </a:xfrm>
          <a:prstGeom prst="roundRect">
            <a:avLst>
              <a:gd name="adj" fmla="val 13333"/>
            </a:avLst>
          </a:prstGeom>
          <a:solidFill>
            <a:srgbClr val="F7F7F5"/>
          </a:solidFill>
          <a:ln w="15875">
            <a:solidFill>
              <a:srgbClr val="C9D0CB"/>
            </a:solidFill>
            <a:prstDash val="solid"/>
          </a:ln>
        </p:spPr>
      </p:sp>
      <p:sp>
        <p:nvSpPr>
          <p:cNvPr id="54" name="Text merge and the app"/>
          <p:cNvSpPr txBox="1"/>
          <p:nvPr/>
        </p:nvSpPr>
        <p:spPr>
          <a:xfrm>
            <a:off x="548640" y="6025896"/>
            <a:ext cx="5303520" cy="338328"/>
          </a:xfrm>
          <a:prstGeom prst="rect">
            <a:avLst/>
          </a:prstGeom>
          <a:noFill/>
          <a:ln/>
        </p:spPr>
        <p:txBody>
          <a:bodyPr wrap="square" lIns="0" tIns="0" rIns="0" bIns="0" rtlCol="0" anchor="ctr"/>
          <a:lstStyle/>
          <a:p>
            <a:pPr algn="l" indent="0" marL="0">
              <a:spcAft>
                <a:spcPts val="200"/>
              </a:spcAft>
              <a:buNone/>
            </a:pPr>
            <a:r>
              <a:rPr lang="en-US" sz="1000" b="1" dirty="0">
                <a:solidFill>
                  <a:srgbClr val="1F4D3A"/>
                </a:solidFill>
                <a:latin typeface="Calibri" pitchFamily="34" charset="0"/>
                <a:ea typeface="Calibri" pitchFamily="34" charset="-122"/>
                <a:cs typeface="Calibri" pitchFamily="34" charset="-120"/>
              </a:rPr>
              <a:t>merge and the app</a:t>
            </a:r>
            <a:endParaRPr lang="en-US" sz="1100" dirty="0"/>
          </a:p>
          <a:p>
            <a:pPr algn="l" indent="0" marL="0">
              <a:spcAft>
                <a:spcPts val="200"/>
              </a:spcAft>
              <a:buNone/>
            </a:pPr>
            <a:r>
              <a:rPr lang="en-US" sz="1000" dirty="0">
                <a:solidFill>
                  <a:srgbClr val="1B2B22"/>
                </a:solidFill>
              </a:rPr>
              <a:t>always scan fresh with build_index(), so they never work from a stale index.</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find: exact match first, then “did you mean”</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gherkin-copilot find "Given I open the login page"</a:t>
            </a:r>
            <a:endParaRPr lang="en-US" sz="1300" dirty="0"/>
          </a:p>
        </p:txBody>
      </p:sp>
      <p:sp>
        <p:nvSpPr>
          <p:cNvPr id="5" name="Box &quot;Given I open the login page&quot;"/>
          <p:cNvSpPr/>
          <p:nvPr/>
        </p:nvSpPr>
        <p:spPr>
          <a:xfrm>
            <a:off x="457200" y="1463040"/>
            <a:ext cx="2103120" cy="868680"/>
          </a:xfrm>
          <a:prstGeom prst="roundRect">
            <a:avLst>
              <a:gd name="adj" fmla="val 6316"/>
            </a:avLst>
          </a:prstGeom>
          <a:solidFill>
            <a:srgbClr val="FDF0D9"/>
          </a:solidFill>
          <a:ln w="15875">
            <a:solidFill>
              <a:srgbClr val="E39B2D"/>
            </a:solidFill>
            <a:prstDash val="solid"/>
          </a:ln>
        </p:spPr>
      </p:sp>
      <p:sp>
        <p:nvSpPr>
          <p:cNvPr id="6" name="Text &quot;Given I open the login page&quot;"/>
          <p:cNvSpPr txBox="1"/>
          <p:nvPr/>
        </p:nvSpPr>
        <p:spPr>
          <a:xfrm>
            <a:off x="548640" y="1499616"/>
            <a:ext cx="1920240" cy="79552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"Given I open the login page"</a:t>
            </a:r>
            <a:endParaRPr lang="en-US" sz="1100" dirty="0"/>
          </a:p>
          <a:p>
            <a:pPr algn="ctr" indent="0" marL="0">
              <a:spcAft>
                <a:spcPts val="200"/>
              </a:spcAft>
              <a:buNone/>
            </a:pPr>
            <a:r>
              <a:rPr lang="en-US" sz="1000" dirty="0">
                <a:solidFill>
                  <a:srgbClr val="1B2B22"/>
                </a:solidFill>
              </a:rPr>
              <a:t>the line you typed</a:t>
            </a:r>
            <a:endParaRPr lang="en-US" sz="1100" dirty="0"/>
          </a:p>
        </p:txBody>
      </p:sp>
      <p:sp>
        <p:nvSpPr>
          <p:cNvPr id="7" name="Box _load_steps()"/>
          <p:cNvSpPr/>
          <p:nvPr/>
        </p:nvSpPr>
        <p:spPr>
          <a:xfrm>
            <a:off x="2971800" y="1463040"/>
            <a:ext cx="1920240" cy="868680"/>
          </a:xfrm>
          <a:prstGeom prst="roundRect">
            <a:avLst>
              <a:gd name="adj" fmla="val 6316"/>
            </a:avLst>
          </a:prstGeom>
          <a:solidFill>
            <a:srgbClr val="EEF5EF"/>
          </a:solidFill>
          <a:ln w="15875">
            <a:solidFill>
              <a:srgbClr val="3E8E4F"/>
            </a:solidFill>
            <a:prstDash val="solid"/>
          </a:ln>
        </p:spPr>
      </p:sp>
      <p:sp>
        <p:nvSpPr>
          <p:cNvPr id="8" name="Text _load_steps()"/>
          <p:cNvSpPr txBox="1"/>
          <p:nvPr/>
        </p:nvSpPr>
        <p:spPr>
          <a:xfrm>
            <a:off x="3063240" y="1499616"/>
            <a:ext cx="173736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_load_steps()</a:t>
            </a:r>
            <a:endParaRPr lang="en-US" sz="1100" dirty="0"/>
          </a:p>
          <a:p>
            <a:pPr algn="ctr" indent="0" marL="0">
              <a:spcAft>
                <a:spcPts val="200"/>
              </a:spcAft>
              <a:buNone/>
            </a:pPr>
            <a:r>
              <a:rPr lang="en-US" sz="1000" dirty="0">
                <a:solidFill>
                  <a:srgbClr val="1B2B22"/>
                </a:solidFill>
              </a:rPr>
              <a:t>saved index or fresh scan</a:t>
            </a:r>
            <a:endParaRPr lang="en-US" sz="1100" dirty="0"/>
          </a:p>
        </p:txBody>
      </p:sp>
      <p:sp>
        <p:nvSpPr>
          <p:cNvPr id="9" name="Box for each StepDef"/>
          <p:cNvSpPr/>
          <p:nvPr/>
        </p:nvSpPr>
        <p:spPr>
          <a:xfrm>
            <a:off x="5303520" y="1463040"/>
            <a:ext cx="1920240" cy="868680"/>
          </a:xfrm>
          <a:prstGeom prst="roundRect">
            <a:avLst>
              <a:gd name="adj" fmla="val 6316"/>
            </a:avLst>
          </a:prstGeom>
          <a:solidFill>
            <a:srgbClr val="EEF5EF"/>
          </a:solidFill>
          <a:ln w="15875">
            <a:solidFill>
              <a:srgbClr val="3E8E4F"/>
            </a:solidFill>
            <a:prstDash val="solid"/>
          </a:ln>
        </p:spPr>
      </p:sp>
      <p:sp>
        <p:nvSpPr>
          <p:cNvPr id="10" name="Text for each StepDef"/>
          <p:cNvSpPr txBox="1"/>
          <p:nvPr/>
        </p:nvSpPr>
        <p:spPr>
          <a:xfrm>
            <a:off x="5394960" y="1499616"/>
            <a:ext cx="173736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for each StepDef</a:t>
            </a:r>
            <a:endParaRPr lang="en-US" sz="1100" dirty="0"/>
          </a:p>
          <a:p>
            <a:pPr algn="ctr" indent="0" marL="0">
              <a:spcAft>
                <a:spcPts val="200"/>
              </a:spcAft>
              <a:buNone/>
            </a:pPr>
            <a:r>
              <a:rPr lang="en-US" sz="1000" dirty="0">
                <a:solidFill>
                  <a:srgbClr val="1B2B22"/>
                </a:solidFill>
              </a:rPr>
              <a:t>matcher.find()</a:t>
            </a:r>
            <a:endParaRPr lang="en-US" sz="1100" dirty="0"/>
          </a:p>
        </p:txBody>
      </p:sp>
      <p:sp>
        <p:nvSpPr>
          <p:cNvPr id="11" name="Box is_exact_match()?"/>
          <p:cNvSpPr/>
          <p:nvPr/>
        </p:nvSpPr>
        <p:spPr>
          <a:xfrm>
            <a:off x="7635240" y="1463040"/>
            <a:ext cx="1920240" cy="868680"/>
          </a:xfrm>
          <a:prstGeom prst="roundRect">
            <a:avLst>
              <a:gd name="adj" fmla="val 6316"/>
            </a:avLst>
          </a:prstGeom>
          <a:solidFill>
            <a:srgbClr val="FFFFFF"/>
          </a:solidFill>
          <a:ln w="15875">
            <a:solidFill>
              <a:srgbClr val="E39B2D"/>
            </a:solidFill>
            <a:prstDash val="dash"/>
          </a:ln>
        </p:spPr>
      </p:sp>
      <p:sp>
        <p:nvSpPr>
          <p:cNvPr id="12" name="Text is_exact_match()?"/>
          <p:cNvSpPr txBox="1"/>
          <p:nvPr/>
        </p:nvSpPr>
        <p:spPr>
          <a:xfrm>
            <a:off x="7726680" y="1499616"/>
            <a:ext cx="1737360" cy="79552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is_exact_match()?</a:t>
            </a:r>
            <a:endParaRPr lang="en-US" sz="1100" dirty="0"/>
          </a:p>
          <a:p>
            <a:pPr algn="ctr" indent="0" marL="0">
              <a:spcAft>
                <a:spcPts val="200"/>
              </a:spcAft>
              <a:buNone/>
            </a:pPr>
            <a:r>
              <a:rPr lang="en-US" sz="1000" dirty="0">
                <a:solidFill>
                  <a:srgbClr val="1B2B22"/>
                </a:solidFill>
              </a:rPr>
              <a:t>strip_keyword() + to_regex(): would it bind?</a:t>
            </a:r>
            <a:endParaRPr lang="en-US" sz="1100" dirty="0"/>
          </a:p>
        </p:txBody>
      </p:sp>
      <p:sp>
        <p:nvSpPr>
          <p:cNvPr id="13" name="Box score 1.0, exact"/>
          <p:cNvSpPr/>
          <p:nvPr/>
        </p:nvSpPr>
        <p:spPr>
          <a:xfrm>
            <a:off x="9966960" y="1463040"/>
            <a:ext cx="1764792" cy="868680"/>
          </a:xfrm>
          <a:prstGeom prst="roundRect">
            <a:avLst>
              <a:gd name="adj" fmla="val 6316"/>
            </a:avLst>
          </a:prstGeom>
          <a:solidFill>
            <a:srgbClr val="EEF5EF"/>
          </a:solidFill>
          <a:ln w="15875">
            <a:solidFill>
              <a:srgbClr val="3E8E4F"/>
            </a:solidFill>
            <a:prstDash val="solid"/>
          </a:ln>
        </p:spPr>
      </p:sp>
      <p:sp>
        <p:nvSpPr>
          <p:cNvPr id="14" name="Text score 1.0, exact"/>
          <p:cNvSpPr txBox="1"/>
          <p:nvPr/>
        </p:nvSpPr>
        <p:spPr>
          <a:xfrm>
            <a:off x="10058400" y="1499616"/>
            <a:ext cx="1581912"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score 1.0, exact</a:t>
            </a:r>
            <a:endParaRPr lang="en-US" sz="1100" dirty="0"/>
          </a:p>
          <a:p>
            <a:pPr algn="ctr" indent="0" marL="0">
              <a:spcAft>
                <a:spcPts val="200"/>
              </a:spcAft>
              <a:buNone/>
            </a:pPr>
            <a:r>
              <a:rPr lang="en-US" sz="1000" dirty="0">
                <a:solidFill>
                  <a:srgbClr val="1B2B22"/>
                </a:solidFill>
              </a:rPr>
              <a:t>Match(step, 1.0, True)</a:t>
            </a:r>
            <a:endParaRPr lang="en-US" sz="1100" dirty="0"/>
          </a:p>
        </p:txBody>
      </p:sp>
      <p:sp>
        <p:nvSpPr>
          <p:cNvPr id="15" name="Arrow"/>
          <p:cNvSpPr/>
          <p:nvPr/>
        </p:nvSpPr>
        <p:spPr>
          <a:xfrm>
            <a:off x="2560320" y="1897380"/>
            <a:ext cx="411480" cy="0"/>
          </a:xfrm>
          <a:prstGeom prst="line">
            <a:avLst/>
          </a:prstGeom>
          <a:noFill/>
          <a:ln w="19050">
            <a:solidFill>
              <a:srgbClr val="5F6F66"/>
            </a:solidFill>
            <a:prstDash val="solid"/>
            <a:tailEnd type="triangle"/>
          </a:ln>
        </p:spPr>
      </p:sp>
      <p:sp>
        <p:nvSpPr>
          <p:cNvPr id="16" name="Arrow"/>
          <p:cNvSpPr/>
          <p:nvPr/>
        </p:nvSpPr>
        <p:spPr>
          <a:xfrm>
            <a:off x="4892040" y="1897380"/>
            <a:ext cx="411480" cy="0"/>
          </a:xfrm>
          <a:prstGeom prst="line">
            <a:avLst/>
          </a:prstGeom>
          <a:noFill/>
          <a:ln w="19050">
            <a:solidFill>
              <a:srgbClr val="5F6F66"/>
            </a:solidFill>
            <a:prstDash val="solid"/>
            <a:tailEnd type="triangle"/>
          </a:ln>
        </p:spPr>
      </p:sp>
      <p:sp>
        <p:nvSpPr>
          <p:cNvPr id="17" name="Arrow"/>
          <p:cNvSpPr/>
          <p:nvPr/>
        </p:nvSpPr>
        <p:spPr>
          <a:xfrm>
            <a:off x="7223760" y="1897380"/>
            <a:ext cx="411480" cy="0"/>
          </a:xfrm>
          <a:prstGeom prst="line">
            <a:avLst/>
          </a:prstGeom>
          <a:noFill/>
          <a:ln w="19050">
            <a:solidFill>
              <a:srgbClr val="5F6F66"/>
            </a:solidFill>
            <a:prstDash val="solid"/>
            <a:tailEnd type="triangle"/>
          </a:ln>
        </p:spPr>
      </p:sp>
      <p:sp>
        <p:nvSpPr>
          <p:cNvPr id="18" name="Arrow"/>
          <p:cNvSpPr/>
          <p:nvPr/>
        </p:nvSpPr>
        <p:spPr>
          <a:xfrm>
            <a:off x="9555480" y="1897380"/>
            <a:ext cx="411480" cy="0"/>
          </a:xfrm>
          <a:prstGeom prst="line">
            <a:avLst/>
          </a:prstGeom>
          <a:noFill/>
          <a:ln w="19050">
            <a:solidFill>
              <a:srgbClr val="5F6F66"/>
            </a:solidFill>
            <a:prstDash val="solid"/>
            <a:tailEnd type="triangle"/>
          </a:ln>
        </p:spPr>
      </p:sp>
      <p:sp>
        <p:nvSpPr>
          <p:cNvPr id="19" name="Text 16"/>
          <p:cNvSpPr txBox="1"/>
          <p:nvPr/>
        </p:nvSpPr>
        <p:spPr>
          <a:xfrm>
            <a:off x="9578340" y="1778508"/>
            <a:ext cx="36576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yes</a:t>
            </a:r>
            <a:endParaRPr lang="en-US" sz="950" dirty="0"/>
          </a:p>
        </p:txBody>
      </p:sp>
      <p:sp>
        <p:nvSpPr>
          <p:cNvPr id="20" name="Box dropped"/>
          <p:cNvSpPr/>
          <p:nvPr/>
        </p:nvSpPr>
        <p:spPr>
          <a:xfrm>
            <a:off x="457200" y="3063240"/>
            <a:ext cx="2103120" cy="868680"/>
          </a:xfrm>
          <a:prstGeom prst="roundRect">
            <a:avLst>
              <a:gd name="adj" fmla="val 6316"/>
            </a:avLst>
          </a:prstGeom>
          <a:solidFill>
            <a:srgbClr val="EEF5EF"/>
          </a:solidFill>
          <a:ln w="15875">
            <a:solidFill>
              <a:srgbClr val="3E8E4F"/>
            </a:solidFill>
            <a:prstDash val="solid"/>
          </a:ln>
        </p:spPr>
      </p:sp>
      <p:sp>
        <p:nvSpPr>
          <p:cNvPr id="21" name="Text dropped"/>
          <p:cNvSpPr txBox="1"/>
          <p:nvPr/>
        </p:nvSpPr>
        <p:spPr>
          <a:xfrm>
            <a:off x="548640" y="3099816"/>
            <a:ext cx="192024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dropped</a:t>
            </a:r>
            <a:endParaRPr lang="en-US" sz="1100" dirty="0"/>
          </a:p>
          <a:p>
            <a:pPr algn="ctr" indent="0" marL="0">
              <a:spcAft>
                <a:spcPts val="200"/>
              </a:spcAft>
              <a:buNone/>
            </a:pPr>
            <a:r>
              <a:rPr lang="en-US" sz="1000" dirty="0">
                <a:solidFill>
                  <a:srgbClr val="1B2B22"/>
                </a:solidFill>
              </a:rPr>
              <a:t>below --min-score</a:t>
            </a:r>
            <a:endParaRPr lang="en-US" sz="1100" dirty="0"/>
          </a:p>
        </p:txBody>
      </p:sp>
      <p:sp>
        <p:nvSpPr>
          <p:cNvPr id="22" name="Box score ≥ 0.4?"/>
          <p:cNvSpPr/>
          <p:nvPr/>
        </p:nvSpPr>
        <p:spPr>
          <a:xfrm>
            <a:off x="2971800" y="3063240"/>
            <a:ext cx="1920240" cy="868680"/>
          </a:xfrm>
          <a:prstGeom prst="roundRect">
            <a:avLst>
              <a:gd name="adj" fmla="val 6316"/>
            </a:avLst>
          </a:prstGeom>
          <a:solidFill>
            <a:srgbClr val="FFFFFF"/>
          </a:solidFill>
          <a:ln w="15875">
            <a:solidFill>
              <a:srgbClr val="E39B2D"/>
            </a:solidFill>
            <a:prstDash val="dash"/>
          </a:ln>
        </p:spPr>
      </p:sp>
      <p:sp>
        <p:nvSpPr>
          <p:cNvPr id="23" name="Text score ≥ 0.4?"/>
          <p:cNvSpPr txBox="1"/>
          <p:nvPr/>
        </p:nvSpPr>
        <p:spPr>
          <a:xfrm>
            <a:off x="3063240" y="3099816"/>
            <a:ext cx="173736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score ≥ 0.4?</a:t>
            </a:r>
            <a:endParaRPr lang="en-US" sz="1100" dirty="0"/>
          </a:p>
          <a:p>
            <a:pPr algn="ctr" indent="0" marL="0">
              <a:spcAft>
                <a:spcPts val="200"/>
              </a:spcAft>
              <a:buNone/>
            </a:pPr>
            <a:r>
              <a:rPr lang="en-US" sz="1000" dirty="0">
                <a:solidFill>
                  <a:srgbClr val="1B2B22"/>
                </a:solidFill>
              </a:rPr>
              <a:t>--min-score</a:t>
            </a:r>
            <a:endParaRPr lang="en-US" sz="1100" dirty="0"/>
          </a:p>
        </p:txBody>
      </p:sp>
      <p:sp>
        <p:nvSpPr>
          <p:cNvPr id="24" name="Box similarity(a, b)"/>
          <p:cNvSpPr/>
          <p:nvPr/>
        </p:nvSpPr>
        <p:spPr>
          <a:xfrm>
            <a:off x="5303520" y="3063240"/>
            <a:ext cx="1920240" cy="868680"/>
          </a:xfrm>
          <a:prstGeom prst="roundRect">
            <a:avLst>
              <a:gd name="adj" fmla="val 6316"/>
            </a:avLst>
          </a:prstGeom>
          <a:solidFill>
            <a:srgbClr val="EEF5EF"/>
          </a:solidFill>
          <a:ln w="15875">
            <a:solidFill>
              <a:srgbClr val="3E8E4F"/>
            </a:solidFill>
            <a:prstDash val="solid"/>
          </a:ln>
        </p:spPr>
      </p:sp>
      <p:sp>
        <p:nvSpPr>
          <p:cNvPr id="25" name="Text similarity(a, b)"/>
          <p:cNvSpPr txBox="1"/>
          <p:nvPr/>
        </p:nvSpPr>
        <p:spPr>
          <a:xfrm>
            <a:off x="5394960" y="3099816"/>
            <a:ext cx="173736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similarity(a, b)</a:t>
            </a:r>
            <a:endParaRPr lang="en-US" sz="1100" dirty="0"/>
          </a:p>
          <a:p>
            <a:pPr algn="ctr" indent="0" marL="0">
              <a:spcAft>
                <a:spcPts val="200"/>
              </a:spcAft>
              <a:buNone/>
            </a:pPr>
            <a:r>
              <a:rPr lang="en-US" sz="1000" dirty="0">
                <a:solidFill>
                  <a:srgbClr val="1B2B22"/>
                </a:solidFill>
              </a:rPr>
              <a:t>0.5 × difflib characters + 0.5 × shared words</a:t>
            </a:r>
            <a:endParaRPr lang="en-US" sz="1100" dirty="0"/>
          </a:p>
        </p:txBody>
      </p:sp>
      <p:sp>
        <p:nvSpPr>
          <p:cNvPr id="26" name="Box normalize_text() normalize_pattern()"/>
          <p:cNvSpPr/>
          <p:nvPr/>
        </p:nvSpPr>
        <p:spPr>
          <a:xfrm>
            <a:off x="7635240" y="3063240"/>
            <a:ext cx="1920240" cy="868680"/>
          </a:xfrm>
          <a:prstGeom prst="roundRect">
            <a:avLst>
              <a:gd name="adj" fmla="val 6316"/>
            </a:avLst>
          </a:prstGeom>
          <a:solidFill>
            <a:srgbClr val="EEF5EF"/>
          </a:solidFill>
          <a:ln w="15875">
            <a:solidFill>
              <a:srgbClr val="3E8E4F"/>
            </a:solidFill>
            <a:prstDash val="solid"/>
          </a:ln>
        </p:spPr>
      </p:sp>
      <p:sp>
        <p:nvSpPr>
          <p:cNvPr id="27" name="Text normalize_text() normalize_pattern()"/>
          <p:cNvSpPr txBox="1"/>
          <p:nvPr/>
        </p:nvSpPr>
        <p:spPr>
          <a:xfrm>
            <a:off x="7726680" y="3099816"/>
            <a:ext cx="1737360" cy="79552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normalize_text()</a:t>
            </a:r>
            <a:endParaRPr lang="en-US" sz="1100" dirty="0"/>
          </a:p>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normalize_pattern()</a:t>
            </a:r>
            <a:endParaRPr lang="en-US" sz="1100" dirty="0"/>
          </a:p>
          <a:p>
            <a:pPr algn="ctr" indent="0" marL="0">
              <a:spcAft>
                <a:spcPts val="200"/>
              </a:spcAft>
              <a:buNone/>
            </a:pPr>
            <a:r>
              <a:rPr lang="en-US" sz="1000" dirty="0">
                <a:solidFill>
                  <a:srgbClr val="1B2B22"/>
                </a:solidFill>
              </a:rPr>
              <a:t>values → &lt;arg&gt;, lowercase, drop filler</a:t>
            </a:r>
            <a:endParaRPr lang="en-US" sz="1100" dirty="0"/>
          </a:p>
        </p:txBody>
      </p:sp>
      <p:sp>
        <p:nvSpPr>
          <p:cNvPr id="28" name="Arrow"/>
          <p:cNvSpPr/>
          <p:nvPr/>
        </p:nvSpPr>
        <p:spPr>
          <a:xfrm>
            <a:off x="8595360" y="2331720"/>
            <a:ext cx="0" cy="731520"/>
          </a:xfrm>
          <a:prstGeom prst="line">
            <a:avLst/>
          </a:prstGeom>
          <a:noFill/>
          <a:ln w="19050">
            <a:solidFill>
              <a:srgbClr val="5F6F66"/>
            </a:solidFill>
            <a:prstDash val="solid"/>
            <a:tailEnd type="triangle"/>
          </a:ln>
        </p:spPr>
      </p:sp>
      <p:sp>
        <p:nvSpPr>
          <p:cNvPr id="29" name="Text 26"/>
          <p:cNvSpPr txBox="1"/>
          <p:nvPr/>
        </p:nvSpPr>
        <p:spPr>
          <a:xfrm>
            <a:off x="8435340" y="2578608"/>
            <a:ext cx="32004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no</a:t>
            </a:r>
            <a:endParaRPr lang="en-US" sz="950" dirty="0"/>
          </a:p>
        </p:txBody>
      </p:sp>
      <p:sp>
        <p:nvSpPr>
          <p:cNvPr id="30" name="Arrow"/>
          <p:cNvSpPr/>
          <p:nvPr/>
        </p:nvSpPr>
        <p:spPr>
          <a:xfrm flipH="1">
            <a:off x="7223760" y="3497580"/>
            <a:ext cx="411480" cy="0"/>
          </a:xfrm>
          <a:prstGeom prst="line">
            <a:avLst/>
          </a:prstGeom>
          <a:noFill/>
          <a:ln w="19050">
            <a:solidFill>
              <a:srgbClr val="5F6F66"/>
            </a:solidFill>
            <a:prstDash val="solid"/>
            <a:tailEnd type="triangle"/>
          </a:ln>
        </p:spPr>
      </p:sp>
      <p:sp>
        <p:nvSpPr>
          <p:cNvPr id="31" name="Arrow"/>
          <p:cNvSpPr/>
          <p:nvPr/>
        </p:nvSpPr>
        <p:spPr>
          <a:xfrm flipH="1">
            <a:off x="4892040" y="3497580"/>
            <a:ext cx="411480" cy="0"/>
          </a:xfrm>
          <a:prstGeom prst="line">
            <a:avLst/>
          </a:prstGeom>
          <a:noFill/>
          <a:ln w="19050">
            <a:solidFill>
              <a:srgbClr val="5F6F66"/>
            </a:solidFill>
            <a:prstDash val="solid"/>
            <a:tailEnd type="triangle"/>
          </a:ln>
        </p:spPr>
      </p:sp>
      <p:sp>
        <p:nvSpPr>
          <p:cNvPr id="32" name="Arrow"/>
          <p:cNvSpPr/>
          <p:nvPr/>
        </p:nvSpPr>
        <p:spPr>
          <a:xfrm flipH="1">
            <a:off x="2560320" y="3497580"/>
            <a:ext cx="411480" cy="0"/>
          </a:xfrm>
          <a:prstGeom prst="line">
            <a:avLst/>
          </a:prstGeom>
          <a:noFill/>
          <a:ln w="19050">
            <a:solidFill>
              <a:srgbClr val="5F6F66"/>
            </a:solidFill>
            <a:prstDash val="solid"/>
            <a:tailEnd type="triangle"/>
          </a:ln>
        </p:spPr>
      </p:sp>
      <p:sp>
        <p:nvSpPr>
          <p:cNvPr id="33" name="Text 30"/>
          <p:cNvSpPr txBox="1"/>
          <p:nvPr/>
        </p:nvSpPr>
        <p:spPr>
          <a:xfrm>
            <a:off x="2606040" y="3378708"/>
            <a:ext cx="32004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no</a:t>
            </a:r>
            <a:endParaRPr lang="en-US" sz="950" dirty="0"/>
          </a:p>
        </p:txBody>
      </p:sp>
      <p:sp>
        <p:nvSpPr>
          <p:cNvPr id="34" name="Box sort + top --limit 5"/>
          <p:cNvSpPr/>
          <p:nvPr/>
        </p:nvSpPr>
        <p:spPr>
          <a:xfrm>
            <a:off x="5303520" y="4709160"/>
            <a:ext cx="1920240" cy="868680"/>
          </a:xfrm>
          <a:prstGeom prst="roundRect">
            <a:avLst>
              <a:gd name="adj" fmla="val 6316"/>
            </a:avLst>
          </a:prstGeom>
          <a:solidFill>
            <a:srgbClr val="EEF5EF"/>
          </a:solidFill>
          <a:ln w="15875">
            <a:solidFill>
              <a:srgbClr val="3E8E4F"/>
            </a:solidFill>
            <a:prstDash val="solid"/>
          </a:ln>
        </p:spPr>
      </p:sp>
      <p:sp>
        <p:nvSpPr>
          <p:cNvPr id="35" name="Text sort + top --limit 5"/>
          <p:cNvSpPr txBox="1"/>
          <p:nvPr/>
        </p:nvSpPr>
        <p:spPr>
          <a:xfrm>
            <a:off x="5394960" y="4745736"/>
            <a:ext cx="173736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sort + top --limit 5</a:t>
            </a:r>
            <a:endParaRPr lang="en-US" sz="1100" dirty="0"/>
          </a:p>
          <a:p>
            <a:pPr algn="ctr" indent="0" marL="0">
              <a:spcAft>
                <a:spcPts val="200"/>
              </a:spcAft>
              <a:buNone/>
            </a:pPr>
            <a:r>
              <a:rPr lang="en-US" sz="1000" dirty="0">
                <a:solidFill>
                  <a:srgbClr val="1B2B22"/>
                </a:solidFill>
              </a:rPr>
              <a:t>exact first, then highest score</a:t>
            </a:r>
            <a:endParaRPr lang="en-US" sz="1100" dirty="0"/>
          </a:p>
        </p:txBody>
      </p:sp>
      <p:sp>
        <p:nvSpPr>
          <p:cNvPr id="36" name="Box Did you mean: 0.73  I am on the login page"/>
          <p:cNvSpPr/>
          <p:nvPr/>
        </p:nvSpPr>
        <p:spPr>
          <a:xfrm>
            <a:off x="7635240" y="4709160"/>
            <a:ext cx="4096512" cy="868680"/>
          </a:xfrm>
          <a:prstGeom prst="roundRect">
            <a:avLst>
              <a:gd name="adj" fmla="val 6316"/>
            </a:avLst>
          </a:prstGeom>
          <a:solidFill>
            <a:srgbClr val="D7E9D9"/>
          </a:solidFill>
          <a:ln w="15875">
            <a:solidFill>
              <a:srgbClr val="1F4D3A"/>
            </a:solidFill>
            <a:prstDash val="solid"/>
          </a:ln>
        </p:spPr>
      </p:sp>
      <p:sp>
        <p:nvSpPr>
          <p:cNvPr id="37" name="Text Did you mean: 0.73  I am on the login page"/>
          <p:cNvSpPr txBox="1"/>
          <p:nvPr/>
        </p:nvSpPr>
        <p:spPr>
          <a:xfrm>
            <a:off x="7726680" y="4745736"/>
            <a:ext cx="3913632"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Did you mean:</a:t>
            </a:r>
            <a:endParaRPr lang="en-US" sz="1100" dirty="0"/>
          </a:p>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0.73  I am on the login page</a:t>
            </a:r>
            <a:endParaRPr lang="en-US" sz="1100" dirty="0"/>
          </a:p>
          <a:p>
            <a:pPr algn="ctr" indent="0" marL="0">
              <a:spcAft>
                <a:spcPts val="200"/>
              </a:spcAft>
              <a:buNone/>
            </a:pPr>
            <a:r>
              <a:rPr lang="en-US" sz="1000" dirty="0">
                <a:solidFill>
                  <a:srgbClr val="1B2B22"/>
                </a:solidFill>
              </a:rPr>
              <a:t>exit 0 only if exact</a:t>
            </a:r>
            <a:endParaRPr lang="en-US" sz="1100" dirty="0"/>
          </a:p>
        </p:txBody>
      </p:sp>
      <p:sp>
        <p:nvSpPr>
          <p:cNvPr id="38" name="Arrow"/>
          <p:cNvSpPr/>
          <p:nvPr/>
        </p:nvSpPr>
        <p:spPr>
          <a:xfrm>
            <a:off x="3931920" y="3931920"/>
            <a:ext cx="0" cy="1211580"/>
          </a:xfrm>
          <a:prstGeom prst="line">
            <a:avLst/>
          </a:prstGeom>
          <a:noFill/>
          <a:ln w="19050">
            <a:solidFill>
              <a:srgbClr val="5F6F66"/>
            </a:solidFill>
            <a:prstDash val="solid"/>
          </a:ln>
        </p:spPr>
      </p:sp>
      <p:sp>
        <p:nvSpPr>
          <p:cNvPr id="39" name="Arrow"/>
          <p:cNvSpPr/>
          <p:nvPr/>
        </p:nvSpPr>
        <p:spPr>
          <a:xfrm>
            <a:off x="3931920" y="5143500"/>
            <a:ext cx="1371600" cy="0"/>
          </a:xfrm>
          <a:prstGeom prst="line">
            <a:avLst/>
          </a:prstGeom>
          <a:noFill/>
          <a:ln w="19050">
            <a:solidFill>
              <a:srgbClr val="5F6F66"/>
            </a:solidFill>
            <a:prstDash val="solid"/>
            <a:tailEnd type="triangle"/>
          </a:ln>
        </p:spPr>
      </p:sp>
      <p:sp>
        <p:nvSpPr>
          <p:cNvPr id="40" name="Text 37"/>
          <p:cNvSpPr txBox="1"/>
          <p:nvPr/>
        </p:nvSpPr>
        <p:spPr>
          <a:xfrm>
            <a:off x="3749040" y="4418838"/>
            <a:ext cx="36576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yes</a:t>
            </a:r>
            <a:endParaRPr lang="en-US" sz="950" dirty="0"/>
          </a:p>
        </p:txBody>
      </p:sp>
      <p:sp>
        <p:nvSpPr>
          <p:cNvPr id="41" name="Arrow"/>
          <p:cNvSpPr/>
          <p:nvPr/>
        </p:nvSpPr>
        <p:spPr>
          <a:xfrm>
            <a:off x="10849356" y="2331720"/>
            <a:ext cx="0" cy="2011680"/>
          </a:xfrm>
          <a:prstGeom prst="line">
            <a:avLst/>
          </a:prstGeom>
          <a:noFill/>
          <a:ln w="19050">
            <a:solidFill>
              <a:srgbClr val="5F6F66"/>
            </a:solidFill>
            <a:prstDash val="solid"/>
          </a:ln>
        </p:spPr>
      </p:sp>
      <p:sp>
        <p:nvSpPr>
          <p:cNvPr id="42" name="Arrow"/>
          <p:cNvSpPr/>
          <p:nvPr/>
        </p:nvSpPr>
        <p:spPr>
          <a:xfrm flipH="1">
            <a:off x="6743700" y="4343400"/>
            <a:ext cx="4105656" cy="0"/>
          </a:xfrm>
          <a:prstGeom prst="line">
            <a:avLst/>
          </a:prstGeom>
          <a:noFill/>
          <a:ln w="19050">
            <a:solidFill>
              <a:srgbClr val="5F6F66"/>
            </a:solidFill>
            <a:prstDash val="solid"/>
          </a:ln>
        </p:spPr>
      </p:sp>
      <p:sp>
        <p:nvSpPr>
          <p:cNvPr id="43" name="Arrow"/>
          <p:cNvSpPr/>
          <p:nvPr/>
        </p:nvSpPr>
        <p:spPr>
          <a:xfrm>
            <a:off x="6743700" y="4343400"/>
            <a:ext cx="0" cy="365760"/>
          </a:xfrm>
          <a:prstGeom prst="line">
            <a:avLst/>
          </a:prstGeom>
          <a:noFill/>
          <a:ln w="19050">
            <a:solidFill>
              <a:srgbClr val="5F6F66"/>
            </a:solidFill>
            <a:prstDash val="solid"/>
            <a:tailEnd type="triangle"/>
          </a:ln>
        </p:spPr>
      </p:sp>
      <p:sp>
        <p:nvSpPr>
          <p:cNvPr id="44" name="Arrow"/>
          <p:cNvSpPr/>
          <p:nvPr/>
        </p:nvSpPr>
        <p:spPr>
          <a:xfrm>
            <a:off x="7223760" y="5143500"/>
            <a:ext cx="411480" cy="0"/>
          </a:xfrm>
          <a:prstGeom prst="line">
            <a:avLst/>
          </a:prstGeom>
          <a:noFill/>
          <a:ln w="19050">
            <a:solidFill>
              <a:srgbClr val="5F6F66"/>
            </a:solidFill>
            <a:prstDash val="solid"/>
            <a:tailEnd type="triangle"/>
          </a:ln>
        </p:spPr>
      </p:sp>
      <p:sp>
        <p:nvSpPr>
          <p:cNvPr id="45" name="Box Worked example: "/>
          <p:cNvSpPr/>
          <p:nvPr/>
        </p:nvSpPr>
        <p:spPr>
          <a:xfrm>
            <a:off x="457200" y="5897880"/>
            <a:ext cx="7315200" cy="457200"/>
          </a:xfrm>
          <a:prstGeom prst="roundRect">
            <a:avLst>
              <a:gd name="adj" fmla="val 12000"/>
            </a:avLst>
          </a:prstGeom>
          <a:solidFill>
            <a:srgbClr val="F7F7F5"/>
          </a:solidFill>
          <a:ln w="15875">
            <a:solidFill>
              <a:srgbClr val="C9D0CB"/>
            </a:solidFill>
            <a:prstDash val="solid"/>
          </a:ln>
        </p:spPr>
      </p:sp>
      <p:sp>
        <p:nvSpPr>
          <p:cNvPr id="46" name="Text Worked example: "/>
          <p:cNvSpPr txBox="1"/>
          <p:nvPr/>
        </p:nvSpPr>
        <p:spPr>
          <a:xfrm>
            <a:off x="548640" y="5934456"/>
            <a:ext cx="7132320" cy="384048"/>
          </a:xfrm>
          <a:prstGeom prst="rect">
            <a:avLst/>
          </a:prstGeom>
          <a:noFill/>
          <a:ln/>
        </p:spPr>
        <p:txBody>
          <a:bodyPr wrap="square" lIns="0" tIns="0" rIns="0" bIns="0" rtlCol="0" anchor="ctr"/>
          <a:lstStyle/>
          <a:p>
            <a:pPr algn="l" indent="0" marL="0">
              <a:spcAft>
                <a:spcPts val="200"/>
              </a:spcAft>
              <a:buNone/>
            </a:pPr>
            <a:r>
              <a:rPr lang="en-US" sz="1050" b="1" dirty="0">
                <a:solidFill>
                  <a:srgbClr val="1F4D3A"/>
                </a:solidFill>
                <a:latin typeface="Calibri" pitchFamily="34" charset="0"/>
                <a:ea typeface="Calibri" pitchFamily="34" charset="-122"/>
                <a:cs typeface="Calibri" pitchFamily="34" charset="-120"/>
              </a:rPr>
              <a:t>Worked example: </a:t>
            </a:r>
            <a:endParaRPr lang="en-US" sz="1100" dirty="0"/>
          </a:p>
          <a:p>
            <a:pPr algn="l" indent="0" marL="0">
              <a:spcAft>
                <a:spcPts val="200"/>
              </a:spcAft>
              <a:buNone/>
            </a:pPr>
            <a:r>
              <a:rPr lang="en-US" sz="1000" dirty="0">
                <a:solidFill>
                  <a:srgbClr val="1B2B22"/>
                </a:solidFill>
              </a:rPr>
              <a:t>“open login page” vs “login page”: characters 0.80, words 2 of 3 = 0.67, average 0.73.</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dupes: compare every pair of step patterns</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gherkin-copilot dupes  (the app’s Duplicates tab uses the same function)</a:t>
            </a:r>
            <a:endParaRPr lang="en-US" sz="1300" dirty="0"/>
          </a:p>
        </p:txBody>
      </p:sp>
      <p:sp>
        <p:nvSpPr>
          <p:cNvPr id="5" name="Box _load_steps()"/>
          <p:cNvSpPr/>
          <p:nvPr/>
        </p:nvSpPr>
        <p:spPr>
          <a:xfrm>
            <a:off x="457200" y="1554480"/>
            <a:ext cx="2011680" cy="914400"/>
          </a:xfrm>
          <a:prstGeom prst="roundRect">
            <a:avLst>
              <a:gd name="adj" fmla="val 6000"/>
            </a:avLst>
          </a:prstGeom>
          <a:solidFill>
            <a:srgbClr val="EEF5EF"/>
          </a:solidFill>
          <a:ln w="15875">
            <a:solidFill>
              <a:srgbClr val="3E8E4F"/>
            </a:solidFill>
            <a:prstDash val="solid"/>
          </a:ln>
        </p:spPr>
      </p:sp>
      <p:sp>
        <p:nvSpPr>
          <p:cNvPr id="6" name="Text _load_steps()"/>
          <p:cNvSpPr txBox="1"/>
          <p:nvPr/>
        </p:nvSpPr>
        <p:spPr>
          <a:xfrm>
            <a:off x="548640" y="1591056"/>
            <a:ext cx="1828800"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_load_steps()</a:t>
            </a:r>
            <a:endParaRPr lang="en-US" sz="1100" dirty="0"/>
          </a:p>
          <a:p>
            <a:pPr algn="ctr" indent="0" marL="0">
              <a:spcAft>
                <a:spcPts val="200"/>
              </a:spcAft>
              <a:buNone/>
            </a:pPr>
            <a:r>
              <a:rPr lang="en-US" sz="1000" dirty="0">
                <a:solidFill>
                  <a:srgbClr val="1B2B22"/>
                </a:solidFill>
              </a:rPr>
              <a:t>list[StepDef]</a:t>
            </a:r>
            <a:endParaRPr lang="en-US" sz="1100" dirty="0"/>
          </a:p>
        </p:txBody>
      </p:sp>
      <p:sp>
        <p:nvSpPr>
          <p:cNvPr id="7" name="Box normalize_pattern()"/>
          <p:cNvSpPr/>
          <p:nvPr/>
        </p:nvSpPr>
        <p:spPr>
          <a:xfrm>
            <a:off x="2880360" y="1554480"/>
            <a:ext cx="2194560" cy="914400"/>
          </a:xfrm>
          <a:prstGeom prst="roundRect">
            <a:avLst>
              <a:gd name="adj" fmla="val 6000"/>
            </a:avLst>
          </a:prstGeom>
          <a:solidFill>
            <a:srgbClr val="EEF5EF"/>
          </a:solidFill>
          <a:ln w="15875">
            <a:solidFill>
              <a:srgbClr val="3E8E4F"/>
            </a:solidFill>
            <a:prstDash val="solid"/>
          </a:ln>
        </p:spPr>
      </p:sp>
      <p:sp>
        <p:nvSpPr>
          <p:cNvPr id="8" name="Text normalize_pattern()"/>
          <p:cNvSpPr txBox="1"/>
          <p:nvPr/>
        </p:nvSpPr>
        <p:spPr>
          <a:xfrm>
            <a:off x="2971800" y="1591056"/>
            <a:ext cx="2011680"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normalize_pattern()</a:t>
            </a:r>
            <a:endParaRPr lang="en-US" sz="1100" dirty="0"/>
          </a:p>
          <a:p>
            <a:pPr algn="ctr" indent="0" marL="0">
              <a:spcAft>
                <a:spcPts val="200"/>
              </a:spcAft>
              <a:buNone/>
            </a:pPr>
            <a:r>
              <a:rPr lang="en-US" sz="1000" dirty="0">
                <a:solidFill>
                  <a:srgbClr val="1B2B22"/>
                </a:solidFill>
              </a:rPr>
              <a:t>{product}, (?P&lt;count&gt;\d+) → &lt;arg&gt;; drop filler words</a:t>
            </a:r>
            <a:endParaRPr lang="en-US" sz="1100" dirty="0"/>
          </a:p>
        </p:txBody>
      </p:sp>
      <p:sp>
        <p:nvSpPr>
          <p:cNvPr id="9" name="Box combinations(steps, 2)"/>
          <p:cNvSpPr/>
          <p:nvPr/>
        </p:nvSpPr>
        <p:spPr>
          <a:xfrm>
            <a:off x="5486400" y="1554480"/>
            <a:ext cx="2194560" cy="914400"/>
          </a:xfrm>
          <a:prstGeom prst="roundRect">
            <a:avLst>
              <a:gd name="adj" fmla="val 6000"/>
            </a:avLst>
          </a:prstGeom>
          <a:solidFill>
            <a:srgbClr val="EEF5EF"/>
          </a:solidFill>
          <a:ln w="15875">
            <a:solidFill>
              <a:srgbClr val="3E8E4F"/>
            </a:solidFill>
            <a:prstDash val="solid"/>
          </a:ln>
        </p:spPr>
      </p:sp>
      <p:sp>
        <p:nvSpPr>
          <p:cNvPr id="10" name="Text combinations(steps, 2)"/>
          <p:cNvSpPr txBox="1"/>
          <p:nvPr/>
        </p:nvSpPr>
        <p:spPr>
          <a:xfrm>
            <a:off x="5577840" y="1591056"/>
            <a:ext cx="2011680"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combinations(steps, 2)</a:t>
            </a:r>
            <a:endParaRPr lang="en-US" sz="1100" dirty="0"/>
          </a:p>
          <a:p>
            <a:pPr algn="ctr" indent="0" marL="0">
              <a:spcAft>
                <a:spcPts val="200"/>
              </a:spcAft>
              <a:buNone/>
            </a:pPr>
            <a:r>
              <a:rPr lang="en-US" sz="1000" dirty="0">
                <a:solidFill>
                  <a:srgbClr val="1B2B22"/>
                </a:solidFill>
              </a:rPr>
              <a:t>every pair once: n(n−1)/2</a:t>
            </a:r>
            <a:endParaRPr lang="en-US" sz="1100" dirty="0"/>
          </a:p>
        </p:txBody>
      </p:sp>
      <p:sp>
        <p:nvSpPr>
          <p:cNvPr id="11" name="Box similarity(a, b)"/>
          <p:cNvSpPr/>
          <p:nvPr/>
        </p:nvSpPr>
        <p:spPr>
          <a:xfrm>
            <a:off x="8092440" y="1554480"/>
            <a:ext cx="1828800" cy="914400"/>
          </a:xfrm>
          <a:prstGeom prst="roundRect">
            <a:avLst>
              <a:gd name="adj" fmla="val 6000"/>
            </a:avLst>
          </a:prstGeom>
          <a:solidFill>
            <a:srgbClr val="EEF5EF"/>
          </a:solidFill>
          <a:ln w="15875">
            <a:solidFill>
              <a:srgbClr val="3E8E4F"/>
            </a:solidFill>
            <a:prstDash val="solid"/>
          </a:ln>
        </p:spPr>
      </p:sp>
      <p:sp>
        <p:nvSpPr>
          <p:cNvPr id="12" name="Text similarity(a, b)"/>
          <p:cNvSpPr txBox="1"/>
          <p:nvPr/>
        </p:nvSpPr>
        <p:spPr>
          <a:xfrm>
            <a:off x="8183880" y="1591056"/>
            <a:ext cx="1645920"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similarity(a, b)</a:t>
            </a:r>
            <a:endParaRPr lang="en-US" sz="1100" dirty="0"/>
          </a:p>
          <a:p>
            <a:pPr algn="ctr" indent="0" marL="0">
              <a:spcAft>
                <a:spcPts val="200"/>
              </a:spcAft>
              <a:buNone/>
            </a:pPr>
            <a:r>
              <a:rPr lang="en-US" sz="1000" dirty="0">
                <a:solidFill>
                  <a:srgbClr val="1B2B22"/>
                </a:solidFill>
              </a:rPr>
              <a:t>same score as find</a:t>
            </a:r>
            <a:endParaRPr lang="en-US" sz="1100" dirty="0"/>
          </a:p>
        </p:txBody>
      </p:sp>
      <p:sp>
        <p:nvSpPr>
          <p:cNvPr id="13" name="Arrow"/>
          <p:cNvSpPr/>
          <p:nvPr/>
        </p:nvSpPr>
        <p:spPr>
          <a:xfrm>
            <a:off x="2468880" y="2011680"/>
            <a:ext cx="411480" cy="0"/>
          </a:xfrm>
          <a:prstGeom prst="line">
            <a:avLst/>
          </a:prstGeom>
          <a:noFill/>
          <a:ln w="19050">
            <a:solidFill>
              <a:srgbClr val="5F6F66"/>
            </a:solidFill>
            <a:prstDash val="solid"/>
            <a:tailEnd type="triangle"/>
          </a:ln>
        </p:spPr>
      </p:sp>
      <p:sp>
        <p:nvSpPr>
          <p:cNvPr id="14" name="Arrow"/>
          <p:cNvSpPr/>
          <p:nvPr/>
        </p:nvSpPr>
        <p:spPr>
          <a:xfrm>
            <a:off x="5074920" y="2011680"/>
            <a:ext cx="411480" cy="0"/>
          </a:xfrm>
          <a:prstGeom prst="line">
            <a:avLst/>
          </a:prstGeom>
          <a:noFill/>
          <a:ln w="19050">
            <a:solidFill>
              <a:srgbClr val="5F6F66"/>
            </a:solidFill>
            <a:prstDash val="solid"/>
            <a:tailEnd type="triangle"/>
          </a:ln>
        </p:spPr>
      </p:sp>
      <p:sp>
        <p:nvSpPr>
          <p:cNvPr id="15" name="Arrow"/>
          <p:cNvSpPr/>
          <p:nvPr/>
        </p:nvSpPr>
        <p:spPr>
          <a:xfrm>
            <a:off x="7680960" y="2011680"/>
            <a:ext cx="411480" cy="0"/>
          </a:xfrm>
          <a:prstGeom prst="line">
            <a:avLst/>
          </a:prstGeom>
          <a:noFill/>
          <a:ln w="19050">
            <a:solidFill>
              <a:srgbClr val="5F6F66"/>
            </a:solidFill>
            <a:prstDash val="solid"/>
            <a:tailEnd type="triangle"/>
          </a:ln>
        </p:spPr>
      </p:sp>
      <p:sp>
        <p:nvSpPr>
          <p:cNvPr id="16" name="Box score ≥ 0.6?"/>
          <p:cNvSpPr/>
          <p:nvPr/>
        </p:nvSpPr>
        <p:spPr>
          <a:xfrm>
            <a:off x="10149840" y="1554480"/>
            <a:ext cx="1581912" cy="914400"/>
          </a:xfrm>
          <a:prstGeom prst="roundRect">
            <a:avLst>
              <a:gd name="adj" fmla="val 6000"/>
            </a:avLst>
          </a:prstGeom>
          <a:solidFill>
            <a:srgbClr val="FFFFFF"/>
          </a:solidFill>
          <a:ln w="15875">
            <a:solidFill>
              <a:srgbClr val="E39B2D"/>
            </a:solidFill>
            <a:prstDash val="dash"/>
          </a:ln>
        </p:spPr>
      </p:sp>
      <p:sp>
        <p:nvSpPr>
          <p:cNvPr id="17" name="Text score ≥ 0.6?"/>
          <p:cNvSpPr txBox="1"/>
          <p:nvPr/>
        </p:nvSpPr>
        <p:spPr>
          <a:xfrm>
            <a:off x="10241280" y="1591056"/>
            <a:ext cx="1399032"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score ≥ 0.6?</a:t>
            </a:r>
            <a:endParaRPr lang="en-US" sz="1100" dirty="0"/>
          </a:p>
          <a:p>
            <a:pPr algn="ctr" indent="0" marL="0">
              <a:spcAft>
                <a:spcPts val="200"/>
              </a:spcAft>
              <a:buNone/>
            </a:pPr>
            <a:r>
              <a:rPr lang="en-US" sz="1000" dirty="0">
                <a:solidFill>
                  <a:srgbClr val="1B2B22"/>
                </a:solidFill>
              </a:rPr>
              <a:t>--threshold</a:t>
            </a:r>
            <a:endParaRPr lang="en-US" sz="1100" dirty="0"/>
          </a:p>
        </p:txBody>
      </p:sp>
      <p:sp>
        <p:nvSpPr>
          <p:cNvPr id="18" name="Arrow"/>
          <p:cNvSpPr/>
          <p:nvPr/>
        </p:nvSpPr>
        <p:spPr>
          <a:xfrm>
            <a:off x="9921240" y="2011680"/>
            <a:ext cx="228600" cy="0"/>
          </a:xfrm>
          <a:prstGeom prst="line">
            <a:avLst/>
          </a:prstGeom>
          <a:noFill/>
          <a:ln w="19050">
            <a:solidFill>
              <a:srgbClr val="5F6F66"/>
            </a:solidFill>
            <a:prstDash val="solid"/>
            <a:tailEnd type="triangle"/>
          </a:ln>
        </p:spPr>
      </p:sp>
      <p:sp>
        <p:nvSpPr>
          <p:cNvPr id="19" name="Box pairs, highest score first"/>
          <p:cNvSpPr/>
          <p:nvPr/>
        </p:nvSpPr>
        <p:spPr>
          <a:xfrm>
            <a:off x="2880360" y="3063240"/>
            <a:ext cx="7040880" cy="1051560"/>
          </a:xfrm>
          <a:prstGeom prst="roundRect">
            <a:avLst>
              <a:gd name="adj" fmla="val 5217"/>
            </a:avLst>
          </a:prstGeom>
          <a:solidFill>
            <a:srgbClr val="D7E9D9"/>
          </a:solidFill>
          <a:ln w="15875">
            <a:solidFill>
              <a:srgbClr val="1F4D3A"/>
            </a:solidFill>
            <a:prstDash val="solid"/>
          </a:ln>
        </p:spPr>
      </p:sp>
      <p:sp>
        <p:nvSpPr>
          <p:cNvPr id="20" name="Text pairs, highest score first"/>
          <p:cNvSpPr txBox="1"/>
          <p:nvPr/>
        </p:nvSpPr>
        <p:spPr>
          <a:xfrm>
            <a:off x="2971800" y="3099816"/>
            <a:ext cx="6858000" cy="978408"/>
          </a:xfrm>
          <a:prstGeom prst="rect">
            <a:avLst/>
          </a:prstGeom>
          <a:noFill/>
          <a:ln/>
        </p:spPr>
        <p:txBody>
          <a:bodyPr wrap="square" lIns="0" tIns="0" rIns="0" bIns="0" rtlCol="0" anchor="ctr"/>
          <a:lstStyle/>
          <a:p>
            <a:pPr algn="l" indent="0" marL="0">
              <a:spcAft>
                <a:spcPts val="200"/>
              </a:spcAft>
              <a:buNone/>
            </a:pPr>
            <a:r>
              <a:rPr lang="en-US" sz="1100" b="1" dirty="0">
                <a:solidFill>
                  <a:srgbClr val="1F4D3A"/>
                </a:solidFill>
                <a:latin typeface="Calibri" pitchFamily="34" charset="0"/>
                <a:ea typeface="Calibri" pitchFamily="34" charset="-122"/>
                <a:cs typeface="Calibri" pitchFamily="34" charset="-120"/>
              </a:rPr>
              <a:t>pairs, highest score first</a:t>
            </a:r>
            <a:endParaRPr lang="en-US" sz="1100" dirty="0"/>
          </a:p>
          <a:p>
            <a:pPr algn="l" indent="0" marL="0">
              <a:spcAft>
                <a:spcPts val="200"/>
              </a:spcAft>
              <a:buNone/>
            </a:pPr>
            <a:r>
              <a:rPr lang="en-US" sz="1000" dirty="0">
                <a:solidFill>
                  <a:srgbClr val="1B2B22"/>
                </a:solidFill>
              </a:rPr>
              <a:t>0.73  I am on the login page / the user is on the login page</a:t>
            </a:r>
            <a:endParaRPr lang="en-US" sz="1100" dirty="0"/>
          </a:p>
          <a:p>
            <a:pPr algn="l" indent="0" marL="0">
              <a:spcAft>
                <a:spcPts val="200"/>
              </a:spcAft>
              <a:buNone/>
            </a:pPr>
            <a:r>
              <a:rPr lang="en-US" sz="1000" dirty="0">
                <a:solidFill>
                  <a:srgbClr val="1B2B22"/>
                </a:solidFill>
              </a:rPr>
              <a:t>0.64  I add "{product}" to the cart / I put the "{product}" in my cart</a:t>
            </a:r>
            <a:endParaRPr lang="en-US" sz="1100" dirty="0"/>
          </a:p>
        </p:txBody>
      </p:sp>
      <p:sp>
        <p:nvSpPr>
          <p:cNvPr id="21" name="Arrow"/>
          <p:cNvSpPr/>
          <p:nvPr/>
        </p:nvSpPr>
        <p:spPr>
          <a:xfrm>
            <a:off x="10940796" y="2468880"/>
            <a:ext cx="0" cy="1120140"/>
          </a:xfrm>
          <a:prstGeom prst="line">
            <a:avLst/>
          </a:prstGeom>
          <a:noFill/>
          <a:ln w="19050">
            <a:solidFill>
              <a:srgbClr val="5F6F66"/>
            </a:solidFill>
            <a:prstDash val="solid"/>
          </a:ln>
        </p:spPr>
      </p:sp>
      <p:sp>
        <p:nvSpPr>
          <p:cNvPr id="22" name="Arrow"/>
          <p:cNvSpPr/>
          <p:nvPr/>
        </p:nvSpPr>
        <p:spPr>
          <a:xfrm flipH="1">
            <a:off x="9921240" y="3589020"/>
            <a:ext cx="1019556" cy="0"/>
          </a:xfrm>
          <a:prstGeom prst="line">
            <a:avLst/>
          </a:prstGeom>
          <a:noFill/>
          <a:ln w="19050">
            <a:solidFill>
              <a:srgbClr val="5F6F66"/>
            </a:solidFill>
            <a:prstDash val="solid"/>
            <a:tailEnd type="triangle"/>
          </a:ln>
        </p:spPr>
      </p:sp>
      <p:sp>
        <p:nvSpPr>
          <p:cNvPr id="23" name="Text 20"/>
          <p:cNvSpPr txBox="1"/>
          <p:nvPr/>
        </p:nvSpPr>
        <p:spPr>
          <a:xfrm>
            <a:off x="10757916" y="2910078"/>
            <a:ext cx="36576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yes</a:t>
            </a:r>
            <a:endParaRPr lang="en-US" sz="950" dirty="0"/>
          </a:p>
        </p:txBody>
      </p:sp>
      <p:sp>
        <p:nvSpPr>
          <p:cNvPr id="24" name="Box terminal"/>
          <p:cNvSpPr/>
          <p:nvPr/>
        </p:nvSpPr>
        <p:spPr>
          <a:xfrm>
            <a:off x="2880360" y="4709160"/>
            <a:ext cx="2103120" cy="822960"/>
          </a:xfrm>
          <a:prstGeom prst="roundRect">
            <a:avLst>
              <a:gd name="adj" fmla="val 6667"/>
            </a:avLst>
          </a:prstGeom>
          <a:solidFill>
            <a:srgbClr val="E3EEF4"/>
          </a:solidFill>
          <a:ln w="15875">
            <a:solidFill>
              <a:srgbClr val="2C6E8F"/>
            </a:solidFill>
            <a:prstDash val="solid"/>
          </a:ln>
        </p:spPr>
      </p:sp>
      <p:sp>
        <p:nvSpPr>
          <p:cNvPr id="25" name="Text terminal"/>
          <p:cNvSpPr txBox="1"/>
          <p:nvPr/>
        </p:nvSpPr>
        <p:spPr>
          <a:xfrm>
            <a:off x="2971800" y="4745736"/>
            <a:ext cx="1920240" cy="7498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terminal</a:t>
            </a:r>
            <a:endParaRPr lang="en-US" sz="1100" dirty="0"/>
          </a:p>
          <a:p>
            <a:pPr algn="ctr" indent="0" marL="0">
              <a:spcAft>
                <a:spcPts val="200"/>
              </a:spcAft>
              <a:buNone/>
            </a:pPr>
            <a:r>
              <a:rPr lang="en-US" sz="1000" dirty="0">
                <a:solidFill>
                  <a:srgbClr val="1B2B22"/>
                </a:solidFill>
              </a:rPr>
              <a:t>gherkin-copilot dupes</a:t>
            </a:r>
            <a:endParaRPr lang="en-US" sz="1100" dirty="0"/>
          </a:p>
        </p:txBody>
      </p:sp>
      <p:sp>
        <p:nvSpPr>
          <p:cNvPr id="26" name="Box merger.plan_merges()"/>
          <p:cNvSpPr/>
          <p:nvPr/>
        </p:nvSpPr>
        <p:spPr>
          <a:xfrm>
            <a:off x="5349240" y="4709160"/>
            <a:ext cx="2103120" cy="822960"/>
          </a:xfrm>
          <a:prstGeom prst="roundRect">
            <a:avLst>
              <a:gd name="adj" fmla="val 6667"/>
            </a:avLst>
          </a:prstGeom>
          <a:solidFill>
            <a:srgbClr val="EEF5EF"/>
          </a:solidFill>
          <a:ln w="15875">
            <a:solidFill>
              <a:srgbClr val="3E8E4F"/>
            </a:solidFill>
            <a:prstDash val="solid"/>
          </a:ln>
        </p:spPr>
      </p:sp>
      <p:sp>
        <p:nvSpPr>
          <p:cNvPr id="27" name="Text merger.plan_merges()"/>
          <p:cNvSpPr txBox="1"/>
          <p:nvPr/>
        </p:nvSpPr>
        <p:spPr>
          <a:xfrm>
            <a:off x="5440680" y="4745736"/>
            <a:ext cx="1920240" cy="7498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merger.plan_merges()</a:t>
            </a:r>
            <a:endParaRPr lang="en-US" sz="1100" dirty="0"/>
          </a:p>
          <a:p>
            <a:pPr algn="ctr" indent="0" marL="0">
              <a:spcAft>
                <a:spcPts val="200"/>
              </a:spcAft>
              <a:buNone/>
            </a:pPr>
            <a:r>
              <a:rPr lang="en-US" sz="1000" dirty="0">
                <a:solidFill>
                  <a:srgbClr val="1B2B22"/>
                </a:solidFill>
              </a:rPr>
              <a:t>next slide</a:t>
            </a:r>
            <a:endParaRPr lang="en-US" sz="1100" dirty="0"/>
          </a:p>
        </p:txBody>
      </p:sp>
      <p:sp>
        <p:nvSpPr>
          <p:cNvPr id="28" name="Box ui/dupes.py"/>
          <p:cNvSpPr/>
          <p:nvPr/>
        </p:nvSpPr>
        <p:spPr>
          <a:xfrm>
            <a:off x="7818120" y="4709160"/>
            <a:ext cx="2103120" cy="822960"/>
          </a:xfrm>
          <a:prstGeom prst="roundRect">
            <a:avLst>
              <a:gd name="adj" fmla="val 6667"/>
            </a:avLst>
          </a:prstGeom>
          <a:solidFill>
            <a:srgbClr val="EEF5EF"/>
          </a:solidFill>
          <a:ln w="15875">
            <a:solidFill>
              <a:srgbClr val="3E8E4F"/>
            </a:solidFill>
            <a:prstDash val="solid"/>
          </a:ln>
        </p:spPr>
      </p:sp>
      <p:sp>
        <p:nvSpPr>
          <p:cNvPr id="29" name="Text ui/dupes.py"/>
          <p:cNvSpPr txBox="1"/>
          <p:nvPr/>
        </p:nvSpPr>
        <p:spPr>
          <a:xfrm>
            <a:off x="7909560" y="4745736"/>
            <a:ext cx="1920240" cy="7498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ui/dupes.py</a:t>
            </a:r>
            <a:endParaRPr lang="en-US" sz="1100" dirty="0"/>
          </a:p>
          <a:p>
            <a:pPr algn="ctr" indent="0" marL="0">
              <a:spcAft>
                <a:spcPts val="200"/>
              </a:spcAft>
              <a:buNone/>
            </a:pPr>
            <a:r>
              <a:rPr lang="en-US" sz="1000" dirty="0">
                <a:solidFill>
                  <a:srgbClr val="1B2B22"/>
                </a:solidFill>
              </a:rPr>
              <a:t>Duplicates tab</a:t>
            </a:r>
            <a:endParaRPr lang="en-US" sz="1100" dirty="0"/>
          </a:p>
        </p:txBody>
      </p:sp>
      <p:sp>
        <p:nvSpPr>
          <p:cNvPr id="30" name="Arrow"/>
          <p:cNvSpPr/>
          <p:nvPr/>
        </p:nvSpPr>
        <p:spPr>
          <a:xfrm>
            <a:off x="3931920" y="4114800"/>
            <a:ext cx="0" cy="594360"/>
          </a:xfrm>
          <a:prstGeom prst="line">
            <a:avLst/>
          </a:prstGeom>
          <a:noFill/>
          <a:ln w="19050">
            <a:solidFill>
              <a:srgbClr val="5F6F66"/>
            </a:solidFill>
            <a:prstDash val="solid"/>
            <a:tailEnd type="triangle"/>
          </a:ln>
        </p:spPr>
      </p:sp>
      <p:sp>
        <p:nvSpPr>
          <p:cNvPr id="31" name="Arrow"/>
          <p:cNvSpPr/>
          <p:nvPr/>
        </p:nvSpPr>
        <p:spPr>
          <a:xfrm>
            <a:off x="6400800" y="4114800"/>
            <a:ext cx="0" cy="594360"/>
          </a:xfrm>
          <a:prstGeom prst="line">
            <a:avLst/>
          </a:prstGeom>
          <a:noFill/>
          <a:ln w="19050">
            <a:solidFill>
              <a:srgbClr val="5F6F66"/>
            </a:solidFill>
            <a:prstDash val="solid"/>
            <a:tailEnd type="triangle"/>
          </a:ln>
        </p:spPr>
      </p:sp>
      <p:sp>
        <p:nvSpPr>
          <p:cNvPr id="32" name="Arrow"/>
          <p:cNvSpPr/>
          <p:nvPr/>
        </p:nvSpPr>
        <p:spPr>
          <a:xfrm>
            <a:off x="8869680" y="4114800"/>
            <a:ext cx="0" cy="594360"/>
          </a:xfrm>
          <a:prstGeom prst="line">
            <a:avLst/>
          </a:prstGeom>
          <a:noFill/>
          <a:ln w="19050">
            <a:solidFill>
              <a:srgbClr val="5F6F66"/>
            </a:solidFill>
            <a:prstDash val="solid"/>
            <a:tailEnd type="triangle"/>
          </a:ln>
        </p:spPr>
      </p:sp>
      <p:sp>
        <p:nvSpPr>
          <p:cNvPr id="33" name="Box Worked example: "/>
          <p:cNvSpPr/>
          <p:nvPr/>
        </p:nvSpPr>
        <p:spPr>
          <a:xfrm>
            <a:off x="457200" y="5852160"/>
            <a:ext cx="7315200" cy="457200"/>
          </a:xfrm>
          <a:prstGeom prst="roundRect">
            <a:avLst>
              <a:gd name="adj" fmla="val 12000"/>
            </a:avLst>
          </a:prstGeom>
          <a:solidFill>
            <a:srgbClr val="F7F7F5"/>
          </a:solidFill>
          <a:ln w="15875">
            <a:solidFill>
              <a:srgbClr val="C9D0CB"/>
            </a:solidFill>
            <a:prstDash val="solid"/>
          </a:ln>
        </p:spPr>
      </p:sp>
      <p:sp>
        <p:nvSpPr>
          <p:cNvPr id="34" name="Text Worked example: "/>
          <p:cNvSpPr txBox="1"/>
          <p:nvPr/>
        </p:nvSpPr>
        <p:spPr>
          <a:xfrm>
            <a:off x="548640" y="5888736"/>
            <a:ext cx="7132320" cy="384048"/>
          </a:xfrm>
          <a:prstGeom prst="rect">
            <a:avLst/>
          </a:prstGeom>
          <a:noFill/>
          <a:ln/>
        </p:spPr>
        <p:txBody>
          <a:bodyPr wrap="square" lIns="0" tIns="0" rIns="0" bIns="0" rtlCol="0" anchor="ctr"/>
          <a:lstStyle/>
          <a:p>
            <a:pPr algn="l" indent="0" marL="0">
              <a:spcAft>
                <a:spcPts val="200"/>
              </a:spcAft>
              <a:buNone/>
            </a:pPr>
            <a:r>
              <a:rPr lang="en-US" sz="1050" b="1" dirty="0">
                <a:solidFill>
                  <a:srgbClr val="1F4D3A"/>
                </a:solidFill>
                <a:latin typeface="Calibri" pitchFamily="34" charset="0"/>
                <a:ea typeface="Calibri" pitchFamily="34" charset="-122"/>
                <a:cs typeface="Calibri" pitchFamily="34" charset="-120"/>
              </a:rPr>
              <a:t>Worked example: </a:t>
            </a:r>
            <a:endParaRPr lang="en-US" sz="1100" dirty="0"/>
          </a:p>
          <a:p>
            <a:pPr algn="l" indent="0" marL="0">
              <a:spcAft>
                <a:spcPts val="200"/>
              </a:spcAft>
              <a:buNone/>
            </a:pPr>
            <a:r>
              <a:rPr lang="en-US" sz="1000" dirty="0">
                <a:solidFill>
                  <a:srgbClr val="1B2B22"/>
                </a:solidFill>
              </a:rPr>
              <a:t>“add &lt;arg&gt; cart” vs “put &lt;arg&gt; cart”: characters 0.79, words 2 of 4 = 0.50, average 0.64.</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merge: plan, refuse anything unsafe, then preview</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gherkin-copilot merge demo  [--apply]   (the app’s Merge button uses the same planner)</a:t>
            </a:r>
            <a:endParaRPr lang="en-US" sz="1300" dirty="0"/>
          </a:p>
        </p:txBody>
      </p:sp>
      <p:sp>
        <p:nvSpPr>
          <p:cNvPr id="5" name="Box steps/*.py + features/*.feature"/>
          <p:cNvSpPr/>
          <p:nvPr/>
        </p:nvSpPr>
        <p:spPr>
          <a:xfrm>
            <a:off x="457200" y="1417320"/>
            <a:ext cx="2011680" cy="868680"/>
          </a:xfrm>
          <a:prstGeom prst="roundRect">
            <a:avLst>
              <a:gd name="adj" fmla="val 6316"/>
            </a:avLst>
          </a:prstGeom>
          <a:solidFill>
            <a:srgbClr val="FDF0D9"/>
          </a:solidFill>
          <a:ln w="15875">
            <a:solidFill>
              <a:srgbClr val="E39B2D"/>
            </a:solidFill>
            <a:prstDash val="solid"/>
          </a:ln>
        </p:spPr>
      </p:sp>
      <p:sp>
        <p:nvSpPr>
          <p:cNvPr id="6" name="Text steps/*.py + features/*.feature"/>
          <p:cNvSpPr txBox="1"/>
          <p:nvPr/>
        </p:nvSpPr>
        <p:spPr>
          <a:xfrm>
            <a:off x="548640" y="1453896"/>
            <a:ext cx="1828800" cy="79552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steps/*.py + features/*.feature</a:t>
            </a:r>
            <a:endParaRPr lang="en-US" sz="1100" dirty="0"/>
          </a:p>
        </p:txBody>
      </p:sp>
      <p:sp>
        <p:nvSpPr>
          <p:cNvPr id="7" name="Box build_index() parse_feature()"/>
          <p:cNvSpPr/>
          <p:nvPr/>
        </p:nvSpPr>
        <p:spPr>
          <a:xfrm>
            <a:off x="2743200" y="1417320"/>
            <a:ext cx="2011680" cy="868680"/>
          </a:xfrm>
          <a:prstGeom prst="roundRect">
            <a:avLst>
              <a:gd name="adj" fmla="val 6316"/>
            </a:avLst>
          </a:prstGeom>
          <a:solidFill>
            <a:srgbClr val="EEF5EF"/>
          </a:solidFill>
          <a:ln w="15875">
            <a:solidFill>
              <a:srgbClr val="3E8E4F"/>
            </a:solidFill>
            <a:prstDash val="solid"/>
          </a:ln>
        </p:spPr>
      </p:sp>
      <p:sp>
        <p:nvSpPr>
          <p:cNvPr id="8" name="Text build_index() parse_feature()"/>
          <p:cNvSpPr txBox="1"/>
          <p:nvPr/>
        </p:nvSpPr>
        <p:spPr>
          <a:xfrm>
            <a:off x="2834640" y="1453896"/>
            <a:ext cx="1828800" cy="79552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build_index()</a:t>
            </a:r>
            <a:endParaRPr lang="en-US" sz="1100" dirty="0"/>
          </a:p>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parse_feature()</a:t>
            </a:r>
            <a:endParaRPr lang="en-US" sz="1100" dirty="0"/>
          </a:p>
          <a:p>
            <a:pPr algn="ctr" indent="0" marL="0">
              <a:spcAft>
                <a:spcPts val="200"/>
              </a:spcAft>
              <a:buNone/>
            </a:pPr>
            <a:r>
              <a:rPr lang="en-US" sz="1000" dirty="0">
                <a:solidFill>
                  <a:srgbClr val="1B2B22"/>
                </a:solidFill>
              </a:rPr>
              <a:t>fresh scan of both</a:t>
            </a:r>
            <a:endParaRPr lang="en-US" sz="1100" dirty="0"/>
          </a:p>
        </p:txBody>
      </p:sp>
      <p:sp>
        <p:nvSpPr>
          <p:cNvPr id="9" name="Box _usage()"/>
          <p:cNvSpPr/>
          <p:nvPr/>
        </p:nvSpPr>
        <p:spPr>
          <a:xfrm>
            <a:off x="5029200" y="1417320"/>
            <a:ext cx="2011680" cy="868680"/>
          </a:xfrm>
          <a:prstGeom prst="roundRect">
            <a:avLst>
              <a:gd name="adj" fmla="val 6316"/>
            </a:avLst>
          </a:prstGeom>
          <a:solidFill>
            <a:srgbClr val="EEF5EF"/>
          </a:solidFill>
          <a:ln w="15875">
            <a:solidFill>
              <a:srgbClr val="3E8E4F"/>
            </a:solidFill>
            <a:prstDash val="solid"/>
          </a:ln>
        </p:spPr>
      </p:sp>
      <p:sp>
        <p:nvSpPr>
          <p:cNvPr id="10" name="Text _usage()"/>
          <p:cNvSpPr txBox="1"/>
          <p:nvPr/>
        </p:nvSpPr>
        <p:spPr>
          <a:xfrm>
            <a:off x="5120640" y="1453896"/>
            <a:ext cx="182880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_usage()</a:t>
            </a:r>
            <a:endParaRPr lang="en-US" sz="1100" dirty="0"/>
          </a:p>
          <a:p>
            <a:pPr algn="ctr" indent="0" marL="0">
              <a:spcAft>
                <a:spcPts val="200"/>
              </a:spcAft>
              <a:buNone/>
            </a:pPr>
            <a:r>
              <a:rPr lang="en-US" sz="1000" dirty="0">
                <a:solidFill>
                  <a:srgbClr val="1B2B22"/>
                </a:solidFill>
              </a:rPr>
              <a:t>how many feature lines bind to each step</a:t>
            </a:r>
            <a:endParaRPr lang="en-US" sz="1100" dirty="0"/>
          </a:p>
        </p:txBody>
      </p:sp>
      <p:sp>
        <p:nvSpPr>
          <p:cNvPr id="11" name="Box find_duplicates()"/>
          <p:cNvSpPr/>
          <p:nvPr/>
        </p:nvSpPr>
        <p:spPr>
          <a:xfrm>
            <a:off x="7315200" y="1417320"/>
            <a:ext cx="2011680" cy="868680"/>
          </a:xfrm>
          <a:prstGeom prst="roundRect">
            <a:avLst>
              <a:gd name="adj" fmla="val 6316"/>
            </a:avLst>
          </a:prstGeom>
          <a:solidFill>
            <a:srgbClr val="EEF5EF"/>
          </a:solidFill>
          <a:ln w="15875">
            <a:solidFill>
              <a:srgbClr val="3E8E4F"/>
            </a:solidFill>
            <a:prstDash val="solid"/>
          </a:ln>
        </p:spPr>
      </p:sp>
      <p:sp>
        <p:nvSpPr>
          <p:cNvPr id="12" name="Text find_duplicates()"/>
          <p:cNvSpPr txBox="1"/>
          <p:nvPr/>
        </p:nvSpPr>
        <p:spPr>
          <a:xfrm>
            <a:off x="7406640" y="1453896"/>
            <a:ext cx="182880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find_duplicates()</a:t>
            </a:r>
            <a:endParaRPr lang="en-US" sz="1100" dirty="0"/>
          </a:p>
          <a:p>
            <a:pPr algn="ctr" indent="0" marL="0">
              <a:spcAft>
                <a:spcPts val="200"/>
              </a:spcAft>
              <a:buNone/>
            </a:pPr>
            <a:r>
              <a:rPr lang="en-US" sz="1000" dirty="0">
                <a:solidFill>
                  <a:srgbClr val="1B2B22"/>
                </a:solidFill>
              </a:rPr>
              <a:t>pairs ≥ 0.6</a:t>
            </a:r>
            <a:endParaRPr lang="en-US" sz="1100" dirty="0"/>
          </a:p>
        </p:txBody>
      </p:sp>
      <p:sp>
        <p:nvSpPr>
          <p:cNvPr id="13" name="Box which to keep?"/>
          <p:cNvSpPr/>
          <p:nvPr/>
        </p:nvSpPr>
        <p:spPr>
          <a:xfrm>
            <a:off x="9601200" y="1417320"/>
            <a:ext cx="2130552" cy="868680"/>
          </a:xfrm>
          <a:prstGeom prst="roundRect">
            <a:avLst>
              <a:gd name="adj" fmla="val 6316"/>
            </a:avLst>
          </a:prstGeom>
          <a:solidFill>
            <a:srgbClr val="FFFFFF"/>
          </a:solidFill>
          <a:ln w="15875">
            <a:solidFill>
              <a:srgbClr val="E39B2D"/>
            </a:solidFill>
            <a:prstDash val="dash"/>
          </a:ln>
        </p:spPr>
      </p:sp>
      <p:sp>
        <p:nvSpPr>
          <p:cNvPr id="14" name="Text which to keep?"/>
          <p:cNvSpPr txBox="1"/>
          <p:nvPr/>
        </p:nvSpPr>
        <p:spPr>
          <a:xfrm>
            <a:off x="9692640" y="1453896"/>
            <a:ext cx="1947672"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which to keep?</a:t>
            </a:r>
            <a:endParaRPr lang="en-US" sz="1100" dirty="0"/>
          </a:p>
          <a:p>
            <a:pPr algn="ctr" indent="0" marL="0">
              <a:spcAft>
                <a:spcPts val="200"/>
              </a:spcAft>
              <a:buNone/>
            </a:pPr>
            <a:r>
              <a:rPr lang="en-US" sz="1000" dirty="0">
                <a:solidFill>
                  <a:srgbClr val="1B2B22"/>
                </a:solidFill>
              </a:rPr>
              <a:t>--keep, then most used, then first defined</a:t>
            </a:r>
            <a:endParaRPr lang="en-US" sz="1100" dirty="0"/>
          </a:p>
        </p:txBody>
      </p:sp>
      <p:sp>
        <p:nvSpPr>
          <p:cNvPr id="15" name="Arrow"/>
          <p:cNvSpPr/>
          <p:nvPr/>
        </p:nvSpPr>
        <p:spPr>
          <a:xfrm>
            <a:off x="2468880" y="1851660"/>
            <a:ext cx="274320" cy="0"/>
          </a:xfrm>
          <a:prstGeom prst="line">
            <a:avLst/>
          </a:prstGeom>
          <a:noFill/>
          <a:ln w="19050">
            <a:solidFill>
              <a:srgbClr val="5F6F66"/>
            </a:solidFill>
            <a:prstDash val="solid"/>
            <a:tailEnd type="triangle"/>
          </a:ln>
        </p:spPr>
      </p:sp>
      <p:sp>
        <p:nvSpPr>
          <p:cNvPr id="16" name="Arrow"/>
          <p:cNvSpPr/>
          <p:nvPr/>
        </p:nvSpPr>
        <p:spPr>
          <a:xfrm>
            <a:off x="4754880" y="1851660"/>
            <a:ext cx="274320" cy="0"/>
          </a:xfrm>
          <a:prstGeom prst="line">
            <a:avLst/>
          </a:prstGeom>
          <a:noFill/>
          <a:ln w="19050">
            <a:solidFill>
              <a:srgbClr val="5F6F66"/>
            </a:solidFill>
            <a:prstDash val="solid"/>
            <a:tailEnd type="triangle"/>
          </a:ln>
        </p:spPr>
      </p:sp>
      <p:sp>
        <p:nvSpPr>
          <p:cNvPr id="17" name="Arrow"/>
          <p:cNvSpPr/>
          <p:nvPr/>
        </p:nvSpPr>
        <p:spPr>
          <a:xfrm>
            <a:off x="7040880" y="1851660"/>
            <a:ext cx="274320" cy="0"/>
          </a:xfrm>
          <a:prstGeom prst="line">
            <a:avLst/>
          </a:prstGeom>
          <a:noFill/>
          <a:ln w="19050">
            <a:solidFill>
              <a:srgbClr val="5F6F66"/>
            </a:solidFill>
            <a:prstDash val="solid"/>
            <a:tailEnd type="triangle"/>
          </a:ln>
        </p:spPr>
      </p:sp>
      <p:sp>
        <p:nvSpPr>
          <p:cNvPr id="18" name="Arrow"/>
          <p:cNvSpPr/>
          <p:nvPr/>
        </p:nvSpPr>
        <p:spPr>
          <a:xfrm>
            <a:off x="9326880" y="1851660"/>
            <a:ext cx="274320" cy="0"/>
          </a:xfrm>
          <a:prstGeom prst="line">
            <a:avLst/>
          </a:prstGeom>
          <a:noFill/>
          <a:ln w="19050">
            <a:solidFill>
              <a:srgbClr val="5F6F66"/>
            </a:solidFill>
            <a:prstDash val="solid"/>
            <a:tailEnd type="triangle"/>
          </a:ln>
        </p:spPr>
      </p:sp>
      <p:sp>
        <p:nvSpPr>
          <p:cNvPr id="19" name="Box can’t merge: &lt;reason&gt;"/>
          <p:cNvSpPr/>
          <p:nvPr/>
        </p:nvSpPr>
        <p:spPr>
          <a:xfrm>
            <a:off x="457200" y="2880360"/>
            <a:ext cx="2011680" cy="960120"/>
          </a:xfrm>
          <a:prstGeom prst="roundRect">
            <a:avLst>
              <a:gd name="adj" fmla="val 5714"/>
            </a:avLst>
          </a:prstGeom>
          <a:solidFill>
            <a:srgbClr val="D7E9D9"/>
          </a:solidFill>
          <a:ln w="15875">
            <a:solidFill>
              <a:srgbClr val="1F4D3A"/>
            </a:solidFill>
            <a:prstDash val="solid"/>
          </a:ln>
        </p:spPr>
      </p:sp>
      <p:sp>
        <p:nvSpPr>
          <p:cNvPr id="20" name="Text can’t merge: &lt;reason&gt;"/>
          <p:cNvSpPr txBox="1"/>
          <p:nvPr/>
        </p:nvSpPr>
        <p:spPr>
          <a:xfrm>
            <a:off x="548640" y="2916936"/>
            <a:ext cx="182880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can’t merge: &lt;reason&gt;</a:t>
            </a:r>
            <a:endParaRPr lang="en-US" sz="1100" dirty="0"/>
          </a:p>
          <a:p>
            <a:pPr algn="ctr" indent="0" marL="0">
              <a:spcAft>
                <a:spcPts val="200"/>
              </a:spcAft>
              <a:buNone/>
            </a:pPr>
            <a:r>
              <a:rPr lang="en-US" sz="1000" dirty="0">
                <a:solidFill>
                  <a:srgbClr val="1B2B22"/>
                </a:solidFill>
              </a:rPr>
              <a:t>pair left untouched</a:t>
            </a:r>
            <a:endParaRPr lang="en-US" sz="1100" dirty="0"/>
          </a:p>
        </p:txBody>
      </p:sp>
      <p:sp>
        <p:nvSpPr>
          <p:cNvPr id="21" name="Box all checks pass?"/>
          <p:cNvSpPr/>
          <p:nvPr/>
        </p:nvSpPr>
        <p:spPr>
          <a:xfrm>
            <a:off x="2743200" y="2880360"/>
            <a:ext cx="2011680" cy="960120"/>
          </a:xfrm>
          <a:prstGeom prst="roundRect">
            <a:avLst>
              <a:gd name="adj" fmla="val 5714"/>
            </a:avLst>
          </a:prstGeom>
          <a:solidFill>
            <a:srgbClr val="FFFFFF"/>
          </a:solidFill>
          <a:ln w="15875">
            <a:solidFill>
              <a:srgbClr val="E39B2D"/>
            </a:solidFill>
            <a:prstDash val="dash"/>
          </a:ln>
        </p:spPr>
      </p:sp>
      <p:sp>
        <p:nvSpPr>
          <p:cNvPr id="22" name="Text all checks pass?"/>
          <p:cNvSpPr txBox="1"/>
          <p:nvPr/>
        </p:nvSpPr>
        <p:spPr>
          <a:xfrm>
            <a:off x="2834640" y="2916936"/>
            <a:ext cx="182880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all checks pass?</a:t>
            </a:r>
            <a:endParaRPr lang="en-US" sz="1100" dirty="0"/>
          </a:p>
        </p:txBody>
      </p:sp>
      <p:sp>
        <p:nvSpPr>
          <p:cNvPr id="23" name="Box _check_code()"/>
          <p:cNvSpPr/>
          <p:nvPr/>
        </p:nvSpPr>
        <p:spPr>
          <a:xfrm>
            <a:off x="5029200" y="2880360"/>
            <a:ext cx="2926080" cy="960120"/>
          </a:xfrm>
          <a:prstGeom prst="roundRect">
            <a:avLst>
              <a:gd name="adj" fmla="val 5714"/>
            </a:avLst>
          </a:prstGeom>
          <a:solidFill>
            <a:srgbClr val="EEF5EF"/>
          </a:solidFill>
          <a:ln w="15875">
            <a:solidFill>
              <a:srgbClr val="3E8E4F"/>
            </a:solidFill>
            <a:prstDash val="solid"/>
          </a:ln>
        </p:spPr>
      </p:sp>
      <p:sp>
        <p:nvSpPr>
          <p:cNvPr id="24" name="Text _check_code()"/>
          <p:cNvSpPr txBox="1"/>
          <p:nvPr/>
        </p:nvSpPr>
        <p:spPr>
          <a:xfrm>
            <a:off x="5120640" y="2916936"/>
            <a:ext cx="2743200"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_check_code()</a:t>
            </a:r>
            <a:endParaRPr lang="en-US" sz="1100" dirty="0"/>
          </a:p>
          <a:p>
            <a:pPr algn="ctr" indent="0" marL="0">
              <a:spcAft>
                <a:spcPts val="200"/>
              </a:spcAft>
              <a:buNone/>
            </a:pPr>
            <a:r>
              <a:rPr lang="en-US" sz="1000" dirty="0">
                <a:solidFill>
                  <a:srgbClr val="1B2B22"/>
                </a:solidFill>
              </a:rPr>
              <a:t>same decorator options; ast.dump of params + body equal; not referenced elsewhere; no extra decorators</a:t>
            </a:r>
            <a:endParaRPr lang="en-US" sz="1100" dirty="0"/>
          </a:p>
        </p:txBody>
      </p:sp>
      <p:sp>
        <p:nvSpPr>
          <p:cNvPr id="25" name="Box placeholder_names()"/>
          <p:cNvSpPr/>
          <p:nvPr/>
        </p:nvSpPr>
        <p:spPr>
          <a:xfrm>
            <a:off x="8229600" y="2880360"/>
            <a:ext cx="3502152" cy="960120"/>
          </a:xfrm>
          <a:prstGeom prst="roundRect">
            <a:avLst>
              <a:gd name="adj" fmla="val 5714"/>
            </a:avLst>
          </a:prstGeom>
          <a:solidFill>
            <a:srgbClr val="EEF5EF"/>
          </a:solidFill>
          <a:ln w="15875">
            <a:solidFill>
              <a:srgbClr val="3E8E4F"/>
            </a:solidFill>
            <a:prstDash val="solid"/>
          </a:ln>
        </p:spPr>
      </p:sp>
      <p:sp>
        <p:nvSpPr>
          <p:cNvPr id="26" name="Text placeholder_names()"/>
          <p:cNvSpPr txBox="1"/>
          <p:nvPr/>
        </p:nvSpPr>
        <p:spPr>
          <a:xfrm>
            <a:off x="8321040" y="2916936"/>
            <a:ext cx="3319272" cy="8869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placeholder_names()</a:t>
            </a:r>
            <a:endParaRPr lang="en-US" sz="1100" dirty="0"/>
          </a:p>
          <a:p>
            <a:pPr algn="ctr" indent="0" marL="0">
              <a:spcAft>
                <a:spcPts val="200"/>
              </a:spcAft>
              <a:buNone/>
            </a:pPr>
            <a:r>
              <a:rPr lang="en-US" sz="1000" dirty="0">
                <a:solidFill>
                  <a:srgbClr val="1B2B22"/>
                </a:solidFill>
              </a:rPr>
              <a:t>same keyword, same placeholders, no regex target</a:t>
            </a:r>
            <a:endParaRPr lang="en-US" sz="1100" dirty="0"/>
          </a:p>
        </p:txBody>
      </p:sp>
      <p:sp>
        <p:nvSpPr>
          <p:cNvPr id="27" name="Arrow"/>
          <p:cNvSpPr/>
          <p:nvPr/>
        </p:nvSpPr>
        <p:spPr>
          <a:xfrm>
            <a:off x="10666476" y="2286000"/>
            <a:ext cx="0" cy="594360"/>
          </a:xfrm>
          <a:prstGeom prst="line">
            <a:avLst/>
          </a:prstGeom>
          <a:noFill/>
          <a:ln w="19050">
            <a:solidFill>
              <a:srgbClr val="5F6F66"/>
            </a:solidFill>
            <a:prstDash val="solid"/>
            <a:tailEnd type="triangle"/>
          </a:ln>
        </p:spPr>
      </p:sp>
      <p:sp>
        <p:nvSpPr>
          <p:cNvPr id="28" name="Arrow"/>
          <p:cNvSpPr/>
          <p:nvPr/>
        </p:nvSpPr>
        <p:spPr>
          <a:xfrm flipH="1">
            <a:off x="7955280" y="3360420"/>
            <a:ext cx="274320" cy="0"/>
          </a:xfrm>
          <a:prstGeom prst="line">
            <a:avLst/>
          </a:prstGeom>
          <a:noFill/>
          <a:ln w="19050">
            <a:solidFill>
              <a:srgbClr val="5F6F66"/>
            </a:solidFill>
            <a:prstDash val="solid"/>
            <a:tailEnd type="triangle"/>
          </a:ln>
        </p:spPr>
      </p:sp>
      <p:sp>
        <p:nvSpPr>
          <p:cNvPr id="29" name="Arrow"/>
          <p:cNvSpPr/>
          <p:nvPr/>
        </p:nvSpPr>
        <p:spPr>
          <a:xfrm flipH="1">
            <a:off x="4754880" y="3360420"/>
            <a:ext cx="274320" cy="0"/>
          </a:xfrm>
          <a:prstGeom prst="line">
            <a:avLst/>
          </a:prstGeom>
          <a:noFill/>
          <a:ln w="19050">
            <a:solidFill>
              <a:srgbClr val="5F6F66"/>
            </a:solidFill>
            <a:prstDash val="solid"/>
            <a:tailEnd type="triangle"/>
          </a:ln>
        </p:spPr>
      </p:sp>
      <p:sp>
        <p:nvSpPr>
          <p:cNvPr id="30" name="Arrow"/>
          <p:cNvSpPr/>
          <p:nvPr/>
        </p:nvSpPr>
        <p:spPr>
          <a:xfrm flipH="1">
            <a:off x="2468880" y="3360420"/>
            <a:ext cx="274320" cy="0"/>
          </a:xfrm>
          <a:prstGeom prst="line">
            <a:avLst/>
          </a:prstGeom>
          <a:noFill/>
          <a:ln w="19050">
            <a:solidFill>
              <a:srgbClr val="5F6F66"/>
            </a:solidFill>
            <a:prstDash val="solid"/>
            <a:tailEnd type="triangle"/>
          </a:ln>
        </p:spPr>
      </p:sp>
      <p:sp>
        <p:nvSpPr>
          <p:cNvPr id="31" name="Text 28"/>
          <p:cNvSpPr txBox="1"/>
          <p:nvPr/>
        </p:nvSpPr>
        <p:spPr>
          <a:xfrm>
            <a:off x="2446020" y="3241548"/>
            <a:ext cx="32004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no</a:t>
            </a:r>
            <a:endParaRPr lang="en-US" sz="950" dirty="0"/>
          </a:p>
        </p:txBody>
      </p:sp>
      <p:sp>
        <p:nvSpPr>
          <p:cNvPr id="32" name="Box _plan_edits()"/>
          <p:cNvSpPr/>
          <p:nvPr/>
        </p:nvSpPr>
        <p:spPr>
          <a:xfrm>
            <a:off x="457200" y="4434840"/>
            <a:ext cx="2743200" cy="1005840"/>
          </a:xfrm>
          <a:prstGeom prst="roundRect">
            <a:avLst>
              <a:gd name="adj" fmla="val 5455"/>
            </a:avLst>
          </a:prstGeom>
          <a:solidFill>
            <a:srgbClr val="EEF5EF"/>
          </a:solidFill>
          <a:ln w="15875">
            <a:solidFill>
              <a:srgbClr val="3E8E4F"/>
            </a:solidFill>
            <a:prstDash val="solid"/>
          </a:ln>
        </p:spPr>
      </p:sp>
      <p:sp>
        <p:nvSpPr>
          <p:cNvPr id="33" name="Text _plan_edits()"/>
          <p:cNvSpPr txBox="1"/>
          <p:nvPr/>
        </p:nvSpPr>
        <p:spPr>
          <a:xfrm>
            <a:off x="548640" y="4471416"/>
            <a:ext cx="2560320" cy="9326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_plan_edits()</a:t>
            </a:r>
            <a:endParaRPr lang="en-US" sz="1100" dirty="0"/>
          </a:p>
          <a:p>
            <a:pPr algn="ctr" indent="0" marL="0">
              <a:spcAft>
                <a:spcPts val="200"/>
              </a:spcAft>
              <a:buNone/>
            </a:pPr>
            <a:r>
              <a:rPr lang="en-US" sz="1000" dirty="0">
                <a:solidFill>
                  <a:srgbClr val="1B2B22"/>
                </a:solidFill>
              </a:rPr>
              <a:t>capture() values from the old line, render() the kept wording, is_exact_match() check</a:t>
            </a:r>
            <a:endParaRPr lang="en-US" sz="1100" dirty="0"/>
          </a:p>
        </p:txBody>
      </p:sp>
      <p:sp>
        <p:nvSpPr>
          <p:cNvPr id="34" name="Box _changes()"/>
          <p:cNvSpPr/>
          <p:nvPr/>
        </p:nvSpPr>
        <p:spPr>
          <a:xfrm>
            <a:off x="3611880" y="4434840"/>
            <a:ext cx="2286000" cy="1005840"/>
          </a:xfrm>
          <a:prstGeom prst="roundRect">
            <a:avLst>
              <a:gd name="adj" fmla="val 5455"/>
            </a:avLst>
          </a:prstGeom>
          <a:solidFill>
            <a:srgbClr val="EEF5EF"/>
          </a:solidFill>
          <a:ln w="15875">
            <a:solidFill>
              <a:srgbClr val="3E8E4F"/>
            </a:solidFill>
            <a:prstDash val="solid"/>
          </a:ln>
        </p:spPr>
      </p:sp>
      <p:sp>
        <p:nvSpPr>
          <p:cNvPr id="35" name="Text _changes()"/>
          <p:cNvSpPr txBox="1"/>
          <p:nvPr/>
        </p:nvSpPr>
        <p:spPr>
          <a:xfrm>
            <a:off x="3703320" y="4471416"/>
            <a:ext cx="2103120" cy="9326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_changes()</a:t>
            </a:r>
            <a:endParaRPr lang="en-US" sz="1100" dirty="0"/>
          </a:p>
          <a:p>
            <a:pPr algn="ctr" indent="0" marL="0">
              <a:spcAft>
                <a:spcPts val="200"/>
              </a:spcAft>
              <a:buNone/>
            </a:pPr>
            <a:r>
              <a:rPr lang="en-US" sz="1000" dirty="0">
                <a:solidFill>
                  <a:srgbClr val="1B2B22"/>
                </a:solidFill>
              </a:rPr>
              <a:t>rewrite lines; _remove_function() bottom-up</a:t>
            </a:r>
            <a:endParaRPr lang="en-US" sz="1100" dirty="0"/>
          </a:p>
        </p:txBody>
      </p:sp>
      <p:sp>
        <p:nvSpPr>
          <p:cNvPr id="36" name="Box unified diff"/>
          <p:cNvSpPr/>
          <p:nvPr/>
        </p:nvSpPr>
        <p:spPr>
          <a:xfrm>
            <a:off x="6309360" y="4434840"/>
            <a:ext cx="2103120" cy="1005840"/>
          </a:xfrm>
          <a:prstGeom prst="roundRect">
            <a:avLst>
              <a:gd name="adj" fmla="val 5455"/>
            </a:avLst>
          </a:prstGeom>
          <a:solidFill>
            <a:srgbClr val="D7E9D9"/>
          </a:solidFill>
          <a:ln w="15875">
            <a:solidFill>
              <a:srgbClr val="1F4D3A"/>
            </a:solidFill>
            <a:prstDash val="solid"/>
          </a:ln>
        </p:spPr>
      </p:sp>
      <p:sp>
        <p:nvSpPr>
          <p:cNvPr id="37" name="Text unified diff"/>
          <p:cNvSpPr txBox="1"/>
          <p:nvPr/>
        </p:nvSpPr>
        <p:spPr>
          <a:xfrm>
            <a:off x="6400800" y="4471416"/>
            <a:ext cx="1920240" cy="9326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unified diff</a:t>
            </a:r>
            <a:endParaRPr lang="en-US" sz="1100" dirty="0"/>
          </a:p>
          <a:p>
            <a:pPr algn="ctr" indent="0" marL="0">
              <a:spcAft>
                <a:spcPts val="200"/>
              </a:spcAft>
              <a:buNone/>
            </a:pPr>
            <a:r>
              <a:rPr lang="en-US" sz="1000" dirty="0">
                <a:solidFill>
                  <a:srgbClr val="1B2B22"/>
                </a:solidFill>
              </a:rPr>
              <a:t>“Preview only, nothing was changed.”</a:t>
            </a:r>
            <a:endParaRPr lang="en-US" sz="1100" dirty="0"/>
          </a:p>
        </p:txBody>
      </p:sp>
      <p:sp>
        <p:nvSpPr>
          <p:cNvPr id="38" name="Box --apply?"/>
          <p:cNvSpPr/>
          <p:nvPr/>
        </p:nvSpPr>
        <p:spPr>
          <a:xfrm>
            <a:off x="8823960" y="4434840"/>
            <a:ext cx="1188720" cy="1005840"/>
          </a:xfrm>
          <a:prstGeom prst="roundRect">
            <a:avLst>
              <a:gd name="adj" fmla="val 5455"/>
            </a:avLst>
          </a:prstGeom>
          <a:solidFill>
            <a:srgbClr val="FFFFFF"/>
          </a:solidFill>
          <a:ln w="15875">
            <a:solidFill>
              <a:srgbClr val="E39B2D"/>
            </a:solidFill>
            <a:prstDash val="dash"/>
          </a:ln>
        </p:spPr>
      </p:sp>
      <p:sp>
        <p:nvSpPr>
          <p:cNvPr id="39" name="Text --apply?"/>
          <p:cNvSpPr txBox="1"/>
          <p:nvPr/>
        </p:nvSpPr>
        <p:spPr>
          <a:xfrm>
            <a:off x="8915400" y="4471416"/>
            <a:ext cx="1005840" cy="9326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--apply?</a:t>
            </a:r>
            <a:endParaRPr lang="en-US" sz="1100" dirty="0"/>
          </a:p>
        </p:txBody>
      </p:sp>
      <p:sp>
        <p:nvSpPr>
          <p:cNvPr id="40" name="Box apply()"/>
          <p:cNvSpPr/>
          <p:nvPr/>
        </p:nvSpPr>
        <p:spPr>
          <a:xfrm>
            <a:off x="10424160" y="4434840"/>
            <a:ext cx="1307592" cy="1005840"/>
          </a:xfrm>
          <a:prstGeom prst="roundRect">
            <a:avLst>
              <a:gd name="adj" fmla="val 5455"/>
            </a:avLst>
          </a:prstGeom>
          <a:solidFill>
            <a:srgbClr val="D7E9D9"/>
          </a:solidFill>
          <a:ln w="15875">
            <a:solidFill>
              <a:srgbClr val="1F4D3A"/>
            </a:solidFill>
            <a:prstDash val="solid"/>
          </a:ln>
        </p:spPr>
      </p:sp>
      <p:sp>
        <p:nvSpPr>
          <p:cNvPr id="41" name="Text apply()"/>
          <p:cNvSpPr txBox="1"/>
          <p:nvPr/>
        </p:nvSpPr>
        <p:spPr>
          <a:xfrm>
            <a:off x="10515600" y="4471416"/>
            <a:ext cx="1124712" cy="9326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apply()</a:t>
            </a:r>
            <a:endParaRPr lang="en-US" sz="1100" dirty="0"/>
          </a:p>
          <a:p>
            <a:pPr algn="ctr" indent="0" marL="0">
              <a:spcAft>
                <a:spcPts val="200"/>
              </a:spcAft>
              <a:buNone/>
            </a:pPr>
            <a:r>
              <a:rPr lang="en-US" sz="1000" dirty="0">
                <a:solidFill>
                  <a:srgbClr val="1B2B22"/>
                </a:solidFill>
              </a:rPr>
              <a:t>writes the files</a:t>
            </a:r>
            <a:endParaRPr lang="en-US" sz="1100" dirty="0"/>
          </a:p>
        </p:txBody>
      </p:sp>
      <p:sp>
        <p:nvSpPr>
          <p:cNvPr id="42" name="Arrow"/>
          <p:cNvSpPr/>
          <p:nvPr/>
        </p:nvSpPr>
        <p:spPr>
          <a:xfrm>
            <a:off x="3749040" y="3840480"/>
            <a:ext cx="0" cy="274320"/>
          </a:xfrm>
          <a:prstGeom prst="line">
            <a:avLst/>
          </a:prstGeom>
          <a:noFill/>
          <a:ln w="19050">
            <a:solidFill>
              <a:srgbClr val="5F6F66"/>
            </a:solidFill>
            <a:prstDash val="solid"/>
          </a:ln>
        </p:spPr>
      </p:sp>
      <p:sp>
        <p:nvSpPr>
          <p:cNvPr id="43" name="Arrow"/>
          <p:cNvSpPr/>
          <p:nvPr/>
        </p:nvSpPr>
        <p:spPr>
          <a:xfrm flipH="1">
            <a:off x="1828800" y="4114800"/>
            <a:ext cx="1920240" cy="0"/>
          </a:xfrm>
          <a:prstGeom prst="line">
            <a:avLst/>
          </a:prstGeom>
          <a:noFill/>
          <a:ln w="19050">
            <a:solidFill>
              <a:srgbClr val="5F6F66"/>
            </a:solidFill>
            <a:prstDash val="solid"/>
          </a:ln>
        </p:spPr>
      </p:sp>
      <p:sp>
        <p:nvSpPr>
          <p:cNvPr id="44" name="Arrow"/>
          <p:cNvSpPr/>
          <p:nvPr/>
        </p:nvSpPr>
        <p:spPr>
          <a:xfrm>
            <a:off x="1828800" y="4114800"/>
            <a:ext cx="0" cy="320040"/>
          </a:xfrm>
          <a:prstGeom prst="line">
            <a:avLst/>
          </a:prstGeom>
          <a:noFill/>
          <a:ln w="19050">
            <a:solidFill>
              <a:srgbClr val="5F6F66"/>
            </a:solidFill>
            <a:prstDash val="solid"/>
            <a:tailEnd type="triangle"/>
          </a:ln>
        </p:spPr>
      </p:sp>
      <p:sp>
        <p:nvSpPr>
          <p:cNvPr id="45" name="Text 42"/>
          <p:cNvSpPr txBox="1"/>
          <p:nvPr/>
        </p:nvSpPr>
        <p:spPr>
          <a:xfrm>
            <a:off x="2606040" y="3995928"/>
            <a:ext cx="36576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yes</a:t>
            </a:r>
            <a:endParaRPr lang="en-US" sz="950" dirty="0"/>
          </a:p>
        </p:txBody>
      </p:sp>
      <p:sp>
        <p:nvSpPr>
          <p:cNvPr id="46" name="Arrow"/>
          <p:cNvSpPr/>
          <p:nvPr/>
        </p:nvSpPr>
        <p:spPr>
          <a:xfrm>
            <a:off x="3200400" y="4937760"/>
            <a:ext cx="411480" cy="0"/>
          </a:xfrm>
          <a:prstGeom prst="line">
            <a:avLst/>
          </a:prstGeom>
          <a:noFill/>
          <a:ln w="19050">
            <a:solidFill>
              <a:srgbClr val="5F6F66"/>
            </a:solidFill>
            <a:prstDash val="solid"/>
            <a:tailEnd type="triangle"/>
          </a:ln>
        </p:spPr>
      </p:sp>
      <p:sp>
        <p:nvSpPr>
          <p:cNvPr id="47" name="Arrow"/>
          <p:cNvSpPr/>
          <p:nvPr/>
        </p:nvSpPr>
        <p:spPr>
          <a:xfrm>
            <a:off x="5897880" y="4937760"/>
            <a:ext cx="411480" cy="0"/>
          </a:xfrm>
          <a:prstGeom prst="line">
            <a:avLst/>
          </a:prstGeom>
          <a:noFill/>
          <a:ln w="19050">
            <a:solidFill>
              <a:srgbClr val="5F6F66"/>
            </a:solidFill>
            <a:prstDash val="solid"/>
            <a:tailEnd type="triangle"/>
          </a:ln>
        </p:spPr>
      </p:sp>
      <p:sp>
        <p:nvSpPr>
          <p:cNvPr id="48" name="Arrow"/>
          <p:cNvSpPr/>
          <p:nvPr/>
        </p:nvSpPr>
        <p:spPr>
          <a:xfrm>
            <a:off x="8412480" y="4937760"/>
            <a:ext cx="411480" cy="0"/>
          </a:xfrm>
          <a:prstGeom prst="line">
            <a:avLst/>
          </a:prstGeom>
          <a:noFill/>
          <a:ln w="19050">
            <a:solidFill>
              <a:srgbClr val="5F6F66"/>
            </a:solidFill>
            <a:prstDash val="solid"/>
            <a:tailEnd type="triangle"/>
          </a:ln>
        </p:spPr>
      </p:sp>
      <p:sp>
        <p:nvSpPr>
          <p:cNvPr id="49" name="Arrow"/>
          <p:cNvSpPr/>
          <p:nvPr/>
        </p:nvSpPr>
        <p:spPr>
          <a:xfrm>
            <a:off x="10012680" y="4937760"/>
            <a:ext cx="411480" cy="0"/>
          </a:xfrm>
          <a:prstGeom prst="line">
            <a:avLst/>
          </a:prstGeom>
          <a:noFill/>
          <a:ln w="19050">
            <a:solidFill>
              <a:srgbClr val="5F6F66"/>
            </a:solidFill>
            <a:prstDash val="solid"/>
            <a:tailEnd type="triangle"/>
          </a:ln>
        </p:spPr>
      </p:sp>
      <p:sp>
        <p:nvSpPr>
          <p:cNvPr id="50" name="Text 47"/>
          <p:cNvSpPr txBox="1"/>
          <p:nvPr/>
        </p:nvSpPr>
        <p:spPr>
          <a:xfrm>
            <a:off x="10035540" y="4818888"/>
            <a:ext cx="36576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yes</a:t>
            </a:r>
            <a:endParaRPr lang="en-US" sz="950" dirty="0"/>
          </a:p>
        </p:txBody>
      </p:sp>
      <p:sp>
        <p:nvSpPr>
          <p:cNvPr id="51" name="Box Demo: "/>
          <p:cNvSpPr/>
          <p:nvPr/>
        </p:nvSpPr>
        <p:spPr>
          <a:xfrm>
            <a:off x="457200" y="5715000"/>
            <a:ext cx="11274552" cy="640080"/>
          </a:xfrm>
          <a:prstGeom prst="roundRect">
            <a:avLst>
              <a:gd name="adj" fmla="val 8571"/>
            </a:avLst>
          </a:prstGeom>
          <a:solidFill>
            <a:srgbClr val="F7F7F5"/>
          </a:solidFill>
          <a:ln w="15875">
            <a:solidFill>
              <a:srgbClr val="C9D0CB"/>
            </a:solidFill>
            <a:prstDash val="solid"/>
          </a:ln>
        </p:spPr>
      </p:sp>
      <p:sp>
        <p:nvSpPr>
          <p:cNvPr id="52" name="Text Demo: "/>
          <p:cNvSpPr txBox="1"/>
          <p:nvPr/>
        </p:nvSpPr>
        <p:spPr>
          <a:xfrm>
            <a:off x="548640" y="5751576"/>
            <a:ext cx="11091672" cy="566928"/>
          </a:xfrm>
          <a:prstGeom prst="rect">
            <a:avLst/>
          </a:prstGeom>
          <a:noFill/>
          <a:ln/>
        </p:spPr>
        <p:txBody>
          <a:bodyPr wrap="square" lIns="0" tIns="0" rIns="0" bIns="0" rtlCol="0" anchor="ctr"/>
          <a:lstStyle/>
          <a:p>
            <a:pPr algn="l" indent="0" marL="0">
              <a:spcAft>
                <a:spcPts val="200"/>
              </a:spcAft>
              <a:buNone/>
            </a:pPr>
            <a:r>
              <a:rPr lang="en-US" sz="1050" b="1" dirty="0">
                <a:solidFill>
                  <a:srgbClr val="1F4D3A"/>
                </a:solidFill>
                <a:latin typeface="Calibri" pitchFamily="34" charset="0"/>
                <a:ea typeface="Calibri" pitchFamily="34" charset="-122"/>
                <a:cs typeface="Calibri" pitchFamily="34" charset="-120"/>
              </a:rPr>
              <a:t>Demo: </a:t>
            </a:r>
            <a:endParaRPr lang="en-US" sz="1100" dirty="0"/>
          </a:p>
          <a:p>
            <a:pPr algn="l" indent="0" marL="0">
              <a:spcAft>
                <a:spcPts val="200"/>
              </a:spcAft>
              <a:buNone/>
            </a:pPr>
            <a:r>
              <a:rPr lang="en-US" sz="1000" dirty="0">
                <a:solidFill>
                  <a:srgbClr val="1B2B22"/>
                </a:solidFill>
              </a:rPr>
              <a:t>2 pairs merged. 1 feature line rewritten (“I put the … in my cart” → “I add … to the cart”), put_in_cart() and user_on_login_page() removed. All 5 tests still pass.</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check and --stubs: is every scenario line backed by a step?</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gherkin-copilot check demo/drafts --path demo/steps --stubs</a:t>
            </a:r>
            <a:endParaRPr lang="en-US" sz="1300" dirty="0"/>
          </a:p>
        </p:txBody>
      </p:sp>
      <p:sp>
        <p:nvSpPr>
          <p:cNvPr id="5" name="Box demo/drafts/*.feature"/>
          <p:cNvSpPr/>
          <p:nvPr/>
        </p:nvSpPr>
        <p:spPr>
          <a:xfrm>
            <a:off x="457200" y="1417320"/>
            <a:ext cx="2011680" cy="868680"/>
          </a:xfrm>
          <a:prstGeom prst="roundRect">
            <a:avLst>
              <a:gd name="adj" fmla="val 6316"/>
            </a:avLst>
          </a:prstGeom>
          <a:solidFill>
            <a:srgbClr val="FDF0D9"/>
          </a:solidFill>
          <a:ln w="15875">
            <a:solidFill>
              <a:srgbClr val="E39B2D"/>
            </a:solidFill>
            <a:prstDash val="solid"/>
          </a:ln>
        </p:spPr>
      </p:sp>
      <p:sp>
        <p:nvSpPr>
          <p:cNvPr id="6" name="Text demo/drafts/*.feature"/>
          <p:cNvSpPr txBox="1"/>
          <p:nvPr/>
        </p:nvSpPr>
        <p:spPr>
          <a:xfrm>
            <a:off x="548640" y="1453896"/>
            <a:ext cx="182880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demo/drafts/*.feature</a:t>
            </a:r>
            <a:endParaRPr lang="en-US" sz="1100" dirty="0"/>
          </a:p>
        </p:txBody>
      </p:sp>
      <p:sp>
        <p:nvSpPr>
          <p:cNvPr id="7" name="Box iter_feature_files()"/>
          <p:cNvSpPr/>
          <p:nvPr/>
        </p:nvSpPr>
        <p:spPr>
          <a:xfrm>
            <a:off x="2743200" y="1417320"/>
            <a:ext cx="2011680" cy="868680"/>
          </a:xfrm>
          <a:prstGeom prst="roundRect">
            <a:avLst>
              <a:gd name="adj" fmla="val 6316"/>
            </a:avLst>
          </a:prstGeom>
          <a:solidFill>
            <a:srgbClr val="EEF5EF"/>
          </a:solidFill>
          <a:ln w="15875">
            <a:solidFill>
              <a:srgbClr val="3E8E4F"/>
            </a:solidFill>
            <a:prstDash val="solid"/>
          </a:ln>
        </p:spPr>
      </p:sp>
      <p:sp>
        <p:nvSpPr>
          <p:cNvPr id="8" name="Text iter_feature_files()"/>
          <p:cNvSpPr txBox="1"/>
          <p:nvPr/>
        </p:nvSpPr>
        <p:spPr>
          <a:xfrm>
            <a:off x="2834640" y="1453896"/>
            <a:ext cx="182880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iter_feature_files()</a:t>
            </a:r>
            <a:endParaRPr lang="en-US" sz="1100" dirty="0"/>
          </a:p>
          <a:p>
            <a:pPr algn="ctr" indent="0" marL="0">
              <a:spcAft>
                <a:spcPts val="200"/>
              </a:spcAft>
              <a:buNone/>
            </a:pPr>
            <a:r>
              <a:rPr lang="en-US" sz="1000" dirty="0">
                <a:solidFill>
                  <a:srgbClr val="1B2B22"/>
                </a:solidFill>
              </a:rPr>
              <a:t>rglob("*.feature")</a:t>
            </a:r>
            <a:endParaRPr lang="en-US" sz="1100" dirty="0"/>
          </a:p>
        </p:txBody>
      </p:sp>
      <p:sp>
        <p:nvSpPr>
          <p:cNvPr id="9" name="Box parse_feature()"/>
          <p:cNvSpPr/>
          <p:nvPr/>
        </p:nvSpPr>
        <p:spPr>
          <a:xfrm>
            <a:off x="5029200" y="1417320"/>
            <a:ext cx="2651760" cy="868680"/>
          </a:xfrm>
          <a:prstGeom prst="roundRect">
            <a:avLst>
              <a:gd name="adj" fmla="val 6316"/>
            </a:avLst>
          </a:prstGeom>
          <a:solidFill>
            <a:srgbClr val="EEF5EF"/>
          </a:solidFill>
          <a:ln w="15875">
            <a:solidFill>
              <a:srgbClr val="3E8E4F"/>
            </a:solidFill>
            <a:prstDash val="solid"/>
          </a:ln>
        </p:spPr>
      </p:sp>
      <p:sp>
        <p:nvSpPr>
          <p:cNvPr id="10" name="Text parse_feature()"/>
          <p:cNvSpPr txBox="1"/>
          <p:nvPr/>
        </p:nvSpPr>
        <p:spPr>
          <a:xfrm>
            <a:off x="5120640" y="1453896"/>
            <a:ext cx="246888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parse_feature()</a:t>
            </a:r>
            <a:endParaRPr lang="en-US" sz="1100" dirty="0"/>
          </a:p>
          <a:p>
            <a:pPr algn="ctr" indent="0" marL="0">
              <a:spcAft>
                <a:spcPts val="200"/>
              </a:spcAft>
              <a:buNone/>
            </a:pPr>
            <a:r>
              <a:rPr lang="en-US" sz="1000" dirty="0">
                <a:solidFill>
                  <a:srgbClr val="1B2B22"/>
                </a:solidFill>
              </a:rPr>
              <a:t>And/But → previous keyword; outlines from first Examples row; tables skipped</a:t>
            </a:r>
            <a:endParaRPr lang="en-US" sz="1100" dirty="0"/>
          </a:p>
        </p:txBody>
      </p:sp>
      <p:sp>
        <p:nvSpPr>
          <p:cNvPr id="11" name="Box FeatureStep(…)"/>
          <p:cNvSpPr/>
          <p:nvPr/>
        </p:nvSpPr>
        <p:spPr>
          <a:xfrm>
            <a:off x="7955280" y="1417320"/>
            <a:ext cx="1828800" cy="868680"/>
          </a:xfrm>
          <a:prstGeom prst="roundRect">
            <a:avLst>
              <a:gd name="adj" fmla="val 6316"/>
            </a:avLst>
          </a:prstGeom>
          <a:solidFill>
            <a:srgbClr val="EEF5EF"/>
          </a:solidFill>
          <a:ln w="15875">
            <a:solidFill>
              <a:srgbClr val="3E8E4F"/>
            </a:solidFill>
            <a:prstDash val="solid"/>
          </a:ln>
        </p:spPr>
      </p:sp>
      <p:sp>
        <p:nvSpPr>
          <p:cNvPr id="12" name="Text FeatureStep(…)"/>
          <p:cNvSpPr txBox="1"/>
          <p:nvPr/>
        </p:nvSpPr>
        <p:spPr>
          <a:xfrm>
            <a:off x="8046720" y="1453896"/>
            <a:ext cx="164592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FeatureStep(…)</a:t>
            </a:r>
            <a:endParaRPr lang="en-US" sz="1100" dirty="0"/>
          </a:p>
          <a:p>
            <a:pPr algn="ctr" indent="0" marL="0">
              <a:spcAft>
                <a:spcPts val="200"/>
              </a:spcAft>
              <a:buNone/>
            </a:pPr>
            <a:r>
              <a:rPr lang="en-US" sz="1000" dirty="0">
                <a:solidFill>
                  <a:srgbClr val="1B2B22"/>
                </a:solidFill>
              </a:rPr>
              <a:t>keyword, text, raw, file, line</a:t>
            </a:r>
            <a:endParaRPr lang="en-US" sz="1100" dirty="0"/>
          </a:p>
        </p:txBody>
      </p:sp>
      <p:sp>
        <p:nvSpPr>
          <p:cNvPr id="13" name="Arrow"/>
          <p:cNvSpPr/>
          <p:nvPr/>
        </p:nvSpPr>
        <p:spPr>
          <a:xfrm>
            <a:off x="2468880" y="1851660"/>
            <a:ext cx="274320" cy="0"/>
          </a:xfrm>
          <a:prstGeom prst="line">
            <a:avLst/>
          </a:prstGeom>
          <a:noFill/>
          <a:ln w="19050">
            <a:solidFill>
              <a:srgbClr val="5F6F66"/>
            </a:solidFill>
            <a:prstDash val="solid"/>
            <a:tailEnd type="triangle"/>
          </a:ln>
        </p:spPr>
      </p:sp>
      <p:sp>
        <p:nvSpPr>
          <p:cNvPr id="14" name="Arrow"/>
          <p:cNvSpPr/>
          <p:nvPr/>
        </p:nvSpPr>
        <p:spPr>
          <a:xfrm>
            <a:off x="4754880" y="1851660"/>
            <a:ext cx="274320" cy="0"/>
          </a:xfrm>
          <a:prstGeom prst="line">
            <a:avLst/>
          </a:prstGeom>
          <a:noFill/>
          <a:ln w="19050">
            <a:solidFill>
              <a:srgbClr val="5F6F66"/>
            </a:solidFill>
            <a:prstDash val="solid"/>
            <a:tailEnd type="triangle"/>
          </a:ln>
        </p:spPr>
      </p:sp>
      <p:sp>
        <p:nvSpPr>
          <p:cNvPr id="15" name="Arrow"/>
          <p:cNvSpPr/>
          <p:nvPr/>
        </p:nvSpPr>
        <p:spPr>
          <a:xfrm>
            <a:off x="7680960" y="1851660"/>
            <a:ext cx="274320" cy="0"/>
          </a:xfrm>
          <a:prstGeom prst="line">
            <a:avLst/>
          </a:prstGeom>
          <a:noFill/>
          <a:ln w="19050">
            <a:solidFill>
              <a:srgbClr val="5F6F66"/>
            </a:solidFill>
            <a:prstDash val="solid"/>
            <a:tailEnd type="triangle"/>
          </a:ln>
        </p:spPr>
      </p:sp>
      <p:sp>
        <p:nvSpPr>
          <p:cNvPr id="16" name="Box _load_steps()"/>
          <p:cNvSpPr/>
          <p:nvPr/>
        </p:nvSpPr>
        <p:spPr>
          <a:xfrm>
            <a:off x="10058400" y="1417320"/>
            <a:ext cx="1673352" cy="868680"/>
          </a:xfrm>
          <a:prstGeom prst="roundRect">
            <a:avLst>
              <a:gd name="adj" fmla="val 6316"/>
            </a:avLst>
          </a:prstGeom>
          <a:solidFill>
            <a:srgbClr val="EEF5EF"/>
          </a:solidFill>
          <a:ln w="15875">
            <a:solidFill>
              <a:srgbClr val="3E8E4F"/>
            </a:solidFill>
            <a:prstDash val="solid"/>
          </a:ln>
        </p:spPr>
      </p:sp>
      <p:sp>
        <p:nvSpPr>
          <p:cNvPr id="17" name="Text _load_steps()"/>
          <p:cNvSpPr txBox="1"/>
          <p:nvPr/>
        </p:nvSpPr>
        <p:spPr>
          <a:xfrm>
            <a:off x="10149840" y="1453896"/>
            <a:ext cx="1490472"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_load_steps()</a:t>
            </a:r>
            <a:endParaRPr lang="en-US" sz="1100" dirty="0"/>
          </a:p>
          <a:p>
            <a:pPr algn="ctr" indent="0" marL="0">
              <a:spcAft>
                <a:spcPts val="200"/>
              </a:spcAft>
              <a:buNone/>
            </a:pPr>
            <a:r>
              <a:rPr lang="en-US" sz="1000" dirty="0">
                <a:solidFill>
                  <a:srgbClr val="1B2B22"/>
                </a:solidFill>
              </a:rPr>
              <a:t>list[StepDef]</a:t>
            </a:r>
            <a:endParaRPr lang="en-US" sz="1100" dirty="0"/>
          </a:p>
        </p:txBody>
      </p:sp>
      <p:sp>
        <p:nvSpPr>
          <p:cNvPr id="18" name="Box check_steps()"/>
          <p:cNvSpPr/>
          <p:nvPr/>
        </p:nvSpPr>
        <p:spPr>
          <a:xfrm>
            <a:off x="7955280" y="2834640"/>
            <a:ext cx="3776472" cy="868680"/>
          </a:xfrm>
          <a:prstGeom prst="roundRect">
            <a:avLst>
              <a:gd name="adj" fmla="val 6316"/>
            </a:avLst>
          </a:prstGeom>
          <a:solidFill>
            <a:srgbClr val="EEF5EF"/>
          </a:solidFill>
          <a:ln w="15875">
            <a:solidFill>
              <a:srgbClr val="3E8E4F"/>
            </a:solidFill>
            <a:prstDash val="solid"/>
          </a:ln>
        </p:spPr>
      </p:sp>
      <p:sp>
        <p:nvSpPr>
          <p:cNvPr id="19" name="Text check_steps()"/>
          <p:cNvSpPr txBox="1"/>
          <p:nvPr/>
        </p:nvSpPr>
        <p:spPr>
          <a:xfrm>
            <a:off x="8046720" y="2871216"/>
            <a:ext cx="3593592"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check_steps()</a:t>
            </a:r>
            <a:endParaRPr lang="en-US" sz="1100" dirty="0"/>
          </a:p>
          <a:p>
            <a:pPr algn="ctr" indent="0" marL="0">
              <a:spcAft>
                <a:spcPts val="200"/>
              </a:spcAft>
              <a:buNone/>
            </a:pPr>
            <a:r>
              <a:rPr lang="en-US" sz="1000" dirty="0">
                <a:solidFill>
                  <a:srgbClr val="1B2B22"/>
                </a:solidFill>
              </a:rPr>
              <a:t>binds() = keyword matches (or @step) AND is_exact_match()</a:t>
            </a:r>
            <a:endParaRPr lang="en-US" sz="1100" dirty="0"/>
          </a:p>
        </p:txBody>
      </p:sp>
      <p:sp>
        <p:nvSpPr>
          <p:cNvPr id="20" name="Arrow"/>
          <p:cNvSpPr/>
          <p:nvPr/>
        </p:nvSpPr>
        <p:spPr>
          <a:xfrm>
            <a:off x="8869680" y="2286000"/>
            <a:ext cx="0" cy="548640"/>
          </a:xfrm>
          <a:prstGeom prst="line">
            <a:avLst/>
          </a:prstGeom>
          <a:noFill/>
          <a:ln w="19050">
            <a:solidFill>
              <a:srgbClr val="5F6F66"/>
            </a:solidFill>
            <a:prstDash val="solid"/>
            <a:tailEnd type="triangle"/>
          </a:ln>
        </p:spPr>
      </p:sp>
      <p:sp>
        <p:nvSpPr>
          <p:cNvPr id="21" name="Arrow"/>
          <p:cNvSpPr/>
          <p:nvPr/>
        </p:nvSpPr>
        <p:spPr>
          <a:xfrm>
            <a:off x="10895076" y="2286000"/>
            <a:ext cx="0" cy="548640"/>
          </a:xfrm>
          <a:prstGeom prst="line">
            <a:avLst/>
          </a:prstGeom>
          <a:noFill/>
          <a:ln w="19050">
            <a:solidFill>
              <a:srgbClr val="5F6F66"/>
            </a:solidFill>
            <a:prstDash val="solid"/>
            <a:tailEnd type="triangle"/>
          </a:ln>
        </p:spPr>
      </p:sp>
      <p:sp>
        <p:nvSpPr>
          <p:cNvPr id="22" name="Box how many bind?"/>
          <p:cNvSpPr/>
          <p:nvPr/>
        </p:nvSpPr>
        <p:spPr>
          <a:xfrm>
            <a:off x="5394960" y="2834640"/>
            <a:ext cx="2011680" cy="868680"/>
          </a:xfrm>
          <a:prstGeom prst="roundRect">
            <a:avLst>
              <a:gd name="adj" fmla="val 6316"/>
            </a:avLst>
          </a:prstGeom>
          <a:solidFill>
            <a:srgbClr val="FFFFFF"/>
          </a:solidFill>
          <a:ln w="15875">
            <a:solidFill>
              <a:srgbClr val="E39B2D"/>
            </a:solidFill>
            <a:prstDash val="dash"/>
          </a:ln>
        </p:spPr>
      </p:sp>
      <p:sp>
        <p:nvSpPr>
          <p:cNvPr id="23" name="Text how many bind?"/>
          <p:cNvSpPr txBox="1"/>
          <p:nvPr/>
        </p:nvSpPr>
        <p:spPr>
          <a:xfrm>
            <a:off x="5486400" y="2871216"/>
            <a:ext cx="182880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how many bind?</a:t>
            </a:r>
            <a:endParaRPr lang="en-US" sz="1100" dirty="0"/>
          </a:p>
        </p:txBody>
      </p:sp>
      <p:sp>
        <p:nvSpPr>
          <p:cNvPr id="24" name="Arrow"/>
          <p:cNvSpPr/>
          <p:nvPr/>
        </p:nvSpPr>
        <p:spPr>
          <a:xfrm flipH="1">
            <a:off x="7406640" y="3268980"/>
            <a:ext cx="548640" cy="0"/>
          </a:xfrm>
          <a:prstGeom prst="line">
            <a:avLst/>
          </a:prstGeom>
          <a:noFill/>
          <a:ln w="19050">
            <a:solidFill>
              <a:srgbClr val="5F6F66"/>
            </a:solidFill>
            <a:prstDash val="solid"/>
            <a:tailEnd type="triangle"/>
          </a:ln>
        </p:spPr>
      </p:sp>
      <p:sp>
        <p:nvSpPr>
          <p:cNvPr id="25" name="Box 1 → ok  ✓"/>
          <p:cNvSpPr/>
          <p:nvPr/>
        </p:nvSpPr>
        <p:spPr>
          <a:xfrm>
            <a:off x="2743200" y="2606040"/>
            <a:ext cx="2103120" cy="365760"/>
          </a:xfrm>
          <a:prstGeom prst="roundRect">
            <a:avLst>
              <a:gd name="adj" fmla="val 15000"/>
            </a:avLst>
          </a:prstGeom>
          <a:solidFill>
            <a:srgbClr val="D7E9D9"/>
          </a:solidFill>
          <a:ln w="15875">
            <a:solidFill>
              <a:srgbClr val="1F4D3A"/>
            </a:solidFill>
            <a:prstDash val="solid"/>
          </a:ln>
        </p:spPr>
      </p:sp>
      <p:sp>
        <p:nvSpPr>
          <p:cNvPr id="26" name="Text 1 → ok  ✓"/>
          <p:cNvSpPr txBox="1"/>
          <p:nvPr/>
        </p:nvSpPr>
        <p:spPr>
          <a:xfrm>
            <a:off x="2834640" y="2642616"/>
            <a:ext cx="1920240" cy="2926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1 → ok  ✓</a:t>
            </a:r>
            <a:endParaRPr lang="en-US" sz="1100" dirty="0"/>
          </a:p>
        </p:txBody>
      </p:sp>
      <p:sp>
        <p:nvSpPr>
          <p:cNvPr id="27" name="Box 0 → missing  ✗"/>
          <p:cNvSpPr/>
          <p:nvPr/>
        </p:nvSpPr>
        <p:spPr>
          <a:xfrm>
            <a:off x="2743200" y="3063240"/>
            <a:ext cx="2103120" cy="365760"/>
          </a:xfrm>
          <a:prstGeom prst="roundRect">
            <a:avLst>
              <a:gd name="adj" fmla="val 15000"/>
            </a:avLst>
          </a:prstGeom>
          <a:solidFill>
            <a:srgbClr val="D7E9D9"/>
          </a:solidFill>
          <a:ln w="15875">
            <a:solidFill>
              <a:srgbClr val="1F4D3A"/>
            </a:solidFill>
            <a:prstDash val="solid"/>
          </a:ln>
        </p:spPr>
      </p:sp>
      <p:sp>
        <p:nvSpPr>
          <p:cNvPr id="28" name="Text 0 → missing  ✗"/>
          <p:cNvSpPr txBox="1"/>
          <p:nvPr/>
        </p:nvSpPr>
        <p:spPr>
          <a:xfrm>
            <a:off x="2834640" y="3099816"/>
            <a:ext cx="1920240" cy="2926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0 → missing  ✗</a:t>
            </a:r>
            <a:endParaRPr lang="en-US" sz="1100" dirty="0"/>
          </a:p>
        </p:txBody>
      </p:sp>
      <p:sp>
        <p:nvSpPr>
          <p:cNvPr id="29" name="Box 2+ → ambiguous  !"/>
          <p:cNvSpPr/>
          <p:nvPr/>
        </p:nvSpPr>
        <p:spPr>
          <a:xfrm>
            <a:off x="2743200" y="3520440"/>
            <a:ext cx="2103120" cy="365760"/>
          </a:xfrm>
          <a:prstGeom prst="roundRect">
            <a:avLst>
              <a:gd name="adj" fmla="val 15000"/>
            </a:avLst>
          </a:prstGeom>
          <a:solidFill>
            <a:srgbClr val="D7E9D9"/>
          </a:solidFill>
          <a:ln w="15875">
            <a:solidFill>
              <a:srgbClr val="1F4D3A"/>
            </a:solidFill>
            <a:prstDash val="solid"/>
          </a:ln>
        </p:spPr>
      </p:sp>
      <p:sp>
        <p:nvSpPr>
          <p:cNvPr id="30" name="Text 2+ → ambiguous  !"/>
          <p:cNvSpPr txBox="1"/>
          <p:nvPr/>
        </p:nvSpPr>
        <p:spPr>
          <a:xfrm>
            <a:off x="2834640" y="3557016"/>
            <a:ext cx="1920240" cy="2926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2+ → ambiguous  !</a:t>
            </a:r>
            <a:endParaRPr lang="en-US" sz="1100" dirty="0"/>
          </a:p>
        </p:txBody>
      </p:sp>
      <p:sp>
        <p:nvSpPr>
          <p:cNvPr id="31" name="Arrow"/>
          <p:cNvSpPr/>
          <p:nvPr/>
        </p:nvSpPr>
        <p:spPr>
          <a:xfrm flipH="1" flipV="1">
            <a:off x="4846320" y="2788920"/>
            <a:ext cx="548640" cy="219456"/>
          </a:xfrm>
          <a:prstGeom prst="line">
            <a:avLst/>
          </a:prstGeom>
          <a:noFill/>
          <a:ln w="19050">
            <a:solidFill>
              <a:srgbClr val="5F6F66"/>
            </a:solidFill>
            <a:prstDash val="solid"/>
            <a:tailEnd type="triangle"/>
          </a:ln>
        </p:spPr>
      </p:sp>
      <p:sp>
        <p:nvSpPr>
          <p:cNvPr id="32" name="Arrow"/>
          <p:cNvSpPr/>
          <p:nvPr/>
        </p:nvSpPr>
        <p:spPr>
          <a:xfrm flipH="1" flipV="1">
            <a:off x="4846320" y="3246120"/>
            <a:ext cx="548640" cy="22860"/>
          </a:xfrm>
          <a:prstGeom prst="line">
            <a:avLst/>
          </a:prstGeom>
          <a:noFill/>
          <a:ln w="19050">
            <a:solidFill>
              <a:srgbClr val="5F6F66"/>
            </a:solidFill>
            <a:prstDash val="solid"/>
            <a:tailEnd type="triangle"/>
          </a:ln>
        </p:spPr>
      </p:sp>
      <p:sp>
        <p:nvSpPr>
          <p:cNvPr id="33" name="Arrow"/>
          <p:cNvSpPr/>
          <p:nvPr/>
        </p:nvSpPr>
        <p:spPr>
          <a:xfrm flipH="1">
            <a:off x="4846320" y="3529584"/>
            <a:ext cx="548640" cy="173736"/>
          </a:xfrm>
          <a:prstGeom prst="line">
            <a:avLst/>
          </a:prstGeom>
          <a:noFill/>
          <a:ln w="19050">
            <a:solidFill>
              <a:srgbClr val="5F6F66"/>
            </a:solidFill>
            <a:prstDash val="solid"/>
            <a:tailEnd type="triangle"/>
          </a:ln>
        </p:spPr>
      </p:sp>
      <p:sp>
        <p:nvSpPr>
          <p:cNvPr id="34" name="Box find(limit 3, min 0.5)"/>
          <p:cNvSpPr/>
          <p:nvPr/>
        </p:nvSpPr>
        <p:spPr>
          <a:xfrm>
            <a:off x="457200" y="2834640"/>
            <a:ext cx="1920240" cy="868680"/>
          </a:xfrm>
          <a:prstGeom prst="roundRect">
            <a:avLst>
              <a:gd name="adj" fmla="val 6316"/>
            </a:avLst>
          </a:prstGeom>
          <a:solidFill>
            <a:srgbClr val="EEF5EF"/>
          </a:solidFill>
          <a:ln w="15875">
            <a:solidFill>
              <a:srgbClr val="3E8E4F"/>
            </a:solidFill>
            <a:prstDash val="solid"/>
          </a:ln>
        </p:spPr>
      </p:sp>
      <p:sp>
        <p:nvSpPr>
          <p:cNvPr id="35" name="Text find(limit 3, min 0.5)"/>
          <p:cNvSpPr txBox="1"/>
          <p:nvPr/>
        </p:nvSpPr>
        <p:spPr>
          <a:xfrm>
            <a:off x="548640" y="2871216"/>
            <a:ext cx="1737360" cy="79552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find(limit 3, min 0.5)</a:t>
            </a:r>
            <a:endParaRPr lang="en-US" sz="1100" dirty="0"/>
          </a:p>
          <a:p>
            <a:pPr algn="ctr" indent="0" marL="0">
              <a:spcAft>
                <a:spcPts val="200"/>
              </a:spcAft>
              <a:buNone/>
            </a:pPr>
            <a:r>
              <a:rPr lang="en-US" sz="1000" dirty="0">
                <a:solidFill>
                  <a:srgbClr val="1B2B22"/>
                </a:solidFill>
              </a:rPr>
              <a:t>“did you mean” for missing lines</a:t>
            </a:r>
            <a:endParaRPr lang="en-US" sz="1100" dirty="0"/>
          </a:p>
        </p:txBody>
      </p:sp>
      <p:sp>
        <p:nvSpPr>
          <p:cNvPr id="36" name="Arrow"/>
          <p:cNvSpPr/>
          <p:nvPr/>
        </p:nvSpPr>
        <p:spPr>
          <a:xfrm flipH="1">
            <a:off x="2377440" y="3246120"/>
            <a:ext cx="365760" cy="22860"/>
          </a:xfrm>
          <a:prstGeom prst="line">
            <a:avLst/>
          </a:prstGeom>
          <a:noFill/>
          <a:ln w="19050">
            <a:solidFill>
              <a:srgbClr val="5F6F66"/>
            </a:solidFill>
            <a:prstDash val="solid"/>
            <a:tailEnd type="triangle"/>
          </a:ln>
        </p:spPr>
      </p:sp>
      <p:sp>
        <p:nvSpPr>
          <p:cNvPr id="37" name="Box --stubs?"/>
          <p:cNvSpPr/>
          <p:nvPr/>
        </p:nvSpPr>
        <p:spPr>
          <a:xfrm>
            <a:off x="2743200" y="4434840"/>
            <a:ext cx="2103120" cy="868680"/>
          </a:xfrm>
          <a:prstGeom prst="roundRect">
            <a:avLst>
              <a:gd name="adj" fmla="val 6316"/>
            </a:avLst>
          </a:prstGeom>
          <a:solidFill>
            <a:srgbClr val="FFFFFF"/>
          </a:solidFill>
          <a:ln w="15875">
            <a:solidFill>
              <a:srgbClr val="E39B2D"/>
            </a:solidFill>
            <a:prstDash val="dash"/>
          </a:ln>
        </p:spPr>
      </p:sp>
      <p:sp>
        <p:nvSpPr>
          <p:cNvPr id="38" name="Text --stubs?"/>
          <p:cNvSpPr txBox="1"/>
          <p:nvPr/>
        </p:nvSpPr>
        <p:spPr>
          <a:xfrm>
            <a:off x="2834640" y="4471416"/>
            <a:ext cx="192024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--stubs?</a:t>
            </a:r>
            <a:endParaRPr lang="en-US" sz="1100" dirty="0"/>
          </a:p>
        </p:txBody>
      </p:sp>
      <p:sp>
        <p:nvSpPr>
          <p:cNvPr id="39" name="Arrow"/>
          <p:cNvSpPr/>
          <p:nvPr/>
        </p:nvSpPr>
        <p:spPr>
          <a:xfrm>
            <a:off x="3794760" y="3886200"/>
            <a:ext cx="0" cy="548640"/>
          </a:xfrm>
          <a:prstGeom prst="line">
            <a:avLst/>
          </a:prstGeom>
          <a:noFill/>
          <a:ln w="19050">
            <a:solidFill>
              <a:srgbClr val="5F6F66"/>
            </a:solidFill>
            <a:prstDash val="solid"/>
            <a:tailEnd type="triangle"/>
          </a:ln>
        </p:spPr>
      </p:sp>
      <p:sp>
        <p:nvSpPr>
          <p:cNvPr id="40" name="Text 37"/>
          <p:cNvSpPr txBox="1"/>
          <p:nvPr/>
        </p:nvSpPr>
        <p:spPr>
          <a:xfrm>
            <a:off x="3881628" y="4041648"/>
            <a:ext cx="114300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missing lines only</a:t>
            </a:r>
            <a:endParaRPr lang="en-US" sz="950" dirty="0"/>
          </a:p>
        </p:txBody>
      </p:sp>
      <p:sp>
        <p:nvSpPr>
          <p:cNvPr id="41" name="Box make_stub(step)"/>
          <p:cNvSpPr/>
          <p:nvPr/>
        </p:nvSpPr>
        <p:spPr>
          <a:xfrm>
            <a:off x="5257800" y="4434840"/>
            <a:ext cx="3108960" cy="868680"/>
          </a:xfrm>
          <a:prstGeom prst="roundRect">
            <a:avLst>
              <a:gd name="adj" fmla="val 6316"/>
            </a:avLst>
          </a:prstGeom>
          <a:solidFill>
            <a:srgbClr val="EEF5EF"/>
          </a:solidFill>
          <a:ln w="15875">
            <a:solidFill>
              <a:srgbClr val="3E8E4F"/>
            </a:solidFill>
            <a:prstDash val="solid"/>
          </a:ln>
        </p:spPr>
      </p:sp>
      <p:sp>
        <p:nvSpPr>
          <p:cNvPr id="42" name="Text make_stub(step)"/>
          <p:cNvSpPr txBox="1"/>
          <p:nvPr/>
        </p:nvSpPr>
        <p:spPr>
          <a:xfrm>
            <a:off x="5349240" y="4471416"/>
            <a:ext cx="292608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make_stub(step)</a:t>
            </a:r>
            <a:endParaRPr lang="en-US" sz="1100" dirty="0"/>
          </a:p>
          <a:p>
            <a:pPr algn="ctr" indent="0" marL="0">
              <a:spcAft>
                <a:spcPts val="200"/>
              </a:spcAft>
              <a:buNone/>
            </a:pPr>
            <a:r>
              <a:rPr lang="en-US" sz="1000" dirty="0">
                <a:solidFill>
                  <a:srgbClr val="1B2B22"/>
                </a:solidFill>
              </a:rPr>
              <a:t>"Ada" → "{text1}"; 90210 or 1 → {number1:d}; name from wording; raise NotImplementedError</a:t>
            </a:r>
            <a:endParaRPr lang="en-US" sz="1100" dirty="0"/>
          </a:p>
        </p:txBody>
      </p:sp>
      <p:sp>
        <p:nvSpPr>
          <p:cNvPr id="43" name="Arrow"/>
          <p:cNvSpPr/>
          <p:nvPr/>
        </p:nvSpPr>
        <p:spPr>
          <a:xfrm>
            <a:off x="4846320" y="4869180"/>
            <a:ext cx="411480" cy="0"/>
          </a:xfrm>
          <a:prstGeom prst="line">
            <a:avLst/>
          </a:prstGeom>
          <a:noFill/>
          <a:ln w="19050">
            <a:solidFill>
              <a:srgbClr val="5F6F66"/>
            </a:solidFill>
            <a:prstDash val="solid"/>
            <a:tailEnd type="triangle"/>
          </a:ln>
        </p:spPr>
      </p:sp>
      <p:sp>
        <p:nvSpPr>
          <p:cNvPr id="44" name="Text 41"/>
          <p:cNvSpPr txBox="1"/>
          <p:nvPr/>
        </p:nvSpPr>
        <p:spPr>
          <a:xfrm>
            <a:off x="4869180" y="4750308"/>
            <a:ext cx="36576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yes</a:t>
            </a:r>
            <a:endParaRPr lang="en-US" sz="950" dirty="0"/>
          </a:p>
        </p:txBody>
      </p:sp>
      <p:sp>
        <p:nvSpPr>
          <p:cNvPr id="45" name="Box pasteable pytest-bdd code"/>
          <p:cNvSpPr/>
          <p:nvPr/>
        </p:nvSpPr>
        <p:spPr>
          <a:xfrm>
            <a:off x="8778240" y="4434840"/>
            <a:ext cx="2953512" cy="868680"/>
          </a:xfrm>
          <a:prstGeom prst="roundRect">
            <a:avLst>
              <a:gd name="adj" fmla="val 6316"/>
            </a:avLst>
          </a:prstGeom>
          <a:solidFill>
            <a:srgbClr val="D7E9D9"/>
          </a:solidFill>
          <a:ln w="15875">
            <a:solidFill>
              <a:srgbClr val="1F4D3A"/>
            </a:solidFill>
            <a:prstDash val="solid"/>
          </a:ln>
        </p:spPr>
      </p:sp>
      <p:sp>
        <p:nvSpPr>
          <p:cNvPr id="46" name="Text pasteable pytest-bdd code"/>
          <p:cNvSpPr txBox="1"/>
          <p:nvPr/>
        </p:nvSpPr>
        <p:spPr>
          <a:xfrm>
            <a:off x="8869680" y="4471416"/>
            <a:ext cx="2770632"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pasteable pytest-bdd code</a:t>
            </a:r>
            <a:endParaRPr lang="en-US" sz="1100" dirty="0"/>
          </a:p>
          <a:p>
            <a:pPr algn="ctr" indent="0" marL="0">
              <a:spcAft>
                <a:spcPts val="200"/>
              </a:spcAft>
              <a:buNone/>
            </a:pPr>
            <a:r>
              <a:rPr lang="en-US" sz="1000" dirty="0">
                <a:solidFill>
                  <a:srgbClr val="1B2B22"/>
                </a:solidFill>
              </a:rPr>
              <a:t>demo draft: 2 ok, 4 missing, 4 stubs</a:t>
            </a:r>
            <a:endParaRPr lang="en-US" sz="1100" dirty="0"/>
          </a:p>
        </p:txBody>
      </p:sp>
      <p:sp>
        <p:nvSpPr>
          <p:cNvPr id="47" name="Arrow"/>
          <p:cNvSpPr/>
          <p:nvPr/>
        </p:nvSpPr>
        <p:spPr>
          <a:xfrm>
            <a:off x="8366760" y="4869180"/>
            <a:ext cx="411480" cy="0"/>
          </a:xfrm>
          <a:prstGeom prst="line">
            <a:avLst/>
          </a:prstGeom>
          <a:noFill/>
          <a:ln w="19050">
            <a:solidFill>
              <a:srgbClr val="5F6F66"/>
            </a:solidFill>
            <a:prstDash val="solid"/>
            <a:tailEnd type="triangle"/>
          </a:ln>
        </p:spPr>
      </p:sp>
      <p:sp>
        <p:nvSpPr>
          <p:cNvPr id="48" name="Box Exit code: "/>
          <p:cNvSpPr/>
          <p:nvPr/>
        </p:nvSpPr>
        <p:spPr>
          <a:xfrm>
            <a:off x="457200" y="5715000"/>
            <a:ext cx="7315200" cy="457200"/>
          </a:xfrm>
          <a:prstGeom prst="roundRect">
            <a:avLst>
              <a:gd name="adj" fmla="val 12000"/>
            </a:avLst>
          </a:prstGeom>
          <a:solidFill>
            <a:srgbClr val="F7F7F5"/>
          </a:solidFill>
          <a:ln w="15875">
            <a:solidFill>
              <a:srgbClr val="C9D0CB"/>
            </a:solidFill>
            <a:prstDash val="solid"/>
          </a:ln>
        </p:spPr>
      </p:sp>
      <p:sp>
        <p:nvSpPr>
          <p:cNvPr id="49" name="Text Exit code: "/>
          <p:cNvSpPr txBox="1"/>
          <p:nvPr/>
        </p:nvSpPr>
        <p:spPr>
          <a:xfrm>
            <a:off x="548640" y="5751576"/>
            <a:ext cx="7132320" cy="384048"/>
          </a:xfrm>
          <a:prstGeom prst="rect">
            <a:avLst/>
          </a:prstGeom>
          <a:noFill/>
          <a:ln/>
        </p:spPr>
        <p:txBody>
          <a:bodyPr wrap="square" lIns="0" tIns="0" rIns="0" bIns="0" rtlCol="0" anchor="ctr"/>
          <a:lstStyle/>
          <a:p>
            <a:pPr algn="l" indent="0" marL="0">
              <a:spcAft>
                <a:spcPts val="200"/>
              </a:spcAft>
              <a:buNone/>
            </a:pPr>
            <a:r>
              <a:rPr lang="en-US" sz="1050" b="1" dirty="0">
                <a:solidFill>
                  <a:srgbClr val="1F4D3A"/>
                </a:solidFill>
                <a:latin typeface="Calibri" pitchFamily="34" charset="0"/>
                <a:ea typeface="Calibri" pitchFamily="34" charset="-122"/>
                <a:cs typeface="Calibri" pitchFamily="34" charset="-120"/>
              </a:rPr>
              <a:t>Exit code: </a:t>
            </a:r>
            <a:endParaRPr lang="en-US" sz="1100" dirty="0"/>
          </a:p>
          <a:p>
            <a:pPr algn="l" indent="0" marL="0">
              <a:spcAft>
                <a:spcPts val="200"/>
              </a:spcAft>
              <a:buNone/>
            </a:pPr>
            <a:r>
              <a:rPr lang="en-US" sz="1000" dirty="0">
                <a:solidFill>
                  <a:srgbClr val="1B2B22"/>
                </a:solidFill>
              </a:rPr>
              <a:t>0 only when every line is ok, so CI can fail a build on a missing or ambiguous step.</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report: from pytest’s results to one HTML page</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gherkin-copilot report reports/cucumber.json -o reports/report.html</a:t>
            </a:r>
            <a:endParaRPr lang="en-US" sz="1300" dirty="0"/>
          </a:p>
        </p:txBody>
      </p:sp>
      <p:sp>
        <p:nvSpPr>
          <p:cNvPr id="5" name="Box $ pytest"/>
          <p:cNvSpPr/>
          <p:nvPr/>
        </p:nvSpPr>
        <p:spPr>
          <a:xfrm>
            <a:off x="457200" y="1463040"/>
            <a:ext cx="2743200" cy="1005840"/>
          </a:xfrm>
          <a:prstGeom prst="roundRect">
            <a:avLst>
              <a:gd name="adj" fmla="val 5455"/>
            </a:avLst>
          </a:prstGeom>
          <a:solidFill>
            <a:srgbClr val="E3EEF4"/>
          </a:solidFill>
          <a:ln w="15875">
            <a:solidFill>
              <a:srgbClr val="2C6E8F"/>
            </a:solidFill>
            <a:prstDash val="solid"/>
          </a:ln>
        </p:spPr>
      </p:sp>
      <p:sp>
        <p:nvSpPr>
          <p:cNvPr id="6" name="Text $ pytest"/>
          <p:cNvSpPr txBox="1"/>
          <p:nvPr/>
        </p:nvSpPr>
        <p:spPr>
          <a:xfrm>
            <a:off x="548640" y="1499616"/>
            <a:ext cx="2560320" cy="9326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 pytest</a:t>
            </a:r>
            <a:endParaRPr lang="en-US" sz="1100" dirty="0"/>
          </a:p>
          <a:p>
            <a:pPr algn="ctr" indent="0" marL="0">
              <a:spcAft>
                <a:spcPts val="200"/>
              </a:spcAft>
              <a:buNone/>
            </a:pPr>
            <a:r>
              <a:rPr lang="en-US" sz="1000" dirty="0">
                <a:solidFill>
                  <a:srgbClr val="1B2B22"/>
                </a:solidFill>
              </a:rPr>
              <a:t>--cucumberjson, --output, --screenshot=on, --tracing=on</a:t>
            </a:r>
            <a:endParaRPr lang="en-US" sz="1100" dirty="0"/>
          </a:p>
        </p:txBody>
      </p:sp>
      <p:sp>
        <p:nvSpPr>
          <p:cNvPr id="7" name="Box reports/cucumber.json"/>
          <p:cNvSpPr/>
          <p:nvPr/>
        </p:nvSpPr>
        <p:spPr>
          <a:xfrm>
            <a:off x="3657600" y="1234440"/>
            <a:ext cx="2377440" cy="640080"/>
          </a:xfrm>
          <a:prstGeom prst="roundRect">
            <a:avLst>
              <a:gd name="adj" fmla="val 8571"/>
            </a:avLst>
          </a:prstGeom>
          <a:solidFill>
            <a:srgbClr val="FDF0D9"/>
          </a:solidFill>
          <a:ln w="15875">
            <a:solidFill>
              <a:srgbClr val="E39B2D"/>
            </a:solidFill>
            <a:prstDash val="solid"/>
          </a:ln>
        </p:spPr>
      </p:sp>
      <p:sp>
        <p:nvSpPr>
          <p:cNvPr id="8" name="Text reports/cucumber.json"/>
          <p:cNvSpPr txBox="1"/>
          <p:nvPr/>
        </p:nvSpPr>
        <p:spPr>
          <a:xfrm>
            <a:off x="3749040" y="1271016"/>
            <a:ext cx="2194560" cy="56692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reports/cucumber.json</a:t>
            </a:r>
            <a:endParaRPr lang="en-US" sz="1100" dirty="0"/>
          </a:p>
          <a:p>
            <a:pPr algn="ctr" indent="0" marL="0">
              <a:spcAft>
                <a:spcPts val="200"/>
              </a:spcAft>
              <a:buNone/>
            </a:pPr>
            <a:r>
              <a:rPr lang="en-US" sz="1000" dirty="0">
                <a:solidFill>
                  <a:srgbClr val="1B2B22"/>
                </a:solidFill>
              </a:rPr>
              <a:t>features → scenarios → steps</a:t>
            </a:r>
            <a:endParaRPr lang="en-US" sz="1100" dirty="0"/>
          </a:p>
        </p:txBody>
      </p:sp>
      <p:sp>
        <p:nvSpPr>
          <p:cNvPr id="9" name="Box reports/artifacts/&lt;test id&gt;/"/>
          <p:cNvSpPr/>
          <p:nvPr/>
        </p:nvSpPr>
        <p:spPr>
          <a:xfrm>
            <a:off x="3657600" y="2057400"/>
            <a:ext cx="2377440" cy="640080"/>
          </a:xfrm>
          <a:prstGeom prst="roundRect">
            <a:avLst>
              <a:gd name="adj" fmla="val 8571"/>
            </a:avLst>
          </a:prstGeom>
          <a:solidFill>
            <a:srgbClr val="FDF0D9"/>
          </a:solidFill>
          <a:ln w="15875">
            <a:solidFill>
              <a:srgbClr val="E39B2D"/>
            </a:solidFill>
            <a:prstDash val="solid"/>
          </a:ln>
        </p:spPr>
      </p:sp>
      <p:sp>
        <p:nvSpPr>
          <p:cNvPr id="10" name="Text reports/artifacts/&lt;test id&gt;/"/>
          <p:cNvSpPr txBox="1"/>
          <p:nvPr/>
        </p:nvSpPr>
        <p:spPr>
          <a:xfrm>
            <a:off x="3749040" y="2093976"/>
            <a:ext cx="2194560" cy="56692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reports/artifacts/&lt;test id&gt;/</a:t>
            </a:r>
            <a:endParaRPr lang="en-US" sz="1100" dirty="0"/>
          </a:p>
          <a:p>
            <a:pPr algn="ctr" indent="0" marL="0">
              <a:spcAft>
                <a:spcPts val="200"/>
              </a:spcAft>
              <a:buNone/>
            </a:pPr>
            <a:r>
              <a:rPr lang="en-US" sz="1000" dirty="0">
                <a:solidFill>
                  <a:srgbClr val="1B2B22"/>
                </a:solidFill>
              </a:rPr>
              <a:t>screenshots, traces</a:t>
            </a:r>
            <a:endParaRPr lang="en-US" sz="1100" dirty="0"/>
          </a:p>
        </p:txBody>
      </p:sp>
      <p:sp>
        <p:nvSpPr>
          <p:cNvPr id="11" name="Arrow"/>
          <p:cNvSpPr/>
          <p:nvPr/>
        </p:nvSpPr>
        <p:spPr>
          <a:xfrm flipV="1">
            <a:off x="3200400" y="1554480"/>
            <a:ext cx="457200" cy="210312"/>
          </a:xfrm>
          <a:prstGeom prst="line">
            <a:avLst/>
          </a:prstGeom>
          <a:noFill/>
          <a:ln w="19050">
            <a:solidFill>
              <a:srgbClr val="5F6F66"/>
            </a:solidFill>
            <a:prstDash val="solid"/>
            <a:tailEnd type="triangle"/>
          </a:ln>
        </p:spPr>
      </p:sp>
      <p:sp>
        <p:nvSpPr>
          <p:cNvPr id="12" name="Arrow"/>
          <p:cNvSpPr/>
          <p:nvPr/>
        </p:nvSpPr>
        <p:spPr>
          <a:xfrm>
            <a:off x="3200400" y="2167128"/>
            <a:ext cx="457200" cy="210312"/>
          </a:xfrm>
          <a:prstGeom prst="line">
            <a:avLst/>
          </a:prstGeom>
          <a:noFill/>
          <a:ln w="19050">
            <a:solidFill>
              <a:srgbClr val="5F6F66"/>
            </a:solidFill>
            <a:prstDash val="solid"/>
            <a:tailEnd type="triangle"/>
          </a:ln>
        </p:spPr>
      </p:sp>
      <p:sp>
        <p:nvSpPr>
          <p:cNvPr id="13" name="Box load_report()"/>
          <p:cNvSpPr/>
          <p:nvPr/>
        </p:nvSpPr>
        <p:spPr>
          <a:xfrm>
            <a:off x="6492240" y="1234440"/>
            <a:ext cx="2743200" cy="914400"/>
          </a:xfrm>
          <a:prstGeom prst="roundRect">
            <a:avLst>
              <a:gd name="adj" fmla="val 6000"/>
            </a:avLst>
          </a:prstGeom>
          <a:solidFill>
            <a:srgbClr val="EEF5EF"/>
          </a:solidFill>
          <a:ln w="15875">
            <a:solidFill>
              <a:srgbClr val="3E8E4F"/>
            </a:solidFill>
            <a:prstDash val="solid"/>
          </a:ln>
        </p:spPr>
      </p:sp>
      <p:sp>
        <p:nvSpPr>
          <p:cNvPr id="14" name="Text load_report()"/>
          <p:cNvSpPr txBox="1"/>
          <p:nvPr/>
        </p:nvSpPr>
        <p:spPr>
          <a:xfrm>
            <a:off x="6583680" y="1271016"/>
            <a:ext cx="2560320"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load_report()</a:t>
            </a:r>
            <a:endParaRPr lang="en-US" sz="1100" dirty="0"/>
          </a:p>
          <a:p>
            <a:pPr algn="ctr" indent="0" marL="0">
              <a:spcAft>
                <a:spcPts val="200"/>
              </a:spcAft>
              <a:buNone/>
            </a:pPr>
            <a:r>
              <a:rPr lang="en-US" sz="1000" dirty="0">
                <a:solidFill>
                  <a:srgbClr val="1B2B22"/>
                </a:solidFill>
              </a:rPr>
              <a:t>ns → seconds; scenario status = worst step (failed &gt; undefined &gt; pending &gt; skipped &gt; passed)</a:t>
            </a:r>
            <a:endParaRPr lang="en-US" sz="1100" dirty="0"/>
          </a:p>
        </p:txBody>
      </p:sp>
      <p:sp>
        <p:nvSpPr>
          <p:cNvPr id="15" name="Arrow"/>
          <p:cNvSpPr/>
          <p:nvPr/>
        </p:nvSpPr>
        <p:spPr>
          <a:xfrm>
            <a:off x="6035040" y="1554480"/>
            <a:ext cx="457200" cy="0"/>
          </a:xfrm>
          <a:prstGeom prst="line">
            <a:avLst/>
          </a:prstGeom>
          <a:noFill/>
          <a:ln w="19050">
            <a:solidFill>
              <a:srgbClr val="5F6F66"/>
            </a:solidFill>
            <a:prstDash val="solid"/>
            <a:tailEnd type="triangle"/>
          </a:ln>
        </p:spPr>
      </p:sp>
      <p:sp>
        <p:nvSpPr>
          <p:cNvPr id="16" name="Box attach_artifacts()"/>
          <p:cNvSpPr/>
          <p:nvPr/>
        </p:nvSpPr>
        <p:spPr>
          <a:xfrm>
            <a:off x="6492240" y="2377440"/>
            <a:ext cx="2743200" cy="731520"/>
          </a:xfrm>
          <a:prstGeom prst="roundRect">
            <a:avLst>
              <a:gd name="adj" fmla="val 7500"/>
            </a:avLst>
          </a:prstGeom>
          <a:solidFill>
            <a:srgbClr val="EEF5EF"/>
          </a:solidFill>
          <a:ln w="15875">
            <a:solidFill>
              <a:srgbClr val="3E8E4F"/>
            </a:solidFill>
            <a:prstDash val="solid"/>
          </a:ln>
        </p:spPr>
      </p:sp>
      <p:sp>
        <p:nvSpPr>
          <p:cNvPr id="17" name="Text attach_artifacts()"/>
          <p:cNvSpPr txBox="1"/>
          <p:nvPr/>
        </p:nvSpPr>
        <p:spPr>
          <a:xfrm>
            <a:off x="6583680" y="2414016"/>
            <a:ext cx="2560320" cy="6583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attach_artifacts()</a:t>
            </a:r>
            <a:endParaRPr lang="en-US" sz="1100" dirty="0"/>
          </a:p>
          <a:p>
            <a:pPr algn="ctr" indent="0" marL="0">
              <a:spcAft>
                <a:spcPts val="200"/>
              </a:spcAft>
              <a:buNone/>
            </a:pPr>
            <a:r>
              <a:rPr lang="en-US" sz="1000" dirty="0">
                <a:solidFill>
                  <a:srgbClr val="1B2B22"/>
                </a:solidFill>
              </a:rPr>
              <a:t>folder name matched to slug(test id)</a:t>
            </a:r>
            <a:endParaRPr lang="en-US" sz="1100" dirty="0"/>
          </a:p>
        </p:txBody>
      </p:sp>
      <p:sp>
        <p:nvSpPr>
          <p:cNvPr id="18" name="Arrow"/>
          <p:cNvSpPr/>
          <p:nvPr/>
        </p:nvSpPr>
        <p:spPr>
          <a:xfrm>
            <a:off x="6035040" y="2377440"/>
            <a:ext cx="457200" cy="0"/>
          </a:xfrm>
          <a:prstGeom prst="line">
            <a:avLst/>
          </a:prstGeom>
          <a:noFill/>
          <a:ln w="19050">
            <a:solidFill>
              <a:srgbClr val="5F6F66"/>
            </a:solidFill>
            <a:prstDash val="solid"/>
            <a:tailEnd type="triangle"/>
          </a:ln>
        </p:spPr>
      </p:sp>
      <p:sp>
        <p:nvSpPr>
          <p:cNvPr id="19" name="Arrow"/>
          <p:cNvSpPr/>
          <p:nvPr/>
        </p:nvSpPr>
        <p:spPr>
          <a:xfrm>
            <a:off x="7863840" y="2148840"/>
            <a:ext cx="0" cy="228600"/>
          </a:xfrm>
          <a:prstGeom prst="line">
            <a:avLst/>
          </a:prstGeom>
          <a:noFill/>
          <a:ln w="19050">
            <a:solidFill>
              <a:srgbClr val="5F6F66"/>
            </a:solidFill>
            <a:prstDash val="solid"/>
            <a:tailEnd type="triangle"/>
          </a:ln>
        </p:spPr>
      </p:sp>
      <p:sp>
        <p:nvSpPr>
          <p:cNvPr id="20" name="Box render_html()"/>
          <p:cNvSpPr/>
          <p:nvPr/>
        </p:nvSpPr>
        <p:spPr>
          <a:xfrm>
            <a:off x="9509760" y="1463040"/>
            <a:ext cx="2221992" cy="1188720"/>
          </a:xfrm>
          <a:prstGeom prst="roundRect">
            <a:avLst>
              <a:gd name="adj" fmla="val 4615"/>
            </a:avLst>
          </a:prstGeom>
          <a:solidFill>
            <a:srgbClr val="EEF5EF"/>
          </a:solidFill>
          <a:ln w="15875">
            <a:solidFill>
              <a:srgbClr val="3E8E4F"/>
            </a:solidFill>
            <a:prstDash val="solid"/>
          </a:ln>
        </p:spPr>
      </p:sp>
      <p:sp>
        <p:nvSpPr>
          <p:cNvPr id="21" name="Text render_html()"/>
          <p:cNvSpPr txBox="1"/>
          <p:nvPr/>
        </p:nvSpPr>
        <p:spPr>
          <a:xfrm>
            <a:off x="9601200" y="1499616"/>
            <a:ext cx="2039112" cy="111556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render_html()</a:t>
            </a:r>
            <a:endParaRPr lang="en-US" sz="1100" dirty="0"/>
          </a:p>
          <a:p>
            <a:pPr algn="ctr" indent="0" marL="0">
              <a:spcAft>
                <a:spcPts val="200"/>
              </a:spcAft>
              <a:buNone/>
            </a:pPr>
            <a:r>
              <a:rPr lang="en-US" sz="1000" dirty="0">
                <a:solidFill>
                  <a:srgbClr val="1B2B22"/>
                </a:solidFill>
              </a:rPr>
              <a:t>no JavaScript, CSP default-src 'none', html.escape everything</a:t>
            </a:r>
            <a:endParaRPr lang="en-US" sz="1100" dirty="0"/>
          </a:p>
        </p:txBody>
      </p:sp>
      <p:sp>
        <p:nvSpPr>
          <p:cNvPr id="22" name="Arrow"/>
          <p:cNvSpPr/>
          <p:nvPr/>
        </p:nvSpPr>
        <p:spPr>
          <a:xfrm>
            <a:off x="9235440" y="2743200"/>
            <a:ext cx="1385316" cy="0"/>
          </a:xfrm>
          <a:prstGeom prst="line">
            <a:avLst/>
          </a:prstGeom>
          <a:noFill/>
          <a:ln w="19050">
            <a:solidFill>
              <a:srgbClr val="5F6F66"/>
            </a:solidFill>
            <a:prstDash val="solid"/>
          </a:ln>
        </p:spPr>
      </p:sp>
      <p:sp>
        <p:nvSpPr>
          <p:cNvPr id="23" name="Arrow"/>
          <p:cNvSpPr/>
          <p:nvPr/>
        </p:nvSpPr>
        <p:spPr>
          <a:xfrm flipV="1">
            <a:off x="10620756" y="2651760"/>
            <a:ext cx="0" cy="91440"/>
          </a:xfrm>
          <a:prstGeom prst="line">
            <a:avLst/>
          </a:prstGeom>
          <a:noFill/>
          <a:ln w="19050">
            <a:solidFill>
              <a:srgbClr val="5F6F66"/>
            </a:solidFill>
            <a:prstDash val="solid"/>
            <a:tailEnd type="triangle"/>
          </a:ln>
        </p:spPr>
      </p:sp>
      <p:sp>
        <p:nvSpPr>
          <p:cNvPr id="24" name="Box reports/report.html"/>
          <p:cNvSpPr/>
          <p:nvPr/>
        </p:nvSpPr>
        <p:spPr>
          <a:xfrm>
            <a:off x="9509760" y="3657600"/>
            <a:ext cx="2221992" cy="822960"/>
          </a:xfrm>
          <a:prstGeom prst="roundRect">
            <a:avLst>
              <a:gd name="adj" fmla="val 6667"/>
            </a:avLst>
          </a:prstGeom>
          <a:solidFill>
            <a:srgbClr val="D7E9D9"/>
          </a:solidFill>
          <a:ln w="15875">
            <a:solidFill>
              <a:srgbClr val="1F4D3A"/>
            </a:solidFill>
            <a:prstDash val="solid"/>
          </a:ln>
        </p:spPr>
      </p:sp>
      <p:sp>
        <p:nvSpPr>
          <p:cNvPr id="25" name="Text reports/report.html"/>
          <p:cNvSpPr txBox="1"/>
          <p:nvPr/>
        </p:nvSpPr>
        <p:spPr>
          <a:xfrm>
            <a:off x="9601200" y="3694176"/>
            <a:ext cx="2039112" cy="7498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reports/report.html</a:t>
            </a:r>
            <a:endParaRPr lang="en-US" sz="1100" dirty="0"/>
          </a:p>
          <a:p>
            <a:pPr algn="ctr" indent="0" marL="0">
              <a:spcAft>
                <a:spcPts val="200"/>
              </a:spcAft>
              <a:buNone/>
            </a:pPr>
            <a:r>
              <a:rPr lang="en-US" sz="1000" dirty="0">
                <a:solidFill>
                  <a:srgbClr val="1B2B22"/>
                </a:solidFill>
              </a:rPr>
              <a:t>one self-contained page</a:t>
            </a:r>
            <a:endParaRPr lang="en-US" sz="1100" dirty="0"/>
          </a:p>
        </p:txBody>
      </p:sp>
      <p:sp>
        <p:nvSpPr>
          <p:cNvPr id="26" name="Arrow"/>
          <p:cNvSpPr/>
          <p:nvPr/>
        </p:nvSpPr>
        <p:spPr>
          <a:xfrm>
            <a:off x="11731752" y="2057400"/>
            <a:ext cx="109728" cy="0"/>
          </a:xfrm>
          <a:prstGeom prst="line">
            <a:avLst/>
          </a:prstGeom>
          <a:noFill/>
          <a:ln w="19050">
            <a:solidFill>
              <a:srgbClr val="5F6F66"/>
            </a:solidFill>
            <a:prstDash val="solid"/>
          </a:ln>
        </p:spPr>
      </p:sp>
      <p:sp>
        <p:nvSpPr>
          <p:cNvPr id="27" name="Arrow"/>
          <p:cNvSpPr/>
          <p:nvPr/>
        </p:nvSpPr>
        <p:spPr>
          <a:xfrm>
            <a:off x="11841480" y="2057400"/>
            <a:ext cx="0" cy="2011680"/>
          </a:xfrm>
          <a:prstGeom prst="line">
            <a:avLst/>
          </a:prstGeom>
          <a:noFill/>
          <a:ln w="19050">
            <a:solidFill>
              <a:srgbClr val="5F6F66"/>
            </a:solidFill>
            <a:prstDash val="solid"/>
          </a:ln>
        </p:spPr>
      </p:sp>
      <p:sp>
        <p:nvSpPr>
          <p:cNvPr id="28" name="Arrow"/>
          <p:cNvSpPr/>
          <p:nvPr/>
        </p:nvSpPr>
        <p:spPr>
          <a:xfrm flipH="1">
            <a:off x="11731752" y="4069080"/>
            <a:ext cx="109728" cy="0"/>
          </a:xfrm>
          <a:prstGeom prst="line">
            <a:avLst/>
          </a:prstGeom>
          <a:noFill/>
          <a:ln w="19050">
            <a:solidFill>
              <a:srgbClr val="5F6F66"/>
            </a:solidFill>
            <a:prstDash val="solid"/>
            <a:tailEnd type="triangle"/>
          </a:ln>
        </p:spPr>
      </p:sp>
      <p:sp>
        <p:nvSpPr>
          <p:cNvPr id="29" name="Box the app’s Results tab"/>
          <p:cNvSpPr/>
          <p:nvPr/>
        </p:nvSpPr>
        <p:spPr>
          <a:xfrm>
            <a:off x="6035040" y="3657600"/>
            <a:ext cx="3200400" cy="822960"/>
          </a:xfrm>
          <a:prstGeom prst="roundRect">
            <a:avLst>
              <a:gd name="adj" fmla="val 6667"/>
            </a:avLst>
          </a:prstGeom>
          <a:solidFill>
            <a:srgbClr val="D7E9D9"/>
          </a:solidFill>
          <a:ln w="15875">
            <a:solidFill>
              <a:srgbClr val="1F4D3A"/>
            </a:solidFill>
            <a:prstDash val="solid"/>
          </a:ln>
        </p:spPr>
      </p:sp>
      <p:sp>
        <p:nvSpPr>
          <p:cNvPr id="30" name="Text the app’s Results tab"/>
          <p:cNvSpPr txBox="1"/>
          <p:nvPr/>
        </p:nvSpPr>
        <p:spPr>
          <a:xfrm>
            <a:off x="6126480" y="3694176"/>
            <a:ext cx="3017520" cy="7498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the app’s Results tab</a:t>
            </a:r>
            <a:endParaRPr lang="en-US" sz="1100" dirty="0"/>
          </a:p>
          <a:p>
            <a:pPr algn="ctr" indent="0" marL="0">
              <a:spcAft>
                <a:spcPts val="200"/>
              </a:spcAft>
              <a:buNone/>
            </a:pPr>
            <a:r>
              <a:rPr lang="en-US" sz="1000" dirty="0">
                <a:solidFill>
                  <a:srgbClr val="1B2B22"/>
                </a:solidFill>
              </a:rPr>
              <a:t>ui/runner.latest_results() reuses load_report + attach_artifacts</a:t>
            </a:r>
            <a:endParaRPr lang="en-US" sz="1100" dirty="0"/>
          </a:p>
        </p:txBody>
      </p:sp>
      <p:sp>
        <p:nvSpPr>
          <p:cNvPr id="31" name="Arrow"/>
          <p:cNvSpPr/>
          <p:nvPr/>
        </p:nvSpPr>
        <p:spPr>
          <a:xfrm flipH="1">
            <a:off x="7635240" y="3108960"/>
            <a:ext cx="228600" cy="548640"/>
          </a:xfrm>
          <a:prstGeom prst="line">
            <a:avLst/>
          </a:prstGeom>
          <a:noFill/>
          <a:ln w="19050">
            <a:solidFill>
              <a:srgbClr val="5F6F66"/>
            </a:solidFill>
            <a:prstDash val="solid"/>
            <a:tailEnd type="triangle"/>
          </a:ln>
        </p:spPr>
      </p:sp>
      <p:sp>
        <p:nvSpPr>
          <p:cNvPr id="32" name="Box Demo: "/>
          <p:cNvSpPr/>
          <p:nvPr/>
        </p:nvSpPr>
        <p:spPr>
          <a:xfrm>
            <a:off x="457200" y="5715000"/>
            <a:ext cx="7315200" cy="457200"/>
          </a:xfrm>
          <a:prstGeom prst="roundRect">
            <a:avLst>
              <a:gd name="adj" fmla="val 12000"/>
            </a:avLst>
          </a:prstGeom>
          <a:solidFill>
            <a:srgbClr val="F7F7F5"/>
          </a:solidFill>
          <a:ln w="15875">
            <a:solidFill>
              <a:srgbClr val="C9D0CB"/>
            </a:solidFill>
            <a:prstDash val="solid"/>
          </a:ln>
        </p:spPr>
      </p:sp>
      <p:sp>
        <p:nvSpPr>
          <p:cNvPr id="33" name="Text Demo: "/>
          <p:cNvSpPr txBox="1"/>
          <p:nvPr/>
        </p:nvSpPr>
        <p:spPr>
          <a:xfrm>
            <a:off x="548640" y="5751576"/>
            <a:ext cx="7132320" cy="384048"/>
          </a:xfrm>
          <a:prstGeom prst="rect">
            <a:avLst/>
          </a:prstGeom>
          <a:noFill/>
          <a:ln/>
        </p:spPr>
        <p:txBody>
          <a:bodyPr wrap="square" lIns="0" tIns="0" rIns="0" bIns="0" rtlCol="0" anchor="ctr"/>
          <a:lstStyle/>
          <a:p>
            <a:pPr algn="l" indent="0" marL="0">
              <a:spcAft>
                <a:spcPts val="200"/>
              </a:spcAft>
              <a:buNone/>
            </a:pPr>
            <a:r>
              <a:rPr lang="en-US" sz="1050" b="1" dirty="0">
                <a:solidFill>
                  <a:srgbClr val="1F4D3A"/>
                </a:solidFill>
                <a:latin typeface="Calibri" pitchFamily="34" charset="0"/>
                <a:ea typeface="Calibri" pitchFamily="34" charset="-122"/>
                <a:cs typeface="Calibri" pitchFamily="34" charset="-120"/>
              </a:rPr>
              <a:t>Demo: </a:t>
            </a:r>
            <a:endParaRPr lang="en-US" sz="1100" dirty="0"/>
          </a:p>
          <a:p>
            <a:pPr algn="l" indent="0" marL="0">
              <a:spcAft>
                <a:spcPts val="200"/>
              </a:spcAft>
              <a:buNone/>
            </a:pPr>
            <a:r>
              <a:rPr lang="en-US" sz="1000" dirty="0">
                <a:solidFill>
                  <a:srgbClr val="1B2B22"/>
                </a:solidFill>
              </a:rPr>
              <a:t>5 scenarios, all passing in a real browser in about 4 seconds.</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app: which tab calls which function</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gherkin-copilot ui  →  http://127.0.0.1:8765</a:t>
            </a:r>
            <a:endParaRPr lang="en-US" sz="1300" dirty="0"/>
          </a:p>
        </p:txBody>
      </p:sp>
      <p:sp>
        <p:nvSpPr>
          <p:cNvPr id="5" name="Box $ gherkin-copilot ui"/>
          <p:cNvSpPr/>
          <p:nvPr/>
        </p:nvSpPr>
        <p:spPr>
          <a:xfrm>
            <a:off x="457200" y="1371600"/>
            <a:ext cx="2011680" cy="777240"/>
          </a:xfrm>
          <a:prstGeom prst="roundRect">
            <a:avLst>
              <a:gd name="adj" fmla="val 7059"/>
            </a:avLst>
          </a:prstGeom>
          <a:solidFill>
            <a:srgbClr val="E3EEF4"/>
          </a:solidFill>
          <a:ln w="15875">
            <a:solidFill>
              <a:srgbClr val="2C6E8F"/>
            </a:solidFill>
            <a:prstDash val="solid"/>
          </a:ln>
        </p:spPr>
      </p:sp>
      <p:sp>
        <p:nvSpPr>
          <p:cNvPr id="6" name="Text $ gherkin-copilot ui"/>
          <p:cNvSpPr txBox="1"/>
          <p:nvPr/>
        </p:nvSpPr>
        <p:spPr>
          <a:xfrm>
            <a:off x="548640" y="1408176"/>
            <a:ext cx="1828800" cy="70408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 gherkin-copilot ui</a:t>
            </a:r>
            <a:endParaRPr lang="en-US" sz="1100" dirty="0"/>
          </a:p>
          <a:p>
            <a:pPr algn="ctr" indent="0" marL="0">
              <a:spcAft>
                <a:spcPts val="200"/>
              </a:spcAft>
              <a:buNone/>
            </a:pPr>
            <a:r>
              <a:rPr lang="en-US" sz="1000" dirty="0">
                <a:solidFill>
                  <a:srgbClr val="1B2B22"/>
                </a:solidFill>
              </a:rPr>
              <a:t>cli.cmd_ui()</a:t>
            </a:r>
            <a:endParaRPr lang="en-US" sz="1100" dirty="0"/>
          </a:p>
        </p:txBody>
      </p:sp>
      <p:sp>
        <p:nvSpPr>
          <p:cNvPr id="7" name="Box ~/.gherkin-copilot/projects.json"/>
          <p:cNvSpPr/>
          <p:nvPr/>
        </p:nvSpPr>
        <p:spPr>
          <a:xfrm>
            <a:off x="2880360" y="1371600"/>
            <a:ext cx="2743200" cy="777240"/>
          </a:xfrm>
          <a:prstGeom prst="roundRect">
            <a:avLst>
              <a:gd name="adj" fmla="val 7059"/>
            </a:avLst>
          </a:prstGeom>
          <a:solidFill>
            <a:srgbClr val="FDF0D9"/>
          </a:solidFill>
          <a:ln w="15875">
            <a:solidFill>
              <a:srgbClr val="E39B2D"/>
            </a:solidFill>
            <a:prstDash val="solid"/>
          </a:ln>
        </p:spPr>
      </p:sp>
      <p:sp>
        <p:nvSpPr>
          <p:cNvPr id="8" name="Text ~/.gherkin-copilot/projects.json"/>
          <p:cNvSpPr txBox="1"/>
          <p:nvPr/>
        </p:nvSpPr>
        <p:spPr>
          <a:xfrm>
            <a:off x="2971800" y="1408176"/>
            <a:ext cx="2560320" cy="70408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~/.gherkin-copilot/projects.json</a:t>
            </a:r>
            <a:endParaRPr lang="en-US" sz="1100" dirty="0"/>
          </a:p>
          <a:p>
            <a:pPr algn="ctr" indent="0" marL="0">
              <a:spcAft>
                <a:spcPts val="200"/>
              </a:spcAft>
              <a:buNone/>
            </a:pPr>
            <a:r>
              <a:rPr lang="en-US" sz="1000" dirty="0">
                <a:solidFill>
                  <a:srgbClr val="1B2B22"/>
                </a:solidFill>
              </a:rPr>
              <a:t>steps folder, features folder, test command</a:t>
            </a:r>
            <a:endParaRPr lang="en-US" sz="1100" dirty="0"/>
          </a:p>
        </p:txBody>
      </p:sp>
      <p:sp>
        <p:nvSpPr>
          <p:cNvPr id="9" name="Box make_server()"/>
          <p:cNvSpPr/>
          <p:nvPr/>
        </p:nvSpPr>
        <p:spPr>
          <a:xfrm>
            <a:off x="6035040" y="1371600"/>
            <a:ext cx="2377440" cy="777240"/>
          </a:xfrm>
          <a:prstGeom prst="roundRect">
            <a:avLst>
              <a:gd name="adj" fmla="val 7059"/>
            </a:avLst>
          </a:prstGeom>
          <a:solidFill>
            <a:srgbClr val="EEF5EF"/>
          </a:solidFill>
          <a:ln w="15875">
            <a:solidFill>
              <a:srgbClr val="3E8E4F"/>
            </a:solidFill>
            <a:prstDash val="solid"/>
          </a:ln>
        </p:spPr>
      </p:sp>
      <p:sp>
        <p:nvSpPr>
          <p:cNvPr id="10" name="Text make_server()"/>
          <p:cNvSpPr txBox="1"/>
          <p:nvPr/>
        </p:nvSpPr>
        <p:spPr>
          <a:xfrm>
            <a:off x="6126480" y="1408176"/>
            <a:ext cx="2194560" cy="7040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make_server()</a:t>
            </a:r>
            <a:endParaRPr lang="en-US" sz="1100" dirty="0"/>
          </a:p>
          <a:p>
            <a:pPr algn="ctr" indent="0" marL="0">
              <a:spcAft>
                <a:spcPts val="200"/>
              </a:spcAft>
              <a:buNone/>
            </a:pPr>
            <a:r>
              <a:rPr lang="en-US" sz="1000" dirty="0">
                <a:solidFill>
                  <a:srgbClr val="1B2B22"/>
                </a:solidFill>
              </a:rPr>
              <a:t>127.0.0.1:8765, session token</a:t>
            </a:r>
            <a:endParaRPr lang="en-US" sz="1100" dirty="0"/>
          </a:p>
        </p:txBody>
      </p:sp>
      <p:sp>
        <p:nvSpPr>
          <p:cNvPr id="11" name="Box your browser"/>
          <p:cNvSpPr/>
          <p:nvPr/>
        </p:nvSpPr>
        <p:spPr>
          <a:xfrm>
            <a:off x="8823960" y="1371600"/>
            <a:ext cx="2907792" cy="777240"/>
          </a:xfrm>
          <a:prstGeom prst="roundRect">
            <a:avLst>
              <a:gd name="adj" fmla="val 7059"/>
            </a:avLst>
          </a:prstGeom>
          <a:solidFill>
            <a:srgbClr val="E3EEF4"/>
          </a:solidFill>
          <a:ln w="15875">
            <a:solidFill>
              <a:srgbClr val="2C6E8F"/>
            </a:solidFill>
            <a:prstDash val="solid"/>
          </a:ln>
        </p:spPr>
      </p:sp>
      <p:sp>
        <p:nvSpPr>
          <p:cNvPr id="12" name="Text your browser"/>
          <p:cNvSpPr txBox="1"/>
          <p:nvPr/>
        </p:nvSpPr>
        <p:spPr>
          <a:xfrm>
            <a:off x="8915400" y="1408176"/>
            <a:ext cx="2724912" cy="70408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your browser</a:t>
            </a:r>
            <a:endParaRPr lang="en-US" sz="1100" dirty="0"/>
          </a:p>
          <a:p>
            <a:pPr algn="ctr" indent="0" marL="0">
              <a:spcAft>
                <a:spcPts val="200"/>
              </a:spcAft>
              <a:buNone/>
            </a:pPr>
            <a:r>
              <a:rPr lang="en-US" sz="1000" dirty="0">
                <a:solidFill>
                  <a:srgbClr val="1B2B22"/>
                </a:solidFill>
              </a:rPr>
              <a:t>Host + Origin + token checked on every POST</a:t>
            </a:r>
            <a:endParaRPr lang="en-US" sz="1100" dirty="0"/>
          </a:p>
        </p:txBody>
      </p:sp>
      <p:sp>
        <p:nvSpPr>
          <p:cNvPr id="13" name="Arrow"/>
          <p:cNvSpPr/>
          <p:nvPr/>
        </p:nvSpPr>
        <p:spPr>
          <a:xfrm>
            <a:off x="2468880" y="1760220"/>
            <a:ext cx="411480" cy="0"/>
          </a:xfrm>
          <a:prstGeom prst="line">
            <a:avLst/>
          </a:prstGeom>
          <a:noFill/>
          <a:ln w="19050">
            <a:solidFill>
              <a:srgbClr val="5F6F66"/>
            </a:solidFill>
            <a:prstDash val="solid"/>
            <a:tailEnd type="triangle"/>
          </a:ln>
        </p:spPr>
      </p:sp>
      <p:sp>
        <p:nvSpPr>
          <p:cNvPr id="14" name="Arrow"/>
          <p:cNvSpPr/>
          <p:nvPr/>
        </p:nvSpPr>
        <p:spPr>
          <a:xfrm>
            <a:off x="5623560" y="1760220"/>
            <a:ext cx="411480" cy="0"/>
          </a:xfrm>
          <a:prstGeom prst="line">
            <a:avLst/>
          </a:prstGeom>
          <a:noFill/>
          <a:ln w="19050">
            <a:solidFill>
              <a:srgbClr val="5F6F66"/>
            </a:solidFill>
            <a:prstDash val="solid"/>
            <a:tailEnd type="triangle"/>
          </a:ln>
        </p:spPr>
      </p:sp>
      <p:sp>
        <p:nvSpPr>
          <p:cNvPr id="15" name="Arrow"/>
          <p:cNvSpPr/>
          <p:nvPr/>
        </p:nvSpPr>
        <p:spPr>
          <a:xfrm>
            <a:off x="8412480" y="1760220"/>
            <a:ext cx="411480" cy="0"/>
          </a:xfrm>
          <a:prstGeom prst="line">
            <a:avLst/>
          </a:prstGeom>
          <a:noFill/>
          <a:ln w="19050">
            <a:solidFill>
              <a:srgbClr val="5F6F66"/>
            </a:solidFill>
            <a:prstDash val="solid"/>
            <a:tailEnd type="triangle"/>
          </a:ln>
        </p:spPr>
      </p:sp>
      <p:sp>
        <p:nvSpPr>
          <p:cNvPr id="16" name="Text 13"/>
          <p:cNvSpPr txBox="1"/>
          <p:nvPr/>
        </p:nvSpPr>
        <p:spPr>
          <a:xfrm>
            <a:off x="457200" y="2377440"/>
            <a:ext cx="2011680" cy="274320"/>
          </a:xfrm>
          <a:prstGeom prst="rect">
            <a:avLst/>
          </a:prstGeom>
          <a:noFill/>
          <a:ln/>
        </p:spPr>
        <p:txBody>
          <a:bodyPr wrap="square" lIns="0" tIns="0" rIns="0" bIns="0" rtlCol="0" anchor="t"/>
          <a:lstStyle/>
          <a:p>
            <a:pPr algn="ctr" indent="0" marL="0">
              <a:buNone/>
            </a:pPr>
            <a:r>
              <a:rPr lang="en-US" sz="1100" b="1" dirty="0">
                <a:solidFill>
                  <a:srgbClr val="5F6F66"/>
                </a:solidFill>
              </a:rPr>
              <a:t>Tab</a:t>
            </a:r>
            <a:endParaRPr lang="en-US" sz="1100" dirty="0"/>
          </a:p>
        </p:txBody>
      </p:sp>
      <p:sp>
        <p:nvSpPr>
          <p:cNvPr id="17" name="Text 14"/>
          <p:cNvSpPr txBox="1"/>
          <p:nvPr/>
        </p:nvSpPr>
        <p:spPr>
          <a:xfrm>
            <a:off x="2880360" y="2377440"/>
            <a:ext cx="2743200" cy="274320"/>
          </a:xfrm>
          <a:prstGeom prst="rect">
            <a:avLst/>
          </a:prstGeom>
          <a:noFill/>
          <a:ln/>
        </p:spPr>
        <p:txBody>
          <a:bodyPr wrap="square" lIns="0" tIns="0" rIns="0" bIns="0" rtlCol="0" anchor="t"/>
          <a:lstStyle/>
          <a:p>
            <a:pPr algn="ctr" indent="0" marL="0">
              <a:buNone/>
            </a:pPr>
            <a:r>
              <a:rPr lang="en-US" sz="1100" b="1" dirty="0">
                <a:solidFill>
                  <a:srgbClr val="5F6F66"/>
                </a:solidFill>
              </a:rPr>
              <a:t>Request</a:t>
            </a:r>
            <a:endParaRPr lang="en-US" sz="1100" dirty="0"/>
          </a:p>
        </p:txBody>
      </p:sp>
      <p:sp>
        <p:nvSpPr>
          <p:cNvPr id="18" name="Text 15"/>
          <p:cNvSpPr txBox="1"/>
          <p:nvPr/>
        </p:nvSpPr>
        <p:spPr>
          <a:xfrm>
            <a:off x="6035040" y="2377440"/>
            <a:ext cx="2377440" cy="274320"/>
          </a:xfrm>
          <a:prstGeom prst="rect">
            <a:avLst/>
          </a:prstGeom>
          <a:noFill/>
          <a:ln/>
        </p:spPr>
        <p:txBody>
          <a:bodyPr wrap="square" lIns="0" tIns="0" rIns="0" bIns="0" rtlCol="0" anchor="t"/>
          <a:lstStyle/>
          <a:p>
            <a:pPr algn="ctr" indent="0" marL="0">
              <a:buNone/>
            </a:pPr>
            <a:r>
              <a:rPr lang="en-US" sz="1100" b="1" dirty="0">
                <a:solidFill>
                  <a:srgbClr val="5F6F66"/>
                </a:solidFill>
              </a:rPr>
              <a:t>ui module</a:t>
            </a:r>
            <a:endParaRPr lang="en-US" sz="1100" dirty="0"/>
          </a:p>
        </p:txBody>
      </p:sp>
      <p:sp>
        <p:nvSpPr>
          <p:cNvPr id="19" name="Text 16"/>
          <p:cNvSpPr txBox="1"/>
          <p:nvPr/>
        </p:nvSpPr>
        <p:spPr>
          <a:xfrm>
            <a:off x="8823960" y="2377440"/>
            <a:ext cx="2907792" cy="274320"/>
          </a:xfrm>
          <a:prstGeom prst="rect">
            <a:avLst/>
          </a:prstGeom>
          <a:noFill/>
          <a:ln/>
        </p:spPr>
        <p:txBody>
          <a:bodyPr wrap="square" lIns="0" tIns="0" rIns="0" bIns="0" rtlCol="0" anchor="t"/>
          <a:lstStyle/>
          <a:p>
            <a:pPr algn="ctr" indent="0" marL="0">
              <a:buNone/>
            </a:pPr>
            <a:r>
              <a:rPr lang="en-US" sz="1100" b="1" dirty="0">
                <a:solidFill>
                  <a:srgbClr val="5F6F66"/>
                </a:solidFill>
              </a:rPr>
              <a:t>Core it uses</a:t>
            </a:r>
            <a:endParaRPr lang="en-US" sz="1100" dirty="0"/>
          </a:p>
        </p:txBody>
      </p:sp>
      <p:sp>
        <p:nvSpPr>
          <p:cNvPr id="20" name="Box Steps"/>
          <p:cNvSpPr/>
          <p:nvPr/>
        </p:nvSpPr>
        <p:spPr>
          <a:xfrm>
            <a:off x="457200" y="2697480"/>
            <a:ext cx="2011680" cy="420624"/>
          </a:xfrm>
          <a:prstGeom prst="roundRect">
            <a:avLst>
              <a:gd name="adj" fmla="val 13043"/>
            </a:avLst>
          </a:prstGeom>
          <a:solidFill>
            <a:srgbClr val="E3EEF4"/>
          </a:solidFill>
          <a:ln w="15875">
            <a:solidFill>
              <a:srgbClr val="2C6E8F"/>
            </a:solidFill>
            <a:prstDash val="solid"/>
          </a:ln>
        </p:spPr>
      </p:sp>
      <p:sp>
        <p:nvSpPr>
          <p:cNvPr id="21" name="Text Steps"/>
          <p:cNvSpPr txBox="1"/>
          <p:nvPr/>
        </p:nvSpPr>
        <p:spPr>
          <a:xfrm>
            <a:off x="548640" y="2734056"/>
            <a:ext cx="1828800" cy="347472"/>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Steps</a:t>
            </a:r>
            <a:endParaRPr lang="en-US" sz="1100" dirty="0"/>
          </a:p>
        </p:txBody>
      </p:sp>
      <p:sp>
        <p:nvSpPr>
          <p:cNvPr id="22" name="Box GET /api/steps"/>
          <p:cNvSpPr/>
          <p:nvPr/>
        </p:nvSpPr>
        <p:spPr>
          <a:xfrm>
            <a:off x="2880360" y="2697480"/>
            <a:ext cx="2743200" cy="420624"/>
          </a:xfrm>
          <a:prstGeom prst="roundRect">
            <a:avLst>
              <a:gd name="adj" fmla="val 13043"/>
            </a:avLst>
          </a:prstGeom>
          <a:solidFill>
            <a:srgbClr val="FDF0D9"/>
          </a:solidFill>
          <a:ln w="15875">
            <a:solidFill>
              <a:srgbClr val="E39B2D"/>
            </a:solidFill>
            <a:prstDash val="solid"/>
          </a:ln>
        </p:spPr>
      </p:sp>
      <p:sp>
        <p:nvSpPr>
          <p:cNvPr id="23" name="Text GET /api/steps"/>
          <p:cNvSpPr txBox="1"/>
          <p:nvPr/>
        </p:nvSpPr>
        <p:spPr>
          <a:xfrm>
            <a:off x="2971800" y="2734056"/>
            <a:ext cx="256032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GET /api/steps</a:t>
            </a:r>
            <a:endParaRPr lang="en-US" sz="1100" dirty="0"/>
          </a:p>
        </p:txBody>
      </p:sp>
      <p:sp>
        <p:nvSpPr>
          <p:cNvPr id="24" name="Box catalog.describe()"/>
          <p:cNvSpPr/>
          <p:nvPr/>
        </p:nvSpPr>
        <p:spPr>
          <a:xfrm>
            <a:off x="6035040" y="2697480"/>
            <a:ext cx="2377440" cy="420624"/>
          </a:xfrm>
          <a:prstGeom prst="roundRect">
            <a:avLst>
              <a:gd name="adj" fmla="val 13043"/>
            </a:avLst>
          </a:prstGeom>
          <a:solidFill>
            <a:srgbClr val="EEF5EF"/>
          </a:solidFill>
          <a:ln w="15875">
            <a:solidFill>
              <a:srgbClr val="3E8E4F"/>
            </a:solidFill>
            <a:prstDash val="solid"/>
          </a:ln>
        </p:spPr>
      </p:sp>
      <p:sp>
        <p:nvSpPr>
          <p:cNvPr id="25" name="Text catalog.describe()"/>
          <p:cNvSpPr txBox="1"/>
          <p:nvPr/>
        </p:nvSpPr>
        <p:spPr>
          <a:xfrm>
            <a:off x="6126480" y="2734056"/>
            <a:ext cx="219456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catalog.describe()</a:t>
            </a:r>
            <a:endParaRPr lang="en-US" sz="1100" dirty="0"/>
          </a:p>
        </p:txBody>
      </p:sp>
      <p:sp>
        <p:nvSpPr>
          <p:cNvPr id="26" name="Box indexer.build_index()"/>
          <p:cNvSpPr/>
          <p:nvPr/>
        </p:nvSpPr>
        <p:spPr>
          <a:xfrm>
            <a:off x="8823960" y="2697480"/>
            <a:ext cx="2907792" cy="420624"/>
          </a:xfrm>
          <a:prstGeom prst="roundRect">
            <a:avLst>
              <a:gd name="adj" fmla="val 13043"/>
            </a:avLst>
          </a:prstGeom>
          <a:solidFill>
            <a:srgbClr val="D7E9D9"/>
          </a:solidFill>
          <a:ln w="15875">
            <a:solidFill>
              <a:srgbClr val="1F4D3A"/>
            </a:solidFill>
            <a:prstDash val="solid"/>
          </a:ln>
        </p:spPr>
      </p:sp>
      <p:sp>
        <p:nvSpPr>
          <p:cNvPr id="27" name="Text indexer.build_index()"/>
          <p:cNvSpPr txBox="1"/>
          <p:nvPr/>
        </p:nvSpPr>
        <p:spPr>
          <a:xfrm>
            <a:off x="8915400" y="2734056"/>
            <a:ext cx="2724912"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indexer.build_index()</a:t>
            </a:r>
            <a:endParaRPr lang="en-US" sz="1100" dirty="0"/>
          </a:p>
        </p:txBody>
      </p:sp>
      <p:sp>
        <p:nvSpPr>
          <p:cNvPr id="28" name="Arrow"/>
          <p:cNvSpPr/>
          <p:nvPr/>
        </p:nvSpPr>
        <p:spPr>
          <a:xfrm>
            <a:off x="2468880" y="2907792"/>
            <a:ext cx="411480" cy="0"/>
          </a:xfrm>
          <a:prstGeom prst="line">
            <a:avLst/>
          </a:prstGeom>
          <a:noFill/>
          <a:ln w="19050">
            <a:solidFill>
              <a:srgbClr val="5F6F66"/>
            </a:solidFill>
            <a:prstDash val="solid"/>
            <a:tailEnd type="triangle"/>
          </a:ln>
        </p:spPr>
      </p:sp>
      <p:sp>
        <p:nvSpPr>
          <p:cNvPr id="29" name="Arrow"/>
          <p:cNvSpPr/>
          <p:nvPr/>
        </p:nvSpPr>
        <p:spPr>
          <a:xfrm>
            <a:off x="5623560" y="2907792"/>
            <a:ext cx="411480" cy="0"/>
          </a:xfrm>
          <a:prstGeom prst="line">
            <a:avLst/>
          </a:prstGeom>
          <a:noFill/>
          <a:ln w="19050">
            <a:solidFill>
              <a:srgbClr val="5F6F66"/>
            </a:solidFill>
            <a:prstDash val="solid"/>
            <a:tailEnd type="triangle"/>
          </a:ln>
        </p:spPr>
      </p:sp>
      <p:sp>
        <p:nvSpPr>
          <p:cNvPr id="30" name="Arrow"/>
          <p:cNvSpPr/>
          <p:nvPr/>
        </p:nvSpPr>
        <p:spPr>
          <a:xfrm>
            <a:off x="8412480" y="2907792"/>
            <a:ext cx="411480" cy="0"/>
          </a:xfrm>
          <a:prstGeom prst="line">
            <a:avLst/>
          </a:prstGeom>
          <a:noFill/>
          <a:ln w="19050">
            <a:solidFill>
              <a:srgbClr val="5F6F66"/>
            </a:solidFill>
            <a:prstDash val="solid"/>
            <a:tailEnd type="triangle"/>
          </a:ln>
        </p:spPr>
      </p:sp>
      <p:sp>
        <p:nvSpPr>
          <p:cNvPr id="31" name="Box Build"/>
          <p:cNvSpPr/>
          <p:nvPr/>
        </p:nvSpPr>
        <p:spPr>
          <a:xfrm>
            <a:off x="457200" y="3227832"/>
            <a:ext cx="2011680" cy="420624"/>
          </a:xfrm>
          <a:prstGeom prst="roundRect">
            <a:avLst>
              <a:gd name="adj" fmla="val 13043"/>
            </a:avLst>
          </a:prstGeom>
          <a:solidFill>
            <a:srgbClr val="E3EEF4"/>
          </a:solidFill>
          <a:ln w="15875">
            <a:solidFill>
              <a:srgbClr val="2C6E8F"/>
            </a:solidFill>
            <a:prstDash val="solid"/>
          </a:ln>
        </p:spPr>
      </p:sp>
      <p:sp>
        <p:nvSpPr>
          <p:cNvPr id="32" name="Text Build"/>
          <p:cNvSpPr txBox="1"/>
          <p:nvPr/>
        </p:nvSpPr>
        <p:spPr>
          <a:xfrm>
            <a:off x="548640" y="3264408"/>
            <a:ext cx="1828800" cy="347472"/>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Build</a:t>
            </a:r>
            <a:endParaRPr lang="en-US" sz="1100" dirty="0"/>
          </a:p>
        </p:txBody>
      </p:sp>
      <p:sp>
        <p:nvSpPr>
          <p:cNvPr id="33" name="Box POST /api/check"/>
          <p:cNvSpPr/>
          <p:nvPr/>
        </p:nvSpPr>
        <p:spPr>
          <a:xfrm>
            <a:off x="2880360" y="3227832"/>
            <a:ext cx="2743200" cy="420624"/>
          </a:xfrm>
          <a:prstGeom prst="roundRect">
            <a:avLst>
              <a:gd name="adj" fmla="val 13043"/>
            </a:avLst>
          </a:prstGeom>
          <a:solidFill>
            <a:srgbClr val="FDF0D9"/>
          </a:solidFill>
          <a:ln w="15875">
            <a:solidFill>
              <a:srgbClr val="E39B2D"/>
            </a:solidFill>
            <a:prstDash val="solid"/>
          </a:ln>
        </p:spPr>
      </p:sp>
      <p:sp>
        <p:nvSpPr>
          <p:cNvPr id="34" name="Text POST /api/check"/>
          <p:cNvSpPr txBox="1"/>
          <p:nvPr/>
        </p:nvSpPr>
        <p:spPr>
          <a:xfrm>
            <a:off x="2971800" y="3264408"/>
            <a:ext cx="256032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POST /api/check</a:t>
            </a:r>
            <a:endParaRPr lang="en-US" sz="1100" dirty="0"/>
          </a:p>
        </p:txBody>
      </p:sp>
      <p:sp>
        <p:nvSpPr>
          <p:cNvPr id="35" name="Box builder.check()"/>
          <p:cNvSpPr/>
          <p:nvPr/>
        </p:nvSpPr>
        <p:spPr>
          <a:xfrm>
            <a:off x="6035040" y="3227832"/>
            <a:ext cx="2377440" cy="420624"/>
          </a:xfrm>
          <a:prstGeom prst="roundRect">
            <a:avLst>
              <a:gd name="adj" fmla="val 13043"/>
            </a:avLst>
          </a:prstGeom>
          <a:solidFill>
            <a:srgbClr val="EEF5EF"/>
          </a:solidFill>
          <a:ln w="15875">
            <a:solidFill>
              <a:srgbClr val="3E8E4F"/>
            </a:solidFill>
            <a:prstDash val="solid"/>
          </a:ln>
        </p:spPr>
      </p:sp>
      <p:sp>
        <p:nvSpPr>
          <p:cNvPr id="36" name="Text builder.check()"/>
          <p:cNvSpPr txBox="1"/>
          <p:nvPr/>
        </p:nvSpPr>
        <p:spPr>
          <a:xfrm>
            <a:off x="6126480" y="3264408"/>
            <a:ext cx="219456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builder.check()</a:t>
            </a:r>
            <a:endParaRPr lang="en-US" sz="1100" dirty="0"/>
          </a:p>
        </p:txBody>
      </p:sp>
      <p:sp>
        <p:nvSpPr>
          <p:cNvPr id="37" name="Box checker.check_steps(), matcher.find()"/>
          <p:cNvSpPr/>
          <p:nvPr/>
        </p:nvSpPr>
        <p:spPr>
          <a:xfrm>
            <a:off x="8823960" y="3227832"/>
            <a:ext cx="2907792" cy="420624"/>
          </a:xfrm>
          <a:prstGeom prst="roundRect">
            <a:avLst>
              <a:gd name="adj" fmla="val 13043"/>
            </a:avLst>
          </a:prstGeom>
          <a:solidFill>
            <a:srgbClr val="D7E9D9"/>
          </a:solidFill>
          <a:ln w="15875">
            <a:solidFill>
              <a:srgbClr val="1F4D3A"/>
            </a:solidFill>
            <a:prstDash val="solid"/>
          </a:ln>
        </p:spPr>
      </p:sp>
      <p:sp>
        <p:nvSpPr>
          <p:cNvPr id="38" name="Text checker.check_steps(), matcher.find()"/>
          <p:cNvSpPr txBox="1"/>
          <p:nvPr/>
        </p:nvSpPr>
        <p:spPr>
          <a:xfrm>
            <a:off x="8915400" y="3264408"/>
            <a:ext cx="2724912"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checker.check_steps(), matcher.find()</a:t>
            </a:r>
            <a:endParaRPr lang="en-US" sz="1100" dirty="0"/>
          </a:p>
        </p:txBody>
      </p:sp>
      <p:sp>
        <p:nvSpPr>
          <p:cNvPr id="39" name="Arrow"/>
          <p:cNvSpPr/>
          <p:nvPr/>
        </p:nvSpPr>
        <p:spPr>
          <a:xfrm>
            <a:off x="2468880" y="3438144"/>
            <a:ext cx="411480" cy="0"/>
          </a:xfrm>
          <a:prstGeom prst="line">
            <a:avLst/>
          </a:prstGeom>
          <a:noFill/>
          <a:ln w="19050">
            <a:solidFill>
              <a:srgbClr val="5F6F66"/>
            </a:solidFill>
            <a:prstDash val="solid"/>
            <a:tailEnd type="triangle"/>
          </a:ln>
        </p:spPr>
      </p:sp>
      <p:sp>
        <p:nvSpPr>
          <p:cNvPr id="40" name="Arrow"/>
          <p:cNvSpPr/>
          <p:nvPr/>
        </p:nvSpPr>
        <p:spPr>
          <a:xfrm>
            <a:off x="5623560" y="3438144"/>
            <a:ext cx="411480" cy="0"/>
          </a:xfrm>
          <a:prstGeom prst="line">
            <a:avLst/>
          </a:prstGeom>
          <a:noFill/>
          <a:ln w="19050">
            <a:solidFill>
              <a:srgbClr val="5F6F66"/>
            </a:solidFill>
            <a:prstDash val="solid"/>
            <a:tailEnd type="triangle"/>
          </a:ln>
        </p:spPr>
      </p:sp>
      <p:sp>
        <p:nvSpPr>
          <p:cNvPr id="41" name="Arrow"/>
          <p:cNvSpPr/>
          <p:nvPr/>
        </p:nvSpPr>
        <p:spPr>
          <a:xfrm>
            <a:off x="8412480" y="3438144"/>
            <a:ext cx="411480" cy="0"/>
          </a:xfrm>
          <a:prstGeom prst="line">
            <a:avLst/>
          </a:prstGeom>
          <a:noFill/>
          <a:ln w="19050">
            <a:solidFill>
              <a:srgbClr val="5F6F66"/>
            </a:solidFill>
            <a:prstDash val="solid"/>
            <a:tailEnd type="triangle"/>
          </a:ln>
        </p:spPr>
      </p:sp>
      <p:sp>
        <p:nvSpPr>
          <p:cNvPr id="42" name="Box Action blocks"/>
          <p:cNvSpPr/>
          <p:nvPr/>
        </p:nvSpPr>
        <p:spPr>
          <a:xfrm>
            <a:off x="457200" y="3758184"/>
            <a:ext cx="2011680" cy="420624"/>
          </a:xfrm>
          <a:prstGeom prst="roundRect">
            <a:avLst>
              <a:gd name="adj" fmla="val 13043"/>
            </a:avLst>
          </a:prstGeom>
          <a:solidFill>
            <a:srgbClr val="E3EEF4"/>
          </a:solidFill>
          <a:ln w="15875">
            <a:solidFill>
              <a:srgbClr val="2C6E8F"/>
            </a:solidFill>
            <a:prstDash val="solid"/>
          </a:ln>
        </p:spPr>
      </p:sp>
      <p:sp>
        <p:nvSpPr>
          <p:cNvPr id="43" name="Text Action blocks"/>
          <p:cNvSpPr txBox="1"/>
          <p:nvPr/>
        </p:nvSpPr>
        <p:spPr>
          <a:xfrm>
            <a:off x="548640" y="3794760"/>
            <a:ext cx="1828800" cy="347472"/>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Action blocks</a:t>
            </a:r>
            <a:endParaRPr lang="en-US" sz="1100" dirty="0"/>
          </a:p>
        </p:txBody>
      </p:sp>
      <p:sp>
        <p:nvSpPr>
          <p:cNvPr id="44" name="Box POST /api/stepcode"/>
          <p:cNvSpPr/>
          <p:nvPr/>
        </p:nvSpPr>
        <p:spPr>
          <a:xfrm>
            <a:off x="2880360" y="3758184"/>
            <a:ext cx="2743200" cy="420624"/>
          </a:xfrm>
          <a:prstGeom prst="roundRect">
            <a:avLst>
              <a:gd name="adj" fmla="val 13043"/>
            </a:avLst>
          </a:prstGeom>
          <a:solidFill>
            <a:srgbClr val="FDF0D9"/>
          </a:solidFill>
          <a:ln w="15875">
            <a:solidFill>
              <a:srgbClr val="E39B2D"/>
            </a:solidFill>
            <a:prstDash val="solid"/>
          </a:ln>
        </p:spPr>
      </p:sp>
      <p:sp>
        <p:nvSpPr>
          <p:cNvPr id="45" name="Text POST /api/stepcode"/>
          <p:cNvSpPr txBox="1"/>
          <p:nvPr/>
        </p:nvSpPr>
        <p:spPr>
          <a:xfrm>
            <a:off x="2971800" y="3794760"/>
            <a:ext cx="256032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POST /api/stepcode</a:t>
            </a:r>
            <a:endParaRPr lang="en-US" sz="1100" dirty="0"/>
          </a:p>
        </p:txBody>
      </p:sp>
      <p:sp>
        <p:nvSpPr>
          <p:cNvPr id="46" name="Box stepcode.plan()"/>
          <p:cNvSpPr/>
          <p:nvPr/>
        </p:nvSpPr>
        <p:spPr>
          <a:xfrm>
            <a:off x="6035040" y="3758184"/>
            <a:ext cx="2377440" cy="420624"/>
          </a:xfrm>
          <a:prstGeom prst="roundRect">
            <a:avLst>
              <a:gd name="adj" fmla="val 13043"/>
            </a:avLst>
          </a:prstGeom>
          <a:solidFill>
            <a:srgbClr val="EEF5EF"/>
          </a:solidFill>
          <a:ln w="15875">
            <a:solidFill>
              <a:srgbClr val="3E8E4F"/>
            </a:solidFill>
            <a:prstDash val="solid"/>
          </a:ln>
        </p:spPr>
      </p:sp>
      <p:sp>
        <p:nvSpPr>
          <p:cNvPr id="47" name="Text stepcode.plan()"/>
          <p:cNvSpPr txBox="1"/>
          <p:nvPr/>
        </p:nvSpPr>
        <p:spPr>
          <a:xfrm>
            <a:off x="6126480" y="3794760"/>
            <a:ext cx="219456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stepcode.plan()</a:t>
            </a:r>
            <a:endParaRPr lang="en-US" sz="1100" dirty="0"/>
          </a:p>
        </p:txBody>
      </p:sp>
      <p:sp>
        <p:nvSpPr>
          <p:cNvPr id="48" name="Box indexer, matcher.is_exact_match()"/>
          <p:cNvSpPr/>
          <p:nvPr/>
        </p:nvSpPr>
        <p:spPr>
          <a:xfrm>
            <a:off x="8823960" y="3758184"/>
            <a:ext cx="2907792" cy="420624"/>
          </a:xfrm>
          <a:prstGeom prst="roundRect">
            <a:avLst>
              <a:gd name="adj" fmla="val 13043"/>
            </a:avLst>
          </a:prstGeom>
          <a:solidFill>
            <a:srgbClr val="D7E9D9"/>
          </a:solidFill>
          <a:ln w="15875">
            <a:solidFill>
              <a:srgbClr val="1F4D3A"/>
            </a:solidFill>
            <a:prstDash val="solid"/>
          </a:ln>
        </p:spPr>
      </p:sp>
      <p:sp>
        <p:nvSpPr>
          <p:cNvPr id="49" name="Text indexer, matcher.is_exact_match()"/>
          <p:cNvSpPr txBox="1"/>
          <p:nvPr/>
        </p:nvSpPr>
        <p:spPr>
          <a:xfrm>
            <a:off x="8915400" y="3794760"/>
            <a:ext cx="2724912"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indexer, matcher.is_exact_match()</a:t>
            </a:r>
            <a:endParaRPr lang="en-US" sz="1100" dirty="0"/>
          </a:p>
        </p:txBody>
      </p:sp>
      <p:sp>
        <p:nvSpPr>
          <p:cNvPr id="50" name="Arrow"/>
          <p:cNvSpPr/>
          <p:nvPr/>
        </p:nvSpPr>
        <p:spPr>
          <a:xfrm>
            <a:off x="2468880" y="3968496"/>
            <a:ext cx="411480" cy="0"/>
          </a:xfrm>
          <a:prstGeom prst="line">
            <a:avLst/>
          </a:prstGeom>
          <a:noFill/>
          <a:ln w="19050">
            <a:solidFill>
              <a:srgbClr val="5F6F66"/>
            </a:solidFill>
            <a:prstDash val="solid"/>
            <a:tailEnd type="triangle"/>
          </a:ln>
        </p:spPr>
      </p:sp>
      <p:sp>
        <p:nvSpPr>
          <p:cNvPr id="51" name="Arrow"/>
          <p:cNvSpPr/>
          <p:nvPr/>
        </p:nvSpPr>
        <p:spPr>
          <a:xfrm>
            <a:off x="5623560" y="3968496"/>
            <a:ext cx="411480" cy="0"/>
          </a:xfrm>
          <a:prstGeom prst="line">
            <a:avLst/>
          </a:prstGeom>
          <a:noFill/>
          <a:ln w="19050">
            <a:solidFill>
              <a:srgbClr val="5F6F66"/>
            </a:solidFill>
            <a:prstDash val="solid"/>
            <a:tailEnd type="triangle"/>
          </a:ln>
        </p:spPr>
      </p:sp>
      <p:sp>
        <p:nvSpPr>
          <p:cNvPr id="52" name="Arrow"/>
          <p:cNvSpPr/>
          <p:nvPr/>
        </p:nvSpPr>
        <p:spPr>
          <a:xfrm>
            <a:off x="8412480" y="3968496"/>
            <a:ext cx="411480" cy="0"/>
          </a:xfrm>
          <a:prstGeom prst="line">
            <a:avLst/>
          </a:prstGeom>
          <a:noFill/>
          <a:ln w="19050">
            <a:solidFill>
              <a:srgbClr val="5F6F66"/>
            </a:solidFill>
            <a:prstDash val="solid"/>
            <a:tailEnd type="triangle"/>
          </a:ln>
        </p:spPr>
      </p:sp>
      <p:sp>
        <p:nvSpPr>
          <p:cNvPr id="53" name="Box Scenarios"/>
          <p:cNvSpPr/>
          <p:nvPr/>
        </p:nvSpPr>
        <p:spPr>
          <a:xfrm>
            <a:off x="457200" y="4288536"/>
            <a:ext cx="2011680" cy="420624"/>
          </a:xfrm>
          <a:prstGeom prst="roundRect">
            <a:avLst>
              <a:gd name="adj" fmla="val 13043"/>
            </a:avLst>
          </a:prstGeom>
          <a:solidFill>
            <a:srgbClr val="E3EEF4"/>
          </a:solidFill>
          <a:ln w="15875">
            <a:solidFill>
              <a:srgbClr val="2C6E8F"/>
            </a:solidFill>
            <a:prstDash val="solid"/>
          </a:ln>
        </p:spPr>
      </p:sp>
      <p:sp>
        <p:nvSpPr>
          <p:cNvPr id="54" name="Text Scenarios"/>
          <p:cNvSpPr txBox="1"/>
          <p:nvPr/>
        </p:nvSpPr>
        <p:spPr>
          <a:xfrm>
            <a:off x="548640" y="4325112"/>
            <a:ext cx="1828800" cy="347472"/>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Scenarios</a:t>
            </a:r>
            <a:endParaRPr lang="en-US" sz="1100" dirty="0"/>
          </a:p>
        </p:txBody>
      </p:sp>
      <p:sp>
        <p:nvSpPr>
          <p:cNvPr id="55" name="Box /api/scenario/…"/>
          <p:cNvSpPr/>
          <p:nvPr/>
        </p:nvSpPr>
        <p:spPr>
          <a:xfrm>
            <a:off x="2880360" y="4288536"/>
            <a:ext cx="2743200" cy="420624"/>
          </a:xfrm>
          <a:prstGeom prst="roundRect">
            <a:avLst>
              <a:gd name="adj" fmla="val 13043"/>
            </a:avLst>
          </a:prstGeom>
          <a:solidFill>
            <a:srgbClr val="FDF0D9"/>
          </a:solidFill>
          <a:ln w="15875">
            <a:solidFill>
              <a:srgbClr val="E39B2D"/>
            </a:solidFill>
            <a:prstDash val="solid"/>
          </a:ln>
        </p:spPr>
      </p:sp>
      <p:sp>
        <p:nvSpPr>
          <p:cNvPr id="56" name="Text /api/scenario/…"/>
          <p:cNvSpPr txBox="1"/>
          <p:nvPr/>
        </p:nvSpPr>
        <p:spPr>
          <a:xfrm>
            <a:off x="2971800" y="4325112"/>
            <a:ext cx="256032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/api/scenario/…</a:t>
            </a:r>
            <a:endParaRPr lang="en-US" sz="1100" dirty="0"/>
          </a:p>
        </p:txBody>
      </p:sp>
      <p:sp>
        <p:nvSpPr>
          <p:cNvPr id="57" name="Box editor.plan_new / edit / delete"/>
          <p:cNvSpPr/>
          <p:nvPr/>
        </p:nvSpPr>
        <p:spPr>
          <a:xfrm>
            <a:off x="6035040" y="4288536"/>
            <a:ext cx="2377440" cy="420624"/>
          </a:xfrm>
          <a:prstGeom prst="roundRect">
            <a:avLst>
              <a:gd name="adj" fmla="val 13043"/>
            </a:avLst>
          </a:prstGeom>
          <a:solidFill>
            <a:srgbClr val="EEF5EF"/>
          </a:solidFill>
          <a:ln w="15875">
            <a:solidFill>
              <a:srgbClr val="3E8E4F"/>
            </a:solidFill>
            <a:prstDash val="solid"/>
          </a:ln>
        </p:spPr>
      </p:sp>
      <p:sp>
        <p:nvSpPr>
          <p:cNvPr id="58" name="Text editor.plan_new / edit / delete"/>
          <p:cNvSpPr txBox="1"/>
          <p:nvPr/>
        </p:nvSpPr>
        <p:spPr>
          <a:xfrm>
            <a:off x="6126480" y="4325112"/>
            <a:ext cx="219456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editor.plan_new / edit / delete</a:t>
            </a:r>
            <a:endParaRPr lang="en-US" sz="1100" dirty="0"/>
          </a:p>
        </p:txBody>
      </p:sp>
      <p:sp>
        <p:nvSpPr>
          <p:cNvPr id="59" name="Box ui/gherkin.render()"/>
          <p:cNvSpPr/>
          <p:nvPr/>
        </p:nvSpPr>
        <p:spPr>
          <a:xfrm>
            <a:off x="8823960" y="4288536"/>
            <a:ext cx="2907792" cy="420624"/>
          </a:xfrm>
          <a:prstGeom prst="roundRect">
            <a:avLst>
              <a:gd name="adj" fmla="val 13043"/>
            </a:avLst>
          </a:prstGeom>
          <a:solidFill>
            <a:srgbClr val="D7E9D9"/>
          </a:solidFill>
          <a:ln w="15875">
            <a:solidFill>
              <a:srgbClr val="1F4D3A"/>
            </a:solidFill>
            <a:prstDash val="solid"/>
          </a:ln>
        </p:spPr>
      </p:sp>
      <p:sp>
        <p:nvSpPr>
          <p:cNvPr id="60" name="Text ui/gherkin.render()"/>
          <p:cNvSpPr txBox="1"/>
          <p:nvPr/>
        </p:nvSpPr>
        <p:spPr>
          <a:xfrm>
            <a:off x="8915400" y="4325112"/>
            <a:ext cx="2724912"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ui/gherkin.render()</a:t>
            </a:r>
            <a:endParaRPr lang="en-US" sz="1100" dirty="0"/>
          </a:p>
        </p:txBody>
      </p:sp>
      <p:sp>
        <p:nvSpPr>
          <p:cNvPr id="61" name="Arrow"/>
          <p:cNvSpPr/>
          <p:nvPr/>
        </p:nvSpPr>
        <p:spPr>
          <a:xfrm>
            <a:off x="2468880" y="4498848"/>
            <a:ext cx="411480" cy="0"/>
          </a:xfrm>
          <a:prstGeom prst="line">
            <a:avLst/>
          </a:prstGeom>
          <a:noFill/>
          <a:ln w="19050">
            <a:solidFill>
              <a:srgbClr val="5F6F66"/>
            </a:solidFill>
            <a:prstDash val="solid"/>
            <a:tailEnd type="triangle"/>
          </a:ln>
        </p:spPr>
      </p:sp>
      <p:sp>
        <p:nvSpPr>
          <p:cNvPr id="62" name="Arrow"/>
          <p:cNvSpPr/>
          <p:nvPr/>
        </p:nvSpPr>
        <p:spPr>
          <a:xfrm>
            <a:off x="5623560" y="4498848"/>
            <a:ext cx="411480" cy="0"/>
          </a:xfrm>
          <a:prstGeom prst="line">
            <a:avLst/>
          </a:prstGeom>
          <a:noFill/>
          <a:ln w="19050">
            <a:solidFill>
              <a:srgbClr val="5F6F66"/>
            </a:solidFill>
            <a:prstDash val="solid"/>
            <a:tailEnd type="triangle"/>
          </a:ln>
        </p:spPr>
      </p:sp>
      <p:sp>
        <p:nvSpPr>
          <p:cNvPr id="63" name="Arrow"/>
          <p:cNvSpPr/>
          <p:nvPr/>
        </p:nvSpPr>
        <p:spPr>
          <a:xfrm>
            <a:off x="8412480" y="4498848"/>
            <a:ext cx="411480" cy="0"/>
          </a:xfrm>
          <a:prstGeom prst="line">
            <a:avLst/>
          </a:prstGeom>
          <a:noFill/>
          <a:ln w="19050">
            <a:solidFill>
              <a:srgbClr val="5F6F66"/>
            </a:solidFill>
            <a:prstDash val="solid"/>
            <a:tailEnd type="triangle"/>
          </a:ln>
        </p:spPr>
      </p:sp>
      <p:sp>
        <p:nvSpPr>
          <p:cNvPr id="64" name="Box Duplicates"/>
          <p:cNvSpPr/>
          <p:nvPr/>
        </p:nvSpPr>
        <p:spPr>
          <a:xfrm>
            <a:off x="457200" y="4818888"/>
            <a:ext cx="2011680" cy="420624"/>
          </a:xfrm>
          <a:prstGeom prst="roundRect">
            <a:avLst>
              <a:gd name="adj" fmla="val 13043"/>
            </a:avLst>
          </a:prstGeom>
          <a:solidFill>
            <a:srgbClr val="E3EEF4"/>
          </a:solidFill>
          <a:ln w="15875">
            <a:solidFill>
              <a:srgbClr val="2C6E8F"/>
            </a:solidFill>
            <a:prstDash val="solid"/>
          </a:ln>
        </p:spPr>
      </p:sp>
      <p:sp>
        <p:nvSpPr>
          <p:cNvPr id="65" name="Text Duplicates"/>
          <p:cNvSpPr txBox="1"/>
          <p:nvPr/>
        </p:nvSpPr>
        <p:spPr>
          <a:xfrm>
            <a:off x="548640" y="4855464"/>
            <a:ext cx="1828800" cy="347472"/>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Duplicates</a:t>
            </a:r>
            <a:endParaRPr lang="en-US" sz="1100" dirty="0"/>
          </a:p>
        </p:txBody>
      </p:sp>
      <p:sp>
        <p:nvSpPr>
          <p:cNvPr id="66" name="Box GET /api/dupes, POST /api/merge"/>
          <p:cNvSpPr/>
          <p:nvPr/>
        </p:nvSpPr>
        <p:spPr>
          <a:xfrm>
            <a:off x="2880360" y="4818888"/>
            <a:ext cx="2743200" cy="420624"/>
          </a:xfrm>
          <a:prstGeom prst="roundRect">
            <a:avLst>
              <a:gd name="adj" fmla="val 13043"/>
            </a:avLst>
          </a:prstGeom>
          <a:solidFill>
            <a:srgbClr val="FDF0D9"/>
          </a:solidFill>
          <a:ln w="15875">
            <a:solidFill>
              <a:srgbClr val="E39B2D"/>
            </a:solidFill>
            <a:prstDash val="solid"/>
          </a:ln>
        </p:spPr>
      </p:sp>
      <p:sp>
        <p:nvSpPr>
          <p:cNvPr id="67" name="Text GET /api/dupes, POST /api/merge"/>
          <p:cNvSpPr txBox="1"/>
          <p:nvPr/>
        </p:nvSpPr>
        <p:spPr>
          <a:xfrm>
            <a:off x="2971800" y="4855464"/>
            <a:ext cx="256032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GET /api/dupes, POST /api/merge</a:t>
            </a:r>
            <a:endParaRPr lang="en-US" sz="1100" dirty="0"/>
          </a:p>
        </p:txBody>
      </p:sp>
      <p:sp>
        <p:nvSpPr>
          <p:cNvPr id="68" name="Box ui/dupes.py"/>
          <p:cNvSpPr/>
          <p:nvPr/>
        </p:nvSpPr>
        <p:spPr>
          <a:xfrm>
            <a:off x="6035040" y="4818888"/>
            <a:ext cx="2377440" cy="420624"/>
          </a:xfrm>
          <a:prstGeom prst="roundRect">
            <a:avLst>
              <a:gd name="adj" fmla="val 13043"/>
            </a:avLst>
          </a:prstGeom>
          <a:solidFill>
            <a:srgbClr val="EEF5EF"/>
          </a:solidFill>
          <a:ln w="15875">
            <a:solidFill>
              <a:srgbClr val="3E8E4F"/>
            </a:solidFill>
            <a:prstDash val="solid"/>
          </a:ln>
        </p:spPr>
      </p:sp>
      <p:sp>
        <p:nvSpPr>
          <p:cNvPr id="69" name="Text ui/dupes.py"/>
          <p:cNvSpPr txBox="1"/>
          <p:nvPr/>
        </p:nvSpPr>
        <p:spPr>
          <a:xfrm>
            <a:off x="6126480" y="4855464"/>
            <a:ext cx="219456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ui/dupes.py</a:t>
            </a:r>
            <a:endParaRPr lang="en-US" sz="1100" dirty="0"/>
          </a:p>
        </p:txBody>
      </p:sp>
      <p:sp>
        <p:nvSpPr>
          <p:cNvPr id="70" name="Box merger.plan_merges()"/>
          <p:cNvSpPr/>
          <p:nvPr/>
        </p:nvSpPr>
        <p:spPr>
          <a:xfrm>
            <a:off x="8823960" y="4818888"/>
            <a:ext cx="2907792" cy="420624"/>
          </a:xfrm>
          <a:prstGeom prst="roundRect">
            <a:avLst>
              <a:gd name="adj" fmla="val 13043"/>
            </a:avLst>
          </a:prstGeom>
          <a:solidFill>
            <a:srgbClr val="D7E9D9"/>
          </a:solidFill>
          <a:ln w="15875">
            <a:solidFill>
              <a:srgbClr val="1F4D3A"/>
            </a:solidFill>
            <a:prstDash val="solid"/>
          </a:ln>
        </p:spPr>
      </p:sp>
      <p:sp>
        <p:nvSpPr>
          <p:cNvPr id="71" name="Text merger.plan_merges()"/>
          <p:cNvSpPr txBox="1"/>
          <p:nvPr/>
        </p:nvSpPr>
        <p:spPr>
          <a:xfrm>
            <a:off x="8915400" y="4855464"/>
            <a:ext cx="2724912"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merger.plan_merges()</a:t>
            </a:r>
            <a:endParaRPr lang="en-US" sz="1100" dirty="0"/>
          </a:p>
        </p:txBody>
      </p:sp>
      <p:sp>
        <p:nvSpPr>
          <p:cNvPr id="72" name="Arrow"/>
          <p:cNvSpPr/>
          <p:nvPr/>
        </p:nvSpPr>
        <p:spPr>
          <a:xfrm>
            <a:off x="2468880" y="5029200"/>
            <a:ext cx="411480" cy="0"/>
          </a:xfrm>
          <a:prstGeom prst="line">
            <a:avLst/>
          </a:prstGeom>
          <a:noFill/>
          <a:ln w="19050">
            <a:solidFill>
              <a:srgbClr val="5F6F66"/>
            </a:solidFill>
            <a:prstDash val="solid"/>
            <a:tailEnd type="triangle"/>
          </a:ln>
        </p:spPr>
      </p:sp>
      <p:sp>
        <p:nvSpPr>
          <p:cNvPr id="73" name="Arrow"/>
          <p:cNvSpPr/>
          <p:nvPr/>
        </p:nvSpPr>
        <p:spPr>
          <a:xfrm>
            <a:off x="5623560" y="5029200"/>
            <a:ext cx="411480" cy="0"/>
          </a:xfrm>
          <a:prstGeom prst="line">
            <a:avLst/>
          </a:prstGeom>
          <a:noFill/>
          <a:ln w="19050">
            <a:solidFill>
              <a:srgbClr val="5F6F66"/>
            </a:solidFill>
            <a:prstDash val="solid"/>
            <a:tailEnd type="triangle"/>
          </a:ln>
        </p:spPr>
      </p:sp>
      <p:sp>
        <p:nvSpPr>
          <p:cNvPr id="74" name="Arrow"/>
          <p:cNvSpPr/>
          <p:nvPr/>
        </p:nvSpPr>
        <p:spPr>
          <a:xfrm>
            <a:off x="8412480" y="5029200"/>
            <a:ext cx="411480" cy="0"/>
          </a:xfrm>
          <a:prstGeom prst="line">
            <a:avLst/>
          </a:prstGeom>
          <a:noFill/>
          <a:ln w="19050">
            <a:solidFill>
              <a:srgbClr val="5F6F66"/>
            </a:solidFill>
            <a:prstDash val="solid"/>
            <a:tailEnd type="triangle"/>
          </a:ln>
        </p:spPr>
      </p:sp>
      <p:sp>
        <p:nvSpPr>
          <p:cNvPr id="75" name="Box Test results"/>
          <p:cNvSpPr/>
          <p:nvPr/>
        </p:nvSpPr>
        <p:spPr>
          <a:xfrm>
            <a:off x="457200" y="5349240"/>
            <a:ext cx="2011680" cy="420624"/>
          </a:xfrm>
          <a:prstGeom prst="roundRect">
            <a:avLst>
              <a:gd name="adj" fmla="val 13043"/>
            </a:avLst>
          </a:prstGeom>
          <a:solidFill>
            <a:srgbClr val="E3EEF4"/>
          </a:solidFill>
          <a:ln w="15875">
            <a:solidFill>
              <a:srgbClr val="2C6E8F"/>
            </a:solidFill>
            <a:prstDash val="solid"/>
          </a:ln>
        </p:spPr>
      </p:sp>
      <p:sp>
        <p:nvSpPr>
          <p:cNvPr id="76" name="Text Test results"/>
          <p:cNvSpPr txBox="1"/>
          <p:nvPr/>
        </p:nvSpPr>
        <p:spPr>
          <a:xfrm>
            <a:off x="548640" y="5385816"/>
            <a:ext cx="1828800" cy="347472"/>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Test results</a:t>
            </a:r>
            <a:endParaRPr lang="en-US" sz="1100" dirty="0"/>
          </a:p>
        </p:txBody>
      </p:sp>
      <p:sp>
        <p:nvSpPr>
          <p:cNvPr id="77" name="Box POST /api/run/start"/>
          <p:cNvSpPr/>
          <p:nvPr/>
        </p:nvSpPr>
        <p:spPr>
          <a:xfrm>
            <a:off x="2880360" y="5349240"/>
            <a:ext cx="2743200" cy="420624"/>
          </a:xfrm>
          <a:prstGeom prst="roundRect">
            <a:avLst>
              <a:gd name="adj" fmla="val 13043"/>
            </a:avLst>
          </a:prstGeom>
          <a:solidFill>
            <a:srgbClr val="FDF0D9"/>
          </a:solidFill>
          <a:ln w="15875">
            <a:solidFill>
              <a:srgbClr val="E39B2D"/>
            </a:solidFill>
            <a:prstDash val="solid"/>
          </a:ln>
        </p:spPr>
      </p:sp>
      <p:sp>
        <p:nvSpPr>
          <p:cNvPr id="78" name="Text POST /api/run/start"/>
          <p:cNvSpPr txBox="1"/>
          <p:nvPr/>
        </p:nvSpPr>
        <p:spPr>
          <a:xfrm>
            <a:off x="2971800" y="5385816"/>
            <a:ext cx="256032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POST /api/run/start</a:t>
            </a:r>
            <a:endParaRPr lang="en-US" sz="1100" dirty="0"/>
          </a:p>
        </p:txBody>
      </p:sp>
      <p:sp>
        <p:nvSpPr>
          <p:cNvPr id="79" name="Box runner.py"/>
          <p:cNvSpPr/>
          <p:nvPr/>
        </p:nvSpPr>
        <p:spPr>
          <a:xfrm>
            <a:off x="6035040" y="5349240"/>
            <a:ext cx="2377440" cy="420624"/>
          </a:xfrm>
          <a:prstGeom prst="roundRect">
            <a:avLst>
              <a:gd name="adj" fmla="val 13043"/>
            </a:avLst>
          </a:prstGeom>
          <a:solidFill>
            <a:srgbClr val="EEF5EF"/>
          </a:solidFill>
          <a:ln w="15875">
            <a:solidFill>
              <a:srgbClr val="3E8E4F"/>
            </a:solidFill>
            <a:prstDash val="solid"/>
          </a:ln>
        </p:spPr>
      </p:sp>
      <p:sp>
        <p:nvSpPr>
          <p:cNvPr id="80" name="Text runner.py"/>
          <p:cNvSpPr txBox="1"/>
          <p:nvPr/>
        </p:nvSpPr>
        <p:spPr>
          <a:xfrm>
            <a:off x="6126480" y="5385816"/>
            <a:ext cx="219456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runner.py</a:t>
            </a:r>
            <a:endParaRPr lang="en-US" sz="1100" dirty="0"/>
          </a:p>
        </p:txBody>
      </p:sp>
      <p:sp>
        <p:nvSpPr>
          <p:cNvPr id="81" name="Box pytest, report.load_report()"/>
          <p:cNvSpPr/>
          <p:nvPr/>
        </p:nvSpPr>
        <p:spPr>
          <a:xfrm>
            <a:off x="8823960" y="5349240"/>
            <a:ext cx="2907792" cy="420624"/>
          </a:xfrm>
          <a:prstGeom prst="roundRect">
            <a:avLst>
              <a:gd name="adj" fmla="val 13043"/>
            </a:avLst>
          </a:prstGeom>
          <a:solidFill>
            <a:srgbClr val="D7E9D9"/>
          </a:solidFill>
          <a:ln w="15875">
            <a:solidFill>
              <a:srgbClr val="1F4D3A"/>
            </a:solidFill>
            <a:prstDash val="solid"/>
          </a:ln>
        </p:spPr>
      </p:sp>
      <p:sp>
        <p:nvSpPr>
          <p:cNvPr id="82" name="Text pytest, report.load_report()"/>
          <p:cNvSpPr txBox="1"/>
          <p:nvPr/>
        </p:nvSpPr>
        <p:spPr>
          <a:xfrm>
            <a:off x="8915400" y="5385816"/>
            <a:ext cx="2724912"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pytest, report.load_report()</a:t>
            </a:r>
            <a:endParaRPr lang="en-US" sz="1100" dirty="0"/>
          </a:p>
        </p:txBody>
      </p:sp>
      <p:sp>
        <p:nvSpPr>
          <p:cNvPr id="83" name="Arrow"/>
          <p:cNvSpPr/>
          <p:nvPr/>
        </p:nvSpPr>
        <p:spPr>
          <a:xfrm>
            <a:off x="2468880" y="5559552"/>
            <a:ext cx="411480" cy="0"/>
          </a:xfrm>
          <a:prstGeom prst="line">
            <a:avLst/>
          </a:prstGeom>
          <a:noFill/>
          <a:ln w="19050">
            <a:solidFill>
              <a:srgbClr val="5F6F66"/>
            </a:solidFill>
            <a:prstDash val="solid"/>
            <a:tailEnd type="triangle"/>
          </a:ln>
        </p:spPr>
      </p:sp>
      <p:sp>
        <p:nvSpPr>
          <p:cNvPr id="84" name="Arrow"/>
          <p:cNvSpPr/>
          <p:nvPr/>
        </p:nvSpPr>
        <p:spPr>
          <a:xfrm>
            <a:off x="5623560" y="5559552"/>
            <a:ext cx="411480" cy="0"/>
          </a:xfrm>
          <a:prstGeom prst="line">
            <a:avLst/>
          </a:prstGeom>
          <a:noFill/>
          <a:ln w="19050">
            <a:solidFill>
              <a:srgbClr val="5F6F66"/>
            </a:solidFill>
            <a:prstDash val="solid"/>
            <a:tailEnd type="triangle"/>
          </a:ln>
        </p:spPr>
      </p:sp>
      <p:sp>
        <p:nvSpPr>
          <p:cNvPr id="85" name="Arrow"/>
          <p:cNvSpPr/>
          <p:nvPr/>
        </p:nvSpPr>
        <p:spPr>
          <a:xfrm>
            <a:off x="8412480" y="5559552"/>
            <a:ext cx="411480" cy="0"/>
          </a:xfrm>
          <a:prstGeom prst="line">
            <a:avLst/>
          </a:prstGeom>
          <a:noFill/>
          <a:ln w="19050">
            <a:solidFill>
              <a:srgbClr val="5F6F66"/>
            </a:solidFill>
            <a:prstDash val="solid"/>
            <a:tailEnd type="triangle"/>
          </a:ln>
        </p:spPr>
      </p:sp>
      <p:sp>
        <p:nvSpPr>
          <p:cNvPr id="86" name="Box History"/>
          <p:cNvSpPr/>
          <p:nvPr/>
        </p:nvSpPr>
        <p:spPr>
          <a:xfrm>
            <a:off x="457200" y="5879592"/>
            <a:ext cx="2011680" cy="420624"/>
          </a:xfrm>
          <a:prstGeom prst="roundRect">
            <a:avLst>
              <a:gd name="adj" fmla="val 13043"/>
            </a:avLst>
          </a:prstGeom>
          <a:solidFill>
            <a:srgbClr val="E3EEF4"/>
          </a:solidFill>
          <a:ln w="15875">
            <a:solidFill>
              <a:srgbClr val="2C6E8F"/>
            </a:solidFill>
            <a:prstDash val="solid"/>
          </a:ln>
        </p:spPr>
      </p:sp>
      <p:sp>
        <p:nvSpPr>
          <p:cNvPr id="87" name="Text History"/>
          <p:cNvSpPr txBox="1"/>
          <p:nvPr/>
        </p:nvSpPr>
        <p:spPr>
          <a:xfrm>
            <a:off x="548640" y="5916168"/>
            <a:ext cx="1828800" cy="347472"/>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History</a:t>
            </a:r>
            <a:endParaRPr lang="en-US" sz="1100" dirty="0"/>
          </a:p>
        </p:txBody>
      </p:sp>
      <p:sp>
        <p:nvSpPr>
          <p:cNvPr id="88" name="Box GET /api/history"/>
          <p:cNvSpPr/>
          <p:nvPr/>
        </p:nvSpPr>
        <p:spPr>
          <a:xfrm>
            <a:off x="2880360" y="5879592"/>
            <a:ext cx="2743200" cy="420624"/>
          </a:xfrm>
          <a:prstGeom prst="roundRect">
            <a:avLst>
              <a:gd name="adj" fmla="val 13043"/>
            </a:avLst>
          </a:prstGeom>
          <a:solidFill>
            <a:srgbClr val="FDF0D9"/>
          </a:solidFill>
          <a:ln w="15875">
            <a:solidFill>
              <a:srgbClr val="E39B2D"/>
            </a:solidFill>
            <a:prstDash val="solid"/>
          </a:ln>
        </p:spPr>
      </p:sp>
      <p:sp>
        <p:nvSpPr>
          <p:cNvPr id="89" name="Text GET /api/history"/>
          <p:cNvSpPr txBox="1"/>
          <p:nvPr/>
        </p:nvSpPr>
        <p:spPr>
          <a:xfrm>
            <a:off x="2971800" y="5916168"/>
            <a:ext cx="256032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GET /api/history</a:t>
            </a:r>
            <a:endParaRPr lang="en-US" sz="1100" dirty="0"/>
          </a:p>
        </p:txBody>
      </p:sp>
      <p:sp>
        <p:nvSpPr>
          <p:cNvPr id="90" name="Box history.py"/>
          <p:cNvSpPr/>
          <p:nvPr/>
        </p:nvSpPr>
        <p:spPr>
          <a:xfrm>
            <a:off x="6035040" y="5879592"/>
            <a:ext cx="2377440" cy="420624"/>
          </a:xfrm>
          <a:prstGeom prst="roundRect">
            <a:avLst>
              <a:gd name="adj" fmla="val 13043"/>
            </a:avLst>
          </a:prstGeom>
          <a:solidFill>
            <a:srgbClr val="EEF5EF"/>
          </a:solidFill>
          <a:ln w="15875">
            <a:solidFill>
              <a:srgbClr val="3E8E4F"/>
            </a:solidFill>
            <a:prstDash val="solid"/>
          </a:ln>
        </p:spPr>
      </p:sp>
      <p:sp>
        <p:nvSpPr>
          <p:cNvPr id="91" name="Text history.py"/>
          <p:cNvSpPr txBox="1"/>
          <p:nvPr/>
        </p:nvSpPr>
        <p:spPr>
          <a:xfrm>
            <a:off x="6126480" y="5916168"/>
            <a:ext cx="2194560"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history.py</a:t>
            </a:r>
            <a:endParaRPr lang="en-US" sz="1100" dirty="0"/>
          </a:p>
        </p:txBody>
      </p:sp>
      <p:sp>
        <p:nvSpPr>
          <p:cNvPr id="92" name="Box history.jsonl"/>
          <p:cNvSpPr/>
          <p:nvPr/>
        </p:nvSpPr>
        <p:spPr>
          <a:xfrm>
            <a:off x="8823960" y="5879592"/>
            <a:ext cx="2907792" cy="420624"/>
          </a:xfrm>
          <a:prstGeom prst="roundRect">
            <a:avLst>
              <a:gd name="adj" fmla="val 13043"/>
            </a:avLst>
          </a:prstGeom>
          <a:solidFill>
            <a:srgbClr val="D7E9D9"/>
          </a:solidFill>
          <a:ln w="15875">
            <a:solidFill>
              <a:srgbClr val="1F4D3A"/>
            </a:solidFill>
            <a:prstDash val="solid"/>
          </a:ln>
        </p:spPr>
      </p:sp>
      <p:sp>
        <p:nvSpPr>
          <p:cNvPr id="93" name="Text history.jsonl"/>
          <p:cNvSpPr txBox="1"/>
          <p:nvPr/>
        </p:nvSpPr>
        <p:spPr>
          <a:xfrm>
            <a:off x="8915400" y="5916168"/>
            <a:ext cx="2724912" cy="347472"/>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history.jsonl</a:t>
            </a:r>
            <a:endParaRPr lang="en-US" sz="1100" dirty="0"/>
          </a:p>
        </p:txBody>
      </p:sp>
      <p:sp>
        <p:nvSpPr>
          <p:cNvPr id="94" name="Arrow"/>
          <p:cNvSpPr/>
          <p:nvPr/>
        </p:nvSpPr>
        <p:spPr>
          <a:xfrm>
            <a:off x="2468880" y="6089904"/>
            <a:ext cx="411480" cy="0"/>
          </a:xfrm>
          <a:prstGeom prst="line">
            <a:avLst/>
          </a:prstGeom>
          <a:noFill/>
          <a:ln w="19050">
            <a:solidFill>
              <a:srgbClr val="5F6F66"/>
            </a:solidFill>
            <a:prstDash val="solid"/>
            <a:tailEnd type="triangle"/>
          </a:ln>
        </p:spPr>
      </p:sp>
      <p:sp>
        <p:nvSpPr>
          <p:cNvPr id="95" name="Arrow"/>
          <p:cNvSpPr/>
          <p:nvPr/>
        </p:nvSpPr>
        <p:spPr>
          <a:xfrm>
            <a:off x="5623560" y="6089904"/>
            <a:ext cx="411480" cy="0"/>
          </a:xfrm>
          <a:prstGeom prst="line">
            <a:avLst/>
          </a:prstGeom>
          <a:noFill/>
          <a:ln w="19050">
            <a:solidFill>
              <a:srgbClr val="5F6F66"/>
            </a:solidFill>
            <a:prstDash val="solid"/>
            <a:tailEnd type="triangle"/>
          </a:ln>
        </p:spPr>
      </p:sp>
      <p:sp>
        <p:nvSpPr>
          <p:cNvPr id="96" name="Arrow"/>
          <p:cNvSpPr/>
          <p:nvPr/>
        </p:nvSpPr>
        <p:spPr>
          <a:xfrm>
            <a:off x="8412480" y="6089904"/>
            <a:ext cx="411480" cy="0"/>
          </a:xfrm>
          <a:prstGeom prst="line">
            <a:avLst/>
          </a:prstGeom>
          <a:noFill/>
          <a:ln w="19050">
            <a:solidFill>
              <a:srgbClr val="5F6F66"/>
            </a:solidFill>
            <a:prstDash val="solid"/>
            <a:tailEnd type="triangle"/>
          </a:ln>
        </p:spPr>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The app: how Save and Run work</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Every write goes through the top row. The Run button is the bottom row.</a:t>
            </a:r>
            <a:endParaRPr lang="en-US" sz="1300" dirty="0"/>
          </a:p>
        </p:txBody>
      </p:sp>
      <p:sp>
        <p:nvSpPr>
          <p:cNvPr id="5" name="Text 2"/>
          <p:cNvSpPr txBox="1"/>
          <p:nvPr/>
        </p:nvSpPr>
        <p:spPr>
          <a:xfrm>
            <a:off x="457200" y="1325880"/>
            <a:ext cx="2743200" cy="320040"/>
          </a:xfrm>
          <a:prstGeom prst="rect">
            <a:avLst/>
          </a:prstGeom>
          <a:noFill/>
          <a:ln/>
        </p:spPr>
        <p:txBody>
          <a:bodyPr wrap="square" lIns="0" tIns="0" rIns="0" bIns="0" rtlCol="0" anchor="t"/>
          <a:lstStyle/>
          <a:p>
            <a:pPr indent="0" marL="0">
              <a:buNone/>
            </a:pPr>
            <a:r>
              <a:rPr lang="en-US" sz="1500" b="1" dirty="0">
                <a:solidFill>
                  <a:srgbClr val="1F4D3A"/>
                </a:solidFill>
              </a:rPr>
              <a:t>Save</a:t>
            </a:r>
            <a:endParaRPr lang="en-US" sz="1500" dirty="0"/>
          </a:p>
        </p:txBody>
      </p:sp>
      <p:sp>
        <p:nvSpPr>
          <p:cNvPr id="6" name="Box plan_*()"/>
          <p:cNvSpPr/>
          <p:nvPr/>
        </p:nvSpPr>
        <p:spPr>
          <a:xfrm>
            <a:off x="457200" y="1691640"/>
            <a:ext cx="1645920" cy="1051560"/>
          </a:xfrm>
          <a:prstGeom prst="roundRect">
            <a:avLst>
              <a:gd name="adj" fmla="val 5217"/>
            </a:avLst>
          </a:prstGeom>
          <a:solidFill>
            <a:srgbClr val="EEF5EF"/>
          </a:solidFill>
          <a:ln w="15875">
            <a:solidFill>
              <a:srgbClr val="3E8E4F"/>
            </a:solidFill>
            <a:prstDash val="solid"/>
          </a:ln>
        </p:spPr>
      </p:sp>
      <p:sp>
        <p:nvSpPr>
          <p:cNvPr id="7" name="Text plan_*()"/>
          <p:cNvSpPr txBox="1"/>
          <p:nvPr/>
        </p:nvSpPr>
        <p:spPr>
          <a:xfrm>
            <a:off x="548640" y="1728216"/>
            <a:ext cx="1463040" cy="9784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plan_*()</a:t>
            </a:r>
            <a:endParaRPr lang="en-US" sz="1100" dirty="0"/>
          </a:p>
          <a:p>
            <a:pPr algn="ctr" indent="0" marL="0">
              <a:spcAft>
                <a:spcPts val="200"/>
              </a:spcAft>
              <a:buNone/>
            </a:pPr>
            <a:r>
              <a:rPr lang="en-US" sz="1000" dirty="0">
                <a:solidFill>
                  <a:srgbClr val="1B2B22"/>
                </a:solidFill>
              </a:rPr>
              <a:t>editor / stepcode / dupes build a FileChange(before, after)</a:t>
            </a:r>
            <a:endParaRPr lang="en-US" sz="1100" dirty="0"/>
          </a:p>
        </p:txBody>
      </p:sp>
      <p:sp>
        <p:nvSpPr>
          <p:cNvPr id="8" name="Box preview"/>
          <p:cNvSpPr/>
          <p:nvPr/>
        </p:nvSpPr>
        <p:spPr>
          <a:xfrm>
            <a:off x="2377440" y="1691640"/>
            <a:ext cx="1645920" cy="1051560"/>
          </a:xfrm>
          <a:prstGeom prst="roundRect">
            <a:avLst>
              <a:gd name="adj" fmla="val 5217"/>
            </a:avLst>
          </a:prstGeom>
          <a:solidFill>
            <a:srgbClr val="D7E9D9"/>
          </a:solidFill>
          <a:ln w="15875">
            <a:solidFill>
              <a:srgbClr val="1F4D3A"/>
            </a:solidFill>
            <a:prstDash val="solid"/>
          </a:ln>
        </p:spPr>
      </p:sp>
      <p:sp>
        <p:nvSpPr>
          <p:cNvPr id="9" name="Text preview"/>
          <p:cNvSpPr txBox="1"/>
          <p:nvPr/>
        </p:nvSpPr>
        <p:spPr>
          <a:xfrm>
            <a:off x="2468880" y="1728216"/>
            <a:ext cx="1463040" cy="9784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preview</a:t>
            </a:r>
            <a:endParaRPr lang="en-US" sz="1100" dirty="0"/>
          </a:p>
          <a:p>
            <a:pPr algn="ctr" indent="0" marL="0">
              <a:spcAft>
                <a:spcPts val="200"/>
              </a:spcAft>
              <a:buNone/>
            </a:pPr>
            <a:r>
              <a:rPr lang="en-US" sz="1000" dirty="0">
                <a:solidFill>
                  <a:srgbClr val="1B2B22"/>
                </a:solidFill>
              </a:rPr>
              <a:t>unified diff + sha256(before)</a:t>
            </a:r>
            <a:endParaRPr lang="en-US" sz="1100" dirty="0"/>
          </a:p>
        </p:txBody>
      </p:sp>
      <p:sp>
        <p:nvSpPr>
          <p:cNvPr id="10" name="Box you confirm"/>
          <p:cNvSpPr/>
          <p:nvPr/>
        </p:nvSpPr>
        <p:spPr>
          <a:xfrm>
            <a:off x="4297680" y="1691640"/>
            <a:ext cx="1645920" cy="1051560"/>
          </a:xfrm>
          <a:prstGeom prst="roundRect">
            <a:avLst>
              <a:gd name="adj" fmla="val 5217"/>
            </a:avLst>
          </a:prstGeom>
          <a:solidFill>
            <a:srgbClr val="E3EEF4"/>
          </a:solidFill>
          <a:ln w="15875">
            <a:solidFill>
              <a:srgbClr val="2C6E8F"/>
            </a:solidFill>
            <a:prstDash val="solid"/>
          </a:ln>
        </p:spPr>
      </p:sp>
      <p:sp>
        <p:nvSpPr>
          <p:cNvPr id="11" name="Text you confirm"/>
          <p:cNvSpPr txBox="1"/>
          <p:nvPr/>
        </p:nvSpPr>
        <p:spPr>
          <a:xfrm>
            <a:off x="4389120" y="1728216"/>
            <a:ext cx="1463040" cy="9784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you confirm</a:t>
            </a:r>
            <a:endParaRPr lang="en-US" sz="1100" dirty="0"/>
          </a:p>
          <a:p>
            <a:pPr algn="ctr" indent="0" marL="0">
              <a:spcAft>
                <a:spcPts val="200"/>
              </a:spcAft>
              <a:buNone/>
            </a:pPr>
            <a:r>
              <a:rPr lang="en-US" sz="1000" dirty="0">
                <a:solidFill>
                  <a:srgbClr val="1B2B22"/>
                </a:solidFill>
              </a:rPr>
              <a:t>nothing written until now</a:t>
            </a:r>
            <a:endParaRPr lang="en-US" sz="1100" dirty="0"/>
          </a:p>
        </p:txBody>
      </p:sp>
      <p:sp>
        <p:nvSpPr>
          <p:cNvPr id="12" name="Box file unchanged since preview?"/>
          <p:cNvSpPr/>
          <p:nvPr/>
        </p:nvSpPr>
        <p:spPr>
          <a:xfrm>
            <a:off x="6217920" y="1691640"/>
            <a:ext cx="1645920" cy="1051560"/>
          </a:xfrm>
          <a:prstGeom prst="roundRect">
            <a:avLst>
              <a:gd name="adj" fmla="val 5217"/>
            </a:avLst>
          </a:prstGeom>
          <a:solidFill>
            <a:srgbClr val="FFFFFF"/>
          </a:solidFill>
          <a:ln w="15875">
            <a:solidFill>
              <a:srgbClr val="E39B2D"/>
            </a:solidFill>
            <a:prstDash val="dash"/>
          </a:ln>
        </p:spPr>
      </p:sp>
      <p:sp>
        <p:nvSpPr>
          <p:cNvPr id="13" name="Text file unchanged since preview?"/>
          <p:cNvSpPr txBox="1"/>
          <p:nvPr/>
        </p:nvSpPr>
        <p:spPr>
          <a:xfrm>
            <a:off x="6309360" y="1728216"/>
            <a:ext cx="1463040" cy="97840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alibri" pitchFamily="34" charset="0"/>
                <a:ea typeface="Calibri" pitchFamily="34" charset="-122"/>
                <a:cs typeface="Calibri" pitchFamily="34" charset="-120"/>
              </a:rPr>
              <a:t>file unchanged since preview?</a:t>
            </a:r>
            <a:endParaRPr lang="en-US" sz="1100" dirty="0"/>
          </a:p>
          <a:p>
            <a:pPr algn="ctr" indent="0" marL="0">
              <a:spcAft>
                <a:spcPts val="200"/>
              </a:spcAft>
              <a:buNone/>
            </a:pPr>
            <a:r>
              <a:rPr lang="en-US" sz="1000" dirty="0">
                <a:solidFill>
                  <a:srgbClr val="1B2B22"/>
                </a:solidFill>
              </a:rPr>
              <a:t>apply_change() re-reads and compares hashes</a:t>
            </a:r>
            <a:endParaRPr lang="en-US" sz="1100" dirty="0"/>
          </a:p>
        </p:txBody>
      </p:sp>
      <p:sp>
        <p:nvSpPr>
          <p:cNvPr id="14" name="Box file written"/>
          <p:cNvSpPr/>
          <p:nvPr/>
        </p:nvSpPr>
        <p:spPr>
          <a:xfrm>
            <a:off x="8138160" y="1691640"/>
            <a:ext cx="1645920" cy="1051560"/>
          </a:xfrm>
          <a:prstGeom prst="roundRect">
            <a:avLst>
              <a:gd name="adj" fmla="val 5217"/>
            </a:avLst>
          </a:prstGeom>
          <a:solidFill>
            <a:srgbClr val="D7E9D9"/>
          </a:solidFill>
          <a:ln w="15875">
            <a:solidFill>
              <a:srgbClr val="1F4D3A"/>
            </a:solidFill>
            <a:prstDash val="solid"/>
          </a:ln>
        </p:spPr>
      </p:sp>
      <p:sp>
        <p:nvSpPr>
          <p:cNvPr id="15" name="Text file written"/>
          <p:cNvSpPr txBox="1"/>
          <p:nvPr/>
        </p:nvSpPr>
        <p:spPr>
          <a:xfrm>
            <a:off x="8229600" y="1728216"/>
            <a:ext cx="1463040" cy="9784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file written</a:t>
            </a:r>
            <a:endParaRPr lang="en-US" sz="1100" dirty="0"/>
          </a:p>
          <a:p>
            <a:pPr algn="ctr" indent="0" marL="0">
              <a:spcAft>
                <a:spcPts val="200"/>
              </a:spcAft>
              <a:buNone/>
            </a:pPr>
            <a:r>
              <a:rPr lang="en-US" sz="1000" dirty="0">
                <a:solidFill>
                  <a:srgbClr val="1B2B22"/>
                </a:solidFill>
              </a:rPr>
              <a:t>.feature or step file inside the project</a:t>
            </a:r>
            <a:endParaRPr lang="en-US" sz="1100" dirty="0"/>
          </a:p>
        </p:txBody>
      </p:sp>
      <p:sp>
        <p:nvSpPr>
          <p:cNvPr id="16" name="Box history.jsonl"/>
          <p:cNvSpPr/>
          <p:nvPr/>
        </p:nvSpPr>
        <p:spPr>
          <a:xfrm>
            <a:off x="10058400" y="1691640"/>
            <a:ext cx="1673352" cy="1051560"/>
          </a:xfrm>
          <a:prstGeom prst="roundRect">
            <a:avLst>
              <a:gd name="adj" fmla="val 5217"/>
            </a:avLst>
          </a:prstGeom>
          <a:solidFill>
            <a:srgbClr val="D7E9D9"/>
          </a:solidFill>
          <a:ln w="15875">
            <a:solidFill>
              <a:srgbClr val="1F4D3A"/>
            </a:solidFill>
            <a:prstDash val="solid"/>
          </a:ln>
        </p:spPr>
      </p:sp>
      <p:sp>
        <p:nvSpPr>
          <p:cNvPr id="17" name="Text history.jsonl"/>
          <p:cNvSpPr txBox="1"/>
          <p:nvPr/>
        </p:nvSpPr>
        <p:spPr>
          <a:xfrm>
            <a:off x="10149840" y="1728216"/>
            <a:ext cx="1490472" cy="97840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history.jsonl</a:t>
            </a:r>
            <a:endParaRPr lang="en-US" sz="1100" dirty="0"/>
          </a:p>
          <a:p>
            <a:pPr algn="ctr" indent="0" marL="0">
              <a:spcAft>
                <a:spcPts val="200"/>
              </a:spcAft>
              <a:buNone/>
            </a:pPr>
            <a:r>
              <a:rPr lang="en-US" sz="1000" dirty="0">
                <a:solidFill>
                  <a:srgbClr val="1B2B22"/>
                </a:solidFill>
              </a:rPr>
              <a:t>who, when, diff, before/after (undo)</a:t>
            </a:r>
            <a:endParaRPr lang="en-US" sz="1100" dirty="0"/>
          </a:p>
        </p:txBody>
      </p:sp>
      <p:sp>
        <p:nvSpPr>
          <p:cNvPr id="18" name="Arrow"/>
          <p:cNvSpPr/>
          <p:nvPr/>
        </p:nvSpPr>
        <p:spPr>
          <a:xfrm>
            <a:off x="2103120" y="2217420"/>
            <a:ext cx="274320" cy="0"/>
          </a:xfrm>
          <a:prstGeom prst="line">
            <a:avLst/>
          </a:prstGeom>
          <a:noFill/>
          <a:ln w="19050">
            <a:solidFill>
              <a:srgbClr val="5F6F66"/>
            </a:solidFill>
            <a:prstDash val="solid"/>
            <a:tailEnd type="triangle"/>
          </a:ln>
        </p:spPr>
      </p:sp>
      <p:sp>
        <p:nvSpPr>
          <p:cNvPr id="19" name="Arrow"/>
          <p:cNvSpPr/>
          <p:nvPr/>
        </p:nvSpPr>
        <p:spPr>
          <a:xfrm>
            <a:off x="4023360" y="2217420"/>
            <a:ext cx="274320" cy="0"/>
          </a:xfrm>
          <a:prstGeom prst="line">
            <a:avLst/>
          </a:prstGeom>
          <a:noFill/>
          <a:ln w="19050">
            <a:solidFill>
              <a:srgbClr val="5F6F66"/>
            </a:solidFill>
            <a:prstDash val="solid"/>
            <a:tailEnd type="triangle"/>
          </a:ln>
        </p:spPr>
      </p:sp>
      <p:sp>
        <p:nvSpPr>
          <p:cNvPr id="20" name="Arrow"/>
          <p:cNvSpPr/>
          <p:nvPr/>
        </p:nvSpPr>
        <p:spPr>
          <a:xfrm>
            <a:off x="5943600" y="2217420"/>
            <a:ext cx="274320" cy="0"/>
          </a:xfrm>
          <a:prstGeom prst="line">
            <a:avLst/>
          </a:prstGeom>
          <a:noFill/>
          <a:ln w="19050">
            <a:solidFill>
              <a:srgbClr val="5F6F66"/>
            </a:solidFill>
            <a:prstDash val="solid"/>
            <a:tailEnd type="triangle"/>
          </a:ln>
        </p:spPr>
      </p:sp>
      <p:sp>
        <p:nvSpPr>
          <p:cNvPr id="21" name="Arrow"/>
          <p:cNvSpPr/>
          <p:nvPr/>
        </p:nvSpPr>
        <p:spPr>
          <a:xfrm>
            <a:off x="7863840" y="2217420"/>
            <a:ext cx="274320" cy="0"/>
          </a:xfrm>
          <a:prstGeom prst="line">
            <a:avLst/>
          </a:prstGeom>
          <a:noFill/>
          <a:ln w="19050">
            <a:solidFill>
              <a:srgbClr val="5F6F66"/>
            </a:solidFill>
            <a:prstDash val="solid"/>
            <a:tailEnd type="triangle"/>
          </a:ln>
        </p:spPr>
      </p:sp>
      <p:sp>
        <p:nvSpPr>
          <p:cNvPr id="22" name="Text 19"/>
          <p:cNvSpPr txBox="1"/>
          <p:nvPr/>
        </p:nvSpPr>
        <p:spPr>
          <a:xfrm>
            <a:off x="7818120" y="2098548"/>
            <a:ext cx="36576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yes</a:t>
            </a:r>
            <a:endParaRPr lang="en-US" sz="950" dirty="0"/>
          </a:p>
        </p:txBody>
      </p:sp>
      <p:sp>
        <p:nvSpPr>
          <p:cNvPr id="23" name="Arrow"/>
          <p:cNvSpPr/>
          <p:nvPr/>
        </p:nvSpPr>
        <p:spPr>
          <a:xfrm>
            <a:off x="9784080" y="2217420"/>
            <a:ext cx="274320" cy="0"/>
          </a:xfrm>
          <a:prstGeom prst="line">
            <a:avLst/>
          </a:prstGeom>
          <a:noFill/>
          <a:ln w="19050">
            <a:solidFill>
              <a:srgbClr val="5F6F66"/>
            </a:solidFill>
            <a:prstDash val="solid"/>
            <a:tailEnd type="triangle"/>
          </a:ln>
        </p:spPr>
      </p:sp>
      <p:sp>
        <p:nvSpPr>
          <p:cNvPr id="24" name="Box refused: reload and preview again"/>
          <p:cNvSpPr/>
          <p:nvPr/>
        </p:nvSpPr>
        <p:spPr>
          <a:xfrm>
            <a:off x="6217920" y="3017520"/>
            <a:ext cx="1645920" cy="548640"/>
          </a:xfrm>
          <a:prstGeom prst="roundRect">
            <a:avLst>
              <a:gd name="adj" fmla="val 10000"/>
            </a:avLst>
          </a:prstGeom>
          <a:solidFill>
            <a:srgbClr val="D7E9D9"/>
          </a:solidFill>
          <a:ln w="15875">
            <a:solidFill>
              <a:srgbClr val="1F4D3A"/>
            </a:solidFill>
            <a:prstDash val="solid"/>
          </a:ln>
        </p:spPr>
      </p:sp>
      <p:sp>
        <p:nvSpPr>
          <p:cNvPr id="25" name="Text refused: reload and preview again"/>
          <p:cNvSpPr txBox="1"/>
          <p:nvPr/>
        </p:nvSpPr>
        <p:spPr>
          <a:xfrm>
            <a:off x="6309360" y="3054096"/>
            <a:ext cx="1463040" cy="47548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alibri" pitchFamily="34" charset="0"/>
                <a:ea typeface="Calibri" pitchFamily="34" charset="-122"/>
                <a:cs typeface="Calibri" pitchFamily="34" charset="-120"/>
              </a:rPr>
              <a:t>refused: reload and preview again</a:t>
            </a:r>
            <a:endParaRPr lang="en-US" sz="1100" dirty="0"/>
          </a:p>
        </p:txBody>
      </p:sp>
      <p:sp>
        <p:nvSpPr>
          <p:cNvPr id="26" name="Arrow"/>
          <p:cNvSpPr/>
          <p:nvPr/>
        </p:nvSpPr>
        <p:spPr>
          <a:xfrm>
            <a:off x="7040880" y="2743200"/>
            <a:ext cx="0" cy="274320"/>
          </a:xfrm>
          <a:prstGeom prst="line">
            <a:avLst/>
          </a:prstGeom>
          <a:noFill/>
          <a:ln w="19050">
            <a:solidFill>
              <a:srgbClr val="5F6F66"/>
            </a:solidFill>
            <a:prstDash val="solid"/>
            <a:tailEnd type="triangle"/>
          </a:ln>
        </p:spPr>
      </p:sp>
      <p:sp>
        <p:nvSpPr>
          <p:cNvPr id="27" name="Text 24"/>
          <p:cNvSpPr txBox="1"/>
          <p:nvPr/>
        </p:nvSpPr>
        <p:spPr>
          <a:xfrm>
            <a:off x="7155180" y="2761488"/>
            <a:ext cx="320040" cy="237744"/>
          </a:xfrm>
          <a:prstGeom prst="rect">
            <a:avLst/>
          </a:prstGeom>
          <a:solidFill>
            <a:srgbClr val="FFFFFF"/>
          </a:solidFill>
          <a:ln/>
        </p:spPr>
        <p:txBody>
          <a:bodyPr wrap="square" lIns="0" tIns="0" rIns="0" bIns="0" rtlCol="0" anchor="ctr"/>
          <a:lstStyle/>
          <a:p>
            <a:pPr algn="ctr" indent="0" marL="0">
              <a:buNone/>
            </a:pPr>
            <a:r>
              <a:rPr lang="en-US" sz="950" b="1" dirty="0">
                <a:solidFill>
                  <a:srgbClr val="E39B2D"/>
                </a:solidFill>
              </a:rPr>
              <a:t>no</a:t>
            </a:r>
            <a:endParaRPr lang="en-US" sz="950" dirty="0"/>
          </a:p>
        </p:txBody>
      </p:sp>
      <p:sp>
        <p:nvSpPr>
          <p:cNvPr id="28" name="Text 25"/>
          <p:cNvSpPr txBox="1"/>
          <p:nvPr/>
        </p:nvSpPr>
        <p:spPr>
          <a:xfrm>
            <a:off x="457200" y="3657600"/>
            <a:ext cx="2743200" cy="320040"/>
          </a:xfrm>
          <a:prstGeom prst="rect">
            <a:avLst/>
          </a:prstGeom>
          <a:noFill/>
          <a:ln/>
        </p:spPr>
        <p:txBody>
          <a:bodyPr wrap="square" lIns="0" tIns="0" rIns="0" bIns="0" rtlCol="0" anchor="t"/>
          <a:lstStyle/>
          <a:p>
            <a:pPr indent="0" marL="0">
              <a:buNone/>
            </a:pPr>
            <a:r>
              <a:rPr lang="en-US" sz="1500" b="1" dirty="0">
                <a:solidFill>
                  <a:srgbClr val="1F4D3A"/>
                </a:solidFill>
              </a:rPr>
              <a:t>Run</a:t>
            </a:r>
            <a:endParaRPr lang="en-US" sz="1500" dirty="0"/>
          </a:p>
        </p:txBody>
      </p:sp>
      <p:sp>
        <p:nvSpPr>
          <p:cNvPr id="29" name="Box Run button"/>
          <p:cNvSpPr/>
          <p:nvPr/>
        </p:nvSpPr>
        <p:spPr>
          <a:xfrm>
            <a:off x="457200" y="4023360"/>
            <a:ext cx="1645920" cy="1143000"/>
          </a:xfrm>
          <a:prstGeom prst="roundRect">
            <a:avLst>
              <a:gd name="adj" fmla="val 4800"/>
            </a:avLst>
          </a:prstGeom>
          <a:solidFill>
            <a:srgbClr val="E3EEF4"/>
          </a:solidFill>
          <a:ln w="15875">
            <a:solidFill>
              <a:srgbClr val="2C6E8F"/>
            </a:solidFill>
            <a:prstDash val="solid"/>
          </a:ln>
        </p:spPr>
      </p:sp>
      <p:sp>
        <p:nvSpPr>
          <p:cNvPr id="30" name="Text Run button"/>
          <p:cNvSpPr txBox="1"/>
          <p:nvPr/>
        </p:nvSpPr>
        <p:spPr>
          <a:xfrm>
            <a:off x="548640" y="4059936"/>
            <a:ext cx="1463040" cy="10698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Run button</a:t>
            </a:r>
            <a:endParaRPr lang="en-US" sz="1100" dirty="0"/>
          </a:p>
          <a:p>
            <a:pPr algn="ctr" indent="0" marL="0">
              <a:spcAft>
                <a:spcPts val="200"/>
              </a:spcAft>
              <a:buNone/>
            </a:pPr>
            <a:r>
              <a:rPr lang="en-US" sz="1000" dirty="0">
                <a:solidFill>
                  <a:srgbClr val="1B2B22"/>
                </a:solidFill>
              </a:rPr>
              <a:t>all tests, one file, or this scenario</a:t>
            </a:r>
            <a:endParaRPr lang="en-US" sz="1100" dirty="0"/>
          </a:p>
        </p:txBody>
      </p:sp>
      <p:sp>
        <p:nvSpPr>
          <p:cNvPr id="31" name="Box parse_command()"/>
          <p:cNvSpPr/>
          <p:nvPr/>
        </p:nvSpPr>
        <p:spPr>
          <a:xfrm>
            <a:off x="2377440" y="4023360"/>
            <a:ext cx="1645920" cy="1143000"/>
          </a:xfrm>
          <a:prstGeom prst="roundRect">
            <a:avLst>
              <a:gd name="adj" fmla="val 4800"/>
            </a:avLst>
          </a:prstGeom>
          <a:solidFill>
            <a:srgbClr val="EEF5EF"/>
          </a:solidFill>
          <a:ln w="15875">
            <a:solidFill>
              <a:srgbClr val="3E8E4F"/>
            </a:solidFill>
            <a:prstDash val="solid"/>
          </a:ln>
        </p:spPr>
      </p:sp>
      <p:sp>
        <p:nvSpPr>
          <p:cNvPr id="32" name="Text parse_command()"/>
          <p:cNvSpPr txBox="1"/>
          <p:nvPr/>
        </p:nvSpPr>
        <p:spPr>
          <a:xfrm>
            <a:off x="2468880" y="4059936"/>
            <a:ext cx="1463040" cy="106984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parse_command()</a:t>
            </a:r>
            <a:endParaRPr lang="en-US" sz="1100" dirty="0"/>
          </a:p>
          <a:p>
            <a:pPr algn="ctr" indent="0" marL="0">
              <a:spcAft>
                <a:spcPts val="200"/>
              </a:spcAft>
              <a:buNone/>
            </a:pPr>
            <a:r>
              <a:rPr lang="en-US" sz="1000" dirty="0">
                <a:solidFill>
                  <a:srgbClr val="1B2B22"/>
                </a:solidFill>
              </a:rPr>
              <a:t>shlex → argument list; rejects cd, &amp;&amp;, |, ;  python → app’s interpreter</a:t>
            </a:r>
            <a:endParaRPr lang="en-US" sz="1100" dirty="0"/>
          </a:p>
        </p:txBody>
      </p:sp>
      <p:sp>
        <p:nvSpPr>
          <p:cNvPr id="33" name="Box --collect-only, then -k"/>
          <p:cNvSpPr/>
          <p:nvPr/>
        </p:nvSpPr>
        <p:spPr>
          <a:xfrm>
            <a:off x="4297680" y="4023360"/>
            <a:ext cx="1645920" cy="1143000"/>
          </a:xfrm>
          <a:prstGeom prst="roundRect">
            <a:avLst>
              <a:gd name="adj" fmla="val 4800"/>
            </a:avLst>
          </a:prstGeom>
          <a:solidFill>
            <a:srgbClr val="EEF5EF"/>
          </a:solidFill>
          <a:ln w="15875">
            <a:solidFill>
              <a:srgbClr val="3E8E4F"/>
            </a:solidFill>
            <a:prstDash val="solid"/>
          </a:ln>
        </p:spPr>
      </p:sp>
      <p:sp>
        <p:nvSpPr>
          <p:cNvPr id="34" name="Text --collect-only, then -k"/>
          <p:cNvSpPr txBox="1"/>
          <p:nvPr/>
        </p:nvSpPr>
        <p:spPr>
          <a:xfrm>
            <a:off x="4389120" y="4059936"/>
            <a:ext cx="1463040" cy="1069848"/>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--collect-only, then -k</a:t>
            </a:r>
            <a:endParaRPr lang="en-US" sz="1100" dirty="0"/>
          </a:p>
          <a:p>
            <a:pPr algn="ctr" indent="0" marL="0">
              <a:spcAft>
                <a:spcPts val="200"/>
              </a:spcAft>
              <a:buNone/>
            </a:pPr>
            <a:r>
              <a:rPr lang="en-US" sz="1000" dirty="0">
                <a:solidFill>
                  <a:srgbClr val="1B2B22"/>
                </a:solidFill>
              </a:rPr>
              <a:t>test_&lt;scenario name&gt; for one file or scenario</a:t>
            </a:r>
            <a:endParaRPr lang="en-US" sz="1100" dirty="0"/>
          </a:p>
        </p:txBody>
      </p:sp>
      <p:sp>
        <p:nvSpPr>
          <p:cNvPr id="35" name="Box pytest (no shell)"/>
          <p:cNvSpPr/>
          <p:nvPr/>
        </p:nvSpPr>
        <p:spPr>
          <a:xfrm>
            <a:off x="6217920" y="4023360"/>
            <a:ext cx="1645920" cy="1143000"/>
          </a:xfrm>
          <a:prstGeom prst="roundRect">
            <a:avLst>
              <a:gd name="adj" fmla="val 4800"/>
            </a:avLst>
          </a:prstGeom>
          <a:solidFill>
            <a:srgbClr val="E3EEF4"/>
          </a:solidFill>
          <a:ln w="15875">
            <a:solidFill>
              <a:srgbClr val="2C6E8F"/>
            </a:solidFill>
            <a:prstDash val="solid"/>
          </a:ln>
        </p:spPr>
      </p:sp>
      <p:sp>
        <p:nvSpPr>
          <p:cNvPr id="36" name="Text pytest (no shell)"/>
          <p:cNvSpPr txBox="1"/>
          <p:nvPr/>
        </p:nvSpPr>
        <p:spPr>
          <a:xfrm>
            <a:off x="6309360" y="4059936"/>
            <a:ext cx="1463040" cy="1069848"/>
          </a:xfrm>
          <a:prstGeom prst="rect">
            <a:avLst/>
          </a:prstGeom>
          <a:noFill/>
          <a:ln/>
        </p:spPr>
        <p:txBody>
          <a:bodyPr wrap="square" lIns="0" tIns="0" rIns="0" bIns="0" rtlCol="0" anchor="ctr"/>
          <a:lstStyle/>
          <a:p>
            <a:pPr algn="ctr" indent="0" marL="0">
              <a:spcAft>
                <a:spcPts val="200"/>
              </a:spcAft>
              <a:buNone/>
            </a:pPr>
            <a:r>
              <a:rPr lang="en-US" sz="1000" b="1" dirty="0">
                <a:solidFill>
                  <a:srgbClr val="1F4D3A"/>
                </a:solidFill>
                <a:latin typeface="Courier New" pitchFamily="34" charset="0"/>
                <a:ea typeface="Courier New" pitchFamily="34" charset="-122"/>
                <a:cs typeface="Courier New" pitchFamily="34" charset="-120"/>
              </a:rPr>
              <a:t>pytest (no shell)</a:t>
            </a:r>
            <a:endParaRPr lang="en-US" sz="1100" dirty="0"/>
          </a:p>
          <a:p>
            <a:pPr algn="ctr" indent="0" marL="0">
              <a:spcAft>
                <a:spcPts val="200"/>
              </a:spcAft>
              <a:buNone/>
            </a:pPr>
            <a:r>
              <a:rPr lang="en-US" sz="1000" dirty="0">
                <a:solidFill>
                  <a:srgbClr val="1B2B22"/>
                </a:solidFill>
              </a:rPr>
              <a:t>+ --cucumberjson, --output, --screenshot=on, --tracing=retain-on-failure</a:t>
            </a:r>
            <a:endParaRPr lang="en-US" sz="1100" dirty="0"/>
          </a:p>
        </p:txBody>
      </p:sp>
      <p:sp>
        <p:nvSpPr>
          <p:cNvPr id="37" name="Box .gherkin-copilot/results/"/>
          <p:cNvSpPr/>
          <p:nvPr/>
        </p:nvSpPr>
        <p:spPr>
          <a:xfrm>
            <a:off x="8138160" y="4023360"/>
            <a:ext cx="1645920" cy="1143000"/>
          </a:xfrm>
          <a:prstGeom prst="roundRect">
            <a:avLst>
              <a:gd name="adj" fmla="val 4800"/>
            </a:avLst>
          </a:prstGeom>
          <a:solidFill>
            <a:srgbClr val="FDF0D9"/>
          </a:solidFill>
          <a:ln w="15875">
            <a:solidFill>
              <a:srgbClr val="E39B2D"/>
            </a:solidFill>
            <a:prstDash val="solid"/>
          </a:ln>
        </p:spPr>
      </p:sp>
      <p:sp>
        <p:nvSpPr>
          <p:cNvPr id="38" name="Text .gherkin-copilot/results/"/>
          <p:cNvSpPr txBox="1"/>
          <p:nvPr/>
        </p:nvSpPr>
        <p:spPr>
          <a:xfrm>
            <a:off x="8229600" y="4059936"/>
            <a:ext cx="1463040" cy="1069848"/>
          </a:xfrm>
          <a:prstGeom prst="rect">
            <a:avLst/>
          </a:prstGeom>
          <a:noFill/>
          <a:ln/>
        </p:spPr>
        <p:txBody>
          <a:bodyPr wrap="square" lIns="0" tIns="0" rIns="0" bIns="0" rtlCol="0" anchor="ctr"/>
          <a:lstStyle/>
          <a:p>
            <a:pPr algn="ctr" indent="0" marL="0">
              <a:spcAft>
                <a:spcPts val="200"/>
              </a:spcAft>
              <a:buNone/>
            </a:pPr>
            <a:r>
              <a:rPr lang="en-US" sz="950" b="1" dirty="0">
                <a:solidFill>
                  <a:srgbClr val="1F4D3A"/>
                </a:solidFill>
                <a:latin typeface="Courier New" pitchFamily="34" charset="0"/>
                <a:ea typeface="Courier New" pitchFamily="34" charset="-122"/>
                <a:cs typeface="Courier New" pitchFamily="34" charset="-120"/>
              </a:rPr>
              <a:t>.gherkin-copilot/results/</a:t>
            </a:r>
            <a:endParaRPr lang="en-US" sz="1100" dirty="0"/>
          </a:p>
          <a:p>
            <a:pPr algn="ctr" indent="0" marL="0">
              <a:spcAft>
                <a:spcPts val="200"/>
              </a:spcAft>
              <a:buNone/>
            </a:pPr>
            <a:r>
              <a:rPr lang="en-US" sz="1000" dirty="0">
                <a:solidFill>
                  <a:srgbClr val="1B2B22"/>
                </a:solidFill>
              </a:rPr>
              <a:t>ignored by git</a:t>
            </a:r>
            <a:endParaRPr lang="en-US" sz="1100" dirty="0"/>
          </a:p>
        </p:txBody>
      </p:sp>
      <p:sp>
        <p:nvSpPr>
          <p:cNvPr id="39" name="Box Results tab"/>
          <p:cNvSpPr/>
          <p:nvPr/>
        </p:nvSpPr>
        <p:spPr>
          <a:xfrm>
            <a:off x="10058400" y="4023360"/>
            <a:ext cx="1673352" cy="1143000"/>
          </a:xfrm>
          <a:prstGeom prst="roundRect">
            <a:avLst>
              <a:gd name="adj" fmla="val 4800"/>
            </a:avLst>
          </a:prstGeom>
          <a:solidFill>
            <a:srgbClr val="D7E9D9"/>
          </a:solidFill>
          <a:ln w="15875">
            <a:solidFill>
              <a:srgbClr val="1F4D3A"/>
            </a:solidFill>
            <a:prstDash val="solid"/>
          </a:ln>
        </p:spPr>
      </p:sp>
      <p:sp>
        <p:nvSpPr>
          <p:cNvPr id="40" name="Text Results tab"/>
          <p:cNvSpPr txBox="1"/>
          <p:nvPr/>
        </p:nvSpPr>
        <p:spPr>
          <a:xfrm>
            <a:off x="10149840" y="4059936"/>
            <a:ext cx="1490472" cy="10698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Results tab</a:t>
            </a:r>
            <a:endParaRPr lang="en-US" sz="1100" dirty="0"/>
          </a:p>
          <a:p>
            <a:pPr algn="ctr" indent="0" marL="0">
              <a:spcAft>
                <a:spcPts val="200"/>
              </a:spcAft>
              <a:buNone/>
            </a:pPr>
            <a:r>
              <a:rPr lang="en-US" sz="1000" dirty="0">
                <a:solidFill>
                  <a:srgbClr val="1B2B22"/>
                </a:solidFill>
              </a:rPr>
              <a:t>load_report() + attach_artifacts()</a:t>
            </a:r>
            <a:endParaRPr lang="en-US" sz="1100" dirty="0"/>
          </a:p>
        </p:txBody>
      </p:sp>
      <p:sp>
        <p:nvSpPr>
          <p:cNvPr id="41" name="Arrow"/>
          <p:cNvSpPr/>
          <p:nvPr/>
        </p:nvSpPr>
        <p:spPr>
          <a:xfrm>
            <a:off x="2103120" y="4594860"/>
            <a:ext cx="274320" cy="0"/>
          </a:xfrm>
          <a:prstGeom prst="line">
            <a:avLst/>
          </a:prstGeom>
          <a:noFill/>
          <a:ln w="19050">
            <a:solidFill>
              <a:srgbClr val="5F6F66"/>
            </a:solidFill>
            <a:prstDash val="solid"/>
            <a:tailEnd type="triangle"/>
          </a:ln>
        </p:spPr>
      </p:sp>
      <p:sp>
        <p:nvSpPr>
          <p:cNvPr id="42" name="Arrow"/>
          <p:cNvSpPr/>
          <p:nvPr/>
        </p:nvSpPr>
        <p:spPr>
          <a:xfrm>
            <a:off x="4023360" y="4594860"/>
            <a:ext cx="274320" cy="0"/>
          </a:xfrm>
          <a:prstGeom prst="line">
            <a:avLst/>
          </a:prstGeom>
          <a:noFill/>
          <a:ln w="19050">
            <a:solidFill>
              <a:srgbClr val="5F6F66"/>
            </a:solidFill>
            <a:prstDash val="solid"/>
            <a:tailEnd type="triangle"/>
          </a:ln>
        </p:spPr>
      </p:sp>
      <p:sp>
        <p:nvSpPr>
          <p:cNvPr id="43" name="Arrow"/>
          <p:cNvSpPr/>
          <p:nvPr/>
        </p:nvSpPr>
        <p:spPr>
          <a:xfrm>
            <a:off x="5943600" y="4594860"/>
            <a:ext cx="274320" cy="0"/>
          </a:xfrm>
          <a:prstGeom prst="line">
            <a:avLst/>
          </a:prstGeom>
          <a:noFill/>
          <a:ln w="19050">
            <a:solidFill>
              <a:srgbClr val="5F6F66"/>
            </a:solidFill>
            <a:prstDash val="solid"/>
            <a:tailEnd type="triangle"/>
          </a:ln>
        </p:spPr>
      </p:sp>
      <p:sp>
        <p:nvSpPr>
          <p:cNvPr id="44" name="Arrow"/>
          <p:cNvSpPr/>
          <p:nvPr/>
        </p:nvSpPr>
        <p:spPr>
          <a:xfrm>
            <a:off x="7863840" y="4594860"/>
            <a:ext cx="274320" cy="0"/>
          </a:xfrm>
          <a:prstGeom prst="line">
            <a:avLst/>
          </a:prstGeom>
          <a:noFill/>
          <a:ln w="19050">
            <a:solidFill>
              <a:srgbClr val="5F6F66"/>
            </a:solidFill>
            <a:prstDash val="solid"/>
            <a:tailEnd type="triangle"/>
          </a:ln>
        </p:spPr>
      </p:sp>
      <p:sp>
        <p:nvSpPr>
          <p:cNvPr id="45" name="Arrow"/>
          <p:cNvSpPr/>
          <p:nvPr/>
        </p:nvSpPr>
        <p:spPr>
          <a:xfrm>
            <a:off x="9784080" y="4594860"/>
            <a:ext cx="274320" cy="0"/>
          </a:xfrm>
          <a:prstGeom prst="line">
            <a:avLst/>
          </a:prstGeom>
          <a:noFill/>
          <a:ln w="19050">
            <a:solidFill>
              <a:srgbClr val="5F6F66"/>
            </a:solidFill>
            <a:prstDash val="solid"/>
            <a:tailEnd type="triangle"/>
          </a:ln>
        </p:spPr>
      </p:sp>
      <p:sp>
        <p:nvSpPr>
          <p:cNvPr id="46" name="Box Limits on Run: "/>
          <p:cNvSpPr/>
          <p:nvPr/>
        </p:nvSpPr>
        <p:spPr>
          <a:xfrm>
            <a:off x="457200" y="5486400"/>
            <a:ext cx="11274552" cy="457200"/>
          </a:xfrm>
          <a:prstGeom prst="roundRect">
            <a:avLst>
              <a:gd name="adj" fmla="val 12000"/>
            </a:avLst>
          </a:prstGeom>
          <a:solidFill>
            <a:srgbClr val="F7F7F5"/>
          </a:solidFill>
          <a:ln w="15875">
            <a:solidFill>
              <a:srgbClr val="C9D0CB"/>
            </a:solidFill>
            <a:prstDash val="solid"/>
          </a:ln>
        </p:spPr>
      </p:sp>
      <p:sp>
        <p:nvSpPr>
          <p:cNvPr id="47" name="Text Limits on Run: "/>
          <p:cNvSpPr txBox="1"/>
          <p:nvPr/>
        </p:nvSpPr>
        <p:spPr>
          <a:xfrm>
            <a:off x="548640" y="5522976"/>
            <a:ext cx="11091672" cy="384048"/>
          </a:xfrm>
          <a:prstGeom prst="rect">
            <a:avLst/>
          </a:prstGeom>
          <a:noFill/>
          <a:ln/>
        </p:spPr>
        <p:txBody>
          <a:bodyPr wrap="square" lIns="0" tIns="0" rIns="0" bIns="0" rtlCol="0" anchor="ctr"/>
          <a:lstStyle/>
          <a:p>
            <a:pPr algn="l" indent="0" marL="0">
              <a:spcAft>
                <a:spcPts val="200"/>
              </a:spcAft>
              <a:buNone/>
            </a:pPr>
            <a:r>
              <a:rPr lang="en-US" sz="1050" b="1" dirty="0">
                <a:solidFill>
                  <a:srgbClr val="1F4D3A"/>
                </a:solidFill>
                <a:latin typeface="Calibri" pitchFamily="34" charset="0"/>
                <a:ea typeface="Calibri" pitchFamily="34" charset="-122"/>
                <a:cs typeface="Calibri" pitchFamily="34" charset="-120"/>
              </a:rPr>
              <a:t>Limits on Run: </a:t>
            </a:r>
            <a:endParaRPr lang="en-US" sz="1100" dirty="0"/>
          </a:p>
          <a:p>
            <a:pPr algn="l" indent="0" marL="0">
              <a:spcAft>
                <a:spcPts val="200"/>
              </a:spcAft>
              <a:buNone/>
            </a:pPr>
            <a:r>
              <a:rPr lang="en-US" sz="1000" dirty="0">
                <a:solidFill>
                  <a:srgbClr val="1B2B22"/>
                </a:solidFill>
              </a:rPr>
              <a:t>only the command saved in the project settings, one run per project at a time, a stop button and a time limit.</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11247120" cy="640080"/>
          </a:xfrm>
          <a:prstGeom prst="rect">
            <a:avLst/>
          </a:prstGeom>
          <a:noFill/>
          <a:ln/>
        </p:spPr>
        <p:txBody>
          <a:bodyPr wrap="square" lIns="0" tIns="0" rIns="0" bIns="0" rtlCol="0" anchor="ctr"/>
          <a:lstStyle/>
          <a:p>
            <a:pPr algn="l" indent="0" marL="0">
              <a:buNone/>
            </a:pPr>
            <a:r>
              <a:rPr lang="en-US" sz="2600" b="1" dirty="0">
                <a:solidFill>
                  <a:schemeClr val="tx2"/>
                </a:solidFill>
                <a:latin typeface="Cambria" pitchFamily="34" charset="0"/>
                <a:ea typeface="Cambria" pitchFamily="34" charset="-122"/>
                <a:cs typeface="Cambria" pitchFamily="34" charset="-120"/>
              </a:rPr>
              <a:t>run_demo.py: the whole demo, end to end</a:t>
            </a:r>
            <a:endParaRPr lang="en-US" sz="2600" dirty="0"/>
          </a:p>
        </p:txBody>
      </p:sp>
      <p:sp>
        <p:nvSpPr>
          <p:cNvPr id="3" name="Text 0"/>
          <p:cNvSpPr/>
          <p:nvPr>
            <p:ph idx="101" type="body" hasCustomPrompt="1"/>
          </p:nvPr>
        </p:nvSpPr>
        <p:spPr>
          <a:xfrm>
            <a:off x="457200" y="896112"/>
            <a:ext cx="11247120" cy="320040"/>
          </a:xfrm>
          <a:prstGeom prst="rect">
            <a:avLst/>
          </a:prstGeom>
          <a:noFill/>
          <a:ln/>
        </p:spPr>
        <p:txBody>
          <a:bodyPr wrap="square" lIns="0" tIns="0" rIns="0" bIns="0" rtlCol="0" anchor="t"/>
          <a:lstStyle/>
          <a:p>
            <a:pPr algn="l" indent="0" marL="0">
              <a:buNone/>
            </a:pPr>
            <a:r>
              <a:rPr lang="en-US" sz="1300" dirty="0">
                <a:solidFill>
                  <a:schemeClr val="accent6"/>
                </a:solidFill>
              </a:rPr>
              <a:t>python run_demo.py --brave</a:t>
            </a:r>
            <a:endParaRPr lang="en-US" sz="1300" dirty="0"/>
          </a:p>
        </p:txBody>
      </p:sp>
      <p:sp>
        <p:nvSpPr>
          <p:cNvPr id="5" name="Box $ python run_demo.py --brave"/>
          <p:cNvSpPr/>
          <p:nvPr/>
        </p:nvSpPr>
        <p:spPr>
          <a:xfrm>
            <a:off x="457200" y="1554480"/>
            <a:ext cx="2103120" cy="868680"/>
          </a:xfrm>
          <a:prstGeom prst="roundRect">
            <a:avLst>
              <a:gd name="adj" fmla="val 6316"/>
            </a:avLst>
          </a:prstGeom>
          <a:solidFill>
            <a:srgbClr val="E3EEF4"/>
          </a:solidFill>
          <a:ln w="15875">
            <a:solidFill>
              <a:srgbClr val="2C6E8F"/>
            </a:solidFill>
            <a:prstDash val="solid"/>
          </a:ln>
        </p:spPr>
      </p:sp>
      <p:sp>
        <p:nvSpPr>
          <p:cNvPr id="6" name="Text $ python run_demo.py --brave"/>
          <p:cNvSpPr txBox="1"/>
          <p:nvPr/>
        </p:nvSpPr>
        <p:spPr>
          <a:xfrm>
            <a:off x="548640" y="1591056"/>
            <a:ext cx="192024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 python run_demo.py --brave</a:t>
            </a:r>
            <a:endParaRPr lang="en-US" sz="1100" dirty="0"/>
          </a:p>
        </p:txBody>
      </p:sp>
      <p:sp>
        <p:nvSpPr>
          <p:cNvPr id="7" name="Box DEMO_BROWSER=brave"/>
          <p:cNvSpPr/>
          <p:nvPr/>
        </p:nvSpPr>
        <p:spPr>
          <a:xfrm>
            <a:off x="2926080" y="1554480"/>
            <a:ext cx="2011680" cy="868680"/>
          </a:xfrm>
          <a:prstGeom prst="roundRect">
            <a:avLst>
              <a:gd name="adj" fmla="val 6316"/>
            </a:avLst>
          </a:prstGeom>
          <a:solidFill>
            <a:srgbClr val="EEF5EF"/>
          </a:solidFill>
          <a:ln w="15875">
            <a:solidFill>
              <a:srgbClr val="3E8E4F"/>
            </a:solidFill>
            <a:prstDash val="solid"/>
          </a:ln>
        </p:spPr>
      </p:sp>
      <p:sp>
        <p:nvSpPr>
          <p:cNvPr id="8" name="Text DEMO_BROWSER=brave"/>
          <p:cNvSpPr txBox="1"/>
          <p:nvPr/>
        </p:nvSpPr>
        <p:spPr>
          <a:xfrm>
            <a:off x="3017520" y="1591056"/>
            <a:ext cx="1828800" cy="79552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DEMO_BROWSER=brave</a:t>
            </a:r>
            <a:endParaRPr lang="en-US" sz="1100" dirty="0"/>
          </a:p>
          <a:p>
            <a:pPr algn="ctr" indent="0" marL="0">
              <a:spcAft>
                <a:spcPts val="200"/>
              </a:spcAft>
              <a:buNone/>
            </a:pPr>
            <a:r>
              <a:rPr lang="en-US" sz="1000" dirty="0">
                <a:solidFill>
                  <a:srgbClr val="1B2B22"/>
                </a:solidFill>
              </a:rPr>
              <a:t>read later by conftest</a:t>
            </a:r>
            <a:endParaRPr lang="en-US" sz="1100" dirty="0"/>
          </a:p>
        </p:txBody>
      </p:sp>
      <p:sp>
        <p:nvSpPr>
          <p:cNvPr id="9" name="Box 7 tool commands"/>
          <p:cNvSpPr/>
          <p:nvPr/>
        </p:nvSpPr>
        <p:spPr>
          <a:xfrm>
            <a:off x="5303520" y="1554480"/>
            <a:ext cx="2834640" cy="868680"/>
          </a:xfrm>
          <a:prstGeom prst="roundRect">
            <a:avLst>
              <a:gd name="adj" fmla="val 6316"/>
            </a:avLst>
          </a:prstGeom>
          <a:solidFill>
            <a:srgbClr val="EEF5EF"/>
          </a:solidFill>
          <a:ln w="15875">
            <a:solidFill>
              <a:srgbClr val="3E8E4F"/>
            </a:solidFill>
            <a:prstDash val="solid"/>
          </a:ln>
        </p:spPr>
      </p:sp>
      <p:sp>
        <p:nvSpPr>
          <p:cNvPr id="10" name="Text 7 tool commands"/>
          <p:cNvSpPr txBox="1"/>
          <p:nvPr/>
        </p:nvSpPr>
        <p:spPr>
          <a:xfrm>
            <a:off x="5394960" y="1591056"/>
            <a:ext cx="2651760"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7 tool commands</a:t>
            </a:r>
            <a:endParaRPr lang="en-US" sz="1100" dirty="0"/>
          </a:p>
          <a:p>
            <a:pPr algn="ctr" indent="0" marL="0">
              <a:spcAft>
                <a:spcPts val="200"/>
              </a:spcAft>
              <a:buNone/>
            </a:pPr>
            <a:r>
              <a:rPr lang="en-US" sz="1000" dirty="0">
                <a:solidFill>
                  <a:srgbClr val="1B2B22"/>
                </a:solidFill>
              </a:rPr>
              <a:t>index · find ×2 · dupes · merge (preview) · check · check --stubs</a:t>
            </a:r>
            <a:endParaRPr lang="en-US" sz="1100" dirty="0"/>
          </a:p>
        </p:txBody>
      </p:sp>
      <p:sp>
        <p:nvSpPr>
          <p:cNvPr id="11" name="Box pytest demo -v"/>
          <p:cNvSpPr/>
          <p:nvPr/>
        </p:nvSpPr>
        <p:spPr>
          <a:xfrm>
            <a:off x="8503920" y="1554480"/>
            <a:ext cx="3227832" cy="868680"/>
          </a:xfrm>
          <a:prstGeom prst="roundRect">
            <a:avLst>
              <a:gd name="adj" fmla="val 6316"/>
            </a:avLst>
          </a:prstGeom>
          <a:solidFill>
            <a:srgbClr val="E3EEF4"/>
          </a:solidFill>
          <a:ln w="15875">
            <a:solidFill>
              <a:srgbClr val="2C6E8F"/>
            </a:solidFill>
            <a:prstDash val="solid"/>
          </a:ln>
        </p:spPr>
      </p:sp>
      <p:sp>
        <p:nvSpPr>
          <p:cNvPr id="12" name="Text pytest demo -v"/>
          <p:cNvSpPr txBox="1"/>
          <p:nvPr/>
        </p:nvSpPr>
        <p:spPr>
          <a:xfrm>
            <a:off x="8595360" y="1591056"/>
            <a:ext cx="3044952" cy="79552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pytest demo -v</a:t>
            </a:r>
            <a:endParaRPr lang="en-US" sz="1100" dirty="0"/>
          </a:p>
          <a:p>
            <a:pPr algn="ctr" indent="0" marL="0">
              <a:spcAft>
                <a:spcPts val="200"/>
              </a:spcAft>
              <a:buNone/>
            </a:pPr>
            <a:r>
              <a:rPr lang="en-US" sz="1000" dirty="0">
                <a:solidFill>
                  <a:srgbClr val="1B2B22"/>
                </a:solidFill>
              </a:rPr>
              <a:t>--cucumberjson --output --screenshot=on --tracing=on</a:t>
            </a:r>
            <a:endParaRPr lang="en-US" sz="1100" dirty="0"/>
          </a:p>
        </p:txBody>
      </p:sp>
      <p:sp>
        <p:nvSpPr>
          <p:cNvPr id="13" name="Arrow"/>
          <p:cNvSpPr/>
          <p:nvPr/>
        </p:nvSpPr>
        <p:spPr>
          <a:xfrm>
            <a:off x="2560320" y="1988820"/>
            <a:ext cx="365760" cy="0"/>
          </a:xfrm>
          <a:prstGeom prst="line">
            <a:avLst/>
          </a:prstGeom>
          <a:noFill/>
          <a:ln w="19050">
            <a:solidFill>
              <a:srgbClr val="5F6F66"/>
            </a:solidFill>
            <a:prstDash val="solid"/>
            <a:tailEnd type="triangle"/>
          </a:ln>
        </p:spPr>
      </p:sp>
      <p:sp>
        <p:nvSpPr>
          <p:cNvPr id="14" name="Arrow"/>
          <p:cNvSpPr/>
          <p:nvPr/>
        </p:nvSpPr>
        <p:spPr>
          <a:xfrm>
            <a:off x="4937760" y="1988820"/>
            <a:ext cx="365760" cy="0"/>
          </a:xfrm>
          <a:prstGeom prst="line">
            <a:avLst/>
          </a:prstGeom>
          <a:noFill/>
          <a:ln w="19050">
            <a:solidFill>
              <a:srgbClr val="5F6F66"/>
            </a:solidFill>
            <a:prstDash val="solid"/>
            <a:tailEnd type="triangle"/>
          </a:ln>
        </p:spPr>
      </p:sp>
      <p:sp>
        <p:nvSpPr>
          <p:cNvPr id="15" name="Arrow"/>
          <p:cNvSpPr/>
          <p:nvPr/>
        </p:nvSpPr>
        <p:spPr>
          <a:xfrm>
            <a:off x="8138160" y="1988820"/>
            <a:ext cx="365760" cy="0"/>
          </a:xfrm>
          <a:prstGeom prst="line">
            <a:avLst/>
          </a:prstGeom>
          <a:noFill/>
          <a:ln w="19050">
            <a:solidFill>
              <a:srgbClr val="5F6F66"/>
            </a:solidFill>
            <a:prstDash val="solid"/>
            <a:tailEnd type="triangle"/>
          </a:ln>
        </p:spPr>
      </p:sp>
      <p:sp>
        <p:nvSpPr>
          <p:cNvPr id="16" name="Box conftest.py"/>
          <p:cNvSpPr/>
          <p:nvPr/>
        </p:nvSpPr>
        <p:spPr>
          <a:xfrm>
            <a:off x="8503920" y="2926080"/>
            <a:ext cx="3227832" cy="914400"/>
          </a:xfrm>
          <a:prstGeom prst="roundRect">
            <a:avLst>
              <a:gd name="adj" fmla="val 6000"/>
            </a:avLst>
          </a:prstGeom>
          <a:solidFill>
            <a:srgbClr val="EEF5EF"/>
          </a:solidFill>
          <a:ln w="15875">
            <a:solidFill>
              <a:srgbClr val="3E8E4F"/>
            </a:solidFill>
            <a:prstDash val="solid"/>
          </a:ln>
        </p:spPr>
      </p:sp>
      <p:sp>
        <p:nvSpPr>
          <p:cNvPr id="17" name="Text conftest.py"/>
          <p:cNvSpPr txBox="1"/>
          <p:nvPr/>
        </p:nvSpPr>
        <p:spPr>
          <a:xfrm>
            <a:off x="8595360" y="2962656"/>
            <a:ext cx="3044952"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ourier New" pitchFamily="34" charset="0"/>
                <a:ea typeface="Courier New" pitchFamily="34" charset="-122"/>
                <a:cs typeface="Courier New" pitchFamily="34" charset="-120"/>
              </a:rPr>
              <a:t>conftest.py</a:t>
            </a:r>
            <a:endParaRPr lang="en-US" sz="1100" dirty="0"/>
          </a:p>
          <a:p>
            <a:pPr algn="ctr" indent="0" marL="0">
              <a:spcAft>
                <a:spcPts val="200"/>
              </a:spcAft>
              <a:buNone/>
            </a:pPr>
            <a:r>
              <a:rPr lang="en-US" sz="1000" dirty="0">
                <a:solidFill>
                  <a:srgbClr val="1B2B22"/>
                </a:solidFill>
              </a:rPr>
              <a:t>steps loaded, scenarios collected, app_url server started, browser launched</a:t>
            </a:r>
            <a:endParaRPr lang="en-US" sz="1100" dirty="0"/>
          </a:p>
        </p:txBody>
      </p:sp>
      <p:sp>
        <p:nvSpPr>
          <p:cNvPr id="18" name="Arrow"/>
          <p:cNvSpPr/>
          <p:nvPr/>
        </p:nvSpPr>
        <p:spPr>
          <a:xfrm>
            <a:off x="10117836" y="2423160"/>
            <a:ext cx="0" cy="502920"/>
          </a:xfrm>
          <a:prstGeom prst="line">
            <a:avLst/>
          </a:prstGeom>
          <a:noFill/>
          <a:ln w="19050">
            <a:solidFill>
              <a:srgbClr val="5F6F66"/>
            </a:solidFill>
            <a:prstDash val="solid"/>
            <a:tailEnd type="triangle"/>
          </a:ln>
        </p:spPr>
      </p:sp>
      <p:sp>
        <p:nvSpPr>
          <p:cNvPr id="19" name="Box 5 scenarios pass"/>
          <p:cNvSpPr/>
          <p:nvPr/>
        </p:nvSpPr>
        <p:spPr>
          <a:xfrm>
            <a:off x="5303520" y="2926080"/>
            <a:ext cx="2834640" cy="914400"/>
          </a:xfrm>
          <a:prstGeom prst="roundRect">
            <a:avLst>
              <a:gd name="adj" fmla="val 6000"/>
            </a:avLst>
          </a:prstGeom>
          <a:solidFill>
            <a:srgbClr val="D7E9D9"/>
          </a:solidFill>
          <a:ln w="15875">
            <a:solidFill>
              <a:srgbClr val="1F4D3A"/>
            </a:solidFill>
            <a:prstDash val="solid"/>
          </a:ln>
        </p:spPr>
      </p:sp>
      <p:sp>
        <p:nvSpPr>
          <p:cNvPr id="20" name="Text 5 scenarios pass"/>
          <p:cNvSpPr txBox="1"/>
          <p:nvPr/>
        </p:nvSpPr>
        <p:spPr>
          <a:xfrm>
            <a:off x="5394960" y="2962656"/>
            <a:ext cx="2651760" cy="841248"/>
          </a:xfrm>
          <a:prstGeom prst="rect">
            <a:avLst/>
          </a:prstGeom>
          <a:noFill/>
          <a:ln/>
        </p:spPr>
        <p:txBody>
          <a:bodyPr wrap="square" lIns="0" tIns="0" rIns="0" bIns="0" rtlCol="0" anchor="ctr"/>
          <a:lstStyle/>
          <a:p>
            <a:pPr algn="ctr" indent="0" marL="0">
              <a:spcAft>
                <a:spcPts val="200"/>
              </a:spcAft>
              <a:buNone/>
            </a:pPr>
            <a:r>
              <a:rPr lang="en-US" sz="1100" b="1" dirty="0">
                <a:solidFill>
                  <a:srgbClr val="1F4D3A"/>
                </a:solidFill>
                <a:latin typeface="Calibri" pitchFamily="34" charset="0"/>
                <a:ea typeface="Calibri" pitchFamily="34" charset="-122"/>
                <a:cs typeface="Calibri" pitchFamily="34" charset="-120"/>
              </a:rPr>
              <a:t>5 scenarios pass</a:t>
            </a:r>
            <a:endParaRPr lang="en-US" sz="1100" dirty="0"/>
          </a:p>
          <a:p>
            <a:pPr algn="ctr" indent="0" marL="0">
              <a:spcAft>
                <a:spcPts val="200"/>
              </a:spcAft>
              <a:buNone/>
            </a:pPr>
            <a:r>
              <a:rPr lang="en-US" sz="1000" dirty="0">
                <a:solidFill>
                  <a:srgbClr val="1B2B22"/>
                </a:solidFill>
              </a:rPr>
              <a:t>about 4 seconds, real browser</a:t>
            </a:r>
            <a:endParaRPr lang="en-US" sz="1100" dirty="0"/>
          </a:p>
        </p:txBody>
      </p:sp>
      <p:sp>
        <p:nvSpPr>
          <p:cNvPr id="21" name="Arrow"/>
          <p:cNvSpPr/>
          <p:nvPr/>
        </p:nvSpPr>
        <p:spPr>
          <a:xfrm flipH="1">
            <a:off x="8138160" y="3383280"/>
            <a:ext cx="365760" cy="0"/>
          </a:xfrm>
          <a:prstGeom prst="line">
            <a:avLst/>
          </a:prstGeom>
          <a:noFill/>
          <a:ln w="19050">
            <a:solidFill>
              <a:srgbClr val="5F6F66"/>
            </a:solidFill>
            <a:prstDash val="solid"/>
            <a:tailEnd type="triangle"/>
          </a:ln>
        </p:spPr>
      </p:sp>
      <p:sp>
        <p:nvSpPr>
          <p:cNvPr id="22" name="Box gherkin-copilot report"/>
          <p:cNvSpPr/>
          <p:nvPr/>
        </p:nvSpPr>
        <p:spPr>
          <a:xfrm>
            <a:off x="2926080" y="2926080"/>
            <a:ext cx="2011680" cy="914400"/>
          </a:xfrm>
          <a:prstGeom prst="roundRect">
            <a:avLst>
              <a:gd name="adj" fmla="val 6000"/>
            </a:avLst>
          </a:prstGeom>
          <a:solidFill>
            <a:srgbClr val="EEF5EF"/>
          </a:solidFill>
          <a:ln w="15875">
            <a:solidFill>
              <a:srgbClr val="3E8E4F"/>
            </a:solidFill>
            <a:prstDash val="solid"/>
          </a:ln>
        </p:spPr>
      </p:sp>
      <p:sp>
        <p:nvSpPr>
          <p:cNvPr id="23" name="Text gherkin-copilot report"/>
          <p:cNvSpPr txBox="1"/>
          <p:nvPr/>
        </p:nvSpPr>
        <p:spPr>
          <a:xfrm>
            <a:off x="3017520" y="2962656"/>
            <a:ext cx="1828800" cy="84124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gherkin-copilot report</a:t>
            </a:r>
            <a:endParaRPr lang="en-US" sz="1100" dirty="0"/>
          </a:p>
          <a:p>
            <a:pPr algn="ctr" indent="0" marL="0">
              <a:spcAft>
                <a:spcPts val="200"/>
              </a:spcAft>
              <a:buNone/>
            </a:pPr>
            <a:r>
              <a:rPr lang="en-US" sz="1000" dirty="0">
                <a:solidFill>
                  <a:srgbClr val="1B2B22"/>
                </a:solidFill>
              </a:rPr>
              <a:t>cucumber.json → report.html</a:t>
            </a:r>
            <a:endParaRPr lang="en-US" sz="1100" dirty="0"/>
          </a:p>
        </p:txBody>
      </p:sp>
      <p:sp>
        <p:nvSpPr>
          <p:cNvPr id="24" name="Arrow"/>
          <p:cNvSpPr/>
          <p:nvPr/>
        </p:nvSpPr>
        <p:spPr>
          <a:xfrm flipH="1">
            <a:off x="4937760" y="3383280"/>
            <a:ext cx="365760" cy="0"/>
          </a:xfrm>
          <a:prstGeom prst="line">
            <a:avLst/>
          </a:prstGeom>
          <a:noFill/>
          <a:ln w="19050">
            <a:solidFill>
              <a:srgbClr val="5F6F66"/>
            </a:solidFill>
            <a:prstDash val="solid"/>
            <a:tailEnd type="triangle"/>
          </a:ln>
        </p:spPr>
      </p:sp>
      <p:sp>
        <p:nvSpPr>
          <p:cNvPr id="25" name="Box reports/report.html"/>
          <p:cNvSpPr/>
          <p:nvPr/>
        </p:nvSpPr>
        <p:spPr>
          <a:xfrm>
            <a:off x="457200" y="2926080"/>
            <a:ext cx="2103120" cy="914400"/>
          </a:xfrm>
          <a:prstGeom prst="roundRect">
            <a:avLst>
              <a:gd name="adj" fmla="val 6000"/>
            </a:avLst>
          </a:prstGeom>
          <a:solidFill>
            <a:srgbClr val="D7E9D9"/>
          </a:solidFill>
          <a:ln w="15875">
            <a:solidFill>
              <a:srgbClr val="1F4D3A"/>
            </a:solidFill>
            <a:prstDash val="solid"/>
          </a:ln>
        </p:spPr>
      </p:sp>
      <p:sp>
        <p:nvSpPr>
          <p:cNvPr id="26" name="Text reports/report.html"/>
          <p:cNvSpPr txBox="1"/>
          <p:nvPr/>
        </p:nvSpPr>
        <p:spPr>
          <a:xfrm>
            <a:off x="548640" y="2962656"/>
            <a:ext cx="1920240" cy="841248"/>
          </a:xfrm>
          <a:prstGeom prst="rect">
            <a:avLst/>
          </a:prstGeom>
          <a:noFill/>
          <a:ln/>
        </p:spPr>
        <p:txBody>
          <a:bodyPr wrap="square" lIns="0" tIns="0" rIns="0" bIns="0" rtlCol="0" anchor="ctr"/>
          <a:lstStyle/>
          <a:p>
            <a:pPr algn="ctr" indent="0" marL="0">
              <a:spcAft>
                <a:spcPts val="200"/>
              </a:spcAft>
              <a:buNone/>
            </a:pPr>
            <a:r>
              <a:rPr lang="en-US" sz="1050" b="1" dirty="0">
                <a:solidFill>
                  <a:srgbClr val="1F4D3A"/>
                </a:solidFill>
                <a:latin typeface="Courier New" pitchFamily="34" charset="0"/>
                <a:ea typeface="Courier New" pitchFamily="34" charset="-122"/>
                <a:cs typeface="Courier New" pitchFamily="34" charset="-120"/>
              </a:rPr>
              <a:t>reports/report.html</a:t>
            </a:r>
            <a:endParaRPr lang="en-US" sz="1100" dirty="0"/>
          </a:p>
          <a:p>
            <a:pPr algn="ctr" indent="0" marL="0">
              <a:spcAft>
                <a:spcPts val="200"/>
              </a:spcAft>
              <a:buNone/>
            </a:pPr>
            <a:r>
              <a:rPr lang="en-US" sz="1000" dirty="0">
                <a:solidFill>
                  <a:srgbClr val="1B2B22"/>
                </a:solidFill>
              </a:rPr>
              <a:t>opens in the browser (--no-open to skip)</a:t>
            </a:r>
            <a:endParaRPr lang="en-US" sz="1100" dirty="0"/>
          </a:p>
        </p:txBody>
      </p:sp>
      <p:sp>
        <p:nvSpPr>
          <p:cNvPr id="27" name="Arrow"/>
          <p:cNvSpPr/>
          <p:nvPr/>
        </p:nvSpPr>
        <p:spPr>
          <a:xfrm flipH="1">
            <a:off x="2560320" y="3383280"/>
            <a:ext cx="365760" cy="0"/>
          </a:xfrm>
          <a:prstGeom prst="line">
            <a:avLst/>
          </a:prstGeom>
          <a:noFill/>
          <a:ln w="19050">
            <a:solidFill>
              <a:srgbClr val="5F6F66"/>
            </a:solidFill>
            <a:prstDash val="solid"/>
            <a:tailEnd type="triangle"/>
          </a:ln>
        </p:spPr>
      </p:sp>
      <p:sp>
        <p:nvSpPr>
          <p:cNvPr id="28" name="Box All subprocesses "/>
          <p:cNvSpPr/>
          <p:nvPr/>
        </p:nvSpPr>
        <p:spPr>
          <a:xfrm>
            <a:off x="457200" y="4343400"/>
            <a:ext cx="7315200" cy="457200"/>
          </a:xfrm>
          <a:prstGeom prst="roundRect">
            <a:avLst>
              <a:gd name="adj" fmla="val 12000"/>
            </a:avLst>
          </a:prstGeom>
          <a:solidFill>
            <a:srgbClr val="F7F7F5"/>
          </a:solidFill>
          <a:ln w="15875">
            <a:solidFill>
              <a:srgbClr val="C9D0CB"/>
            </a:solidFill>
            <a:prstDash val="solid"/>
          </a:ln>
        </p:spPr>
      </p:sp>
      <p:sp>
        <p:nvSpPr>
          <p:cNvPr id="29" name="Text All subprocesses "/>
          <p:cNvSpPr txBox="1"/>
          <p:nvPr/>
        </p:nvSpPr>
        <p:spPr>
          <a:xfrm>
            <a:off x="548640" y="4379976"/>
            <a:ext cx="7132320" cy="384048"/>
          </a:xfrm>
          <a:prstGeom prst="rect">
            <a:avLst/>
          </a:prstGeom>
          <a:noFill/>
          <a:ln/>
        </p:spPr>
        <p:txBody>
          <a:bodyPr wrap="square" lIns="0" tIns="0" rIns="0" bIns="0" rtlCol="0" anchor="ctr"/>
          <a:lstStyle/>
          <a:p>
            <a:pPr algn="l" indent="0" marL="0">
              <a:spcAft>
                <a:spcPts val="200"/>
              </a:spcAft>
              <a:buNone/>
            </a:pPr>
            <a:r>
              <a:rPr lang="en-US" sz="1050" b="1" dirty="0">
                <a:solidFill>
                  <a:srgbClr val="1F4D3A"/>
                </a:solidFill>
                <a:latin typeface="Calibri" pitchFamily="34" charset="0"/>
                <a:ea typeface="Calibri" pitchFamily="34" charset="-122"/>
                <a:cs typeface="Calibri" pitchFamily="34" charset="-120"/>
              </a:rPr>
              <a:t>All subprocesses </a:t>
            </a:r>
            <a:endParaRPr lang="en-US" sz="1100" dirty="0"/>
          </a:p>
          <a:p>
            <a:pPr algn="l" indent="0" marL="0">
              <a:spcAft>
                <a:spcPts val="200"/>
              </a:spcAft>
              <a:buNone/>
            </a:pPr>
            <a:r>
              <a:rPr lang="en-US" sz="1000" dirty="0">
                <a:solidFill>
                  <a:srgbClr val="1B2B22"/>
                </a:solidFill>
              </a:rPr>
              <a:t>are started with an argument list (subprocess.run([...])), never through a shell.</a:t>
            </a:r>
            <a:endParaRPr lang="en-US" sz="1100" dirty="0"/>
          </a:p>
        </p:txBody>
      </p:sp>
      <p:sp>
        <p:nvSpPr>
          <p:cNvPr id="25" name="Slide Number Placeholder 0"/>
          <p:cNvSpPr>
            <a:spLocks noGrp="1"/>
          </p:cNvSpPr>
          <p:nvPr>
            <p:ph type="sldNum" sz="quarter" idx="4294967295"/>
          </p:nvPr>
        </p:nvSpPr>
        <p:spPr>
          <a:xfrm>
            <a:off x="1133856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Cucumber">
  <a:themeElements>
    <a:clrScheme name="Cucumber">
      <a:dk1>
        <a:srgbClr val="1B2B22"/>
      </a:dk1>
      <a:lt1>
        <a:srgbClr val="FFFFFF"/>
      </a:lt1>
      <a:dk2>
        <a:srgbClr val="1F4D3A"/>
      </a:dk2>
      <a:lt2>
        <a:srgbClr val="EEF5EF"/>
      </a:lt2>
      <a:accent1>
        <a:srgbClr val="3E8E4F"/>
      </a:accent1>
      <a:accent2>
        <a:srgbClr val="E39B2D"/>
      </a:accent2>
      <a:accent3>
        <a:srgbClr val="2C6E8F"/>
      </a:accent3>
      <a:accent4>
        <a:srgbClr val="C0503A"/>
      </a:accent4>
      <a:accent5>
        <a:srgbClr val="D7E9D9"/>
      </a:accent5>
      <a:accent6>
        <a:srgbClr val="5F6F66"/>
      </a:accent6>
      <a:hlink>
        <a:srgbClr val="2C6E8F"/>
      </a:hlink>
      <a:folHlink>
        <a:srgbClr val="5F6F66"/>
      </a:folHlink>
    </a:clrScheme>
    <a:fontScheme name="Cucumbe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gherkin-copilot: how the data flows</dc:title>
  <dc:subject>PptxGenJS Presentation</dc:subject>
  <dc:creator>Gabe Olsen</dc:creator>
  <cp:lastModifiedBy>Gabe Olsen</cp:lastModifiedBy>
  <cp:revision>1</cp:revision>
  <dcterms:created xsi:type="dcterms:W3CDTF">2026-10-10T10:01:32Z</dcterms:created>
  <dcterms:modified xsi:type="dcterms:W3CDTF">2026-10-10T10:01:32Z</dcterms:modified>
</cp:coreProperties>
</file>